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yne"/>
      <p:regular r:id="rId17"/>
    </p:embeddedFont>
    <p:embeddedFont>
      <p:font typeface="Syne"/>
      <p:regular r:id="rId18"/>
    </p:embeddedFont>
    <p:embeddedFont>
      <p:font typeface="Overpass Light"/>
      <p:regular r:id="rId19"/>
    </p:embeddedFont>
    <p:embeddedFont>
      <p:font typeface="Overpass Light"/>
      <p:regular r:id="rId20"/>
    </p:embeddedFont>
    <p:embeddedFont>
      <p:font typeface="Overpass Light"/>
      <p:regular r:id="rId21"/>
    </p:embeddedFont>
    <p:embeddedFont>
      <p:font typeface="Overpass Light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英語學習助理：打破英文學習障礙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以人工智慧重新定義英語學習。提供個人化、互動式學習體驗。無論何時何地，都能有效提升您的英語能力。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285661"/>
            <a:ext cx="347138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投稿人：杜宜霖 資訊管理系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73706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痛點：為什麼學英文這麼難？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單字背了就忘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缺乏有效的記憶與複習機制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不敢開口講英文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實際對話場景練習不足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找不到合適的練習對象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缺乏即時互動與回饋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學習內容太制式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與生活實際需求脫節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46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傳統學習遇到的問題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7430" y="1997035"/>
            <a:ext cx="1614011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2613065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88255" y="2223849"/>
            <a:ext cx="25504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學習時間與地點受限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88255" y="2714268"/>
            <a:ext cx="25504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難以融入生活場景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4918115" y="3317081"/>
            <a:ext cx="8861822" cy="15240"/>
          </a:xfrm>
          <a:prstGeom prst="roundRect">
            <a:avLst>
              <a:gd name="adj" fmla="val 625116"/>
            </a:avLst>
          </a:prstGeom>
          <a:solidFill>
            <a:srgbClr val="C3D4CC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424" y="3360658"/>
            <a:ext cx="3228022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814762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895261" y="3587472"/>
            <a:ext cx="28338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缺乏學習動機與成就感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5895261" y="4077891"/>
            <a:ext cx="28338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75% 學習者半年內放棄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5725120" y="4680704"/>
            <a:ext cx="8054816" cy="15240"/>
          </a:xfrm>
          <a:prstGeom prst="roundRect">
            <a:avLst>
              <a:gd name="adj" fmla="val 625116"/>
            </a:avLst>
          </a:prstGeom>
          <a:solidFill>
            <a:srgbClr val="C3D4CC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418" y="4724281"/>
            <a:ext cx="484203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5178385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702266" y="4951095"/>
            <a:ext cx="25504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難以練習口說與造句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6702266" y="5441513"/>
            <a:ext cx="25504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英語輸出機會少於 20%</a:t>
            </a:r>
            <a:endParaRPr lang="en-US" sz="1750" dirty="0"/>
          </a:p>
        </p:txBody>
      </p:sp>
      <p:sp>
        <p:nvSpPr>
          <p:cNvPr id="17" name="Shape 9"/>
          <p:cNvSpPr/>
          <p:nvPr/>
        </p:nvSpPr>
        <p:spPr>
          <a:xfrm>
            <a:off x="6532126" y="6044327"/>
            <a:ext cx="7247811" cy="15240"/>
          </a:xfrm>
          <a:prstGeom prst="roundRect">
            <a:avLst>
              <a:gd name="adj" fmla="val 625116"/>
            </a:avLst>
          </a:prstGeom>
          <a:solidFill>
            <a:srgbClr val="C3D4CC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6087904"/>
            <a:ext cx="6456164" cy="1306949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6542008"/>
            <a:ext cx="318968" cy="398621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509272" y="6314718"/>
            <a:ext cx="26465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缺乏即時互動與回饋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7509272" y="6805136"/>
            <a:ext cx="26465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平均回饋時間超過 48 小時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819"/>
            <a:ext cx="94090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我的目標：打造一個 AI 英語學習助理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456" y="6031349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631" y="4443174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6745" y="4443174"/>
            <a:ext cx="382667" cy="478393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4920" y="6031349"/>
            <a:ext cx="382667" cy="478393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163003" y="3623191"/>
            <a:ext cx="2267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隨時隨地練習英文</a:t>
            </a:r>
            <a:endParaRPr lang="en-US" sz="2200" dirty="0"/>
          </a:p>
        </p:txBody>
      </p:sp>
      <p:sp>
        <p:nvSpPr>
          <p:cNvPr id="12" name="Text 2"/>
          <p:cNvSpPr/>
          <p:nvPr/>
        </p:nvSpPr>
        <p:spPr>
          <a:xfrm>
            <a:off x="1163003" y="4113609"/>
            <a:ext cx="22670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打破時間地點限制</a:t>
            </a:r>
            <a:endParaRPr lang="en-US" sz="1750" dirty="0"/>
          </a:p>
        </p:txBody>
      </p:sp>
      <p:sp>
        <p:nvSpPr>
          <p:cNvPr id="13" name="Text 3"/>
          <p:cNvSpPr/>
          <p:nvPr/>
        </p:nvSpPr>
        <p:spPr>
          <a:xfrm>
            <a:off x="4139446" y="1998226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練對話、學單字、練發音</a:t>
            </a:r>
            <a:endParaRPr lang="en-US" sz="2200" dirty="0"/>
          </a:p>
        </p:txBody>
      </p:sp>
      <p:sp>
        <p:nvSpPr>
          <p:cNvPr id="14" name="Text 4"/>
          <p:cNvSpPr/>
          <p:nvPr/>
        </p:nvSpPr>
        <p:spPr>
          <a:xfrm>
            <a:off x="4139446" y="2842974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全方位能力提升</a:t>
            </a:r>
            <a:endParaRPr lang="en-US" sz="1750" dirty="0"/>
          </a:p>
        </p:txBody>
      </p:sp>
      <p:sp>
        <p:nvSpPr>
          <p:cNvPr id="15" name="Text 5"/>
          <p:cNvSpPr/>
          <p:nvPr/>
        </p:nvSpPr>
        <p:spPr>
          <a:xfrm>
            <a:off x="7485221" y="1998226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互動、即時、有趣的體驗</a:t>
            </a:r>
            <a:endParaRPr lang="en-US" sz="2200" dirty="0"/>
          </a:p>
        </p:txBody>
      </p:sp>
      <p:sp>
        <p:nvSpPr>
          <p:cNvPr id="16" name="Text 6"/>
          <p:cNvSpPr/>
          <p:nvPr/>
        </p:nvSpPr>
        <p:spPr>
          <a:xfrm>
            <a:off x="7485221" y="2842974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增強學習動機</a:t>
            </a:r>
            <a:endParaRPr lang="en-US" sz="1750" dirty="0"/>
          </a:p>
        </p:txBody>
      </p:sp>
      <p:sp>
        <p:nvSpPr>
          <p:cNvPr id="17" name="Text 7"/>
          <p:cNvSpPr/>
          <p:nvPr/>
        </p:nvSpPr>
        <p:spPr>
          <a:xfrm>
            <a:off x="11200209" y="3623191"/>
            <a:ext cx="2267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強化英文輸出能力</a:t>
            </a:r>
            <a:endParaRPr lang="en-US" sz="2200" dirty="0"/>
          </a:p>
        </p:txBody>
      </p:sp>
      <p:sp>
        <p:nvSpPr>
          <p:cNvPr id="18" name="Text 8"/>
          <p:cNvSpPr/>
          <p:nvPr/>
        </p:nvSpPr>
        <p:spPr>
          <a:xfrm>
            <a:off x="11200209" y="4113609"/>
            <a:ext cx="22670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說、寫兩大核心能力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2340"/>
            <a:ext cx="5644515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使用情境想像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90218" y="1666518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35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搭車時練對話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35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模擬日常英文情境，如咖啡店點餐。利用零碎時間提升口語能力。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208139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35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上課前造句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35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複習新單字用法，強化記憶。通過實際應用鞏固所學知識。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0218" y="4749760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35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睡前口說練習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35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提升發音與流暢度，建立自信。形成穩定的學習習慣。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90218" y="6291382"/>
            <a:ext cx="7563564" cy="1315879"/>
          </a:xfrm>
          <a:prstGeom prst="roundRect">
            <a:avLst>
              <a:gd name="adj" fmla="val 720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235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隨時用 LINE 練英文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235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無時無地限制，融入生活。降低學習門檻，提高持續性。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005" y="482441"/>
            <a:ext cx="4385786" cy="548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使用者回饋（問卷）</a:t>
            </a:r>
            <a:endParaRPr lang="en-US" sz="3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05" y="1381482"/>
            <a:ext cx="13402389" cy="75052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590" y="417552"/>
            <a:ext cx="3783092" cy="472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成效與反思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9590" y="1192887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15%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3626168" y="1881307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測驗正確率提升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9590" y="2208490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有效提高學習成果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9590" y="2980015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40%</a:t>
            </a:r>
            <a:endParaRPr lang="en-US" sz="3900" dirty="0"/>
          </a:p>
        </p:txBody>
      </p:sp>
      <p:sp>
        <p:nvSpPr>
          <p:cNvPr id="8" name="Text 5"/>
          <p:cNvSpPr/>
          <p:nvPr/>
        </p:nvSpPr>
        <p:spPr>
          <a:xfrm>
            <a:off x="3626168" y="3668435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信心指數提升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29590" y="3995618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對英文對話更熟悉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9590" y="4767143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65%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3626168" y="5455563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單字記憶保留率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29590" y="5782747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從原本的 30% 大幅提升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29590" y="6554272"/>
            <a:ext cx="8084820" cy="499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900"/>
              </a:lnSpc>
              <a:buNone/>
            </a:pPr>
            <a:r>
              <a:rPr lang="en-US" sz="39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25%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3626168" y="7242691"/>
            <a:ext cx="1891546" cy="236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4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口說流暢度提升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29590" y="7569875"/>
            <a:ext cx="8084820" cy="24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溝通表達能力顯著進步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8570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技術實作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1934647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19346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自然語言處理 (NLP)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425065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理解用戶意圖與回應。確保對話流暢自然。分析學習者常見錯誤。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014782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0534" y="30147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語音辨識與合成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3505200"/>
            <a:ext cx="6706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口說練習與即時回饋。分析發音問題並提供改進建議。模擬自然發音。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457819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470815" y="44578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情境式對話生成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4948238"/>
            <a:ext cx="63657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根據使用者程度產生適合對話。涵蓋各種日常情境。調整詞彙難度。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900857"/>
            <a:ext cx="170021" cy="1216223"/>
          </a:xfrm>
          <a:prstGeom prst="roundRect">
            <a:avLst>
              <a:gd name="adj" fmla="val 56033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1095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個人化學習演算法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391275"/>
            <a:ext cx="60255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分析學習行為自動調整難度。根據表現推薦練習內容。追蹤長期進步。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735" y="1256586"/>
            <a:ext cx="5284113" cy="66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系統架構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977503" y="2233970"/>
            <a:ext cx="22860" cy="4738926"/>
          </a:xfrm>
          <a:prstGeom prst="roundRect">
            <a:avLst>
              <a:gd name="adj" fmla="val 388338"/>
            </a:avLst>
          </a:prstGeom>
          <a:solidFill>
            <a:srgbClr val="C3D4CC"/>
          </a:solidFill>
          <a:ln/>
        </p:spPr>
      </p:sp>
      <p:sp>
        <p:nvSpPr>
          <p:cNvPr id="5" name="Shape 2"/>
          <p:cNvSpPr/>
          <p:nvPr/>
        </p:nvSpPr>
        <p:spPr>
          <a:xfrm>
            <a:off x="1192411" y="2460308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C3D4CC"/>
          </a:solidFill>
          <a:ln/>
        </p:spPr>
      </p:sp>
      <p:sp>
        <p:nvSpPr>
          <p:cNvPr id="6" name="Shape 3"/>
          <p:cNvSpPr/>
          <p:nvPr/>
        </p:nvSpPr>
        <p:spPr>
          <a:xfrm>
            <a:off x="739735" y="2233970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031" y="2273618"/>
            <a:ext cx="316944" cy="39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34302" y="2306598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前端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2034302" y="2763560"/>
            <a:ext cx="6369963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LINE Bot 介面與網頁版應用程式。使用者友善設計。支援多種裝置。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1192411" y="3750707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C3D4CC"/>
          </a:solidFill>
          <a:ln/>
        </p:spPr>
      </p:sp>
      <p:sp>
        <p:nvSpPr>
          <p:cNvPr id="11" name="Shape 7"/>
          <p:cNvSpPr/>
          <p:nvPr/>
        </p:nvSpPr>
        <p:spPr>
          <a:xfrm>
            <a:off x="739735" y="3524369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031" y="3564017"/>
            <a:ext cx="316944" cy="396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034302" y="3596997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後端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2034302" y="4053959"/>
            <a:ext cx="6369963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雲端服務 + 資料庫系統。高效能處理用戶請求。安全儲存學習資料。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1192411" y="5041106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C3D4CC"/>
          </a:solidFill>
          <a:ln/>
        </p:spPr>
      </p:sp>
      <p:sp>
        <p:nvSpPr>
          <p:cNvPr id="16" name="Shape 11"/>
          <p:cNvSpPr/>
          <p:nvPr/>
        </p:nvSpPr>
        <p:spPr>
          <a:xfrm>
            <a:off x="739735" y="481476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31" y="4854416"/>
            <a:ext cx="316944" cy="396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034302" y="4887397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AI 引擎</a:t>
            </a:r>
            <a:endParaRPr lang="en-US" sz="2050" dirty="0"/>
          </a:p>
        </p:txBody>
      </p:sp>
      <p:sp>
        <p:nvSpPr>
          <p:cNvPr id="19" name="Text 13"/>
          <p:cNvSpPr/>
          <p:nvPr/>
        </p:nvSpPr>
        <p:spPr>
          <a:xfrm>
            <a:off x="2034302" y="5344358"/>
            <a:ext cx="6369963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OpenAI API + 自訓練模型。智能對話生成。語言學習專用優化。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1192411" y="6331506"/>
            <a:ext cx="634008" cy="22860"/>
          </a:xfrm>
          <a:prstGeom prst="roundRect">
            <a:avLst>
              <a:gd name="adj" fmla="val 388338"/>
            </a:avLst>
          </a:prstGeom>
          <a:solidFill>
            <a:srgbClr val="C3D4CC"/>
          </a:solidFill>
          <a:ln/>
        </p:spPr>
      </p:sp>
      <p:sp>
        <p:nvSpPr>
          <p:cNvPr id="21" name="Shape 15"/>
          <p:cNvSpPr/>
          <p:nvPr/>
        </p:nvSpPr>
        <p:spPr>
          <a:xfrm>
            <a:off x="739735" y="6105168"/>
            <a:ext cx="475536" cy="475536"/>
          </a:xfrm>
          <a:prstGeom prst="roundRect">
            <a:avLst>
              <a:gd name="adj" fmla="val 1866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031" y="6144816"/>
            <a:ext cx="316944" cy="396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034302" y="6177796"/>
            <a:ext cx="2641997" cy="330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個人化系統</a:t>
            </a:r>
            <a:endParaRPr lang="en-US" sz="2050" dirty="0"/>
          </a:p>
        </p:txBody>
      </p:sp>
      <p:sp>
        <p:nvSpPr>
          <p:cNvPr id="24" name="Text 17"/>
          <p:cNvSpPr/>
          <p:nvPr/>
        </p:nvSpPr>
        <p:spPr>
          <a:xfrm>
            <a:off x="2034302" y="6634758"/>
            <a:ext cx="6369963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學習記錄分析與回饋機制。進度追蹤。弱點識別與針對性加強。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762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未來發展與合作機會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2336006"/>
            <a:ext cx="3120747" cy="312074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08" y="2336006"/>
            <a:ext cx="3120866" cy="3120866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2336006"/>
            <a:ext cx="3120747" cy="312074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124" y="2336006"/>
            <a:ext cx="3120866" cy="3120866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93790" y="58579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學校課程整合，輔助正規英語教育。企業英語培訓，客製化職場英語學習。跨平台擴展，支援更多即時通訊工具。更多語言支援，擴展至其他外語學習。</a:t>
            </a:r>
            <a:endParaRPr lang="en-US" sz="1750" dirty="0"/>
          </a:p>
        </p:txBody>
      </p:sp>
      <p:sp>
        <p:nvSpPr>
          <p:cNvPr id="8" name="Text 2"/>
          <p:cNvSpPr/>
          <p:nvPr/>
        </p:nvSpPr>
        <p:spPr>
          <a:xfrm>
            <a:off x="793790" y="683895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加入我們，共創語言學習新未來！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2025-05-15T02:28:07Z</dcterms:created>
  <dcterms:modified xsi:type="dcterms:W3CDTF">2025-05-15T02:28:07Z</dcterms:modified>
</cp:coreProperties>
</file>