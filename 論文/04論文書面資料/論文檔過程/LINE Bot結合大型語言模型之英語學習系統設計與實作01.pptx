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7"/>
  </p:notesMasterIdLst>
  <p:sldIdLst>
    <p:sldId id="276" r:id="rId2"/>
    <p:sldId id="256" r:id="rId3"/>
    <p:sldId id="260" r:id="rId4"/>
    <p:sldId id="286" r:id="rId5"/>
    <p:sldId id="294" r:id="rId6"/>
    <p:sldId id="324" r:id="rId7"/>
    <p:sldId id="352" r:id="rId8"/>
    <p:sldId id="341" r:id="rId9"/>
    <p:sldId id="336" r:id="rId10"/>
    <p:sldId id="353" r:id="rId11"/>
    <p:sldId id="342" r:id="rId12"/>
    <p:sldId id="343" r:id="rId13"/>
    <p:sldId id="279" r:id="rId14"/>
    <p:sldId id="345" r:id="rId15"/>
    <p:sldId id="339" r:id="rId16"/>
    <p:sldId id="346" r:id="rId17"/>
    <p:sldId id="278" r:id="rId18"/>
    <p:sldId id="354" r:id="rId19"/>
    <p:sldId id="355" r:id="rId20"/>
    <p:sldId id="321" r:id="rId21"/>
    <p:sldId id="328" r:id="rId22"/>
    <p:sldId id="357" r:id="rId23"/>
    <p:sldId id="358" r:id="rId24"/>
    <p:sldId id="359" r:id="rId25"/>
    <p:sldId id="361" r:id="rId26"/>
    <p:sldId id="360" r:id="rId27"/>
    <p:sldId id="363" r:id="rId28"/>
    <p:sldId id="365" r:id="rId29"/>
    <p:sldId id="366" r:id="rId30"/>
    <p:sldId id="367" r:id="rId31"/>
    <p:sldId id="334" r:id="rId32"/>
    <p:sldId id="368" r:id="rId33"/>
    <p:sldId id="29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19" r:id="rId43"/>
    <p:sldId id="377" r:id="rId44"/>
    <p:sldId id="378" r:id="rId45"/>
    <p:sldId id="340" r:id="rId46"/>
  </p:sldIdLst>
  <p:sldSz cx="14630400" cy="8229600"/>
  <p:notesSz cx="8229600" cy="14630400"/>
  <p:embeddedFontLst>
    <p:embeddedFont>
      <p:font typeface="Microsoft JhengHei" panose="020B0604030504040204" pitchFamily="34" charset="-120"/>
      <p:regular r:id="rId48"/>
      <p:bold r:id="rId49"/>
    </p:embeddedFont>
    <p:embeddedFont>
      <p:font typeface="Microsoft JhengHei" panose="020B0604030504040204" pitchFamily="34" charset="-120"/>
      <p:regular r:id="rId48"/>
      <p:bold r:id="rId49"/>
    </p:embeddedFont>
    <p:embeddedFont>
      <p:font typeface="Work Sans" pitchFamily="2" charset="0"/>
      <p:regular r:id="rId50"/>
      <p:bold r:id="rId51"/>
      <p:italic r:id="rId52"/>
      <p:boldItalic r:id="rId53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15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7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各位口委們好，感謝您的蒞臨，來參加學生的口試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我是</a:t>
            </a:r>
            <a:r>
              <a:rPr lang="en-US" altLang="zh-TW" dirty="0"/>
              <a:t>XXX</a:t>
            </a:r>
            <a:r>
              <a:rPr lang="zh-TW" altLang="en-US" dirty="0"/>
              <a:t>，口試論文是：基於穩定擴散模型之個人化影像生成的微調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指導教授是</a:t>
            </a:r>
            <a:r>
              <a:rPr lang="en-US" altLang="zh-TW" dirty="0"/>
              <a:t>XXX</a:t>
            </a:r>
            <a:r>
              <a:rPr lang="zh-TW" altLang="en-US" dirty="0"/>
              <a:t>，這邊謝謝老師兩年的照顧與教導，也謝謝兩位口不遠千里來指導我的論文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那這邊就開始我的報告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872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51679155-55D3-0E1F-B4B9-75759EB2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73D04884-C82C-1B5D-0575-552C66A04A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598958DD-B68F-33D1-8E3B-D1EEAD5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083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4908351D-176F-5650-67FD-38C82BDC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1059844E-B272-7051-408F-F813D1E4E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7279F700-FFC2-B5C8-B3A7-FB62E041E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589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63F87EC2-1CD1-A28D-EA88-BC498765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C0202C3A-40CE-8F05-9F96-A748A9708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08B9DB6C-423C-2A75-25A6-6C0D48F49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41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55645D56-5453-BE3D-175E-5FED0841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4C4D0A0C-82B5-347A-28B4-CD1FBAA54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7786DB74-31C9-62B6-49CA-19032EE4D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06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7A492EC2-BA0D-7ABC-5BA6-C748378E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F0CEEF14-ED0A-C6A7-8D75-DBAA29502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DD52735B-63B3-4B06-5CD9-3E12D1E1A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145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3E7B4C81-C9CB-2012-DB0A-5B513B1C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B0D4B8F7-A15E-51B0-6303-0B4023428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B9B3D763-D73C-9902-DDEF-53650680E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31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FFAC0C7B-A4A0-6492-5822-B2E7946E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67B0FC65-FD8F-C402-479F-E22165B7B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27D93263-7783-CAED-4FE7-04AFC8FD4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46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4FDCD462-6DA4-1D2B-4541-18E12F1D5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B958AF91-CBD3-62D9-70F0-4A41A453F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D4E7C2C4-D189-A39C-61A2-394D210DF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0146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9EB75742-F37E-8F14-D8F7-BC470899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257:notes">
            <a:extLst>
              <a:ext uri="{FF2B5EF4-FFF2-40B4-BE49-F238E27FC236}">
                <a16:creationId xmlns:a16="http://schemas.microsoft.com/office/drawing/2014/main" id="{32162D52-CB49-6A29-91F0-D58D17956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4dda1946d_6_257:notes">
            <a:extLst>
              <a:ext uri="{FF2B5EF4-FFF2-40B4-BE49-F238E27FC236}">
                <a16:creationId xmlns:a16="http://schemas.microsoft.com/office/drawing/2014/main" id="{C55706D2-6FED-7640-0920-42D967BBE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512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161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82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9"/>
          <p:cNvGrpSpPr/>
          <p:nvPr/>
        </p:nvGrpSpPr>
        <p:grpSpPr>
          <a:xfrm>
            <a:off x="-34111" y="0"/>
            <a:ext cx="14664520" cy="8229587"/>
            <a:chOff x="-21320" y="0"/>
            <a:chExt cx="9165325" cy="5143492"/>
          </a:xfrm>
        </p:grpSpPr>
        <p:sp>
          <p:nvSpPr>
            <p:cNvPr id="147" name="Google Shape;147;p9"/>
            <p:cNvSpPr/>
            <p:nvPr/>
          </p:nvSpPr>
          <p:spPr>
            <a:xfrm rot="10788682">
              <a:off x="-3803" y="2142"/>
              <a:ext cx="1093506" cy="226651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 rot="-5400000">
              <a:off x="7674905" y="3674391"/>
              <a:ext cx="1469100" cy="14691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9" name="Google Shape;149;p9"/>
            <p:cNvGrpSpPr/>
            <p:nvPr/>
          </p:nvGrpSpPr>
          <p:grpSpPr>
            <a:xfrm>
              <a:off x="7841404" y="3753771"/>
              <a:ext cx="1178731" cy="1178731"/>
              <a:chOff x="1834375" y="-134612"/>
              <a:chExt cx="1348200" cy="1348200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" name="Google Shape;154;p9"/>
            <p:cNvGrpSpPr/>
            <p:nvPr/>
          </p:nvGrpSpPr>
          <p:grpSpPr>
            <a:xfrm>
              <a:off x="509240" y="4361512"/>
              <a:ext cx="1135902" cy="485000"/>
              <a:chOff x="476924" y="4119012"/>
              <a:chExt cx="1135902" cy="485000"/>
            </a:xfrm>
          </p:grpSpPr>
          <p:grpSp>
            <p:nvGrpSpPr>
              <p:cNvPr id="155" name="Google Shape;155;p9"/>
              <p:cNvGrpSpPr/>
              <p:nvPr/>
            </p:nvGrpSpPr>
            <p:grpSpPr>
              <a:xfrm rot="5400000">
                <a:off x="970325" y="36256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56" name="Google Shape;156;p9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7" name="Google Shape;157;p9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8" name="Google Shape;158;p9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59" name="Google Shape;159;p9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0" name="Google Shape;160;p9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61" name="Google Shape;161;p9"/>
              <p:cNvGrpSpPr/>
              <p:nvPr/>
            </p:nvGrpSpPr>
            <p:grpSpPr>
              <a:xfrm rot="5400000">
                <a:off x="970325" y="39615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62" name="Google Shape;162;p9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3" name="Google Shape;163;p9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4" name="Google Shape;164;p9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5" name="Google Shape;165;p9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66" name="Google Shape;166;p9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sp>
          <p:nvSpPr>
            <p:cNvPr id="167" name="Google Shape;167;p9"/>
            <p:cNvSpPr/>
            <p:nvPr/>
          </p:nvSpPr>
          <p:spPr>
            <a:xfrm rot="5400000">
              <a:off x="-21320" y="341"/>
              <a:ext cx="1469100" cy="1469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 rot="-5400000" flipH="1">
              <a:off x="7985100" y="-151500"/>
              <a:ext cx="1007400" cy="131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4031160" y="2097760"/>
            <a:ext cx="6430560" cy="1885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subTitle" idx="1"/>
          </p:nvPr>
        </p:nvSpPr>
        <p:spPr>
          <a:xfrm>
            <a:off x="4031181" y="4643568"/>
            <a:ext cx="6430560" cy="15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6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560"/>
              </a:spcBef>
              <a:spcAft>
                <a:spcPts val="256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82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7D0EB80-5ACB-4B75-B1FE-BC47C43D1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5539" y="-12160"/>
            <a:ext cx="14635939" cy="428461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C2375C0B-9A4C-42FF-991E-CA66F2BCF7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16740" y="2088960"/>
            <a:ext cx="2430791" cy="421337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76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236" y="407412"/>
            <a:ext cx="13887836" cy="8690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48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3755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15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8"/>
          <p:cNvGrpSpPr/>
          <p:nvPr/>
        </p:nvGrpSpPr>
        <p:grpSpPr>
          <a:xfrm>
            <a:off x="-34112" y="0"/>
            <a:ext cx="14664528" cy="8229587"/>
            <a:chOff x="-21320" y="0"/>
            <a:chExt cx="9165330" cy="5143492"/>
          </a:xfrm>
        </p:grpSpPr>
        <p:sp>
          <p:nvSpPr>
            <p:cNvPr id="121" name="Google Shape;121;p8"/>
            <p:cNvSpPr/>
            <p:nvPr/>
          </p:nvSpPr>
          <p:spPr>
            <a:xfrm rot="-10788682" flipH="1">
              <a:off x="8046756" y="2142"/>
              <a:ext cx="1093506" cy="226651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 rot="5400000" flipH="1">
              <a:off x="-21320" y="3674391"/>
              <a:ext cx="1469100" cy="14691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3" name="Google Shape;123;p8"/>
            <p:cNvGrpSpPr/>
            <p:nvPr/>
          </p:nvGrpSpPr>
          <p:grpSpPr>
            <a:xfrm flipH="1">
              <a:off x="102549" y="3753771"/>
              <a:ext cx="1178731" cy="1178731"/>
              <a:chOff x="1834375" y="-134612"/>
              <a:chExt cx="1348200" cy="13482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8" name="Google Shape;128;p8"/>
            <p:cNvGrpSpPr/>
            <p:nvPr/>
          </p:nvGrpSpPr>
          <p:grpSpPr>
            <a:xfrm flipH="1">
              <a:off x="7477543" y="4361512"/>
              <a:ext cx="1135902" cy="485000"/>
              <a:chOff x="476924" y="4119012"/>
              <a:chExt cx="1135902" cy="485000"/>
            </a:xfrm>
          </p:grpSpPr>
          <p:grpSp>
            <p:nvGrpSpPr>
              <p:cNvPr id="129" name="Google Shape;129;p8"/>
              <p:cNvGrpSpPr/>
              <p:nvPr/>
            </p:nvGrpSpPr>
            <p:grpSpPr>
              <a:xfrm rot="5400000">
                <a:off x="970325" y="36256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30" name="Google Shape;130;p8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1" name="Google Shape;131;p8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2" name="Google Shape;132;p8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3" name="Google Shape;133;p8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4" name="Google Shape;134;p8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35" name="Google Shape;135;p8"/>
              <p:cNvGrpSpPr/>
              <p:nvPr/>
            </p:nvGrpSpPr>
            <p:grpSpPr>
              <a:xfrm rot="5400000">
                <a:off x="970325" y="3961511"/>
                <a:ext cx="149100" cy="1135902"/>
                <a:chOff x="8356225" y="3672261"/>
                <a:chExt cx="149100" cy="1135902"/>
              </a:xfrm>
            </p:grpSpPr>
            <p:sp>
              <p:nvSpPr>
                <p:cNvPr id="136" name="Google Shape;136;p8"/>
                <p:cNvSpPr/>
                <p:nvPr/>
              </p:nvSpPr>
              <p:spPr>
                <a:xfrm rot="5400000">
                  <a:off x="8356525" y="4165874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7" name="Google Shape;137;p8"/>
                <p:cNvSpPr/>
                <p:nvPr/>
              </p:nvSpPr>
              <p:spPr>
                <a:xfrm rot="5400000">
                  <a:off x="8356525" y="4412406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8" name="Google Shape;138;p8"/>
                <p:cNvSpPr/>
                <p:nvPr/>
              </p:nvSpPr>
              <p:spPr>
                <a:xfrm rot="5400000">
                  <a:off x="8356525" y="3918917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39" name="Google Shape;139;p8"/>
                <p:cNvSpPr/>
                <p:nvPr/>
              </p:nvSpPr>
              <p:spPr>
                <a:xfrm rot="5400000">
                  <a:off x="8356525" y="3671961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140" name="Google Shape;140;p8"/>
                <p:cNvSpPr/>
                <p:nvPr/>
              </p:nvSpPr>
              <p:spPr>
                <a:xfrm rot="5400000">
                  <a:off x="8356525" y="4659363"/>
                  <a:ext cx="148500" cy="149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80"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sp>
          <p:nvSpPr>
            <p:cNvPr id="141" name="Google Shape;141;p8"/>
            <p:cNvSpPr/>
            <p:nvPr/>
          </p:nvSpPr>
          <p:spPr>
            <a:xfrm rot="-5400000" flipH="1">
              <a:off x="7674905" y="341"/>
              <a:ext cx="1469100" cy="14691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 rot="5400000">
              <a:off x="130184" y="-151500"/>
              <a:ext cx="1007400" cy="131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01625" y="730250"/>
              <a:ext cx="739200" cy="739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3150960" y="2753989"/>
            <a:ext cx="8328480" cy="27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6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940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7920" y="1223680"/>
            <a:ext cx="7007520" cy="39878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32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47280" y="5963920"/>
            <a:ext cx="3838560" cy="1140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6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" y="-604498"/>
            <a:ext cx="14710558" cy="9373739"/>
            <a:chOff x="1" y="-377812"/>
            <a:chExt cx="9194099" cy="5858587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428740" y="-377812"/>
              <a:ext cx="1085166" cy="1085166"/>
              <a:chOff x="1834375" y="-134612"/>
              <a:chExt cx="1348200" cy="13482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217015" y="248044"/>
                <a:ext cx="582900" cy="5829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087561" y="118585"/>
                <a:ext cx="841800" cy="841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966075" y="-2888"/>
                <a:ext cx="1084800" cy="10848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834375" y="-134612"/>
                <a:ext cx="1348200" cy="1348200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 rot="5388639">
              <a:off x="541948" y="3708045"/>
              <a:ext cx="907805" cy="1988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5389199">
              <a:off x="297299" y="4514022"/>
              <a:ext cx="668403" cy="126090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543350" y="59500"/>
              <a:ext cx="1262700" cy="2038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20" name="Google Shape;20;p2"/>
            <p:cNvGrpSpPr/>
            <p:nvPr/>
          </p:nvGrpSpPr>
          <p:grpSpPr>
            <a:xfrm>
              <a:off x="8356225" y="3672261"/>
              <a:ext cx="149100" cy="1135902"/>
              <a:chOff x="8356225" y="3672261"/>
              <a:chExt cx="149100" cy="1135902"/>
            </a:xfrm>
          </p:grpSpPr>
          <p:sp>
            <p:nvSpPr>
              <p:cNvPr id="21" name="Google Shape;21;p2"/>
              <p:cNvSpPr/>
              <p:nvPr/>
            </p:nvSpPr>
            <p:spPr>
              <a:xfrm rot="5400000">
                <a:off x="8356525" y="4165874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5400000">
                <a:off x="8356525" y="4412406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5400000">
                <a:off x="8356525" y="3918917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5400000">
                <a:off x="8356525" y="3671961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400000">
                <a:off x="8356525" y="4659363"/>
                <a:ext cx="148500" cy="149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236175" y="3825675"/>
              <a:ext cx="713100" cy="713100"/>
              <a:chOff x="716700" y="3082200"/>
              <a:chExt cx="713100" cy="7131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16700" y="3082200"/>
                <a:ext cx="713100" cy="7131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9450" y="3334950"/>
                <a:ext cx="207600" cy="207600"/>
              </a:xfrm>
              <a:prstGeom prst="star4">
                <a:avLst>
                  <a:gd name="adj" fmla="val 22268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8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55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94498" y="11974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39667" y="5491993"/>
            <a:ext cx="30120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zh-TW" altLang="en-US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grpSp>
        <p:nvGrpSpPr>
          <p:cNvPr id="15" name="Group 323">
            <a:extLst>
              <a:ext uri="{FF2B5EF4-FFF2-40B4-BE49-F238E27FC236}">
                <a16:creationId xmlns:a16="http://schemas.microsoft.com/office/drawing/2014/main" id="{F8757124-4DEB-6852-B1D6-D3BC76280256}"/>
              </a:ext>
            </a:extLst>
          </p:cNvPr>
          <p:cNvGrpSpPr/>
          <p:nvPr/>
        </p:nvGrpSpPr>
        <p:grpSpPr>
          <a:xfrm flipH="1">
            <a:off x="141801" y="5814838"/>
            <a:ext cx="2416047" cy="2396330"/>
            <a:chOff x="837241" y="2338238"/>
            <a:chExt cx="4340280" cy="3982478"/>
          </a:xfrm>
        </p:grpSpPr>
        <p:sp>
          <p:nvSpPr>
            <p:cNvPr id="16" name="Freeform: Shape 324">
              <a:extLst>
                <a:ext uri="{FF2B5EF4-FFF2-40B4-BE49-F238E27FC236}">
                  <a16:creationId xmlns:a16="http://schemas.microsoft.com/office/drawing/2014/main" id="{8938E9F1-6800-F25D-6C1E-B028C901FFB0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325">
              <a:extLst>
                <a:ext uri="{FF2B5EF4-FFF2-40B4-BE49-F238E27FC236}">
                  <a16:creationId xmlns:a16="http://schemas.microsoft.com/office/drawing/2014/main" id="{B68F3E27-4011-28D1-934E-04ED9C809921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26">
              <a:extLst>
                <a:ext uri="{FF2B5EF4-FFF2-40B4-BE49-F238E27FC236}">
                  <a16:creationId xmlns:a16="http://schemas.microsoft.com/office/drawing/2014/main" id="{F4BB3E6C-B1BA-1BDF-1019-9346D5C5A4F9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27">
              <a:extLst>
                <a:ext uri="{FF2B5EF4-FFF2-40B4-BE49-F238E27FC236}">
                  <a16:creationId xmlns:a16="http://schemas.microsoft.com/office/drawing/2014/main" id="{2C117BAA-9508-AB11-8EE4-11D825D2C352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28">
              <a:extLst>
                <a:ext uri="{FF2B5EF4-FFF2-40B4-BE49-F238E27FC236}">
                  <a16:creationId xmlns:a16="http://schemas.microsoft.com/office/drawing/2014/main" id="{7EB0878A-C681-6ECF-A2BC-4E963F439F9B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29">
              <a:extLst>
                <a:ext uri="{FF2B5EF4-FFF2-40B4-BE49-F238E27FC236}">
                  <a16:creationId xmlns:a16="http://schemas.microsoft.com/office/drawing/2014/main" id="{A943930C-24BD-C57C-1243-D9DF0C41C3B3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984FF9DA-6DA2-2A66-4715-8DCB3B65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881"/>
          <a:stretch/>
        </p:blipFill>
        <p:spPr>
          <a:xfrm>
            <a:off x="0" y="18432"/>
            <a:ext cx="3064476" cy="185461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306D31-783C-CFBF-EA4C-AA51918F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8" y="2028506"/>
            <a:ext cx="2426862" cy="24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89AE58-591D-3A93-7AC9-3FFFDFE90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401" y="5338692"/>
            <a:ext cx="1271933" cy="115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3330E11-475F-B4BA-A140-99808CBA34DE}"/>
              </a:ext>
            </a:extLst>
          </p:cNvPr>
          <p:cNvSpPr txBox="1"/>
          <p:nvPr/>
        </p:nvSpPr>
        <p:spPr>
          <a:xfrm>
            <a:off x="4487917" y="2642507"/>
            <a:ext cx="7463002" cy="168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6400" algn="ctr" fontAlgn="base">
              <a:lnSpc>
                <a:spcPct val="150000"/>
              </a:lnSpc>
            </a:pPr>
            <a:r>
              <a:rPr lang="en-US" altLang="zh-TW" sz="2400" b="1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PMingLiU" panose="02020500000000000000" pitchFamily="18" charset="-120"/>
              </a:rPr>
              <a:t>Design and Implementation of an English Learning System Integrating LINE Bot with Large Language Models</a:t>
            </a:r>
            <a:endParaRPr lang="zh-TW" altLang="zh-TW" b="1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PMingLiU" panose="02020500000000000000" pitchFamily="18" charset="-120"/>
            </a:endParaRPr>
          </a:p>
        </p:txBody>
      </p:sp>
      <p:sp>
        <p:nvSpPr>
          <p:cNvPr id="10" name="Google Shape;184;p29">
            <a:extLst>
              <a:ext uri="{FF2B5EF4-FFF2-40B4-BE49-F238E27FC236}">
                <a16:creationId xmlns:a16="http://schemas.microsoft.com/office/drawing/2014/main" id="{9964DBE5-7F66-C8BA-2650-1125D631C69C}"/>
              </a:ext>
            </a:extLst>
          </p:cNvPr>
          <p:cNvSpPr txBox="1">
            <a:spLocks/>
          </p:cNvSpPr>
          <p:nvPr/>
        </p:nvSpPr>
        <p:spPr>
          <a:xfrm>
            <a:off x="6139667" y="5525003"/>
            <a:ext cx="4584357" cy="943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國立高雄科技大學 資訊管理學系研究所</a:t>
            </a:r>
            <a:endParaRPr lang="en-US" altLang="zh-TW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報告學生：杜宜霖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指導老師：黃承龍教授</a:t>
            </a:r>
          </a:p>
          <a:p>
            <a:endParaRPr lang="zh-TW" altLang="en-US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Overpass Light" pitchFamily="34" charset="-120"/>
            </a:endParaRPr>
          </a:p>
          <a:p>
            <a:pPr marL="0" indent="0"/>
            <a:endParaRPr lang="zh-TW" altLang="en-US" sz="2000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0ACDEE-B636-8739-4C5D-3BF891CFF5F0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dirty="0">
                <a:effectLst/>
              </a:rPr>
              <a:t> 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B013109-CF46-BA71-B7CA-E5B5DB97AA5A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dirty="0">
                <a:effectLst/>
              </a:rPr>
              <a:t> 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2"/>
          <p:cNvSpPr txBox="1">
            <a:spLocks noGrp="1"/>
          </p:cNvSpPr>
          <p:nvPr>
            <p:ph type="subTitle" idx="1"/>
          </p:nvPr>
        </p:nvSpPr>
        <p:spPr>
          <a:xfrm>
            <a:off x="7074811" y="6069466"/>
            <a:ext cx="6124354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/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資訊管理學系研究所</a:t>
            </a:r>
          </a:p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報告學生：杜宜霖</a:t>
            </a:r>
          </a:p>
          <a:p>
            <a:pPr marL="0" indent="0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指導老師：黃承龍教授</a:t>
            </a:r>
          </a:p>
          <a:p>
            <a:pPr marL="0" indent="0" algn="l"/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/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02" name="Google Shape;602;p42"/>
          <p:cNvCxnSpPr/>
          <p:nvPr/>
        </p:nvCxnSpPr>
        <p:spPr>
          <a:xfrm>
            <a:off x="1513760" y="5578800"/>
            <a:ext cx="11558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4ED9B3-EB6F-482F-8053-9F2E2A295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147" y="6069466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E9BEDB3-996A-53CA-9878-E84B7955898C}"/>
              </a:ext>
            </a:extLst>
          </p:cNvPr>
          <p:cNvSpPr/>
          <p:nvPr/>
        </p:nvSpPr>
        <p:spPr>
          <a:xfrm>
            <a:off x="2496124" y="14359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C0C525-C035-B8BF-E000-3F526A61630A}"/>
              </a:ext>
            </a:extLst>
          </p:cNvPr>
          <p:cNvSpPr txBox="1"/>
          <p:nvPr/>
        </p:nvSpPr>
        <p:spPr>
          <a:xfrm>
            <a:off x="2589543" y="2881046"/>
            <a:ext cx="7463002" cy="168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06400" algn="ctr" fontAlgn="base">
              <a:lnSpc>
                <a:spcPct val="150000"/>
              </a:lnSpc>
            </a:pPr>
            <a:r>
              <a:rPr lang="en-US" altLang="zh-TW" sz="2400" b="1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PMingLiU" panose="02020500000000000000" pitchFamily="18" charset="-120"/>
              </a:rPr>
              <a:t>Design and Implementation of an English Learning System Integrating LINE Bot with Large Language Models</a:t>
            </a:r>
            <a:endParaRPr lang="zh-TW" altLang="zh-TW" b="1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08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/>
          <p:cNvSpPr txBox="1">
            <a:spLocks noGrp="1"/>
          </p:cNvSpPr>
          <p:nvPr>
            <p:ph type="title"/>
          </p:nvPr>
        </p:nvSpPr>
        <p:spPr>
          <a:xfrm>
            <a:off x="4031160" y="2097760"/>
            <a:ext cx="6430560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緒論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61" name="Google Shape;661;p46"/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7988"/>
            <a:ext cx="3060700" cy="8683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研究背景</a:t>
            </a:r>
            <a:endParaRPr lang="en-US" altLang="zh-TW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>
              <a:buNone/>
            </a:pP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DA546-7637-458F-9AF3-2C3E84329F8E}"/>
              </a:ext>
            </a:extLst>
          </p:cNvPr>
          <p:cNvSpPr txBox="1"/>
          <p:nvPr/>
        </p:nvSpPr>
        <p:spPr>
          <a:xfrm>
            <a:off x="10330966" y="2410234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昂貴的課程形成經濟門檻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66C953-8E78-4339-99A6-4604FBCACA2A}"/>
              </a:ext>
            </a:extLst>
          </p:cNvPr>
          <p:cNvSpPr txBox="1"/>
          <p:nvPr/>
        </p:nvSpPr>
        <p:spPr>
          <a:xfrm>
            <a:off x="10330966" y="4067557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使用者難以主動學習與自主練習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C0347D-20FF-4740-A892-8E4532750AF5}"/>
              </a:ext>
            </a:extLst>
          </p:cNvPr>
          <p:cNvSpPr txBox="1"/>
          <p:nvPr/>
        </p:nvSpPr>
        <p:spPr>
          <a:xfrm>
            <a:off x="10330967" y="5724880"/>
            <a:ext cx="3019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師資與個別指導資源不足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F70C98-BDC8-4A38-B4DE-48ED99962DE3}"/>
              </a:ext>
            </a:extLst>
          </p:cNvPr>
          <p:cNvSpPr txBox="1"/>
          <p:nvPr/>
        </p:nvSpPr>
        <p:spPr>
          <a:xfrm>
            <a:off x="1041011" y="2410234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缺乏實際操練機會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D45F3F-87FE-4526-B027-79FACDAF1C53}"/>
              </a:ext>
            </a:extLst>
          </p:cNvPr>
          <p:cNvSpPr txBox="1"/>
          <p:nvPr/>
        </p:nvSpPr>
        <p:spPr>
          <a:xfrm>
            <a:off x="1041011" y="4067557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學習動機不足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3C26FD-598C-4DE1-BBED-92661B32B328}"/>
              </a:ext>
            </a:extLst>
          </p:cNvPr>
          <p:cNvSpPr txBox="1"/>
          <p:nvPr/>
        </p:nvSpPr>
        <p:spPr>
          <a:xfrm>
            <a:off x="1280159" y="5724880"/>
            <a:ext cx="3037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課程內容與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學生程度不符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DF7A2C-EEA0-4662-98AD-EE45F7ED54F5}"/>
              </a:ext>
            </a:extLst>
          </p:cNvPr>
          <p:cNvSpPr/>
          <p:nvPr/>
        </p:nvSpPr>
        <p:spPr>
          <a:xfrm>
            <a:off x="9216744" y="243216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4B5F07D-D028-459B-9B1B-A98877943613}"/>
              </a:ext>
            </a:extLst>
          </p:cNvPr>
          <p:cNvSpPr/>
          <p:nvPr/>
        </p:nvSpPr>
        <p:spPr>
          <a:xfrm>
            <a:off x="9216744" y="4100911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06D285E-B491-4182-BDED-0DA094A78E24}"/>
              </a:ext>
            </a:extLst>
          </p:cNvPr>
          <p:cNvSpPr/>
          <p:nvPr/>
        </p:nvSpPr>
        <p:spPr>
          <a:xfrm>
            <a:off x="9216744" y="5803623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C5D670B-8B7D-4FB2-BBA7-F568EB53A013}"/>
              </a:ext>
            </a:extLst>
          </p:cNvPr>
          <p:cNvSpPr/>
          <p:nvPr/>
        </p:nvSpPr>
        <p:spPr>
          <a:xfrm>
            <a:off x="4480267" y="244213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639E2A1-D675-41D2-B395-0DD759AE87E8}"/>
              </a:ext>
            </a:extLst>
          </p:cNvPr>
          <p:cNvSpPr/>
          <p:nvPr/>
        </p:nvSpPr>
        <p:spPr>
          <a:xfrm>
            <a:off x="4480267" y="4084008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EEFF939-6B58-47BF-88B9-ABF1F8F190E8}"/>
              </a:ext>
            </a:extLst>
          </p:cNvPr>
          <p:cNvSpPr/>
          <p:nvPr/>
        </p:nvSpPr>
        <p:spPr>
          <a:xfrm>
            <a:off x="4480267" y="5759842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475A4E7-78C2-4EDF-A569-D0C9A59B52E3}"/>
              </a:ext>
            </a:extLst>
          </p:cNvPr>
          <p:cNvGrpSpPr/>
          <p:nvPr/>
        </p:nvGrpSpPr>
        <p:grpSpPr>
          <a:xfrm>
            <a:off x="6329434" y="3557426"/>
            <a:ext cx="2003375" cy="2003375"/>
            <a:chOff x="3807530" y="2946763"/>
            <a:chExt cx="1512168" cy="151216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1407A0-7EC7-47B3-BAA7-1B04BFB1ECD1}"/>
                </a:ext>
              </a:extLst>
            </p:cNvPr>
            <p:cNvSpPr/>
            <p:nvPr/>
          </p:nvSpPr>
          <p:spPr>
            <a:xfrm>
              <a:off x="3897540" y="3036773"/>
              <a:ext cx="1332148" cy="1332148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37E430D-3782-44AD-B3D4-E4AEC4D26D0F}"/>
                </a:ext>
              </a:extLst>
            </p:cNvPr>
            <p:cNvSpPr/>
            <p:nvPr/>
          </p:nvSpPr>
          <p:spPr>
            <a:xfrm>
              <a:off x="3807530" y="2946763"/>
              <a:ext cx="1512168" cy="1512168"/>
            </a:xfrm>
            <a:prstGeom prst="ellipse">
              <a:avLst/>
            </a:prstGeom>
            <a:noFill/>
            <a:ln w="15875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4AF8747-ECF0-4502-B583-F2978D7887B4}"/>
              </a:ext>
            </a:extLst>
          </p:cNvPr>
          <p:cNvCxnSpPr>
            <a:cxnSpLocks/>
            <a:stCxn id="103" idx="6"/>
            <a:endCxn id="108" idx="1"/>
          </p:cNvCxnSpPr>
          <p:nvPr/>
        </p:nvCxnSpPr>
        <p:spPr>
          <a:xfrm>
            <a:off x="5413659" y="2908833"/>
            <a:ext cx="1209163" cy="9419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AB16BBE-209D-42A4-B442-E35A6CAFEB93}"/>
              </a:ext>
            </a:extLst>
          </p:cNvPr>
          <p:cNvCxnSpPr>
            <a:cxnSpLocks/>
            <a:stCxn id="104" idx="6"/>
            <a:endCxn id="108" idx="2"/>
          </p:cNvCxnSpPr>
          <p:nvPr/>
        </p:nvCxnSpPr>
        <p:spPr>
          <a:xfrm>
            <a:off x="5413659" y="4550701"/>
            <a:ext cx="915775" cy="84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A780DBB-7D41-4369-A581-1B1D319CB831}"/>
              </a:ext>
            </a:extLst>
          </p:cNvPr>
          <p:cNvCxnSpPr>
            <a:cxnSpLocks/>
            <a:stCxn id="105" idx="6"/>
            <a:endCxn id="108" idx="3"/>
          </p:cNvCxnSpPr>
          <p:nvPr/>
        </p:nvCxnSpPr>
        <p:spPr>
          <a:xfrm flipV="1">
            <a:off x="5413659" y="5267411"/>
            <a:ext cx="1209163" cy="95912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05623FD-3D86-4389-A21A-313DE4B6F4CB}"/>
              </a:ext>
            </a:extLst>
          </p:cNvPr>
          <p:cNvCxnSpPr>
            <a:cxnSpLocks/>
            <a:stCxn id="102" idx="2"/>
            <a:endCxn id="108" idx="5"/>
          </p:cNvCxnSpPr>
          <p:nvPr/>
        </p:nvCxnSpPr>
        <p:spPr>
          <a:xfrm flipH="1" flipV="1">
            <a:off x="8039422" y="5267413"/>
            <a:ext cx="1177322" cy="100290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FA0363-6792-4877-ABD7-6E155E4046E9}"/>
              </a:ext>
            </a:extLst>
          </p:cNvPr>
          <p:cNvCxnSpPr>
            <a:cxnSpLocks/>
            <a:stCxn id="101" idx="2"/>
            <a:endCxn id="108" idx="6"/>
          </p:cNvCxnSpPr>
          <p:nvPr/>
        </p:nvCxnSpPr>
        <p:spPr>
          <a:xfrm flipH="1" flipV="1">
            <a:off x="8332809" y="4559113"/>
            <a:ext cx="883934" cy="849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B003FE-1BCF-489C-925C-FAEF86D90179}"/>
              </a:ext>
            </a:extLst>
          </p:cNvPr>
          <p:cNvCxnSpPr>
            <a:cxnSpLocks/>
            <a:stCxn id="100" idx="2"/>
            <a:endCxn id="108" idx="7"/>
          </p:cNvCxnSpPr>
          <p:nvPr/>
        </p:nvCxnSpPr>
        <p:spPr>
          <a:xfrm flipH="1">
            <a:off x="8039422" y="2898861"/>
            <a:ext cx="1177322" cy="9519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488088D-6AD2-4CFF-84E0-141D83AB67B3}"/>
              </a:ext>
            </a:extLst>
          </p:cNvPr>
          <p:cNvSpPr txBox="1"/>
          <p:nvPr/>
        </p:nvSpPr>
        <p:spPr>
          <a:xfrm>
            <a:off x="6491043" y="4047333"/>
            <a:ext cx="1717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itchFamily="34" charset="0"/>
              </a:rPr>
              <a:t>英語學習現況痛點</a:t>
            </a:r>
            <a:endParaRPr lang="ko-KR" altLang="en-US" sz="2800" b="1" dirty="0">
              <a:solidFill>
                <a:schemeClr val="bg1"/>
              </a:solidFill>
              <a:latin typeface="Microsoft JhengHei" panose="020B0604030504040204" pitchFamily="34" charset="-120"/>
              <a:cs typeface="Calibri" pitchFamily="34" charset="0"/>
            </a:endParaRPr>
          </a:p>
        </p:txBody>
      </p:sp>
      <p:sp>
        <p:nvSpPr>
          <p:cNvPr id="119" name="Rectangle 30">
            <a:extLst>
              <a:ext uri="{FF2B5EF4-FFF2-40B4-BE49-F238E27FC236}">
                <a16:creationId xmlns:a16="http://schemas.microsoft.com/office/drawing/2014/main" id="{2A47F3C4-CF8D-45BB-9BC0-8F7F3CA10E3E}"/>
              </a:ext>
            </a:extLst>
          </p:cNvPr>
          <p:cNvSpPr/>
          <p:nvPr/>
        </p:nvSpPr>
        <p:spPr>
          <a:xfrm>
            <a:off x="4771724" y="6036768"/>
            <a:ext cx="380651" cy="37953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0" name="Frame 17">
            <a:extLst>
              <a:ext uri="{FF2B5EF4-FFF2-40B4-BE49-F238E27FC236}">
                <a16:creationId xmlns:a16="http://schemas.microsoft.com/office/drawing/2014/main" id="{ADBC3508-69E5-45F6-A48E-9B974B5CEA07}"/>
              </a:ext>
            </a:extLst>
          </p:cNvPr>
          <p:cNvSpPr/>
          <p:nvPr/>
        </p:nvSpPr>
        <p:spPr>
          <a:xfrm>
            <a:off x="4762946" y="2714530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060F5C2A-47F2-4B69-BBE2-4CE32C45493E}"/>
              </a:ext>
            </a:extLst>
          </p:cNvPr>
          <p:cNvSpPr/>
          <p:nvPr/>
        </p:nvSpPr>
        <p:spPr>
          <a:xfrm>
            <a:off x="9452105" y="2713411"/>
            <a:ext cx="494602" cy="362465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2" name="Donut 39">
            <a:extLst>
              <a:ext uri="{FF2B5EF4-FFF2-40B4-BE49-F238E27FC236}">
                <a16:creationId xmlns:a16="http://schemas.microsoft.com/office/drawing/2014/main" id="{B4EB1CC5-CD98-4F7E-9D0C-8BC16F0B6BC0}"/>
              </a:ext>
            </a:extLst>
          </p:cNvPr>
          <p:cNvSpPr/>
          <p:nvPr/>
        </p:nvSpPr>
        <p:spPr>
          <a:xfrm>
            <a:off x="9446258" y="4333015"/>
            <a:ext cx="489142" cy="4891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3" name="Trapezoid 22">
            <a:extLst>
              <a:ext uri="{FF2B5EF4-FFF2-40B4-BE49-F238E27FC236}">
                <a16:creationId xmlns:a16="http://schemas.microsoft.com/office/drawing/2014/main" id="{AEC77BBE-1CB3-428C-BAB7-B807B024431F}"/>
              </a:ext>
            </a:extLst>
          </p:cNvPr>
          <p:cNvSpPr>
            <a:spLocks noChangeAspect="1"/>
          </p:cNvSpPr>
          <p:nvPr/>
        </p:nvSpPr>
        <p:spPr>
          <a:xfrm>
            <a:off x="9429610" y="6133066"/>
            <a:ext cx="539594" cy="274502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4" name="Freeform 53">
            <a:extLst>
              <a:ext uri="{FF2B5EF4-FFF2-40B4-BE49-F238E27FC236}">
                <a16:creationId xmlns:a16="http://schemas.microsoft.com/office/drawing/2014/main" id="{FE07BEE4-0B59-4D06-8B24-FE3D83416B69}"/>
              </a:ext>
            </a:extLst>
          </p:cNvPr>
          <p:cNvSpPr/>
          <p:nvPr/>
        </p:nvSpPr>
        <p:spPr>
          <a:xfrm>
            <a:off x="4742118" y="4344137"/>
            <a:ext cx="459341" cy="47094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8B93A3-77B5-2252-5F18-28AE8CA868D4}"/>
              </a:ext>
            </a:extLst>
          </p:cNvPr>
          <p:cNvSpPr txBox="1"/>
          <p:nvPr/>
        </p:nvSpPr>
        <p:spPr>
          <a:xfrm>
            <a:off x="997978" y="1732386"/>
            <a:ext cx="12297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全球化下英語溝通力的重要性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940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7F5018-5A1B-4348-B4C7-F90DA3E7FB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269" y="290338"/>
            <a:ext cx="2940841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研究動機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AF9A27-7FF1-4013-B095-48D090C511C6}"/>
              </a:ext>
            </a:extLst>
          </p:cNvPr>
          <p:cNvGrpSpPr/>
          <p:nvPr/>
        </p:nvGrpSpPr>
        <p:grpSpPr>
          <a:xfrm>
            <a:off x="4489411" y="2116555"/>
            <a:ext cx="5651578" cy="4468602"/>
            <a:chOff x="2228055" y="1971102"/>
            <a:chExt cx="4575969" cy="3618138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8C2A3CAF-74F9-4B6E-841E-A026F21AC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055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913381" y="1203"/>
                  </a:lnTo>
                  <a:lnTo>
                    <a:pt x="2053042" y="12022"/>
                  </a:lnTo>
                  <a:lnTo>
                    <a:pt x="2185723" y="30056"/>
                  </a:lnTo>
                  <a:lnTo>
                    <a:pt x="2312583" y="56506"/>
                  </a:lnTo>
                  <a:lnTo>
                    <a:pt x="2433624" y="88967"/>
                  </a:lnTo>
                  <a:lnTo>
                    <a:pt x="2545354" y="131046"/>
                  </a:lnTo>
                  <a:lnTo>
                    <a:pt x="2653593" y="176731"/>
                  </a:lnTo>
                  <a:lnTo>
                    <a:pt x="2752521" y="230833"/>
                  </a:lnTo>
                  <a:lnTo>
                    <a:pt x="2763561" y="238103"/>
                  </a:lnTo>
                  <a:lnTo>
                    <a:pt x="2764776" y="236609"/>
                  </a:lnTo>
                  <a:cubicBezTo>
                    <a:pt x="3318761" y="687035"/>
                    <a:pt x="3404939" y="1500322"/>
                    <a:pt x="2957653" y="2056846"/>
                  </a:cubicBezTo>
                  <a:lnTo>
                    <a:pt x="2794867" y="1926012"/>
                  </a:lnTo>
                  <a:cubicBezTo>
                    <a:pt x="3170184" y="1459033"/>
                    <a:pt x="3097872" y="776605"/>
                    <a:pt x="2633024" y="398652"/>
                  </a:cubicBezTo>
                  <a:lnTo>
                    <a:pt x="2635535" y="395564"/>
                  </a:lnTo>
                  <a:cubicBezTo>
                    <a:pt x="2458856" y="294299"/>
                    <a:pt x="2250796" y="159602"/>
                    <a:pt x="1912553" y="162771"/>
                  </a:cubicBezTo>
                  <a:cubicBezTo>
                    <a:pt x="1018501" y="171149"/>
                    <a:pt x="651082" y="745769"/>
                    <a:pt x="651082" y="1464934"/>
                  </a:cubicBezTo>
                  <a:cubicBezTo>
                    <a:pt x="651082" y="2065638"/>
                    <a:pt x="1045124" y="2571338"/>
                    <a:pt x="1581345" y="2720212"/>
                  </a:cubicBezTo>
                  <a:cubicBezTo>
                    <a:pt x="2189761" y="2865156"/>
                    <a:pt x="2916596" y="3085457"/>
                    <a:pt x="3019039" y="3381117"/>
                  </a:cubicBezTo>
                  <a:lnTo>
                    <a:pt x="3030682" y="3420409"/>
                  </a:lnTo>
                  <a:lnTo>
                    <a:pt x="3049304" y="3486532"/>
                  </a:lnTo>
                  <a:lnTo>
                    <a:pt x="3067926" y="3553859"/>
                  </a:lnTo>
                  <a:lnTo>
                    <a:pt x="3088874" y="3615173"/>
                  </a:lnTo>
                  <a:lnTo>
                    <a:pt x="3090086" y="3618138"/>
                  </a:lnTo>
                  <a:lnTo>
                    <a:pt x="1487028" y="3618138"/>
                  </a:lnTo>
                  <a:lnTo>
                    <a:pt x="1482754" y="3594736"/>
                  </a:lnTo>
                  <a:lnTo>
                    <a:pt x="1471115" y="3529813"/>
                  </a:lnTo>
                  <a:lnTo>
                    <a:pt x="1458312" y="3466094"/>
                  </a:lnTo>
                  <a:lnTo>
                    <a:pt x="1443182" y="3404780"/>
                  </a:lnTo>
                  <a:lnTo>
                    <a:pt x="1428052" y="3345869"/>
                  </a:lnTo>
                  <a:lnTo>
                    <a:pt x="1409430" y="3294173"/>
                  </a:lnTo>
                  <a:lnTo>
                    <a:pt x="1389645" y="3249689"/>
                  </a:lnTo>
                  <a:lnTo>
                    <a:pt x="1368696" y="3214824"/>
                  </a:lnTo>
                  <a:lnTo>
                    <a:pt x="1345419" y="3193183"/>
                  </a:lnTo>
                  <a:lnTo>
                    <a:pt x="1319814" y="3182363"/>
                  </a:lnTo>
                  <a:lnTo>
                    <a:pt x="1290717" y="3177554"/>
                  </a:lnTo>
                  <a:lnTo>
                    <a:pt x="1256965" y="3179958"/>
                  </a:lnTo>
                  <a:lnTo>
                    <a:pt x="1223213" y="3184767"/>
                  </a:lnTo>
                  <a:lnTo>
                    <a:pt x="1191790" y="3193183"/>
                  </a:lnTo>
                  <a:lnTo>
                    <a:pt x="1161529" y="3201598"/>
                  </a:lnTo>
                  <a:lnTo>
                    <a:pt x="1133597" y="3210015"/>
                  </a:lnTo>
                  <a:lnTo>
                    <a:pt x="1112647" y="3217228"/>
                  </a:lnTo>
                  <a:lnTo>
                    <a:pt x="1062602" y="3234059"/>
                  </a:lnTo>
                  <a:lnTo>
                    <a:pt x="1005573" y="3249689"/>
                  </a:lnTo>
                  <a:lnTo>
                    <a:pt x="941560" y="3262914"/>
                  </a:lnTo>
                  <a:lnTo>
                    <a:pt x="874056" y="3271330"/>
                  </a:lnTo>
                  <a:lnTo>
                    <a:pt x="806552" y="3278543"/>
                  </a:lnTo>
                  <a:lnTo>
                    <a:pt x="737886" y="3280948"/>
                  </a:lnTo>
                  <a:lnTo>
                    <a:pt x="672709" y="3276139"/>
                  </a:lnTo>
                  <a:lnTo>
                    <a:pt x="611025" y="3265318"/>
                  </a:lnTo>
                  <a:lnTo>
                    <a:pt x="577273" y="3256902"/>
                  </a:lnTo>
                  <a:lnTo>
                    <a:pt x="543521" y="3241274"/>
                  </a:lnTo>
                  <a:lnTo>
                    <a:pt x="509769" y="3223240"/>
                  </a:lnTo>
                  <a:lnTo>
                    <a:pt x="480674" y="3201598"/>
                  </a:lnTo>
                  <a:lnTo>
                    <a:pt x="450413" y="3175149"/>
                  </a:lnTo>
                  <a:lnTo>
                    <a:pt x="427136" y="3147498"/>
                  </a:lnTo>
                  <a:lnTo>
                    <a:pt x="410841" y="3112633"/>
                  </a:lnTo>
                  <a:lnTo>
                    <a:pt x="398039" y="3072958"/>
                  </a:lnTo>
                  <a:lnTo>
                    <a:pt x="393384" y="3029676"/>
                  </a:lnTo>
                  <a:lnTo>
                    <a:pt x="398039" y="2981586"/>
                  </a:lnTo>
                  <a:lnTo>
                    <a:pt x="403859" y="2947924"/>
                  </a:lnTo>
                  <a:lnTo>
                    <a:pt x="412006" y="2910653"/>
                  </a:lnTo>
                  <a:lnTo>
                    <a:pt x="421316" y="2872182"/>
                  </a:lnTo>
                  <a:lnTo>
                    <a:pt x="424808" y="2834911"/>
                  </a:lnTo>
                  <a:lnTo>
                    <a:pt x="424808" y="2795237"/>
                  </a:lnTo>
                  <a:lnTo>
                    <a:pt x="414333" y="2760372"/>
                  </a:lnTo>
                  <a:lnTo>
                    <a:pt x="403859" y="2741136"/>
                  </a:lnTo>
                  <a:lnTo>
                    <a:pt x="385236" y="2723102"/>
                  </a:lnTo>
                  <a:lnTo>
                    <a:pt x="365452" y="2709877"/>
                  </a:lnTo>
                  <a:lnTo>
                    <a:pt x="344502" y="2699057"/>
                  </a:lnTo>
                  <a:lnTo>
                    <a:pt x="323552" y="2683427"/>
                  </a:lnTo>
                  <a:lnTo>
                    <a:pt x="307259" y="2666596"/>
                  </a:lnTo>
                  <a:lnTo>
                    <a:pt x="294455" y="2644956"/>
                  </a:lnTo>
                  <a:lnTo>
                    <a:pt x="289800" y="2620911"/>
                  </a:lnTo>
                  <a:lnTo>
                    <a:pt x="292128" y="2596866"/>
                  </a:lnTo>
                  <a:lnTo>
                    <a:pt x="300275" y="2574023"/>
                  </a:lnTo>
                  <a:lnTo>
                    <a:pt x="310750" y="2554786"/>
                  </a:lnTo>
                  <a:lnTo>
                    <a:pt x="317733" y="2535551"/>
                  </a:lnTo>
                  <a:lnTo>
                    <a:pt x="283982" y="2511505"/>
                  </a:lnTo>
                  <a:lnTo>
                    <a:pt x="260703" y="2487461"/>
                  </a:lnTo>
                  <a:lnTo>
                    <a:pt x="247901" y="2463416"/>
                  </a:lnTo>
                  <a:lnTo>
                    <a:pt x="245574" y="2436966"/>
                  </a:lnTo>
                  <a:lnTo>
                    <a:pt x="249066" y="2412922"/>
                  </a:lnTo>
                  <a:lnTo>
                    <a:pt x="258376" y="2386471"/>
                  </a:lnTo>
                  <a:lnTo>
                    <a:pt x="271178" y="2360023"/>
                  </a:lnTo>
                  <a:lnTo>
                    <a:pt x="285145" y="2333572"/>
                  </a:lnTo>
                  <a:lnTo>
                    <a:pt x="297948" y="2305921"/>
                  </a:lnTo>
                  <a:lnTo>
                    <a:pt x="310750" y="2279471"/>
                  </a:lnTo>
                  <a:lnTo>
                    <a:pt x="317733" y="2250617"/>
                  </a:lnTo>
                  <a:lnTo>
                    <a:pt x="294455" y="2228976"/>
                  </a:lnTo>
                  <a:lnTo>
                    <a:pt x="261868" y="2212145"/>
                  </a:lnTo>
                  <a:lnTo>
                    <a:pt x="225789" y="2196515"/>
                  </a:lnTo>
                  <a:lnTo>
                    <a:pt x="188545" y="2183290"/>
                  </a:lnTo>
                  <a:lnTo>
                    <a:pt x="150138" y="2170066"/>
                  </a:lnTo>
                  <a:lnTo>
                    <a:pt x="111731" y="2156841"/>
                  </a:lnTo>
                  <a:lnTo>
                    <a:pt x="75651" y="2141212"/>
                  </a:lnTo>
                  <a:lnTo>
                    <a:pt x="46554" y="2124381"/>
                  </a:lnTo>
                  <a:lnTo>
                    <a:pt x="20950" y="2100335"/>
                  </a:lnTo>
                  <a:lnTo>
                    <a:pt x="5820" y="2071482"/>
                  </a:lnTo>
                  <a:lnTo>
                    <a:pt x="0" y="2041425"/>
                  </a:lnTo>
                  <a:lnTo>
                    <a:pt x="4656" y="2012571"/>
                  </a:lnTo>
                  <a:lnTo>
                    <a:pt x="15130" y="1986122"/>
                  </a:lnTo>
                  <a:lnTo>
                    <a:pt x="31424" y="1964481"/>
                  </a:lnTo>
                  <a:lnTo>
                    <a:pt x="51209" y="1942841"/>
                  </a:lnTo>
                  <a:lnTo>
                    <a:pt x="69831" y="1924807"/>
                  </a:lnTo>
                  <a:lnTo>
                    <a:pt x="84961" y="1910380"/>
                  </a:lnTo>
                  <a:lnTo>
                    <a:pt x="129188" y="1857481"/>
                  </a:lnTo>
                  <a:lnTo>
                    <a:pt x="175742" y="1809391"/>
                  </a:lnTo>
                  <a:lnTo>
                    <a:pt x="222297" y="1761301"/>
                  </a:lnTo>
                  <a:lnTo>
                    <a:pt x="266523" y="1708402"/>
                  </a:lnTo>
                  <a:lnTo>
                    <a:pt x="308423" y="1656704"/>
                  </a:lnTo>
                  <a:lnTo>
                    <a:pt x="346829" y="1597795"/>
                  </a:lnTo>
                  <a:lnTo>
                    <a:pt x="378254" y="1534075"/>
                  </a:lnTo>
                  <a:lnTo>
                    <a:pt x="395711" y="1481176"/>
                  </a:lnTo>
                  <a:lnTo>
                    <a:pt x="401531" y="1429479"/>
                  </a:lnTo>
                  <a:lnTo>
                    <a:pt x="401531" y="1374175"/>
                  </a:lnTo>
                  <a:cubicBezTo>
                    <a:pt x="401143" y="1354538"/>
                    <a:pt x="400754" y="1334901"/>
                    <a:pt x="400367" y="1315264"/>
                  </a:cubicBezTo>
                  <a:lnTo>
                    <a:pt x="398039" y="1256355"/>
                  </a:lnTo>
                  <a:lnTo>
                    <a:pt x="400367" y="1192635"/>
                  </a:lnTo>
                  <a:lnTo>
                    <a:pt x="406186" y="1125309"/>
                  </a:lnTo>
                  <a:lnTo>
                    <a:pt x="471362" y="847589"/>
                  </a:lnTo>
                  <a:lnTo>
                    <a:pt x="512097" y="746600"/>
                  </a:lnTo>
                  <a:lnTo>
                    <a:pt x="560979" y="652824"/>
                  </a:lnTo>
                  <a:lnTo>
                    <a:pt x="618008" y="565059"/>
                  </a:lnTo>
                  <a:lnTo>
                    <a:pt x="683184" y="482103"/>
                  </a:lnTo>
                  <a:lnTo>
                    <a:pt x="755343" y="406361"/>
                  </a:lnTo>
                  <a:lnTo>
                    <a:pt x="833322" y="336631"/>
                  </a:lnTo>
                  <a:lnTo>
                    <a:pt x="918283" y="272912"/>
                  </a:lnTo>
                  <a:lnTo>
                    <a:pt x="1006736" y="216405"/>
                  </a:lnTo>
                  <a:lnTo>
                    <a:pt x="1102172" y="165911"/>
                  </a:lnTo>
                  <a:lnTo>
                    <a:pt x="1199936" y="123832"/>
                  </a:lnTo>
                  <a:lnTo>
                    <a:pt x="1298864" y="86563"/>
                  </a:lnTo>
                  <a:lnTo>
                    <a:pt x="1631727" y="10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7C7035-5F1B-4C77-B730-424AB094F28D}"/>
                </a:ext>
              </a:extLst>
            </p:cNvPr>
            <p:cNvGrpSpPr/>
            <p:nvPr/>
          </p:nvGrpSpPr>
          <p:grpSpPr>
            <a:xfrm>
              <a:off x="4023554" y="4019367"/>
              <a:ext cx="1008112" cy="734938"/>
              <a:chOff x="3509379" y="4293096"/>
              <a:chExt cx="1008112" cy="734938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01712F7-CEB8-4C93-84DB-52B85B3180E8}"/>
                  </a:ext>
                </a:extLst>
              </p:cNvPr>
              <p:cNvSpPr/>
              <p:nvPr/>
            </p:nvSpPr>
            <p:spPr>
              <a:xfrm>
                <a:off x="3509379" y="4293096"/>
                <a:ext cx="1008112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2" name="Rounded Rectangle 13">
                <a:extLst>
                  <a:ext uri="{FF2B5EF4-FFF2-40B4-BE49-F238E27FC236}">
                    <a16:creationId xmlns:a16="http://schemas.microsoft.com/office/drawing/2014/main" id="{B33C049F-3F98-4469-A8A6-833E19324A53}"/>
                  </a:ext>
                </a:extLst>
              </p:cNvPr>
              <p:cNvSpPr/>
              <p:nvPr/>
            </p:nvSpPr>
            <p:spPr>
              <a:xfrm>
                <a:off x="3581435" y="4537695"/>
                <a:ext cx="864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3" name="Chord 12">
                <a:extLst>
                  <a:ext uri="{FF2B5EF4-FFF2-40B4-BE49-F238E27FC236}">
                    <a16:creationId xmlns:a16="http://schemas.microsoft.com/office/drawing/2014/main" id="{10043205-493D-4CE9-89E6-B7D715DFAA76}"/>
                  </a:ext>
                </a:extLst>
              </p:cNvPr>
              <p:cNvSpPr/>
              <p:nvPr/>
            </p:nvSpPr>
            <p:spPr>
              <a:xfrm>
                <a:off x="3766973" y="4535109"/>
                <a:ext cx="492925" cy="492925"/>
              </a:xfrm>
              <a:prstGeom prst="chord">
                <a:avLst>
                  <a:gd name="adj1" fmla="val 21471232"/>
                  <a:gd name="adj2" fmla="val 10878117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76A7136C-8599-42B6-8AEE-EBB40B43FF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60064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631727" y="10821"/>
                  </a:lnTo>
                  <a:lnTo>
                    <a:pt x="1298864" y="86563"/>
                  </a:lnTo>
                  <a:lnTo>
                    <a:pt x="1199936" y="123832"/>
                  </a:lnTo>
                  <a:lnTo>
                    <a:pt x="1102172" y="165911"/>
                  </a:lnTo>
                  <a:lnTo>
                    <a:pt x="1006736" y="216405"/>
                  </a:lnTo>
                  <a:lnTo>
                    <a:pt x="918283" y="272912"/>
                  </a:lnTo>
                  <a:lnTo>
                    <a:pt x="833322" y="336631"/>
                  </a:lnTo>
                  <a:lnTo>
                    <a:pt x="755343" y="406361"/>
                  </a:lnTo>
                  <a:lnTo>
                    <a:pt x="683184" y="482103"/>
                  </a:lnTo>
                  <a:lnTo>
                    <a:pt x="618008" y="565059"/>
                  </a:lnTo>
                  <a:lnTo>
                    <a:pt x="560979" y="652824"/>
                  </a:lnTo>
                  <a:lnTo>
                    <a:pt x="512097" y="746600"/>
                  </a:lnTo>
                  <a:lnTo>
                    <a:pt x="471362" y="847589"/>
                  </a:lnTo>
                  <a:lnTo>
                    <a:pt x="406186" y="1125309"/>
                  </a:lnTo>
                  <a:lnTo>
                    <a:pt x="400367" y="1192635"/>
                  </a:lnTo>
                  <a:lnTo>
                    <a:pt x="398039" y="1256355"/>
                  </a:lnTo>
                  <a:lnTo>
                    <a:pt x="400367" y="1315264"/>
                  </a:lnTo>
                  <a:cubicBezTo>
                    <a:pt x="400754" y="1334901"/>
                    <a:pt x="401143" y="1354538"/>
                    <a:pt x="401531" y="1374175"/>
                  </a:cubicBezTo>
                  <a:lnTo>
                    <a:pt x="401531" y="1429479"/>
                  </a:lnTo>
                  <a:lnTo>
                    <a:pt x="395711" y="1481176"/>
                  </a:lnTo>
                  <a:lnTo>
                    <a:pt x="378254" y="1534075"/>
                  </a:lnTo>
                  <a:lnTo>
                    <a:pt x="346829" y="1597795"/>
                  </a:lnTo>
                  <a:lnTo>
                    <a:pt x="308423" y="1656704"/>
                  </a:lnTo>
                  <a:lnTo>
                    <a:pt x="266523" y="1708402"/>
                  </a:lnTo>
                  <a:lnTo>
                    <a:pt x="222297" y="1761301"/>
                  </a:lnTo>
                  <a:lnTo>
                    <a:pt x="175742" y="1809391"/>
                  </a:lnTo>
                  <a:lnTo>
                    <a:pt x="129188" y="1857481"/>
                  </a:lnTo>
                  <a:lnTo>
                    <a:pt x="84961" y="1910380"/>
                  </a:lnTo>
                  <a:lnTo>
                    <a:pt x="69831" y="1924807"/>
                  </a:lnTo>
                  <a:lnTo>
                    <a:pt x="51209" y="1942841"/>
                  </a:lnTo>
                  <a:lnTo>
                    <a:pt x="31424" y="1964481"/>
                  </a:lnTo>
                  <a:lnTo>
                    <a:pt x="15130" y="1986122"/>
                  </a:lnTo>
                  <a:lnTo>
                    <a:pt x="4656" y="2012571"/>
                  </a:lnTo>
                  <a:lnTo>
                    <a:pt x="0" y="2041425"/>
                  </a:lnTo>
                  <a:lnTo>
                    <a:pt x="5820" y="2071482"/>
                  </a:lnTo>
                  <a:lnTo>
                    <a:pt x="20950" y="2100335"/>
                  </a:lnTo>
                  <a:lnTo>
                    <a:pt x="46554" y="2124381"/>
                  </a:lnTo>
                  <a:lnTo>
                    <a:pt x="75651" y="2141212"/>
                  </a:lnTo>
                  <a:lnTo>
                    <a:pt x="111731" y="2156841"/>
                  </a:lnTo>
                  <a:lnTo>
                    <a:pt x="150138" y="2170066"/>
                  </a:lnTo>
                  <a:lnTo>
                    <a:pt x="188545" y="2183290"/>
                  </a:lnTo>
                  <a:lnTo>
                    <a:pt x="225789" y="2196515"/>
                  </a:lnTo>
                  <a:lnTo>
                    <a:pt x="261868" y="2212145"/>
                  </a:lnTo>
                  <a:lnTo>
                    <a:pt x="294455" y="2228976"/>
                  </a:lnTo>
                  <a:lnTo>
                    <a:pt x="317733" y="2250617"/>
                  </a:lnTo>
                  <a:lnTo>
                    <a:pt x="310750" y="2279471"/>
                  </a:lnTo>
                  <a:lnTo>
                    <a:pt x="297948" y="2305921"/>
                  </a:lnTo>
                  <a:lnTo>
                    <a:pt x="285145" y="2333572"/>
                  </a:lnTo>
                  <a:lnTo>
                    <a:pt x="271178" y="2360023"/>
                  </a:lnTo>
                  <a:lnTo>
                    <a:pt x="258376" y="2386471"/>
                  </a:lnTo>
                  <a:lnTo>
                    <a:pt x="249066" y="2412922"/>
                  </a:lnTo>
                  <a:lnTo>
                    <a:pt x="245574" y="2436966"/>
                  </a:lnTo>
                  <a:lnTo>
                    <a:pt x="247901" y="2463416"/>
                  </a:lnTo>
                  <a:lnTo>
                    <a:pt x="260703" y="2487461"/>
                  </a:lnTo>
                  <a:lnTo>
                    <a:pt x="283982" y="2511505"/>
                  </a:lnTo>
                  <a:lnTo>
                    <a:pt x="317733" y="2535551"/>
                  </a:lnTo>
                  <a:lnTo>
                    <a:pt x="310750" y="2554786"/>
                  </a:lnTo>
                  <a:lnTo>
                    <a:pt x="300275" y="2574023"/>
                  </a:lnTo>
                  <a:lnTo>
                    <a:pt x="292128" y="2596866"/>
                  </a:lnTo>
                  <a:lnTo>
                    <a:pt x="289800" y="2620911"/>
                  </a:lnTo>
                  <a:lnTo>
                    <a:pt x="294455" y="2644956"/>
                  </a:lnTo>
                  <a:lnTo>
                    <a:pt x="307259" y="2666596"/>
                  </a:lnTo>
                  <a:lnTo>
                    <a:pt x="323552" y="2683427"/>
                  </a:lnTo>
                  <a:lnTo>
                    <a:pt x="344502" y="2699057"/>
                  </a:lnTo>
                  <a:lnTo>
                    <a:pt x="365452" y="2709877"/>
                  </a:lnTo>
                  <a:lnTo>
                    <a:pt x="385236" y="2723102"/>
                  </a:lnTo>
                  <a:lnTo>
                    <a:pt x="403859" y="2741136"/>
                  </a:lnTo>
                  <a:lnTo>
                    <a:pt x="414333" y="2760372"/>
                  </a:lnTo>
                  <a:lnTo>
                    <a:pt x="424808" y="2795237"/>
                  </a:lnTo>
                  <a:lnTo>
                    <a:pt x="424808" y="2834911"/>
                  </a:lnTo>
                  <a:lnTo>
                    <a:pt x="421316" y="2872182"/>
                  </a:lnTo>
                  <a:lnTo>
                    <a:pt x="412006" y="2910653"/>
                  </a:lnTo>
                  <a:lnTo>
                    <a:pt x="403859" y="2947924"/>
                  </a:lnTo>
                  <a:lnTo>
                    <a:pt x="398039" y="2981586"/>
                  </a:lnTo>
                  <a:lnTo>
                    <a:pt x="393384" y="3029676"/>
                  </a:lnTo>
                  <a:lnTo>
                    <a:pt x="398039" y="3072958"/>
                  </a:lnTo>
                  <a:lnTo>
                    <a:pt x="410841" y="3112633"/>
                  </a:lnTo>
                  <a:lnTo>
                    <a:pt x="427136" y="3147498"/>
                  </a:lnTo>
                  <a:lnTo>
                    <a:pt x="450413" y="3175149"/>
                  </a:lnTo>
                  <a:lnTo>
                    <a:pt x="480674" y="3201598"/>
                  </a:lnTo>
                  <a:lnTo>
                    <a:pt x="509769" y="3223240"/>
                  </a:lnTo>
                  <a:lnTo>
                    <a:pt x="543521" y="3241274"/>
                  </a:lnTo>
                  <a:lnTo>
                    <a:pt x="577273" y="3256902"/>
                  </a:lnTo>
                  <a:lnTo>
                    <a:pt x="611025" y="3265318"/>
                  </a:lnTo>
                  <a:lnTo>
                    <a:pt x="672709" y="3276139"/>
                  </a:lnTo>
                  <a:lnTo>
                    <a:pt x="737886" y="3280948"/>
                  </a:lnTo>
                  <a:lnTo>
                    <a:pt x="806552" y="3278543"/>
                  </a:lnTo>
                  <a:lnTo>
                    <a:pt x="874056" y="3271330"/>
                  </a:lnTo>
                  <a:lnTo>
                    <a:pt x="941560" y="3262914"/>
                  </a:lnTo>
                  <a:lnTo>
                    <a:pt x="1005573" y="3249689"/>
                  </a:lnTo>
                  <a:lnTo>
                    <a:pt x="1062602" y="3234059"/>
                  </a:lnTo>
                  <a:lnTo>
                    <a:pt x="1112647" y="3217228"/>
                  </a:lnTo>
                  <a:lnTo>
                    <a:pt x="1133597" y="3210015"/>
                  </a:lnTo>
                  <a:lnTo>
                    <a:pt x="1161529" y="3201598"/>
                  </a:lnTo>
                  <a:lnTo>
                    <a:pt x="1191790" y="3193183"/>
                  </a:lnTo>
                  <a:lnTo>
                    <a:pt x="1223213" y="3184767"/>
                  </a:lnTo>
                  <a:lnTo>
                    <a:pt x="1256965" y="3179958"/>
                  </a:lnTo>
                  <a:lnTo>
                    <a:pt x="1290717" y="3177554"/>
                  </a:lnTo>
                  <a:lnTo>
                    <a:pt x="1319814" y="3182363"/>
                  </a:lnTo>
                  <a:lnTo>
                    <a:pt x="1345419" y="3193183"/>
                  </a:lnTo>
                  <a:lnTo>
                    <a:pt x="1368696" y="3214824"/>
                  </a:lnTo>
                  <a:lnTo>
                    <a:pt x="1389645" y="3249689"/>
                  </a:lnTo>
                  <a:lnTo>
                    <a:pt x="1409430" y="3294173"/>
                  </a:lnTo>
                  <a:lnTo>
                    <a:pt x="1428052" y="3345869"/>
                  </a:lnTo>
                  <a:lnTo>
                    <a:pt x="1443182" y="3404780"/>
                  </a:lnTo>
                  <a:lnTo>
                    <a:pt x="1458312" y="3466094"/>
                  </a:lnTo>
                  <a:lnTo>
                    <a:pt x="1471115" y="3529813"/>
                  </a:lnTo>
                  <a:lnTo>
                    <a:pt x="1482754" y="3594736"/>
                  </a:lnTo>
                  <a:lnTo>
                    <a:pt x="1487029" y="3618138"/>
                  </a:lnTo>
                  <a:lnTo>
                    <a:pt x="3090086" y="3618138"/>
                  </a:lnTo>
                  <a:lnTo>
                    <a:pt x="3088874" y="3615173"/>
                  </a:lnTo>
                  <a:lnTo>
                    <a:pt x="3067926" y="3553859"/>
                  </a:lnTo>
                  <a:lnTo>
                    <a:pt x="3049304" y="3486532"/>
                  </a:lnTo>
                  <a:lnTo>
                    <a:pt x="3030682" y="3420409"/>
                  </a:lnTo>
                  <a:lnTo>
                    <a:pt x="3019039" y="3381117"/>
                  </a:lnTo>
                  <a:cubicBezTo>
                    <a:pt x="2916596" y="3085457"/>
                    <a:pt x="2189761" y="2865156"/>
                    <a:pt x="1581345" y="2720212"/>
                  </a:cubicBezTo>
                  <a:cubicBezTo>
                    <a:pt x="1045124" y="2571338"/>
                    <a:pt x="651082" y="2065638"/>
                    <a:pt x="651082" y="1464934"/>
                  </a:cubicBezTo>
                  <a:cubicBezTo>
                    <a:pt x="651082" y="745769"/>
                    <a:pt x="1018501" y="171149"/>
                    <a:pt x="1912553" y="162771"/>
                  </a:cubicBezTo>
                  <a:cubicBezTo>
                    <a:pt x="2250796" y="159602"/>
                    <a:pt x="2458856" y="294299"/>
                    <a:pt x="2635535" y="395564"/>
                  </a:cubicBezTo>
                  <a:lnTo>
                    <a:pt x="2633024" y="398652"/>
                  </a:lnTo>
                  <a:cubicBezTo>
                    <a:pt x="3097872" y="776605"/>
                    <a:pt x="3170184" y="1459033"/>
                    <a:pt x="2794867" y="1926012"/>
                  </a:cubicBezTo>
                  <a:lnTo>
                    <a:pt x="2957653" y="2056846"/>
                  </a:lnTo>
                  <a:cubicBezTo>
                    <a:pt x="3404939" y="1500322"/>
                    <a:pt x="3318761" y="687035"/>
                    <a:pt x="2764776" y="236609"/>
                  </a:cubicBezTo>
                  <a:lnTo>
                    <a:pt x="2763561" y="238103"/>
                  </a:lnTo>
                  <a:lnTo>
                    <a:pt x="2752521" y="230833"/>
                  </a:lnTo>
                  <a:lnTo>
                    <a:pt x="2653593" y="176731"/>
                  </a:lnTo>
                  <a:lnTo>
                    <a:pt x="2545354" y="131046"/>
                  </a:lnTo>
                  <a:lnTo>
                    <a:pt x="2433624" y="88967"/>
                  </a:lnTo>
                  <a:lnTo>
                    <a:pt x="2312583" y="56506"/>
                  </a:lnTo>
                  <a:lnTo>
                    <a:pt x="2185723" y="30056"/>
                  </a:lnTo>
                  <a:lnTo>
                    <a:pt x="2053042" y="12022"/>
                  </a:lnTo>
                  <a:lnTo>
                    <a:pt x="1913381" y="12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C10FE5-C25C-48B7-BCFD-76E2C4964244}"/>
              </a:ext>
            </a:extLst>
          </p:cNvPr>
          <p:cNvSpPr txBox="1"/>
          <p:nvPr/>
        </p:nvSpPr>
        <p:spPr>
          <a:xfrm>
            <a:off x="10492744" y="2860845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普及率高，若整合英語學習功能，可降低學習門檻。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49849-4849-4F68-BE26-3FB6273CCA28}"/>
              </a:ext>
            </a:extLst>
          </p:cNvPr>
          <p:cNvSpPr/>
          <p:nvPr/>
        </p:nvSpPr>
        <p:spPr>
          <a:xfrm>
            <a:off x="11745484" y="188679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Rounded Rectangle 24">
            <a:extLst>
              <a:ext uri="{FF2B5EF4-FFF2-40B4-BE49-F238E27FC236}">
                <a16:creationId xmlns:a16="http://schemas.microsoft.com/office/drawing/2014/main" id="{23FD4401-13CD-470E-895D-436EF44DD147}"/>
              </a:ext>
            </a:extLst>
          </p:cNvPr>
          <p:cNvSpPr/>
          <p:nvPr/>
        </p:nvSpPr>
        <p:spPr>
          <a:xfrm>
            <a:off x="11913955" y="2095570"/>
            <a:ext cx="342487" cy="250320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4AE10-8AB8-4BE7-A803-10C2A433858E}"/>
              </a:ext>
            </a:extLst>
          </p:cNvPr>
          <p:cNvSpPr txBox="1"/>
          <p:nvPr/>
        </p:nvSpPr>
        <p:spPr>
          <a:xfrm>
            <a:off x="10492744" y="5895418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與語音技術具備模擬真人互動、提供即時回饋能力。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7A5ADD-8B1C-4FF5-9A49-C4F5B0E8A660}"/>
              </a:ext>
            </a:extLst>
          </p:cNvPr>
          <p:cNvSpPr/>
          <p:nvPr/>
        </p:nvSpPr>
        <p:spPr>
          <a:xfrm>
            <a:off x="11745484" y="4921366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6D4BE-13AF-4987-914A-4CDEFEFCBFD5}"/>
              </a:ext>
            </a:extLst>
          </p:cNvPr>
          <p:cNvSpPr txBox="1"/>
          <p:nvPr/>
        </p:nvSpPr>
        <p:spPr>
          <a:xfrm>
            <a:off x="1008670" y="2871515"/>
            <a:ext cx="3173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科技進展提供模擬語言環境的可能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DB96A4-5224-4635-970A-C297E383EE10}"/>
              </a:ext>
            </a:extLst>
          </p:cNvPr>
          <p:cNvSpPr/>
          <p:nvPr/>
        </p:nvSpPr>
        <p:spPr>
          <a:xfrm>
            <a:off x="2261411" y="189746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97A67-6BCE-4760-9302-D12B978997E0}"/>
              </a:ext>
            </a:extLst>
          </p:cNvPr>
          <p:cNvSpPr txBox="1"/>
          <p:nvPr/>
        </p:nvSpPr>
        <p:spPr>
          <a:xfrm>
            <a:off x="1008670" y="5906090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技術促進個人化、高的學習模式，有潛力翻轉英語學習。</a:t>
            </a:r>
            <a:endParaRPr lang="en-US" altLang="ko-KR" sz="28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F30B0-5494-4834-89D2-62FCB761512B}"/>
              </a:ext>
            </a:extLst>
          </p:cNvPr>
          <p:cNvSpPr/>
          <p:nvPr/>
        </p:nvSpPr>
        <p:spPr>
          <a:xfrm>
            <a:off x="2261411" y="4932037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895FF4DC-99EB-4987-81C5-A50AE7F0EA41}"/>
              </a:ext>
            </a:extLst>
          </p:cNvPr>
          <p:cNvSpPr/>
          <p:nvPr/>
        </p:nvSpPr>
        <p:spPr>
          <a:xfrm rot="20700000">
            <a:off x="2398765" y="5083725"/>
            <a:ext cx="404732" cy="354719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32" name="Pie 2">
            <a:extLst>
              <a:ext uri="{FF2B5EF4-FFF2-40B4-BE49-F238E27FC236}">
                <a16:creationId xmlns:a16="http://schemas.microsoft.com/office/drawing/2014/main" id="{DC5347CC-61F4-483C-A692-D14FEAD58663}"/>
              </a:ext>
            </a:extLst>
          </p:cNvPr>
          <p:cNvSpPr/>
          <p:nvPr/>
        </p:nvSpPr>
        <p:spPr>
          <a:xfrm>
            <a:off x="11881872" y="5061157"/>
            <a:ext cx="406660" cy="399850"/>
          </a:xfrm>
          <a:custGeom>
            <a:avLst/>
            <a:gdLst/>
            <a:ahLst/>
            <a:cxnLst/>
            <a:rect l="l" t="t" r="r" b="b"/>
            <a:pathLst>
              <a:path w="3851322" h="3786842">
                <a:moveTo>
                  <a:pt x="3845029" y="1629937"/>
                </a:moveTo>
                <a:lnTo>
                  <a:pt x="3851322" y="1762720"/>
                </a:lnTo>
                <a:lnTo>
                  <a:pt x="3812477" y="1776859"/>
                </a:lnTo>
                <a:lnTo>
                  <a:pt x="3444864" y="1775585"/>
                </a:lnTo>
                <a:close/>
                <a:moveTo>
                  <a:pt x="3791299" y="1322869"/>
                </a:moveTo>
                <a:cubicBezTo>
                  <a:pt x="3804294" y="1363489"/>
                  <a:pt x="3813753" y="1405089"/>
                  <a:pt x="3820726" y="1447230"/>
                </a:cubicBezTo>
                <a:lnTo>
                  <a:pt x="2923542" y="1773779"/>
                </a:lnTo>
                <a:lnTo>
                  <a:pt x="2555935" y="1772505"/>
                </a:lnTo>
                <a:close/>
                <a:moveTo>
                  <a:pt x="3686733" y="1034305"/>
                </a:moveTo>
                <a:cubicBezTo>
                  <a:pt x="3706467" y="1071934"/>
                  <a:pt x="3722972" y="1111031"/>
                  <a:pt x="3736130" y="1151397"/>
                </a:cubicBezTo>
                <a:lnTo>
                  <a:pt x="2052009" y="1764367"/>
                </a:lnTo>
                <a:lnTo>
                  <a:pt x="2052009" y="1629296"/>
                </a:lnTo>
                <a:close/>
                <a:moveTo>
                  <a:pt x="3531650" y="764128"/>
                </a:moveTo>
                <a:cubicBezTo>
                  <a:pt x="3557479" y="799119"/>
                  <a:pt x="3581112" y="835525"/>
                  <a:pt x="3601539" y="873761"/>
                </a:cubicBezTo>
                <a:lnTo>
                  <a:pt x="2052009" y="1437744"/>
                </a:lnTo>
                <a:lnTo>
                  <a:pt x="2052009" y="1302673"/>
                </a:lnTo>
                <a:close/>
                <a:moveTo>
                  <a:pt x="3320179" y="514474"/>
                </a:moveTo>
                <a:lnTo>
                  <a:pt x="3414136" y="615348"/>
                </a:lnTo>
                <a:lnTo>
                  <a:pt x="2052009" y="1111121"/>
                </a:lnTo>
                <a:lnTo>
                  <a:pt x="2052009" y="976050"/>
                </a:lnTo>
                <a:close/>
                <a:moveTo>
                  <a:pt x="3038975" y="290201"/>
                </a:moveTo>
                <a:cubicBezTo>
                  <a:pt x="3082160" y="317774"/>
                  <a:pt x="3124087" y="347421"/>
                  <a:pt x="3164106" y="379728"/>
                </a:cubicBezTo>
                <a:lnTo>
                  <a:pt x="2052009" y="784498"/>
                </a:lnTo>
                <a:lnTo>
                  <a:pt x="2052009" y="649428"/>
                </a:lnTo>
                <a:close/>
                <a:moveTo>
                  <a:pt x="1800000" y="186842"/>
                </a:moveTo>
                <a:lnTo>
                  <a:pt x="1800000" y="1986842"/>
                </a:lnTo>
                <a:lnTo>
                  <a:pt x="3600000" y="1986842"/>
                </a:lnTo>
                <a:cubicBezTo>
                  <a:pt x="3600000" y="2980955"/>
                  <a:pt x="2794113" y="3786842"/>
                  <a:pt x="1800000" y="3786842"/>
                </a:cubicBezTo>
                <a:cubicBezTo>
                  <a:pt x="805887" y="3786842"/>
                  <a:pt x="0" y="2980955"/>
                  <a:pt x="0" y="1986842"/>
                </a:cubicBezTo>
                <a:cubicBezTo>
                  <a:pt x="0" y="992729"/>
                  <a:pt x="805887" y="186842"/>
                  <a:pt x="1800000" y="186842"/>
                </a:cubicBezTo>
                <a:close/>
                <a:moveTo>
                  <a:pt x="2653345" y="103936"/>
                </a:moveTo>
                <a:cubicBezTo>
                  <a:pt x="2713623" y="122781"/>
                  <a:pt x="2772066" y="146664"/>
                  <a:pt x="2828252" y="175345"/>
                </a:cubicBezTo>
                <a:lnTo>
                  <a:pt x="2052009" y="457876"/>
                </a:lnTo>
                <a:lnTo>
                  <a:pt x="2052009" y="322805"/>
                </a:lnTo>
                <a:close/>
                <a:moveTo>
                  <a:pt x="2052009" y="0"/>
                </a:moveTo>
                <a:cubicBezTo>
                  <a:pt x="2150315" y="0"/>
                  <a:pt x="2247800" y="7911"/>
                  <a:pt x="2343281" y="25238"/>
                </a:cubicBezTo>
                <a:lnTo>
                  <a:pt x="2052009" y="1312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3F1472E7-B90B-48D0-A48D-1FE9C3218613}"/>
              </a:ext>
            </a:extLst>
          </p:cNvPr>
          <p:cNvSpPr/>
          <p:nvPr/>
        </p:nvSpPr>
        <p:spPr>
          <a:xfrm>
            <a:off x="2385039" y="2006146"/>
            <a:ext cx="432179" cy="42917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34" name="Graphic 33">
            <a:extLst>
              <a:ext uri="{FF2B5EF4-FFF2-40B4-BE49-F238E27FC236}">
                <a16:creationId xmlns:a16="http://schemas.microsoft.com/office/drawing/2014/main" id="{EA9DF64B-3709-4045-8225-E2F437E83AA5}"/>
              </a:ext>
            </a:extLst>
          </p:cNvPr>
          <p:cNvGrpSpPr/>
          <p:nvPr/>
        </p:nvGrpSpPr>
        <p:grpSpPr>
          <a:xfrm>
            <a:off x="6490118" y="2853274"/>
            <a:ext cx="1647635" cy="1523620"/>
            <a:chOff x="7424910" y="2405641"/>
            <a:chExt cx="1771650" cy="1638300"/>
          </a:xfrm>
          <a:solidFill>
            <a:schemeClr val="accent4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5535C6-8C0B-4095-A7BE-4ACD534AA53C}"/>
                </a:ext>
              </a:extLst>
            </p:cNvPr>
            <p:cNvSpPr/>
            <p:nvPr/>
          </p:nvSpPr>
          <p:spPr>
            <a:xfrm>
              <a:off x="7417766" y="2398092"/>
              <a:ext cx="885825" cy="1647825"/>
            </a:xfrm>
            <a:custGeom>
              <a:avLst/>
              <a:gdLst>
                <a:gd name="connsiteX0" fmla="*/ 749141 w 885825"/>
                <a:gd name="connsiteY0" fmla="*/ 1281042 h 1647825"/>
                <a:gd name="connsiteX1" fmla="*/ 858679 w 885825"/>
                <a:gd name="connsiteY1" fmla="*/ 1312474 h 1647825"/>
                <a:gd name="connsiteX2" fmla="*/ 858679 w 885825"/>
                <a:gd name="connsiteY2" fmla="*/ 1287709 h 1647825"/>
                <a:gd name="connsiteX3" fmla="*/ 861536 w 885825"/>
                <a:gd name="connsiteY3" fmla="*/ 1006722 h 1647825"/>
                <a:gd name="connsiteX4" fmla="*/ 855821 w 885825"/>
                <a:gd name="connsiteY4" fmla="*/ 975289 h 1647825"/>
                <a:gd name="connsiteX5" fmla="*/ 791051 w 885825"/>
                <a:gd name="connsiteY5" fmla="*/ 885754 h 1647825"/>
                <a:gd name="connsiteX6" fmla="*/ 770096 w 885825"/>
                <a:gd name="connsiteY6" fmla="*/ 880039 h 1647825"/>
                <a:gd name="connsiteX7" fmla="*/ 745331 w 885825"/>
                <a:gd name="connsiteY7" fmla="*/ 880039 h 1647825"/>
                <a:gd name="connsiteX8" fmla="*/ 718661 w 885825"/>
                <a:gd name="connsiteY8" fmla="*/ 884802 h 1647825"/>
                <a:gd name="connsiteX9" fmla="*/ 630079 w 885825"/>
                <a:gd name="connsiteY9" fmla="*/ 1042917 h 1647825"/>
                <a:gd name="connsiteX10" fmla="*/ 618649 w 885825"/>
                <a:gd name="connsiteY10" fmla="*/ 1060062 h 1647825"/>
                <a:gd name="connsiteX11" fmla="*/ 604361 w 885825"/>
                <a:gd name="connsiteY11" fmla="*/ 1049584 h 1647825"/>
                <a:gd name="connsiteX12" fmla="*/ 711041 w 885825"/>
                <a:gd name="connsiteY12" fmla="*/ 859084 h 1647825"/>
                <a:gd name="connsiteX13" fmla="*/ 737711 w 885825"/>
                <a:gd name="connsiteY13" fmla="*/ 854322 h 1647825"/>
                <a:gd name="connsiteX14" fmla="*/ 768191 w 885825"/>
                <a:gd name="connsiteY14" fmla="*/ 857179 h 1647825"/>
                <a:gd name="connsiteX15" fmla="*/ 846296 w 885825"/>
                <a:gd name="connsiteY15" fmla="*/ 891469 h 1647825"/>
                <a:gd name="connsiteX16" fmla="*/ 855821 w 885825"/>
                <a:gd name="connsiteY16" fmla="*/ 707637 h 1647825"/>
                <a:gd name="connsiteX17" fmla="*/ 856774 w 885825"/>
                <a:gd name="connsiteY17" fmla="*/ 681919 h 1647825"/>
                <a:gd name="connsiteX18" fmla="*/ 863441 w 885825"/>
                <a:gd name="connsiteY18" fmla="*/ 650487 h 1647825"/>
                <a:gd name="connsiteX19" fmla="*/ 868204 w 885825"/>
                <a:gd name="connsiteY19" fmla="*/ 619054 h 1647825"/>
                <a:gd name="connsiteX20" fmla="*/ 856774 w 885825"/>
                <a:gd name="connsiteY20" fmla="*/ 311397 h 1647825"/>
                <a:gd name="connsiteX21" fmla="*/ 856774 w 885825"/>
                <a:gd name="connsiteY21" fmla="*/ 280917 h 1647825"/>
                <a:gd name="connsiteX22" fmla="*/ 856774 w 885825"/>
                <a:gd name="connsiteY22" fmla="*/ 220909 h 1647825"/>
                <a:gd name="connsiteX23" fmla="*/ 854869 w 885825"/>
                <a:gd name="connsiteY23" fmla="*/ 221862 h 1647825"/>
                <a:gd name="connsiteX24" fmla="*/ 776764 w 885825"/>
                <a:gd name="connsiteY24" fmla="*/ 71367 h 1647825"/>
                <a:gd name="connsiteX25" fmla="*/ 750094 w 885825"/>
                <a:gd name="connsiteY25" fmla="*/ 50412 h 1647825"/>
                <a:gd name="connsiteX26" fmla="*/ 656749 w 885825"/>
                <a:gd name="connsiteY26" fmla="*/ 12312 h 1647825"/>
                <a:gd name="connsiteX27" fmla="*/ 623411 w 885825"/>
                <a:gd name="connsiteY27" fmla="*/ 8502 h 1647825"/>
                <a:gd name="connsiteX28" fmla="*/ 391954 w 885825"/>
                <a:gd name="connsiteY28" fmla="*/ 227577 h 1647825"/>
                <a:gd name="connsiteX29" fmla="*/ 405289 w 885825"/>
                <a:gd name="connsiteY29" fmla="*/ 253294 h 1647825"/>
                <a:gd name="connsiteX30" fmla="*/ 520541 w 885825"/>
                <a:gd name="connsiteY30" fmla="*/ 332352 h 1647825"/>
                <a:gd name="connsiteX31" fmla="*/ 551021 w 885825"/>
                <a:gd name="connsiteY31" fmla="*/ 335209 h 1647825"/>
                <a:gd name="connsiteX32" fmla="*/ 718661 w 885825"/>
                <a:gd name="connsiteY32" fmla="*/ 198049 h 1647825"/>
                <a:gd name="connsiteX33" fmla="*/ 722471 w 885825"/>
                <a:gd name="connsiteY33" fmla="*/ 163759 h 1647825"/>
                <a:gd name="connsiteX34" fmla="*/ 743426 w 885825"/>
                <a:gd name="connsiteY34" fmla="*/ 146614 h 1647825"/>
                <a:gd name="connsiteX35" fmla="*/ 758666 w 885825"/>
                <a:gd name="connsiteY35" fmla="*/ 164712 h 1647825"/>
                <a:gd name="connsiteX36" fmla="*/ 635794 w 885825"/>
                <a:gd name="connsiteY36" fmla="*/ 353307 h 1647825"/>
                <a:gd name="connsiteX37" fmla="*/ 708184 w 885825"/>
                <a:gd name="connsiteY37" fmla="*/ 407599 h 1647825"/>
                <a:gd name="connsiteX38" fmla="*/ 726281 w 885825"/>
                <a:gd name="connsiteY38" fmla="*/ 432364 h 1647825"/>
                <a:gd name="connsiteX39" fmla="*/ 757714 w 885825"/>
                <a:gd name="connsiteY39" fmla="*/ 584764 h 1647825"/>
                <a:gd name="connsiteX40" fmla="*/ 751046 w 885825"/>
                <a:gd name="connsiteY40" fmla="*/ 611434 h 1647825"/>
                <a:gd name="connsiteX41" fmla="*/ 741521 w 885825"/>
                <a:gd name="connsiteY41" fmla="*/ 637152 h 1647825"/>
                <a:gd name="connsiteX42" fmla="*/ 727234 w 885825"/>
                <a:gd name="connsiteY42" fmla="*/ 661917 h 1647825"/>
                <a:gd name="connsiteX43" fmla="*/ 687229 w 885825"/>
                <a:gd name="connsiteY43" fmla="*/ 706684 h 1647825"/>
                <a:gd name="connsiteX44" fmla="*/ 737711 w 885825"/>
                <a:gd name="connsiteY44" fmla="*/ 786694 h 1647825"/>
                <a:gd name="connsiteX45" fmla="*/ 760571 w 885825"/>
                <a:gd name="connsiteY45" fmla="*/ 796219 h 1647825"/>
                <a:gd name="connsiteX46" fmla="*/ 788194 w 885825"/>
                <a:gd name="connsiteY46" fmla="*/ 799077 h 1647825"/>
                <a:gd name="connsiteX47" fmla="*/ 783431 w 885825"/>
                <a:gd name="connsiteY47" fmla="*/ 835272 h 1647825"/>
                <a:gd name="connsiteX48" fmla="*/ 752951 w 885825"/>
                <a:gd name="connsiteY48" fmla="*/ 830509 h 1647825"/>
                <a:gd name="connsiteX49" fmla="*/ 724376 w 885825"/>
                <a:gd name="connsiteY49" fmla="*/ 820032 h 1647825"/>
                <a:gd name="connsiteX50" fmla="*/ 653891 w 885825"/>
                <a:gd name="connsiteY50" fmla="*/ 728592 h 1647825"/>
                <a:gd name="connsiteX51" fmla="*/ 381476 w 885825"/>
                <a:gd name="connsiteY51" fmla="*/ 658107 h 1647825"/>
                <a:gd name="connsiteX52" fmla="*/ 384334 w 885825"/>
                <a:gd name="connsiteY52" fmla="*/ 635247 h 1647825"/>
                <a:gd name="connsiteX53" fmla="*/ 411004 w 885825"/>
                <a:gd name="connsiteY53" fmla="*/ 639057 h 1647825"/>
                <a:gd name="connsiteX54" fmla="*/ 541496 w 885825"/>
                <a:gd name="connsiteY54" fmla="*/ 717162 h 1647825"/>
                <a:gd name="connsiteX55" fmla="*/ 552926 w 885825"/>
                <a:gd name="connsiteY55" fmla="*/ 716209 h 1647825"/>
                <a:gd name="connsiteX56" fmla="*/ 693896 w 885825"/>
                <a:gd name="connsiteY56" fmla="*/ 638104 h 1647825"/>
                <a:gd name="connsiteX57" fmla="*/ 710089 w 885825"/>
                <a:gd name="connsiteY57" fmla="*/ 608577 h 1647825"/>
                <a:gd name="connsiteX58" fmla="*/ 710089 w 885825"/>
                <a:gd name="connsiteY58" fmla="*/ 475227 h 1647825"/>
                <a:gd name="connsiteX59" fmla="*/ 693896 w 885825"/>
                <a:gd name="connsiteY59" fmla="*/ 445699 h 1647825"/>
                <a:gd name="connsiteX60" fmla="*/ 551974 w 885825"/>
                <a:gd name="connsiteY60" fmla="*/ 370452 h 1647825"/>
                <a:gd name="connsiteX61" fmla="*/ 532924 w 885825"/>
                <a:gd name="connsiteY61" fmla="*/ 368547 h 1647825"/>
                <a:gd name="connsiteX62" fmla="*/ 397669 w 885825"/>
                <a:gd name="connsiteY62" fmla="*/ 301872 h 1647825"/>
                <a:gd name="connsiteX63" fmla="*/ 371951 w 885825"/>
                <a:gd name="connsiteY63" fmla="*/ 293299 h 1647825"/>
                <a:gd name="connsiteX64" fmla="*/ 180499 w 885825"/>
                <a:gd name="connsiteY64" fmla="*/ 376167 h 1647825"/>
                <a:gd name="connsiteX65" fmla="*/ 175736 w 885825"/>
                <a:gd name="connsiteY65" fmla="*/ 505707 h 1647825"/>
                <a:gd name="connsiteX66" fmla="*/ 181451 w 885825"/>
                <a:gd name="connsiteY66" fmla="*/ 532377 h 1647825"/>
                <a:gd name="connsiteX67" fmla="*/ 202406 w 885825"/>
                <a:gd name="connsiteY67" fmla="*/ 580954 h 1647825"/>
                <a:gd name="connsiteX68" fmla="*/ 217646 w 885825"/>
                <a:gd name="connsiteY68" fmla="*/ 581907 h 1647825"/>
                <a:gd name="connsiteX69" fmla="*/ 239554 w 885825"/>
                <a:gd name="connsiteY69" fmla="*/ 580002 h 1647825"/>
                <a:gd name="connsiteX70" fmla="*/ 260509 w 885825"/>
                <a:gd name="connsiteY70" fmla="*/ 575239 h 1647825"/>
                <a:gd name="connsiteX71" fmla="*/ 344329 w 885825"/>
                <a:gd name="connsiteY71" fmla="*/ 490467 h 1647825"/>
                <a:gd name="connsiteX72" fmla="*/ 351949 w 885825"/>
                <a:gd name="connsiteY72" fmla="*/ 465702 h 1647825"/>
                <a:gd name="connsiteX73" fmla="*/ 361474 w 885825"/>
                <a:gd name="connsiteY73" fmla="*/ 415219 h 1647825"/>
                <a:gd name="connsiteX74" fmla="*/ 390049 w 885825"/>
                <a:gd name="connsiteY74" fmla="*/ 424744 h 1647825"/>
                <a:gd name="connsiteX75" fmla="*/ 325279 w 885825"/>
                <a:gd name="connsiteY75" fmla="*/ 580954 h 1647825"/>
                <a:gd name="connsiteX76" fmla="*/ 301466 w 885825"/>
                <a:gd name="connsiteY76" fmla="*/ 597147 h 1647825"/>
                <a:gd name="connsiteX77" fmla="*/ 218599 w 885825"/>
                <a:gd name="connsiteY77" fmla="*/ 618102 h 1647825"/>
                <a:gd name="connsiteX78" fmla="*/ 145256 w 885825"/>
                <a:gd name="connsiteY78" fmla="*/ 600957 h 1647825"/>
                <a:gd name="connsiteX79" fmla="*/ 7144 w 885825"/>
                <a:gd name="connsiteY79" fmla="*/ 817174 h 1647825"/>
                <a:gd name="connsiteX80" fmla="*/ 164306 w 885825"/>
                <a:gd name="connsiteY80" fmla="*/ 1041964 h 1647825"/>
                <a:gd name="connsiteX81" fmla="*/ 174784 w 885825"/>
                <a:gd name="connsiteY81" fmla="*/ 1041964 h 1647825"/>
                <a:gd name="connsiteX82" fmla="*/ 346234 w 885825"/>
                <a:gd name="connsiteY82" fmla="*/ 870514 h 1647825"/>
                <a:gd name="connsiteX83" fmla="*/ 367189 w 885825"/>
                <a:gd name="connsiteY83" fmla="*/ 853369 h 1647825"/>
                <a:gd name="connsiteX84" fmla="*/ 382429 w 885825"/>
                <a:gd name="connsiteY84" fmla="*/ 871467 h 1647825"/>
                <a:gd name="connsiteX85" fmla="*/ 346234 w 885825"/>
                <a:gd name="connsiteY85" fmla="*/ 987672 h 1647825"/>
                <a:gd name="connsiteX86" fmla="*/ 350044 w 885825"/>
                <a:gd name="connsiteY86" fmla="*/ 1021009 h 1647825"/>
                <a:gd name="connsiteX87" fmla="*/ 360521 w 885825"/>
                <a:gd name="connsiteY87" fmla="*/ 1052442 h 1647825"/>
                <a:gd name="connsiteX88" fmla="*/ 451009 w 885825"/>
                <a:gd name="connsiteY88" fmla="*/ 1141024 h 1647825"/>
                <a:gd name="connsiteX89" fmla="*/ 482441 w 885825"/>
                <a:gd name="connsiteY89" fmla="*/ 1150549 h 1647825"/>
                <a:gd name="connsiteX90" fmla="*/ 516731 w 885825"/>
                <a:gd name="connsiteY90" fmla="*/ 1154359 h 1647825"/>
                <a:gd name="connsiteX91" fmla="*/ 688181 w 885825"/>
                <a:gd name="connsiteY91" fmla="*/ 982909 h 1647825"/>
                <a:gd name="connsiteX92" fmla="*/ 709136 w 885825"/>
                <a:gd name="connsiteY92" fmla="*/ 965764 h 1647825"/>
                <a:gd name="connsiteX93" fmla="*/ 724376 w 885825"/>
                <a:gd name="connsiteY93" fmla="*/ 983862 h 1647825"/>
                <a:gd name="connsiteX94" fmla="*/ 721519 w 885825"/>
                <a:gd name="connsiteY94" fmla="*/ 1017199 h 1647825"/>
                <a:gd name="connsiteX95" fmla="*/ 684371 w 885825"/>
                <a:gd name="connsiteY95" fmla="*/ 1105782 h 1647825"/>
                <a:gd name="connsiteX96" fmla="*/ 663416 w 885825"/>
                <a:gd name="connsiteY96" fmla="*/ 1129595 h 1647825"/>
                <a:gd name="connsiteX97" fmla="*/ 517684 w 885825"/>
                <a:gd name="connsiteY97" fmla="*/ 1189602 h 1647825"/>
                <a:gd name="connsiteX98" fmla="*/ 488156 w 885825"/>
                <a:gd name="connsiteY98" fmla="*/ 1187697 h 1647825"/>
                <a:gd name="connsiteX99" fmla="*/ 459581 w 885825"/>
                <a:gd name="connsiteY99" fmla="*/ 1181982 h 1647825"/>
                <a:gd name="connsiteX100" fmla="*/ 315754 w 885825"/>
                <a:gd name="connsiteY100" fmla="*/ 1023867 h 1647825"/>
                <a:gd name="connsiteX101" fmla="*/ 172879 w 885825"/>
                <a:gd name="connsiteY101" fmla="*/ 1185792 h 1647825"/>
                <a:gd name="connsiteX102" fmla="*/ 341471 w 885825"/>
                <a:gd name="connsiteY102" fmla="*/ 1345812 h 1647825"/>
                <a:gd name="connsiteX103" fmla="*/ 373856 w 885825"/>
                <a:gd name="connsiteY103" fmla="*/ 1348670 h 1647825"/>
                <a:gd name="connsiteX104" fmla="*/ 386239 w 885825"/>
                <a:gd name="connsiteY104" fmla="*/ 1348670 h 1647825"/>
                <a:gd name="connsiteX105" fmla="*/ 383381 w 885825"/>
                <a:gd name="connsiteY105" fmla="*/ 1369624 h 1647825"/>
                <a:gd name="connsiteX106" fmla="*/ 382429 w 885825"/>
                <a:gd name="connsiteY106" fmla="*/ 1391532 h 1647825"/>
                <a:gd name="connsiteX107" fmla="*/ 527209 w 885825"/>
                <a:gd name="connsiteY107" fmla="*/ 1625847 h 1647825"/>
                <a:gd name="connsiteX108" fmla="*/ 558641 w 885825"/>
                <a:gd name="connsiteY108" fmla="*/ 1636324 h 1647825"/>
                <a:gd name="connsiteX109" fmla="*/ 756761 w 885825"/>
                <a:gd name="connsiteY109" fmla="*/ 1596320 h 1647825"/>
                <a:gd name="connsiteX110" fmla="*/ 777716 w 885825"/>
                <a:gd name="connsiteY110" fmla="*/ 1584890 h 1647825"/>
                <a:gd name="connsiteX111" fmla="*/ 858679 w 885825"/>
                <a:gd name="connsiteY111" fmla="*/ 1491545 h 1647825"/>
                <a:gd name="connsiteX112" fmla="*/ 791051 w 885825"/>
                <a:gd name="connsiteY112" fmla="*/ 1321999 h 1647825"/>
                <a:gd name="connsiteX113" fmla="*/ 771049 w 885825"/>
                <a:gd name="connsiteY113" fmla="*/ 1318190 h 1647825"/>
                <a:gd name="connsiteX114" fmla="*/ 750094 w 885825"/>
                <a:gd name="connsiteY114" fmla="*/ 1317237 h 1647825"/>
                <a:gd name="connsiteX115" fmla="*/ 608171 w 885825"/>
                <a:gd name="connsiteY115" fmla="*/ 1392484 h 1647825"/>
                <a:gd name="connsiteX116" fmla="*/ 591979 w 885825"/>
                <a:gd name="connsiteY116" fmla="*/ 1422012 h 1647825"/>
                <a:gd name="connsiteX117" fmla="*/ 576739 w 885825"/>
                <a:gd name="connsiteY117" fmla="*/ 1497259 h 1647825"/>
                <a:gd name="connsiteX118" fmla="*/ 552926 w 885825"/>
                <a:gd name="connsiteY118" fmla="*/ 1501070 h 1647825"/>
                <a:gd name="connsiteX119" fmla="*/ 546259 w 885825"/>
                <a:gd name="connsiteY119" fmla="*/ 1447729 h 1647825"/>
                <a:gd name="connsiteX120" fmla="*/ 552926 w 885825"/>
                <a:gd name="connsiteY120" fmla="*/ 1422965 h 1647825"/>
                <a:gd name="connsiteX121" fmla="*/ 565309 w 885825"/>
                <a:gd name="connsiteY121" fmla="*/ 1393437 h 1647825"/>
                <a:gd name="connsiteX122" fmla="*/ 749141 w 885825"/>
                <a:gd name="connsiteY122" fmla="*/ 1281042 h 1647825"/>
                <a:gd name="connsiteX123" fmla="*/ 164306 w 885825"/>
                <a:gd name="connsiteY123" fmla="*/ 969574 h 1647825"/>
                <a:gd name="connsiteX124" fmla="*/ 140494 w 885825"/>
                <a:gd name="connsiteY124" fmla="*/ 968622 h 1647825"/>
                <a:gd name="connsiteX125" fmla="*/ 118586 w 885825"/>
                <a:gd name="connsiteY125" fmla="*/ 678109 h 1647825"/>
                <a:gd name="connsiteX126" fmla="*/ 133826 w 885825"/>
                <a:gd name="connsiteY126" fmla="*/ 661917 h 1647825"/>
                <a:gd name="connsiteX127" fmla="*/ 134779 w 885825"/>
                <a:gd name="connsiteY127" fmla="*/ 661917 h 1647825"/>
                <a:gd name="connsiteX128" fmla="*/ 153829 w 885825"/>
                <a:gd name="connsiteY128" fmla="*/ 691444 h 1647825"/>
                <a:gd name="connsiteX129" fmla="*/ 153829 w 885825"/>
                <a:gd name="connsiteY129" fmla="*/ 692397 h 1647825"/>
                <a:gd name="connsiteX130" fmla="*/ 146209 w 885825"/>
                <a:gd name="connsiteY130" fmla="*/ 700969 h 1647825"/>
                <a:gd name="connsiteX131" fmla="*/ 165259 w 885825"/>
                <a:gd name="connsiteY131" fmla="*/ 942904 h 1647825"/>
                <a:gd name="connsiteX132" fmla="*/ 164306 w 885825"/>
                <a:gd name="connsiteY132" fmla="*/ 969574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749141" y="1281042"/>
                  </a:moveTo>
                  <a:cubicBezTo>
                    <a:pt x="789146" y="1281042"/>
                    <a:pt x="827246" y="1292472"/>
                    <a:pt x="858679" y="1312474"/>
                  </a:cubicBezTo>
                  <a:cubicBezTo>
                    <a:pt x="858679" y="1312474"/>
                    <a:pt x="858679" y="1302949"/>
                    <a:pt x="858679" y="1287709"/>
                  </a:cubicBezTo>
                  <a:cubicBezTo>
                    <a:pt x="874871" y="1196270"/>
                    <a:pt x="875824" y="1101972"/>
                    <a:pt x="861536" y="1006722"/>
                  </a:cubicBezTo>
                  <a:cubicBezTo>
                    <a:pt x="859631" y="996244"/>
                    <a:pt x="857726" y="985767"/>
                    <a:pt x="855821" y="975289"/>
                  </a:cubicBezTo>
                  <a:cubicBezTo>
                    <a:pt x="847249" y="938142"/>
                    <a:pt x="828199" y="900042"/>
                    <a:pt x="791051" y="885754"/>
                  </a:cubicBezTo>
                  <a:cubicBezTo>
                    <a:pt x="784384" y="882897"/>
                    <a:pt x="777716" y="880992"/>
                    <a:pt x="770096" y="880039"/>
                  </a:cubicBezTo>
                  <a:cubicBezTo>
                    <a:pt x="762476" y="879087"/>
                    <a:pt x="753904" y="879087"/>
                    <a:pt x="745331" y="880039"/>
                  </a:cubicBezTo>
                  <a:cubicBezTo>
                    <a:pt x="736759" y="880992"/>
                    <a:pt x="727234" y="881944"/>
                    <a:pt x="718661" y="884802"/>
                  </a:cubicBezTo>
                  <a:cubicBezTo>
                    <a:pt x="651034" y="903852"/>
                    <a:pt x="611029" y="975289"/>
                    <a:pt x="630079" y="1042917"/>
                  </a:cubicBezTo>
                  <a:cubicBezTo>
                    <a:pt x="631984" y="1050537"/>
                    <a:pt x="627221" y="1059109"/>
                    <a:pt x="618649" y="1060062"/>
                  </a:cubicBezTo>
                  <a:cubicBezTo>
                    <a:pt x="611981" y="1061014"/>
                    <a:pt x="606266" y="1056252"/>
                    <a:pt x="604361" y="1049584"/>
                  </a:cubicBezTo>
                  <a:cubicBezTo>
                    <a:pt x="581501" y="967669"/>
                    <a:pt x="629126" y="881944"/>
                    <a:pt x="711041" y="859084"/>
                  </a:cubicBezTo>
                  <a:cubicBezTo>
                    <a:pt x="719614" y="856227"/>
                    <a:pt x="729139" y="855274"/>
                    <a:pt x="737711" y="854322"/>
                  </a:cubicBezTo>
                  <a:cubicBezTo>
                    <a:pt x="748189" y="854322"/>
                    <a:pt x="758666" y="855274"/>
                    <a:pt x="768191" y="857179"/>
                  </a:cubicBezTo>
                  <a:cubicBezTo>
                    <a:pt x="798671" y="853369"/>
                    <a:pt x="817721" y="891469"/>
                    <a:pt x="846296" y="891469"/>
                  </a:cubicBezTo>
                  <a:cubicBezTo>
                    <a:pt x="827246" y="834319"/>
                    <a:pt x="855821" y="767644"/>
                    <a:pt x="855821" y="707637"/>
                  </a:cubicBezTo>
                  <a:cubicBezTo>
                    <a:pt x="856774" y="699064"/>
                    <a:pt x="856774" y="690492"/>
                    <a:pt x="856774" y="681919"/>
                  </a:cubicBezTo>
                  <a:cubicBezTo>
                    <a:pt x="859631" y="671442"/>
                    <a:pt x="861536" y="660964"/>
                    <a:pt x="863441" y="650487"/>
                  </a:cubicBezTo>
                  <a:cubicBezTo>
                    <a:pt x="865346" y="640009"/>
                    <a:pt x="866299" y="629532"/>
                    <a:pt x="868204" y="619054"/>
                  </a:cubicBezTo>
                  <a:cubicBezTo>
                    <a:pt x="893921" y="510469"/>
                    <a:pt x="865346" y="415219"/>
                    <a:pt x="856774" y="311397"/>
                  </a:cubicBezTo>
                  <a:cubicBezTo>
                    <a:pt x="856774" y="300919"/>
                    <a:pt x="856774" y="290442"/>
                    <a:pt x="856774" y="280917"/>
                  </a:cubicBezTo>
                  <a:cubicBezTo>
                    <a:pt x="856774" y="243769"/>
                    <a:pt x="856774" y="220909"/>
                    <a:pt x="856774" y="220909"/>
                  </a:cubicBezTo>
                  <a:lnTo>
                    <a:pt x="854869" y="221862"/>
                  </a:lnTo>
                  <a:cubicBezTo>
                    <a:pt x="848201" y="162807"/>
                    <a:pt x="819626" y="109467"/>
                    <a:pt x="776764" y="71367"/>
                  </a:cubicBezTo>
                  <a:cubicBezTo>
                    <a:pt x="768191" y="63747"/>
                    <a:pt x="759619" y="57079"/>
                    <a:pt x="750094" y="50412"/>
                  </a:cubicBezTo>
                  <a:cubicBezTo>
                    <a:pt x="721519" y="31362"/>
                    <a:pt x="690086" y="18027"/>
                    <a:pt x="656749" y="12312"/>
                  </a:cubicBezTo>
                  <a:cubicBezTo>
                    <a:pt x="645319" y="10407"/>
                    <a:pt x="634841" y="9454"/>
                    <a:pt x="623411" y="8502"/>
                  </a:cubicBezTo>
                  <a:cubicBezTo>
                    <a:pt x="502444" y="-4833"/>
                    <a:pt x="359569" y="80892"/>
                    <a:pt x="391954" y="227577"/>
                  </a:cubicBezTo>
                  <a:cubicBezTo>
                    <a:pt x="395764" y="236149"/>
                    <a:pt x="399574" y="244722"/>
                    <a:pt x="405289" y="253294"/>
                  </a:cubicBezTo>
                  <a:cubicBezTo>
                    <a:pt x="427196" y="290442"/>
                    <a:pt x="474821" y="328542"/>
                    <a:pt x="520541" y="332352"/>
                  </a:cubicBezTo>
                  <a:cubicBezTo>
                    <a:pt x="530066" y="334257"/>
                    <a:pt x="540544" y="335209"/>
                    <a:pt x="551021" y="335209"/>
                  </a:cubicBezTo>
                  <a:cubicBezTo>
                    <a:pt x="633889" y="335209"/>
                    <a:pt x="702469" y="276154"/>
                    <a:pt x="718661" y="198049"/>
                  </a:cubicBezTo>
                  <a:cubicBezTo>
                    <a:pt x="720566" y="186619"/>
                    <a:pt x="722471" y="175189"/>
                    <a:pt x="722471" y="163759"/>
                  </a:cubicBezTo>
                  <a:cubicBezTo>
                    <a:pt x="722471" y="153282"/>
                    <a:pt x="731996" y="144709"/>
                    <a:pt x="743426" y="146614"/>
                  </a:cubicBezTo>
                  <a:cubicBezTo>
                    <a:pt x="751999" y="147567"/>
                    <a:pt x="758666" y="156139"/>
                    <a:pt x="758666" y="164712"/>
                  </a:cubicBezTo>
                  <a:cubicBezTo>
                    <a:pt x="758666" y="248532"/>
                    <a:pt x="708184" y="320922"/>
                    <a:pt x="635794" y="353307"/>
                  </a:cubicBezTo>
                  <a:cubicBezTo>
                    <a:pt x="664369" y="365689"/>
                    <a:pt x="689134" y="384739"/>
                    <a:pt x="708184" y="407599"/>
                  </a:cubicBezTo>
                  <a:cubicBezTo>
                    <a:pt x="714851" y="415219"/>
                    <a:pt x="720566" y="423792"/>
                    <a:pt x="726281" y="432364"/>
                  </a:cubicBezTo>
                  <a:cubicBezTo>
                    <a:pt x="771049" y="473322"/>
                    <a:pt x="761524" y="530472"/>
                    <a:pt x="757714" y="584764"/>
                  </a:cubicBezTo>
                  <a:cubicBezTo>
                    <a:pt x="755809" y="593337"/>
                    <a:pt x="753904" y="602862"/>
                    <a:pt x="751046" y="611434"/>
                  </a:cubicBezTo>
                  <a:cubicBezTo>
                    <a:pt x="748189" y="620007"/>
                    <a:pt x="745331" y="628579"/>
                    <a:pt x="741521" y="637152"/>
                  </a:cubicBezTo>
                  <a:cubicBezTo>
                    <a:pt x="737711" y="645724"/>
                    <a:pt x="732949" y="654297"/>
                    <a:pt x="727234" y="661917"/>
                  </a:cubicBezTo>
                  <a:cubicBezTo>
                    <a:pt x="716756" y="678109"/>
                    <a:pt x="703421" y="693349"/>
                    <a:pt x="687229" y="706684"/>
                  </a:cubicBezTo>
                  <a:cubicBezTo>
                    <a:pt x="689134" y="740974"/>
                    <a:pt x="709136" y="771454"/>
                    <a:pt x="737711" y="786694"/>
                  </a:cubicBezTo>
                  <a:cubicBezTo>
                    <a:pt x="744379" y="790504"/>
                    <a:pt x="752951" y="794314"/>
                    <a:pt x="760571" y="796219"/>
                  </a:cubicBezTo>
                  <a:cubicBezTo>
                    <a:pt x="771049" y="791457"/>
                    <a:pt x="780574" y="794314"/>
                    <a:pt x="788194" y="799077"/>
                  </a:cubicBezTo>
                  <a:cubicBezTo>
                    <a:pt x="810101" y="816222"/>
                    <a:pt x="800576" y="825747"/>
                    <a:pt x="783431" y="835272"/>
                  </a:cubicBezTo>
                  <a:cubicBezTo>
                    <a:pt x="773906" y="838129"/>
                    <a:pt x="762476" y="837177"/>
                    <a:pt x="752951" y="830509"/>
                  </a:cubicBezTo>
                  <a:cubicBezTo>
                    <a:pt x="743426" y="827652"/>
                    <a:pt x="733901" y="824794"/>
                    <a:pt x="724376" y="820032"/>
                  </a:cubicBezTo>
                  <a:cubicBezTo>
                    <a:pt x="689134" y="801934"/>
                    <a:pt x="662464" y="768597"/>
                    <a:pt x="653891" y="728592"/>
                  </a:cubicBezTo>
                  <a:cubicBezTo>
                    <a:pt x="559594" y="780027"/>
                    <a:pt x="439579" y="750499"/>
                    <a:pt x="381476" y="658107"/>
                  </a:cubicBezTo>
                  <a:cubicBezTo>
                    <a:pt x="376714" y="650487"/>
                    <a:pt x="377666" y="640962"/>
                    <a:pt x="384334" y="635247"/>
                  </a:cubicBezTo>
                  <a:cubicBezTo>
                    <a:pt x="392906" y="627627"/>
                    <a:pt x="405289" y="629532"/>
                    <a:pt x="411004" y="639057"/>
                  </a:cubicBezTo>
                  <a:cubicBezTo>
                    <a:pt x="440531" y="685729"/>
                    <a:pt x="490061" y="713352"/>
                    <a:pt x="541496" y="717162"/>
                  </a:cubicBezTo>
                  <a:cubicBezTo>
                    <a:pt x="545306" y="715257"/>
                    <a:pt x="548164" y="716209"/>
                    <a:pt x="552926" y="716209"/>
                  </a:cubicBezTo>
                  <a:cubicBezTo>
                    <a:pt x="611981" y="716209"/>
                    <a:pt x="663416" y="684777"/>
                    <a:pt x="693896" y="638104"/>
                  </a:cubicBezTo>
                  <a:cubicBezTo>
                    <a:pt x="699611" y="628579"/>
                    <a:pt x="705326" y="619054"/>
                    <a:pt x="710089" y="608577"/>
                  </a:cubicBezTo>
                  <a:cubicBezTo>
                    <a:pt x="732949" y="557142"/>
                    <a:pt x="723424" y="519042"/>
                    <a:pt x="710089" y="475227"/>
                  </a:cubicBezTo>
                  <a:cubicBezTo>
                    <a:pt x="705326" y="464749"/>
                    <a:pt x="700564" y="455224"/>
                    <a:pt x="693896" y="445699"/>
                  </a:cubicBezTo>
                  <a:cubicBezTo>
                    <a:pt x="663416" y="399979"/>
                    <a:pt x="611029" y="370452"/>
                    <a:pt x="551974" y="370452"/>
                  </a:cubicBezTo>
                  <a:cubicBezTo>
                    <a:pt x="546259" y="370452"/>
                    <a:pt x="539591" y="369499"/>
                    <a:pt x="532924" y="368547"/>
                  </a:cubicBezTo>
                  <a:cubicBezTo>
                    <a:pt x="485299" y="347592"/>
                    <a:pt x="440531" y="319017"/>
                    <a:pt x="397669" y="301872"/>
                  </a:cubicBezTo>
                  <a:cubicBezTo>
                    <a:pt x="389096" y="298062"/>
                    <a:pt x="380524" y="295204"/>
                    <a:pt x="371951" y="293299"/>
                  </a:cubicBezTo>
                  <a:cubicBezTo>
                    <a:pt x="294799" y="280917"/>
                    <a:pt x="209074" y="299967"/>
                    <a:pt x="180499" y="376167"/>
                  </a:cubicBezTo>
                  <a:cubicBezTo>
                    <a:pt x="170974" y="423792"/>
                    <a:pt x="161449" y="461892"/>
                    <a:pt x="175736" y="505707"/>
                  </a:cubicBezTo>
                  <a:cubicBezTo>
                    <a:pt x="177641" y="515232"/>
                    <a:pt x="179546" y="523804"/>
                    <a:pt x="181451" y="532377"/>
                  </a:cubicBezTo>
                  <a:cubicBezTo>
                    <a:pt x="186214" y="549522"/>
                    <a:pt x="193834" y="565714"/>
                    <a:pt x="202406" y="580954"/>
                  </a:cubicBezTo>
                  <a:cubicBezTo>
                    <a:pt x="207169" y="581907"/>
                    <a:pt x="211931" y="581907"/>
                    <a:pt x="217646" y="581907"/>
                  </a:cubicBezTo>
                  <a:cubicBezTo>
                    <a:pt x="225266" y="581907"/>
                    <a:pt x="231934" y="580954"/>
                    <a:pt x="239554" y="580002"/>
                  </a:cubicBezTo>
                  <a:cubicBezTo>
                    <a:pt x="247174" y="579049"/>
                    <a:pt x="253841" y="577144"/>
                    <a:pt x="260509" y="575239"/>
                  </a:cubicBezTo>
                  <a:cubicBezTo>
                    <a:pt x="305276" y="563809"/>
                    <a:pt x="330041" y="530472"/>
                    <a:pt x="344329" y="490467"/>
                  </a:cubicBezTo>
                  <a:cubicBezTo>
                    <a:pt x="347186" y="482847"/>
                    <a:pt x="350044" y="474274"/>
                    <a:pt x="351949" y="465702"/>
                  </a:cubicBezTo>
                  <a:cubicBezTo>
                    <a:pt x="361474" y="443794"/>
                    <a:pt x="361474" y="434269"/>
                    <a:pt x="361474" y="415219"/>
                  </a:cubicBezTo>
                  <a:cubicBezTo>
                    <a:pt x="370999" y="415219"/>
                    <a:pt x="390049" y="415219"/>
                    <a:pt x="390049" y="424744"/>
                  </a:cubicBezTo>
                  <a:cubicBezTo>
                    <a:pt x="399574" y="481894"/>
                    <a:pt x="361474" y="539044"/>
                    <a:pt x="325279" y="580954"/>
                  </a:cubicBezTo>
                  <a:cubicBezTo>
                    <a:pt x="317659" y="587622"/>
                    <a:pt x="310039" y="592384"/>
                    <a:pt x="301466" y="597147"/>
                  </a:cubicBezTo>
                  <a:cubicBezTo>
                    <a:pt x="276701" y="610482"/>
                    <a:pt x="248126" y="618102"/>
                    <a:pt x="218599" y="618102"/>
                  </a:cubicBezTo>
                  <a:cubicBezTo>
                    <a:pt x="191929" y="618102"/>
                    <a:pt x="168116" y="611434"/>
                    <a:pt x="145256" y="600957"/>
                  </a:cubicBezTo>
                  <a:cubicBezTo>
                    <a:pt x="64294" y="638104"/>
                    <a:pt x="7144" y="720972"/>
                    <a:pt x="7144" y="817174"/>
                  </a:cubicBezTo>
                  <a:cubicBezTo>
                    <a:pt x="7144" y="920044"/>
                    <a:pt x="72866" y="1008627"/>
                    <a:pt x="164306" y="1041964"/>
                  </a:cubicBezTo>
                  <a:cubicBezTo>
                    <a:pt x="168116" y="1041964"/>
                    <a:pt x="170974" y="1041964"/>
                    <a:pt x="174784" y="1041964"/>
                  </a:cubicBezTo>
                  <a:cubicBezTo>
                    <a:pt x="269081" y="1041964"/>
                    <a:pt x="346234" y="964812"/>
                    <a:pt x="346234" y="870514"/>
                  </a:cubicBezTo>
                  <a:cubicBezTo>
                    <a:pt x="346234" y="860037"/>
                    <a:pt x="355759" y="851464"/>
                    <a:pt x="367189" y="853369"/>
                  </a:cubicBezTo>
                  <a:cubicBezTo>
                    <a:pt x="375761" y="854322"/>
                    <a:pt x="382429" y="862894"/>
                    <a:pt x="382429" y="871467"/>
                  </a:cubicBezTo>
                  <a:cubicBezTo>
                    <a:pt x="382429" y="914329"/>
                    <a:pt x="369094" y="954334"/>
                    <a:pt x="346234" y="987672"/>
                  </a:cubicBezTo>
                  <a:cubicBezTo>
                    <a:pt x="346234" y="999102"/>
                    <a:pt x="348139" y="1010532"/>
                    <a:pt x="350044" y="1021009"/>
                  </a:cubicBezTo>
                  <a:cubicBezTo>
                    <a:pt x="352901" y="1031487"/>
                    <a:pt x="355759" y="1041964"/>
                    <a:pt x="360521" y="1052442"/>
                  </a:cubicBezTo>
                  <a:cubicBezTo>
                    <a:pt x="372904" y="1100067"/>
                    <a:pt x="401479" y="1128642"/>
                    <a:pt x="451009" y="1141024"/>
                  </a:cubicBezTo>
                  <a:cubicBezTo>
                    <a:pt x="461486" y="1144834"/>
                    <a:pt x="471964" y="1148645"/>
                    <a:pt x="482441" y="1150549"/>
                  </a:cubicBezTo>
                  <a:cubicBezTo>
                    <a:pt x="493871" y="1152454"/>
                    <a:pt x="504349" y="1154359"/>
                    <a:pt x="516731" y="1154359"/>
                  </a:cubicBezTo>
                  <a:cubicBezTo>
                    <a:pt x="611029" y="1154359"/>
                    <a:pt x="688181" y="1077207"/>
                    <a:pt x="688181" y="982909"/>
                  </a:cubicBezTo>
                  <a:cubicBezTo>
                    <a:pt x="688181" y="972432"/>
                    <a:pt x="697706" y="963859"/>
                    <a:pt x="709136" y="965764"/>
                  </a:cubicBezTo>
                  <a:cubicBezTo>
                    <a:pt x="717709" y="966717"/>
                    <a:pt x="724376" y="975289"/>
                    <a:pt x="724376" y="983862"/>
                  </a:cubicBezTo>
                  <a:cubicBezTo>
                    <a:pt x="724376" y="995292"/>
                    <a:pt x="723424" y="1006722"/>
                    <a:pt x="721519" y="1017199"/>
                  </a:cubicBezTo>
                  <a:cubicBezTo>
                    <a:pt x="725329" y="1052442"/>
                    <a:pt x="696754" y="1071492"/>
                    <a:pt x="684371" y="1105782"/>
                  </a:cubicBezTo>
                  <a:cubicBezTo>
                    <a:pt x="677704" y="1114354"/>
                    <a:pt x="671036" y="1121974"/>
                    <a:pt x="663416" y="1129595"/>
                  </a:cubicBezTo>
                  <a:cubicBezTo>
                    <a:pt x="626269" y="1166742"/>
                    <a:pt x="574834" y="1189602"/>
                    <a:pt x="517684" y="1189602"/>
                  </a:cubicBezTo>
                  <a:cubicBezTo>
                    <a:pt x="507206" y="1189602"/>
                    <a:pt x="497681" y="1188649"/>
                    <a:pt x="488156" y="1187697"/>
                  </a:cubicBezTo>
                  <a:cubicBezTo>
                    <a:pt x="478631" y="1186745"/>
                    <a:pt x="469106" y="1183887"/>
                    <a:pt x="459581" y="1181982"/>
                  </a:cubicBezTo>
                  <a:cubicBezTo>
                    <a:pt x="382429" y="1166742"/>
                    <a:pt x="334804" y="1100067"/>
                    <a:pt x="315754" y="1023867"/>
                  </a:cubicBezTo>
                  <a:cubicBezTo>
                    <a:pt x="249079" y="1071492"/>
                    <a:pt x="153829" y="1071492"/>
                    <a:pt x="172879" y="1185792"/>
                  </a:cubicBezTo>
                  <a:cubicBezTo>
                    <a:pt x="191929" y="1271517"/>
                    <a:pt x="258604" y="1338192"/>
                    <a:pt x="341471" y="1345812"/>
                  </a:cubicBezTo>
                  <a:cubicBezTo>
                    <a:pt x="351949" y="1347717"/>
                    <a:pt x="362426" y="1348670"/>
                    <a:pt x="373856" y="1348670"/>
                  </a:cubicBezTo>
                  <a:cubicBezTo>
                    <a:pt x="377666" y="1348670"/>
                    <a:pt x="381476" y="1348670"/>
                    <a:pt x="386239" y="1348670"/>
                  </a:cubicBezTo>
                  <a:cubicBezTo>
                    <a:pt x="385286" y="1355337"/>
                    <a:pt x="384334" y="1362957"/>
                    <a:pt x="383381" y="1369624"/>
                  </a:cubicBezTo>
                  <a:cubicBezTo>
                    <a:pt x="382429" y="1376292"/>
                    <a:pt x="382429" y="1383912"/>
                    <a:pt x="382429" y="1391532"/>
                  </a:cubicBezTo>
                  <a:cubicBezTo>
                    <a:pt x="373856" y="1500117"/>
                    <a:pt x="421481" y="1595367"/>
                    <a:pt x="527209" y="1625847"/>
                  </a:cubicBezTo>
                  <a:cubicBezTo>
                    <a:pt x="537686" y="1629657"/>
                    <a:pt x="548164" y="1633467"/>
                    <a:pt x="558641" y="1636324"/>
                  </a:cubicBezTo>
                  <a:cubicBezTo>
                    <a:pt x="623411" y="1652517"/>
                    <a:pt x="698659" y="1636324"/>
                    <a:pt x="756761" y="1596320"/>
                  </a:cubicBezTo>
                  <a:cubicBezTo>
                    <a:pt x="764381" y="1592509"/>
                    <a:pt x="771049" y="1588699"/>
                    <a:pt x="777716" y="1584890"/>
                  </a:cubicBezTo>
                  <a:cubicBezTo>
                    <a:pt x="812006" y="1563934"/>
                    <a:pt x="841534" y="1533454"/>
                    <a:pt x="858679" y="1491545"/>
                  </a:cubicBezTo>
                  <a:cubicBezTo>
                    <a:pt x="887254" y="1424870"/>
                    <a:pt x="877729" y="1339145"/>
                    <a:pt x="791051" y="1321999"/>
                  </a:cubicBezTo>
                  <a:cubicBezTo>
                    <a:pt x="784384" y="1320095"/>
                    <a:pt x="777716" y="1319142"/>
                    <a:pt x="771049" y="1318190"/>
                  </a:cubicBezTo>
                  <a:cubicBezTo>
                    <a:pt x="764381" y="1317237"/>
                    <a:pt x="757714" y="1317237"/>
                    <a:pt x="750094" y="1317237"/>
                  </a:cubicBezTo>
                  <a:cubicBezTo>
                    <a:pt x="691039" y="1317237"/>
                    <a:pt x="638651" y="1347717"/>
                    <a:pt x="608171" y="1392484"/>
                  </a:cubicBezTo>
                  <a:cubicBezTo>
                    <a:pt x="602456" y="1402009"/>
                    <a:pt x="596741" y="1411534"/>
                    <a:pt x="591979" y="1422012"/>
                  </a:cubicBezTo>
                  <a:cubicBezTo>
                    <a:pt x="577691" y="1445824"/>
                    <a:pt x="590074" y="1483924"/>
                    <a:pt x="576739" y="1497259"/>
                  </a:cubicBezTo>
                  <a:cubicBezTo>
                    <a:pt x="571976" y="1502022"/>
                    <a:pt x="565309" y="1503927"/>
                    <a:pt x="552926" y="1501070"/>
                  </a:cubicBezTo>
                  <a:cubicBezTo>
                    <a:pt x="543401" y="1482020"/>
                    <a:pt x="543401" y="1462970"/>
                    <a:pt x="546259" y="1447729"/>
                  </a:cubicBezTo>
                  <a:cubicBezTo>
                    <a:pt x="548164" y="1439157"/>
                    <a:pt x="551021" y="1430584"/>
                    <a:pt x="552926" y="1422965"/>
                  </a:cubicBezTo>
                  <a:cubicBezTo>
                    <a:pt x="556736" y="1412487"/>
                    <a:pt x="560546" y="1402962"/>
                    <a:pt x="565309" y="1393437"/>
                  </a:cubicBezTo>
                  <a:cubicBezTo>
                    <a:pt x="600551" y="1326762"/>
                    <a:pt x="669131" y="1281042"/>
                    <a:pt x="749141" y="1281042"/>
                  </a:cubicBezTo>
                  <a:close/>
                  <a:moveTo>
                    <a:pt x="164306" y="969574"/>
                  </a:moveTo>
                  <a:cubicBezTo>
                    <a:pt x="157639" y="975289"/>
                    <a:pt x="147161" y="975289"/>
                    <a:pt x="140494" y="968622"/>
                  </a:cubicBezTo>
                  <a:cubicBezTo>
                    <a:pt x="54769" y="894327"/>
                    <a:pt x="45244" y="763834"/>
                    <a:pt x="118586" y="678109"/>
                  </a:cubicBezTo>
                  <a:cubicBezTo>
                    <a:pt x="123349" y="672394"/>
                    <a:pt x="129064" y="667632"/>
                    <a:pt x="133826" y="661917"/>
                  </a:cubicBezTo>
                  <a:cubicBezTo>
                    <a:pt x="133826" y="661917"/>
                    <a:pt x="134779" y="661917"/>
                    <a:pt x="134779" y="661917"/>
                  </a:cubicBezTo>
                  <a:lnTo>
                    <a:pt x="153829" y="691444"/>
                  </a:lnTo>
                  <a:cubicBezTo>
                    <a:pt x="153829" y="691444"/>
                    <a:pt x="153829" y="691444"/>
                    <a:pt x="153829" y="692397"/>
                  </a:cubicBezTo>
                  <a:cubicBezTo>
                    <a:pt x="150971" y="695254"/>
                    <a:pt x="148114" y="698112"/>
                    <a:pt x="146209" y="700969"/>
                  </a:cubicBezTo>
                  <a:cubicBezTo>
                    <a:pt x="84296" y="772407"/>
                    <a:pt x="92869" y="880992"/>
                    <a:pt x="165259" y="942904"/>
                  </a:cubicBezTo>
                  <a:cubicBezTo>
                    <a:pt x="172879" y="949572"/>
                    <a:pt x="172879" y="961954"/>
                    <a:pt x="164306" y="969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0BD4CB-B29D-469B-BA05-B472758C801F}"/>
                </a:ext>
              </a:extLst>
            </p:cNvPr>
            <p:cNvSpPr/>
            <p:nvPr/>
          </p:nvSpPr>
          <p:spPr>
            <a:xfrm>
              <a:off x="8319409" y="2396187"/>
              <a:ext cx="885825" cy="1647825"/>
            </a:xfrm>
            <a:custGeom>
              <a:avLst/>
              <a:gdLst>
                <a:gd name="connsiteX0" fmla="*/ 320891 w 885825"/>
                <a:gd name="connsiteY0" fmla="*/ 1394389 h 1647825"/>
                <a:gd name="connsiteX1" fmla="*/ 333274 w 885825"/>
                <a:gd name="connsiteY1" fmla="*/ 1423917 h 1647825"/>
                <a:gd name="connsiteX2" fmla="*/ 339941 w 885825"/>
                <a:gd name="connsiteY2" fmla="*/ 1448682 h 1647825"/>
                <a:gd name="connsiteX3" fmla="*/ 333274 w 885825"/>
                <a:gd name="connsiteY3" fmla="*/ 1502022 h 1647825"/>
                <a:gd name="connsiteX4" fmla="*/ 309461 w 885825"/>
                <a:gd name="connsiteY4" fmla="*/ 1498212 h 1647825"/>
                <a:gd name="connsiteX5" fmla="*/ 294221 w 885825"/>
                <a:gd name="connsiteY5" fmla="*/ 1422964 h 1647825"/>
                <a:gd name="connsiteX6" fmla="*/ 278029 w 885825"/>
                <a:gd name="connsiteY6" fmla="*/ 1393437 h 1647825"/>
                <a:gd name="connsiteX7" fmla="*/ 136106 w 885825"/>
                <a:gd name="connsiteY7" fmla="*/ 1318189 h 1647825"/>
                <a:gd name="connsiteX8" fmla="*/ 115151 w 885825"/>
                <a:gd name="connsiteY8" fmla="*/ 1319142 h 1647825"/>
                <a:gd name="connsiteX9" fmla="*/ 95149 w 885825"/>
                <a:gd name="connsiteY9" fmla="*/ 1322952 h 1647825"/>
                <a:gd name="connsiteX10" fmla="*/ 27521 w 885825"/>
                <a:gd name="connsiteY10" fmla="*/ 1492497 h 1647825"/>
                <a:gd name="connsiteX11" fmla="*/ 108484 w 885825"/>
                <a:gd name="connsiteY11" fmla="*/ 1585842 h 1647825"/>
                <a:gd name="connsiteX12" fmla="*/ 129439 w 885825"/>
                <a:gd name="connsiteY12" fmla="*/ 1597272 h 1647825"/>
                <a:gd name="connsiteX13" fmla="*/ 327559 w 885825"/>
                <a:gd name="connsiteY13" fmla="*/ 1637277 h 1647825"/>
                <a:gd name="connsiteX14" fmla="*/ 358991 w 885825"/>
                <a:gd name="connsiteY14" fmla="*/ 1626800 h 1647825"/>
                <a:gd name="connsiteX15" fmla="*/ 503771 w 885825"/>
                <a:gd name="connsiteY15" fmla="*/ 1392484 h 1647825"/>
                <a:gd name="connsiteX16" fmla="*/ 502819 w 885825"/>
                <a:gd name="connsiteY16" fmla="*/ 1370577 h 1647825"/>
                <a:gd name="connsiteX17" fmla="*/ 499961 w 885825"/>
                <a:gd name="connsiteY17" fmla="*/ 1349622 h 1647825"/>
                <a:gd name="connsiteX18" fmla="*/ 512344 w 885825"/>
                <a:gd name="connsiteY18" fmla="*/ 1349622 h 1647825"/>
                <a:gd name="connsiteX19" fmla="*/ 544729 w 885825"/>
                <a:gd name="connsiteY19" fmla="*/ 1346764 h 1647825"/>
                <a:gd name="connsiteX20" fmla="*/ 713321 w 885825"/>
                <a:gd name="connsiteY20" fmla="*/ 1186744 h 1647825"/>
                <a:gd name="connsiteX21" fmla="*/ 570446 w 885825"/>
                <a:gd name="connsiteY21" fmla="*/ 1024819 h 1647825"/>
                <a:gd name="connsiteX22" fmla="*/ 426619 w 885825"/>
                <a:gd name="connsiteY22" fmla="*/ 1182934 h 1647825"/>
                <a:gd name="connsiteX23" fmla="*/ 398044 w 885825"/>
                <a:gd name="connsiteY23" fmla="*/ 1188650 h 1647825"/>
                <a:gd name="connsiteX24" fmla="*/ 368516 w 885825"/>
                <a:gd name="connsiteY24" fmla="*/ 1190554 h 1647825"/>
                <a:gd name="connsiteX25" fmla="*/ 222784 w 885825"/>
                <a:gd name="connsiteY25" fmla="*/ 1130547 h 1647825"/>
                <a:gd name="connsiteX26" fmla="*/ 201829 w 885825"/>
                <a:gd name="connsiteY26" fmla="*/ 1106734 h 1647825"/>
                <a:gd name="connsiteX27" fmla="*/ 164681 w 885825"/>
                <a:gd name="connsiteY27" fmla="*/ 1018152 h 1647825"/>
                <a:gd name="connsiteX28" fmla="*/ 161824 w 885825"/>
                <a:gd name="connsiteY28" fmla="*/ 984814 h 1647825"/>
                <a:gd name="connsiteX29" fmla="*/ 177064 w 885825"/>
                <a:gd name="connsiteY29" fmla="*/ 966717 h 1647825"/>
                <a:gd name="connsiteX30" fmla="*/ 198019 w 885825"/>
                <a:gd name="connsiteY30" fmla="*/ 983862 h 1647825"/>
                <a:gd name="connsiteX31" fmla="*/ 369469 w 885825"/>
                <a:gd name="connsiteY31" fmla="*/ 1155312 h 1647825"/>
                <a:gd name="connsiteX32" fmla="*/ 403759 w 885825"/>
                <a:gd name="connsiteY32" fmla="*/ 1151502 h 1647825"/>
                <a:gd name="connsiteX33" fmla="*/ 435191 w 885825"/>
                <a:gd name="connsiteY33" fmla="*/ 1141977 h 1647825"/>
                <a:gd name="connsiteX34" fmla="*/ 525679 w 885825"/>
                <a:gd name="connsiteY34" fmla="*/ 1053394 h 1647825"/>
                <a:gd name="connsiteX35" fmla="*/ 536156 w 885825"/>
                <a:gd name="connsiteY35" fmla="*/ 1021962 h 1647825"/>
                <a:gd name="connsiteX36" fmla="*/ 539966 w 885825"/>
                <a:gd name="connsiteY36" fmla="*/ 988624 h 1647825"/>
                <a:gd name="connsiteX37" fmla="*/ 503771 w 885825"/>
                <a:gd name="connsiteY37" fmla="*/ 872419 h 1647825"/>
                <a:gd name="connsiteX38" fmla="*/ 519011 w 885825"/>
                <a:gd name="connsiteY38" fmla="*/ 854322 h 1647825"/>
                <a:gd name="connsiteX39" fmla="*/ 539966 w 885825"/>
                <a:gd name="connsiteY39" fmla="*/ 871467 h 1647825"/>
                <a:gd name="connsiteX40" fmla="*/ 711416 w 885825"/>
                <a:gd name="connsiteY40" fmla="*/ 1042917 h 1647825"/>
                <a:gd name="connsiteX41" fmla="*/ 721894 w 885825"/>
                <a:gd name="connsiteY41" fmla="*/ 1042917 h 1647825"/>
                <a:gd name="connsiteX42" fmla="*/ 879056 w 885825"/>
                <a:gd name="connsiteY42" fmla="*/ 818127 h 1647825"/>
                <a:gd name="connsiteX43" fmla="*/ 739991 w 885825"/>
                <a:gd name="connsiteY43" fmla="*/ 600957 h 1647825"/>
                <a:gd name="connsiteX44" fmla="*/ 666649 w 885825"/>
                <a:gd name="connsiteY44" fmla="*/ 618102 h 1647825"/>
                <a:gd name="connsiteX45" fmla="*/ 583781 w 885825"/>
                <a:gd name="connsiteY45" fmla="*/ 597147 h 1647825"/>
                <a:gd name="connsiteX46" fmla="*/ 559969 w 885825"/>
                <a:gd name="connsiteY46" fmla="*/ 580954 h 1647825"/>
                <a:gd name="connsiteX47" fmla="*/ 495199 w 885825"/>
                <a:gd name="connsiteY47" fmla="*/ 424744 h 1647825"/>
                <a:gd name="connsiteX48" fmla="*/ 523774 w 885825"/>
                <a:gd name="connsiteY48" fmla="*/ 415219 h 1647825"/>
                <a:gd name="connsiteX49" fmla="*/ 533299 w 885825"/>
                <a:gd name="connsiteY49" fmla="*/ 465702 h 1647825"/>
                <a:gd name="connsiteX50" fmla="*/ 540919 w 885825"/>
                <a:gd name="connsiteY50" fmla="*/ 490467 h 1647825"/>
                <a:gd name="connsiteX51" fmla="*/ 624739 w 885825"/>
                <a:gd name="connsiteY51" fmla="*/ 575239 h 1647825"/>
                <a:gd name="connsiteX52" fmla="*/ 645694 w 885825"/>
                <a:gd name="connsiteY52" fmla="*/ 580002 h 1647825"/>
                <a:gd name="connsiteX53" fmla="*/ 667601 w 885825"/>
                <a:gd name="connsiteY53" fmla="*/ 581907 h 1647825"/>
                <a:gd name="connsiteX54" fmla="*/ 682841 w 885825"/>
                <a:gd name="connsiteY54" fmla="*/ 580954 h 1647825"/>
                <a:gd name="connsiteX55" fmla="*/ 703796 w 885825"/>
                <a:gd name="connsiteY55" fmla="*/ 532377 h 1647825"/>
                <a:gd name="connsiteX56" fmla="*/ 709511 w 885825"/>
                <a:gd name="connsiteY56" fmla="*/ 505707 h 1647825"/>
                <a:gd name="connsiteX57" fmla="*/ 704749 w 885825"/>
                <a:gd name="connsiteY57" fmla="*/ 376167 h 1647825"/>
                <a:gd name="connsiteX58" fmla="*/ 513296 w 885825"/>
                <a:gd name="connsiteY58" fmla="*/ 293299 h 1647825"/>
                <a:gd name="connsiteX59" fmla="*/ 487579 w 885825"/>
                <a:gd name="connsiteY59" fmla="*/ 301872 h 1647825"/>
                <a:gd name="connsiteX60" fmla="*/ 352324 w 885825"/>
                <a:gd name="connsiteY60" fmla="*/ 368547 h 1647825"/>
                <a:gd name="connsiteX61" fmla="*/ 333274 w 885825"/>
                <a:gd name="connsiteY61" fmla="*/ 370452 h 1647825"/>
                <a:gd name="connsiteX62" fmla="*/ 191351 w 885825"/>
                <a:gd name="connsiteY62" fmla="*/ 445699 h 1647825"/>
                <a:gd name="connsiteX63" fmla="*/ 175159 w 885825"/>
                <a:gd name="connsiteY63" fmla="*/ 475227 h 1647825"/>
                <a:gd name="connsiteX64" fmla="*/ 175159 w 885825"/>
                <a:gd name="connsiteY64" fmla="*/ 608577 h 1647825"/>
                <a:gd name="connsiteX65" fmla="*/ 191351 w 885825"/>
                <a:gd name="connsiteY65" fmla="*/ 638104 h 1647825"/>
                <a:gd name="connsiteX66" fmla="*/ 332321 w 885825"/>
                <a:gd name="connsiteY66" fmla="*/ 716209 h 1647825"/>
                <a:gd name="connsiteX67" fmla="*/ 343751 w 885825"/>
                <a:gd name="connsiteY67" fmla="*/ 717162 h 1647825"/>
                <a:gd name="connsiteX68" fmla="*/ 474244 w 885825"/>
                <a:gd name="connsiteY68" fmla="*/ 639057 h 1647825"/>
                <a:gd name="connsiteX69" fmla="*/ 500914 w 885825"/>
                <a:gd name="connsiteY69" fmla="*/ 635247 h 1647825"/>
                <a:gd name="connsiteX70" fmla="*/ 503771 w 885825"/>
                <a:gd name="connsiteY70" fmla="*/ 658107 h 1647825"/>
                <a:gd name="connsiteX71" fmla="*/ 231356 w 885825"/>
                <a:gd name="connsiteY71" fmla="*/ 728592 h 1647825"/>
                <a:gd name="connsiteX72" fmla="*/ 160871 w 885825"/>
                <a:gd name="connsiteY72" fmla="*/ 820032 h 1647825"/>
                <a:gd name="connsiteX73" fmla="*/ 132296 w 885825"/>
                <a:gd name="connsiteY73" fmla="*/ 830509 h 1647825"/>
                <a:gd name="connsiteX74" fmla="*/ 101816 w 885825"/>
                <a:gd name="connsiteY74" fmla="*/ 835272 h 1647825"/>
                <a:gd name="connsiteX75" fmla="*/ 97054 w 885825"/>
                <a:gd name="connsiteY75" fmla="*/ 799077 h 1647825"/>
                <a:gd name="connsiteX76" fmla="*/ 124676 w 885825"/>
                <a:gd name="connsiteY76" fmla="*/ 796219 h 1647825"/>
                <a:gd name="connsiteX77" fmla="*/ 147536 w 885825"/>
                <a:gd name="connsiteY77" fmla="*/ 786694 h 1647825"/>
                <a:gd name="connsiteX78" fmla="*/ 198019 w 885825"/>
                <a:gd name="connsiteY78" fmla="*/ 706684 h 1647825"/>
                <a:gd name="connsiteX79" fmla="*/ 158014 w 885825"/>
                <a:gd name="connsiteY79" fmla="*/ 661917 h 1647825"/>
                <a:gd name="connsiteX80" fmla="*/ 143726 w 885825"/>
                <a:gd name="connsiteY80" fmla="*/ 637152 h 1647825"/>
                <a:gd name="connsiteX81" fmla="*/ 134201 w 885825"/>
                <a:gd name="connsiteY81" fmla="*/ 611434 h 1647825"/>
                <a:gd name="connsiteX82" fmla="*/ 127534 w 885825"/>
                <a:gd name="connsiteY82" fmla="*/ 584764 h 1647825"/>
                <a:gd name="connsiteX83" fmla="*/ 158966 w 885825"/>
                <a:gd name="connsiteY83" fmla="*/ 432364 h 1647825"/>
                <a:gd name="connsiteX84" fmla="*/ 177064 w 885825"/>
                <a:gd name="connsiteY84" fmla="*/ 407599 h 1647825"/>
                <a:gd name="connsiteX85" fmla="*/ 249454 w 885825"/>
                <a:gd name="connsiteY85" fmla="*/ 353307 h 1647825"/>
                <a:gd name="connsiteX86" fmla="*/ 126581 w 885825"/>
                <a:gd name="connsiteY86" fmla="*/ 164712 h 1647825"/>
                <a:gd name="connsiteX87" fmla="*/ 141821 w 885825"/>
                <a:gd name="connsiteY87" fmla="*/ 146614 h 1647825"/>
                <a:gd name="connsiteX88" fmla="*/ 162776 w 885825"/>
                <a:gd name="connsiteY88" fmla="*/ 163759 h 1647825"/>
                <a:gd name="connsiteX89" fmla="*/ 166586 w 885825"/>
                <a:gd name="connsiteY89" fmla="*/ 198049 h 1647825"/>
                <a:gd name="connsiteX90" fmla="*/ 334226 w 885825"/>
                <a:gd name="connsiteY90" fmla="*/ 335209 h 1647825"/>
                <a:gd name="connsiteX91" fmla="*/ 364706 w 885825"/>
                <a:gd name="connsiteY91" fmla="*/ 332352 h 1647825"/>
                <a:gd name="connsiteX92" fmla="*/ 479959 w 885825"/>
                <a:gd name="connsiteY92" fmla="*/ 253294 h 1647825"/>
                <a:gd name="connsiteX93" fmla="*/ 493294 w 885825"/>
                <a:gd name="connsiteY93" fmla="*/ 227577 h 1647825"/>
                <a:gd name="connsiteX94" fmla="*/ 261836 w 885825"/>
                <a:gd name="connsiteY94" fmla="*/ 8502 h 1647825"/>
                <a:gd name="connsiteX95" fmla="*/ 228499 w 885825"/>
                <a:gd name="connsiteY95" fmla="*/ 12312 h 1647825"/>
                <a:gd name="connsiteX96" fmla="*/ 135154 w 885825"/>
                <a:gd name="connsiteY96" fmla="*/ 50412 h 1647825"/>
                <a:gd name="connsiteX97" fmla="*/ 108484 w 885825"/>
                <a:gd name="connsiteY97" fmla="*/ 71367 h 1647825"/>
                <a:gd name="connsiteX98" fmla="*/ 30379 w 885825"/>
                <a:gd name="connsiteY98" fmla="*/ 221862 h 1647825"/>
                <a:gd name="connsiteX99" fmla="*/ 28474 w 885825"/>
                <a:gd name="connsiteY99" fmla="*/ 220909 h 1647825"/>
                <a:gd name="connsiteX100" fmla="*/ 28474 w 885825"/>
                <a:gd name="connsiteY100" fmla="*/ 280917 h 1647825"/>
                <a:gd name="connsiteX101" fmla="*/ 28474 w 885825"/>
                <a:gd name="connsiteY101" fmla="*/ 311397 h 1647825"/>
                <a:gd name="connsiteX102" fmla="*/ 17044 w 885825"/>
                <a:gd name="connsiteY102" fmla="*/ 619054 h 1647825"/>
                <a:gd name="connsiteX103" fmla="*/ 21806 w 885825"/>
                <a:gd name="connsiteY103" fmla="*/ 650487 h 1647825"/>
                <a:gd name="connsiteX104" fmla="*/ 28474 w 885825"/>
                <a:gd name="connsiteY104" fmla="*/ 681919 h 1647825"/>
                <a:gd name="connsiteX105" fmla="*/ 29426 w 885825"/>
                <a:gd name="connsiteY105" fmla="*/ 707637 h 1647825"/>
                <a:gd name="connsiteX106" fmla="*/ 38951 w 885825"/>
                <a:gd name="connsiteY106" fmla="*/ 891469 h 1647825"/>
                <a:gd name="connsiteX107" fmla="*/ 117056 w 885825"/>
                <a:gd name="connsiteY107" fmla="*/ 857179 h 1647825"/>
                <a:gd name="connsiteX108" fmla="*/ 147536 w 885825"/>
                <a:gd name="connsiteY108" fmla="*/ 854322 h 1647825"/>
                <a:gd name="connsiteX109" fmla="*/ 174206 w 885825"/>
                <a:gd name="connsiteY109" fmla="*/ 859084 h 1647825"/>
                <a:gd name="connsiteX110" fmla="*/ 280886 w 885825"/>
                <a:gd name="connsiteY110" fmla="*/ 1049584 h 1647825"/>
                <a:gd name="connsiteX111" fmla="*/ 266599 w 885825"/>
                <a:gd name="connsiteY111" fmla="*/ 1060062 h 1647825"/>
                <a:gd name="connsiteX112" fmla="*/ 255169 w 885825"/>
                <a:gd name="connsiteY112" fmla="*/ 1042917 h 1647825"/>
                <a:gd name="connsiteX113" fmla="*/ 166586 w 885825"/>
                <a:gd name="connsiteY113" fmla="*/ 884802 h 1647825"/>
                <a:gd name="connsiteX114" fmla="*/ 139916 w 885825"/>
                <a:gd name="connsiteY114" fmla="*/ 880039 h 1647825"/>
                <a:gd name="connsiteX115" fmla="*/ 115151 w 885825"/>
                <a:gd name="connsiteY115" fmla="*/ 880039 h 1647825"/>
                <a:gd name="connsiteX116" fmla="*/ 94196 w 885825"/>
                <a:gd name="connsiteY116" fmla="*/ 885754 h 1647825"/>
                <a:gd name="connsiteX117" fmla="*/ 29426 w 885825"/>
                <a:gd name="connsiteY117" fmla="*/ 975289 h 1647825"/>
                <a:gd name="connsiteX118" fmla="*/ 23711 w 885825"/>
                <a:gd name="connsiteY118" fmla="*/ 1006722 h 1647825"/>
                <a:gd name="connsiteX119" fmla="*/ 26569 w 885825"/>
                <a:gd name="connsiteY119" fmla="*/ 1287709 h 1647825"/>
                <a:gd name="connsiteX120" fmla="*/ 26569 w 885825"/>
                <a:gd name="connsiteY120" fmla="*/ 1312475 h 1647825"/>
                <a:gd name="connsiteX121" fmla="*/ 136106 w 885825"/>
                <a:gd name="connsiteY121" fmla="*/ 1281042 h 1647825"/>
                <a:gd name="connsiteX122" fmla="*/ 320891 w 885825"/>
                <a:gd name="connsiteY122" fmla="*/ 1394389 h 1647825"/>
                <a:gd name="connsiteX123" fmla="*/ 721894 w 885825"/>
                <a:gd name="connsiteY123" fmla="*/ 944809 h 1647825"/>
                <a:gd name="connsiteX124" fmla="*/ 740944 w 885825"/>
                <a:gd name="connsiteY124" fmla="*/ 702874 h 1647825"/>
                <a:gd name="connsiteX125" fmla="*/ 733324 w 885825"/>
                <a:gd name="connsiteY125" fmla="*/ 694302 h 1647825"/>
                <a:gd name="connsiteX126" fmla="*/ 733324 w 885825"/>
                <a:gd name="connsiteY126" fmla="*/ 693349 h 1647825"/>
                <a:gd name="connsiteX127" fmla="*/ 752374 w 885825"/>
                <a:gd name="connsiteY127" fmla="*/ 663822 h 1647825"/>
                <a:gd name="connsiteX128" fmla="*/ 753326 w 885825"/>
                <a:gd name="connsiteY128" fmla="*/ 663822 h 1647825"/>
                <a:gd name="connsiteX129" fmla="*/ 768566 w 885825"/>
                <a:gd name="connsiteY129" fmla="*/ 680014 h 1647825"/>
                <a:gd name="connsiteX130" fmla="*/ 746659 w 885825"/>
                <a:gd name="connsiteY130" fmla="*/ 970527 h 1647825"/>
                <a:gd name="connsiteX131" fmla="*/ 722846 w 885825"/>
                <a:gd name="connsiteY131" fmla="*/ 971479 h 1647825"/>
                <a:gd name="connsiteX132" fmla="*/ 721894 w 885825"/>
                <a:gd name="connsiteY132" fmla="*/ 9448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320891" y="1394389"/>
                  </a:moveTo>
                  <a:cubicBezTo>
                    <a:pt x="325654" y="1403914"/>
                    <a:pt x="330416" y="1413439"/>
                    <a:pt x="333274" y="1423917"/>
                  </a:cubicBezTo>
                  <a:cubicBezTo>
                    <a:pt x="336131" y="1431537"/>
                    <a:pt x="338036" y="1440109"/>
                    <a:pt x="339941" y="1448682"/>
                  </a:cubicBezTo>
                  <a:cubicBezTo>
                    <a:pt x="342799" y="1463922"/>
                    <a:pt x="342799" y="1482972"/>
                    <a:pt x="333274" y="1502022"/>
                  </a:cubicBezTo>
                  <a:cubicBezTo>
                    <a:pt x="320891" y="1503927"/>
                    <a:pt x="314224" y="1502022"/>
                    <a:pt x="309461" y="1498212"/>
                  </a:cubicBezTo>
                  <a:cubicBezTo>
                    <a:pt x="296126" y="1484877"/>
                    <a:pt x="308509" y="1446777"/>
                    <a:pt x="294221" y="1422964"/>
                  </a:cubicBezTo>
                  <a:cubicBezTo>
                    <a:pt x="289459" y="1412487"/>
                    <a:pt x="284696" y="1402962"/>
                    <a:pt x="278029" y="1393437"/>
                  </a:cubicBezTo>
                  <a:cubicBezTo>
                    <a:pt x="247549" y="1347717"/>
                    <a:pt x="195161" y="1318189"/>
                    <a:pt x="136106" y="1318189"/>
                  </a:cubicBezTo>
                  <a:cubicBezTo>
                    <a:pt x="129439" y="1318189"/>
                    <a:pt x="121819" y="1318189"/>
                    <a:pt x="115151" y="1319142"/>
                  </a:cubicBezTo>
                  <a:cubicBezTo>
                    <a:pt x="108484" y="1320095"/>
                    <a:pt x="101816" y="1321047"/>
                    <a:pt x="95149" y="1322952"/>
                  </a:cubicBezTo>
                  <a:cubicBezTo>
                    <a:pt x="8471" y="1340097"/>
                    <a:pt x="-1054" y="1425822"/>
                    <a:pt x="27521" y="1492497"/>
                  </a:cubicBezTo>
                  <a:cubicBezTo>
                    <a:pt x="45619" y="1534407"/>
                    <a:pt x="74194" y="1564887"/>
                    <a:pt x="108484" y="1585842"/>
                  </a:cubicBezTo>
                  <a:cubicBezTo>
                    <a:pt x="115151" y="1589652"/>
                    <a:pt x="122771" y="1593462"/>
                    <a:pt x="129439" y="1597272"/>
                  </a:cubicBezTo>
                  <a:cubicBezTo>
                    <a:pt x="187541" y="1637277"/>
                    <a:pt x="262789" y="1653470"/>
                    <a:pt x="327559" y="1637277"/>
                  </a:cubicBezTo>
                  <a:cubicBezTo>
                    <a:pt x="338036" y="1634420"/>
                    <a:pt x="348514" y="1631562"/>
                    <a:pt x="358991" y="1626800"/>
                  </a:cubicBezTo>
                  <a:cubicBezTo>
                    <a:pt x="464719" y="1596320"/>
                    <a:pt x="512344" y="1501070"/>
                    <a:pt x="503771" y="1392484"/>
                  </a:cubicBezTo>
                  <a:cubicBezTo>
                    <a:pt x="503771" y="1384864"/>
                    <a:pt x="503771" y="1378197"/>
                    <a:pt x="502819" y="1370577"/>
                  </a:cubicBezTo>
                  <a:cubicBezTo>
                    <a:pt x="501866" y="1362957"/>
                    <a:pt x="500914" y="1356289"/>
                    <a:pt x="499961" y="1349622"/>
                  </a:cubicBezTo>
                  <a:cubicBezTo>
                    <a:pt x="503771" y="1349622"/>
                    <a:pt x="507581" y="1349622"/>
                    <a:pt x="512344" y="1349622"/>
                  </a:cubicBezTo>
                  <a:cubicBezTo>
                    <a:pt x="522821" y="1349622"/>
                    <a:pt x="534251" y="1348670"/>
                    <a:pt x="544729" y="1346764"/>
                  </a:cubicBezTo>
                  <a:cubicBezTo>
                    <a:pt x="627596" y="1339145"/>
                    <a:pt x="694271" y="1272470"/>
                    <a:pt x="713321" y="1186744"/>
                  </a:cubicBezTo>
                  <a:cubicBezTo>
                    <a:pt x="732371" y="1072444"/>
                    <a:pt x="637121" y="1072444"/>
                    <a:pt x="570446" y="1024819"/>
                  </a:cubicBezTo>
                  <a:cubicBezTo>
                    <a:pt x="551396" y="1101019"/>
                    <a:pt x="503771" y="1167694"/>
                    <a:pt x="426619" y="1182934"/>
                  </a:cubicBezTo>
                  <a:cubicBezTo>
                    <a:pt x="417094" y="1185792"/>
                    <a:pt x="407569" y="1187697"/>
                    <a:pt x="398044" y="1188650"/>
                  </a:cubicBezTo>
                  <a:cubicBezTo>
                    <a:pt x="388519" y="1189602"/>
                    <a:pt x="378994" y="1190554"/>
                    <a:pt x="368516" y="1190554"/>
                  </a:cubicBezTo>
                  <a:cubicBezTo>
                    <a:pt x="311366" y="1190554"/>
                    <a:pt x="259931" y="1167694"/>
                    <a:pt x="222784" y="1130547"/>
                  </a:cubicBezTo>
                  <a:cubicBezTo>
                    <a:pt x="215164" y="1122927"/>
                    <a:pt x="208496" y="1115307"/>
                    <a:pt x="201829" y="1106734"/>
                  </a:cubicBezTo>
                  <a:cubicBezTo>
                    <a:pt x="189446" y="1072444"/>
                    <a:pt x="160871" y="1053394"/>
                    <a:pt x="164681" y="1018152"/>
                  </a:cubicBezTo>
                  <a:cubicBezTo>
                    <a:pt x="162776" y="1007674"/>
                    <a:pt x="161824" y="996244"/>
                    <a:pt x="161824" y="984814"/>
                  </a:cubicBezTo>
                  <a:cubicBezTo>
                    <a:pt x="161824" y="976242"/>
                    <a:pt x="168491" y="967669"/>
                    <a:pt x="177064" y="966717"/>
                  </a:cubicBezTo>
                  <a:cubicBezTo>
                    <a:pt x="188494" y="964812"/>
                    <a:pt x="198019" y="973384"/>
                    <a:pt x="198019" y="983862"/>
                  </a:cubicBezTo>
                  <a:cubicBezTo>
                    <a:pt x="198019" y="1078159"/>
                    <a:pt x="275171" y="1155312"/>
                    <a:pt x="369469" y="1155312"/>
                  </a:cubicBezTo>
                  <a:cubicBezTo>
                    <a:pt x="380899" y="1155312"/>
                    <a:pt x="392329" y="1154359"/>
                    <a:pt x="403759" y="1151502"/>
                  </a:cubicBezTo>
                  <a:cubicBezTo>
                    <a:pt x="415189" y="1149597"/>
                    <a:pt x="425666" y="1145787"/>
                    <a:pt x="435191" y="1141977"/>
                  </a:cubicBezTo>
                  <a:cubicBezTo>
                    <a:pt x="485674" y="1129594"/>
                    <a:pt x="514249" y="1101019"/>
                    <a:pt x="525679" y="1053394"/>
                  </a:cubicBezTo>
                  <a:cubicBezTo>
                    <a:pt x="530441" y="1042917"/>
                    <a:pt x="533299" y="1032439"/>
                    <a:pt x="536156" y="1021962"/>
                  </a:cubicBezTo>
                  <a:cubicBezTo>
                    <a:pt x="539014" y="1011484"/>
                    <a:pt x="539966" y="1000054"/>
                    <a:pt x="539966" y="988624"/>
                  </a:cubicBezTo>
                  <a:cubicBezTo>
                    <a:pt x="517106" y="955287"/>
                    <a:pt x="503771" y="915282"/>
                    <a:pt x="503771" y="872419"/>
                  </a:cubicBezTo>
                  <a:cubicBezTo>
                    <a:pt x="503771" y="863847"/>
                    <a:pt x="510439" y="855274"/>
                    <a:pt x="519011" y="854322"/>
                  </a:cubicBezTo>
                  <a:cubicBezTo>
                    <a:pt x="530441" y="852417"/>
                    <a:pt x="539966" y="860989"/>
                    <a:pt x="539966" y="871467"/>
                  </a:cubicBezTo>
                  <a:cubicBezTo>
                    <a:pt x="539966" y="965764"/>
                    <a:pt x="617119" y="1042917"/>
                    <a:pt x="711416" y="1042917"/>
                  </a:cubicBezTo>
                  <a:cubicBezTo>
                    <a:pt x="715226" y="1042917"/>
                    <a:pt x="718084" y="1042917"/>
                    <a:pt x="721894" y="1042917"/>
                  </a:cubicBezTo>
                  <a:cubicBezTo>
                    <a:pt x="813334" y="1009579"/>
                    <a:pt x="879056" y="921949"/>
                    <a:pt x="879056" y="818127"/>
                  </a:cubicBezTo>
                  <a:cubicBezTo>
                    <a:pt x="879056" y="721924"/>
                    <a:pt x="821906" y="639057"/>
                    <a:pt x="739991" y="600957"/>
                  </a:cubicBezTo>
                  <a:cubicBezTo>
                    <a:pt x="718084" y="612387"/>
                    <a:pt x="693319" y="618102"/>
                    <a:pt x="666649" y="618102"/>
                  </a:cubicBezTo>
                  <a:cubicBezTo>
                    <a:pt x="637121" y="618102"/>
                    <a:pt x="608546" y="610482"/>
                    <a:pt x="583781" y="597147"/>
                  </a:cubicBezTo>
                  <a:cubicBezTo>
                    <a:pt x="575209" y="592384"/>
                    <a:pt x="567589" y="587622"/>
                    <a:pt x="559969" y="580954"/>
                  </a:cubicBezTo>
                  <a:cubicBezTo>
                    <a:pt x="523774" y="539044"/>
                    <a:pt x="485674" y="481894"/>
                    <a:pt x="495199" y="424744"/>
                  </a:cubicBezTo>
                  <a:cubicBezTo>
                    <a:pt x="495199" y="415219"/>
                    <a:pt x="514249" y="415219"/>
                    <a:pt x="523774" y="415219"/>
                  </a:cubicBezTo>
                  <a:cubicBezTo>
                    <a:pt x="523774" y="434269"/>
                    <a:pt x="523774" y="443794"/>
                    <a:pt x="533299" y="465702"/>
                  </a:cubicBezTo>
                  <a:cubicBezTo>
                    <a:pt x="535204" y="474274"/>
                    <a:pt x="538061" y="482847"/>
                    <a:pt x="540919" y="490467"/>
                  </a:cubicBezTo>
                  <a:cubicBezTo>
                    <a:pt x="555206" y="530472"/>
                    <a:pt x="579019" y="564762"/>
                    <a:pt x="624739" y="575239"/>
                  </a:cubicBezTo>
                  <a:cubicBezTo>
                    <a:pt x="631406" y="577144"/>
                    <a:pt x="639026" y="579049"/>
                    <a:pt x="645694" y="580002"/>
                  </a:cubicBezTo>
                  <a:cubicBezTo>
                    <a:pt x="653314" y="580954"/>
                    <a:pt x="659981" y="581907"/>
                    <a:pt x="667601" y="581907"/>
                  </a:cubicBezTo>
                  <a:cubicBezTo>
                    <a:pt x="672364" y="581907"/>
                    <a:pt x="677126" y="581907"/>
                    <a:pt x="682841" y="580954"/>
                  </a:cubicBezTo>
                  <a:cubicBezTo>
                    <a:pt x="692366" y="565714"/>
                    <a:pt x="699034" y="549522"/>
                    <a:pt x="703796" y="532377"/>
                  </a:cubicBezTo>
                  <a:cubicBezTo>
                    <a:pt x="706654" y="523804"/>
                    <a:pt x="708559" y="515232"/>
                    <a:pt x="709511" y="505707"/>
                  </a:cubicBezTo>
                  <a:cubicBezTo>
                    <a:pt x="723799" y="461892"/>
                    <a:pt x="714274" y="423792"/>
                    <a:pt x="704749" y="376167"/>
                  </a:cubicBezTo>
                  <a:cubicBezTo>
                    <a:pt x="676174" y="299967"/>
                    <a:pt x="590449" y="280917"/>
                    <a:pt x="513296" y="293299"/>
                  </a:cubicBezTo>
                  <a:cubicBezTo>
                    <a:pt x="504724" y="295204"/>
                    <a:pt x="496151" y="299014"/>
                    <a:pt x="487579" y="301872"/>
                  </a:cubicBezTo>
                  <a:cubicBezTo>
                    <a:pt x="444716" y="319017"/>
                    <a:pt x="399949" y="347592"/>
                    <a:pt x="352324" y="368547"/>
                  </a:cubicBezTo>
                  <a:cubicBezTo>
                    <a:pt x="345656" y="369499"/>
                    <a:pt x="338989" y="370452"/>
                    <a:pt x="333274" y="370452"/>
                  </a:cubicBezTo>
                  <a:cubicBezTo>
                    <a:pt x="274219" y="370452"/>
                    <a:pt x="221831" y="400932"/>
                    <a:pt x="191351" y="445699"/>
                  </a:cubicBezTo>
                  <a:cubicBezTo>
                    <a:pt x="185636" y="455224"/>
                    <a:pt x="179921" y="464749"/>
                    <a:pt x="175159" y="475227"/>
                  </a:cubicBezTo>
                  <a:cubicBezTo>
                    <a:pt x="161824" y="519042"/>
                    <a:pt x="152299" y="557142"/>
                    <a:pt x="175159" y="608577"/>
                  </a:cubicBezTo>
                  <a:cubicBezTo>
                    <a:pt x="179921" y="619054"/>
                    <a:pt x="184684" y="628579"/>
                    <a:pt x="191351" y="638104"/>
                  </a:cubicBezTo>
                  <a:cubicBezTo>
                    <a:pt x="221831" y="684777"/>
                    <a:pt x="274219" y="715257"/>
                    <a:pt x="332321" y="716209"/>
                  </a:cubicBezTo>
                  <a:cubicBezTo>
                    <a:pt x="336131" y="716209"/>
                    <a:pt x="339941" y="714304"/>
                    <a:pt x="343751" y="717162"/>
                  </a:cubicBezTo>
                  <a:cubicBezTo>
                    <a:pt x="395186" y="712399"/>
                    <a:pt x="444716" y="685729"/>
                    <a:pt x="474244" y="639057"/>
                  </a:cubicBezTo>
                  <a:cubicBezTo>
                    <a:pt x="479959" y="630484"/>
                    <a:pt x="492341" y="627627"/>
                    <a:pt x="500914" y="635247"/>
                  </a:cubicBezTo>
                  <a:cubicBezTo>
                    <a:pt x="507581" y="640962"/>
                    <a:pt x="508534" y="651439"/>
                    <a:pt x="503771" y="658107"/>
                  </a:cubicBezTo>
                  <a:cubicBezTo>
                    <a:pt x="444716" y="749547"/>
                    <a:pt x="325654" y="779074"/>
                    <a:pt x="231356" y="728592"/>
                  </a:cubicBezTo>
                  <a:cubicBezTo>
                    <a:pt x="222784" y="768597"/>
                    <a:pt x="196114" y="801934"/>
                    <a:pt x="160871" y="820032"/>
                  </a:cubicBezTo>
                  <a:cubicBezTo>
                    <a:pt x="152299" y="824794"/>
                    <a:pt x="142774" y="828604"/>
                    <a:pt x="132296" y="830509"/>
                  </a:cubicBezTo>
                  <a:cubicBezTo>
                    <a:pt x="123724" y="837177"/>
                    <a:pt x="111341" y="838129"/>
                    <a:pt x="101816" y="835272"/>
                  </a:cubicBezTo>
                  <a:cubicBezTo>
                    <a:pt x="85624" y="824794"/>
                    <a:pt x="76099" y="815269"/>
                    <a:pt x="97054" y="799077"/>
                  </a:cubicBezTo>
                  <a:cubicBezTo>
                    <a:pt x="104674" y="794314"/>
                    <a:pt x="114199" y="791457"/>
                    <a:pt x="124676" y="796219"/>
                  </a:cubicBezTo>
                  <a:cubicBezTo>
                    <a:pt x="132296" y="794314"/>
                    <a:pt x="140869" y="790504"/>
                    <a:pt x="147536" y="786694"/>
                  </a:cubicBezTo>
                  <a:cubicBezTo>
                    <a:pt x="176111" y="770502"/>
                    <a:pt x="196114" y="740974"/>
                    <a:pt x="198019" y="706684"/>
                  </a:cubicBezTo>
                  <a:cubicBezTo>
                    <a:pt x="181826" y="693349"/>
                    <a:pt x="168491" y="678109"/>
                    <a:pt x="158014" y="661917"/>
                  </a:cubicBezTo>
                  <a:cubicBezTo>
                    <a:pt x="152299" y="653344"/>
                    <a:pt x="147536" y="645724"/>
                    <a:pt x="143726" y="637152"/>
                  </a:cubicBezTo>
                  <a:cubicBezTo>
                    <a:pt x="139916" y="628579"/>
                    <a:pt x="137059" y="620007"/>
                    <a:pt x="134201" y="611434"/>
                  </a:cubicBezTo>
                  <a:cubicBezTo>
                    <a:pt x="131344" y="602862"/>
                    <a:pt x="129439" y="593337"/>
                    <a:pt x="127534" y="584764"/>
                  </a:cubicBezTo>
                  <a:cubicBezTo>
                    <a:pt x="123724" y="530472"/>
                    <a:pt x="114199" y="473322"/>
                    <a:pt x="158966" y="432364"/>
                  </a:cubicBezTo>
                  <a:cubicBezTo>
                    <a:pt x="164681" y="423792"/>
                    <a:pt x="170396" y="415219"/>
                    <a:pt x="177064" y="407599"/>
                  </a:cubicBezTo>
                  <a:cubicBezTo>
                    <a:pt x="197066" y="384739"/>
                    <a:pt x="221831" y="365689"/>
                    <a:pt x="249454" y="353307"/>
                  </a:cubicBezTo>
                  <a:cubicBezTo>
                    <a:pt x="177064" y="320922"/>
                    <a:pt x="126581" y="248532"/>
                    <a:pt x="126581" y="164712"/>
                  </a:cubicBezTo>
                  <a:cubicBezTo>
                    <a:pt x="126581" y="156139"/>
                    <a:pt x="133249" y="147567"/>
                    <a:pt x="141821" y="146614"/>
                  </a:cubicBezTo>
                  <a:cubicBezTo>
                    <a:pt x="153251" y="144709"/>
                    <a:pt x="162776" y="153282"/>
                    <a:pt x="162776" y="163759"/>
                  </a:cubicBezTo>
                  <a:cubicBezTo>
                    <a:pt x="162776" y="175189"/>
                    <a:pt x="163729" y="187572"/>
                    <a:pt x="166586" y="198049"/>
                  </a:cubicBezTo>
                  <a:cubicBezTo>
                    <a:pt x="182779" y="276154"/>
                    <a:pt x="251359" y="335209"/>
                    <a:pt x="334226" y="335209"/>
                  </a:cubicBezTo>
                  <a:cubicBezTo>
                    <a:pt x="344704" y="335209"/>
                    <a:pt x="354229" y="334257"/>
                    <a:pt x="364706" y="332352"/>
                  </a:cubicBezTo>
                  <a:cubicBezTo>
                    <a:pt x="410426" y="328542"/>
                    <a:pt x="458051" y="290442"/>
                    <a:pt x="479959" y="253294"/>
                  </a:cubicBezTo>
                  <a:cubicBezTo>
                    <a:pt x="484721" y="244722"/>
                    <a:pt x="489484" y="236149"/>
                    <a:pt x="493294" y="227577"/>
                  </a:cubicBezTo>
                  <a:cubicBezTo>
                    <a:pt x="524726" y="80892"/>
                    <a:pt x="381851" y="-4833"/>
                    <a:pt x="261836" y="8502"/>
                  </a:cubicBezTo>
                  <a:cubicBezTo>
                    <a:pt x="250406" y="8502"/>
                    <a:pt x="239929" y="10407"/>
                    <a:pt x="228499" y="12312"/>
                  </a:cubicBezTo>
                  <a:cubicBezTo>
                    <a:pt x="195161" y="18027"/>
                    <a:pt x="163729" y="30409"/>
                    <a:pt x="135154" y="50412"/>
                  </a:cubicBezTo>
                  <a:cubicBezTo>
                    <a:pt x="125629" y="57079"/>
                    <a:pt x="117056" y="63747"/>
                    <a:pt x="108484" y="71367"/>
                  </a:cubicBezTo>
                  <a:cubicBezTo>
                    <a:pt x="66574" y="109467"/>
                    <a:pt x="37046" y="161854"/>
                    <a:pt x="30379" y="221862"/>
                  </a:cubicBezTo>
                  <a:lnTo>
                    <a:pt x="28474" y="220909"/>
                  </a:lnTo>
                  <a:cubicBezTo>
                    <a:pt x="28474" y="220909"/>
                    <a:pt x="28474" y="243769"/>
                    <a:pt x="28474" y="280917"/>
                  </a:cubicBezTo>
                  <a:cubicBezTo>
                    <a:pt x="28474" y="290442"/>
                    <a:pt x="28474" y="299967"/>
                    <a:pt x="28474" y="311397"/>
                  </a:cubicBezTo>
                  <a:cubicBezTo>
                    <a:pt x="20854" y="415219"/>
                    <a:pt x="-7721" y="510469"/>
                    <a:pt x="17044" y="619054"/>
                  </a:cubicBezTo>
                  <a:cubicBezTo>
                    <a:pt x="17996" y="629532"/>
                    <a:pt x="19901" y="640009"/>
                    <a:pt x="21806" y="650487"/>
                  </a:cubicBezTo>
                  <a:cubicBezTo>
                    <a:pt x="23711" y="660964"/>
                    <a:pt x="25616" y="671442"/>
                    <a:pt x="28474" y="681919"/>
                  </a:cubicBezTo>
                  <a:cubicBezTo>
                    <a:pt x="28474" y="690492"/>
                    <a:pt x="29426" y="699064"/>
                    <a:pt x="29426" y="707637"/>
                  </a:cubicBezTo>
                  <a:cubicBezTo>
                    <a:pt x="29426" y="767644"/>
                    <a:pt x="58001" y="834319"/>
                    <a:pt x="38951" y="891469"/>
                  </a:cubicBezTo>
                  <a:cubicBezTo>
                    <a:pt x="67526" y="891469"/>
                    <a:pt x="86576" y="853369"/>
                    <a:pt x="117056" y="857179"/>
                  </a:cubicBezTo>
                  <a:cubicBezTo>
                    <a:pt x="126581" y="855274"/>
                    <a:pt x="137059" y="854322"/>
                    <a:pt x="147536" y="854322"/>
                  </a:cubicBezTo>
                  <a:cubicBezTo>
                    <a:pt x="156109" y="855274"/>
                    <a:pt x="165634" y="857179"/>
                    <a:pt x="174206" y="859084"/>
                  </a:cubicBezTo>
                  <a:cubicBezTo>
                    <a:pt x="256121" y="881944"/>
                    <a:pt x="303746" y="967669"/>
                    <a:pt x="280886" y="1049584"/>
                  </a:cubicBezTo>
                  <a:cubicBezTo>
                    <a:pt x="278981" y="1056252"/>
                    <a:pt x="273266" y="1060062"/>
                    <a:pt x="266599" y="1060062"/>
                  </a:cubicBezTo>
                  <a:cubicBezTo>
                    <a:pt x="258026" y="1059109"/>
                    <a:pt x="253264" y="1050537"/>
                    <a:pt x="255169" y="1042917"/>
                  </a:cubicBezTo>
                  <a:cubicBezTo>
                    <a:pt x="274219" y="974337"/>
                    <a:pt x="235166" y="903852"/>
                    <a:pt x="166586" y="884802"/>
                  </a:cubicBezTo>
                  <a:cubicBezTo>
                    <a:pt x="158014" y="881944"/>
                    <a:pt x="148489" y="880992"/>
                    <a:pt x="139916" y="880039"/>
                  </a:cubicBezTo>
                  <a:cubicBezTo>
                    <a:pt x="131344" y="879087"/>
                    <a:pt x="122771" y="879087"/>
                    <a:pt x="115151" y="880039"/>
                  </a:cubicBezTo>
                  <a:cubicBezTo>
                    <a:pt x="107531" y="880992"/>
                    <a:pt x="99911" y="882897"/>
                    <a:pt x="94196" y="885754"/>
                  </a:cubicBezTo>
                  <a:cubicBezTo>
                    <a:pt x="57049" y="900042"/>
                    <a:pt x="37999" y="938142"/>
                    <a:pt x="29426" y="975289"/>
                  </a:cubicBezTo>
                  <a:cubicBezTo>
                    <a:pt x="27521" y="985767"/>
                    <a:pt x="25616" y="996244"/>
                    <a:pt x="23711" y="1006722"/>
                  </a:cubicBezTo>
                  <a:cubicBezTo>
                    <a:pt x="9424" y="1101019"/>
                    <a:pt x="11329" y="1195317"/>
                    <a:pt x="26569" y="1287709"/>
                  </a:cubicBezTo>
                  <a:cubicBezTo>
                    <a:pt x="26569" y="1302950"/>
                    <a:pt x="26569" y="1312475"/>
                    <a:pt x="26569" y="1312475"/>
                  </a:cubicBezTo>
                  <a:cubicBezTo>
                    <a:pt x="58001" y="1292472"/>
                    <a:pt x="96101" y="1281042"/>
                    <a:pt x="136106" y="1281042"/>
                  </a:cubicBezTo>
                  <a:cubicBezTo>
                    <a:pt x="217069" y="1282947"/>
                    <a:pt x="285649" y="1328667"/>
                    <a:pt x="320891" y="1394389"/>
                  </a:cubicBezTo>
                  <a:close/>
                  <a:moveTo>
                    <a:pt x="721894" y="944809"/>
                  </a:moveTo>
                  <a:cubicBezTo>
                    <a:pt x="793331" y="882897"/>
                    <a:pt x="801904" y="775264"/>
                    <a:pt x="740944" y="702874"/>
                  </a:cubicBezTo>
                  <a:cubicBezTo>
                    <a:pt x="738086" y="700017"/>
                    <a:pt x="736181" y="697159"/>
                    <a:pt x="733324" y="694302"/>
                  </a:cubicBezTo>
                  <a:cubicBezTo>
                    <a:pt x="733324" y="694302"/>
                    <a:pt x="733324" y="694302"/>
                    <a:pt x="733324" y="693349"/>
                  </a:cubicBezTo>
                  <a:lnTo>
                    <a:pt x="752374" y="663822"/>
                  </a:lnTo>
                  <a:cubicBezTo>
                    <a:pt x="752374" y="663822"/>
                    <a:pt x="753326" y="663822"/>
                    <a:pt x="753326" y="663822"/>
                  </a:cubicBezTo>
                  <a:cubicBezTo>
                    <a:pt x="759041" y="668584"/>
                    <a:pt x="763804" y="674299"/>
                    <a:pt x="768566" y="680014"/>
                  </a:cubicBezTo>
                  <a:cubicBezTo>
                    <a:pt x="842861" y="766692"/>
                    <a:pt x="832384" y="896232"/>
                    <a:pt x="746659" y="970527"/>
                  </a:cubicBezTo>
                  <a:cubicBezTo>
                    <a:pt x="739991" y="976242"/>
                    <a:pt x="729514" y="977194"/>
                    <a:pt x="722846" y="971479"/>
                  </a:cubicBezTo>
                  <a:cubicBezTo>
                    <a:pt x="713321" y="963859"/>
                    <a:pt x="714274" y="951477"/>
                    <a:pt x="721894" y="9448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99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F910652-1ED7-4779-AADE-C6DB10809118}"/>
              </a:ext>
            </a:extLst>
          </p:cNvPr>
          <p:cNvGrpSpPr/>
          <p:nvPr/>
        </p:nvGrpSpPr>
        <p:grpSpPr>
          <a:xfrm>
            <a:off x="5937044" y="2726034"/>
            <a:ext cx="2924861" cy="1908980"/>
            <a:chOff x="700575" y="477868"/>
            <a:chExt cx="9072285" cy="592124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9C6C1B3-47E0-4764-B0C3-13B7AB43E42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36AD7B-C6A3-4D0B-A90E-4BEE2F2E6E4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00B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E2C9CF7-D331-4068-9F83-D439FA291463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4885" y="260843"/>
            <a:ext cx="3408568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研究目的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" name="Elbow Connector 53">
            <a:extLst>
              <a:ext uri="{FF2B5EF4-FFF2-40B4-BE49-F238E27FC236}">
                <a16:creationId xmlns:a16="http://schemas.microsoft.com/office/drawing/2014/main" id="{BFCE1F58-BC50-4DB3-BC06-3D77B9BBDEBB}"/>
              </a:ext>
            </a:extLst>
          </p:cNvPr>
          <p:cNvCxnSpPr/>
          <p:nvPr/>
        </p:nvCxnSpPr>
        <p:spPr>
          <a:xfrm rot="10800000" flipV="1">
            <a:off x="8784168" y="5573964"/>
            <a:ext cx="1813126" cy="321024"/>
          </a:xfrm>
          <a:prstGeom prst="bentConnector3">
            <a:avLst>
              <a:gd name="adj1" fmla="val 198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39">
            <a:extLst>
              <a:ext uri="{FF2B5EF4-FFF2-40B4-BE49-F238E27FC236}">
                <a16:creationId xmlns:a16="http://schemas.microsoft.com/office/drawing/2014/main" id="{09D152F6-C50C-41BB-9CC7-1A4FF74FA573}"/>
              </a:ext>
            </a:extLst>
          </p:cNvPr>
          <p:cNvSpPr>
            <a:spLocks noChangeAspect="1"/>
          </p:cNvSpPr>
          <p:nvPr/>
        </p:nvSpPr>
        <p:spPr>
          <a:xfrm>
            <a:off x="6062093" y="4969014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223511" y="1089813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1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Freeform 44">
            <a:extLst>
              <a:ext uri="{FF2B5EF4-FFF2-40B4-BE49-F238E27FC236}">
                <a16:creationId xmlns:a16="http://schemas.microsoft.com/office/drawing/2014/main" id="{690A250C-1C13-490D-BF9F-41A656A23763}"/>
              </a:ext>
            </a:extLst>
          </p:cNvPr>
          <p:cNvSpPr>
            <a:spLocks noChangeAspect="1"/>
          </p:cNvSpPr>
          <p:nvPr/>
        </p:nvSpPr>
        <p:spPr>
          <a:xfrm>
            <a:off x="2448981" y="1863949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2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95C182BE-B7CE-4FBE-9A37-F22C63AFC163}"/>
              </a:ext>
            </a:extLst>
          </p:cNvPr>
          <p:cNvSpPr>
            <a:spLocks noChangeAspect="1"/>
          </p:cNvSpPr>
          <p:nvPr/>
        </p:nvSpPr>
        <p:spPr>
          <a:xfrm>
            <a:off x="9728387" y="1827276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8268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4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F8104-B47B-44CC-9E0F-D7D5E3DA71B1}"/>
              </a:ext>
            </a:extLst>
          </p:cNvPr>
          <p:cNvSpPr txBox="1"/>
          <p:nvPr/>
        </p:nvSpPr>
        <p:spPr>
          <a:xfrm>
            <a:off x="6516414" y="5704523"/>
            <a:ext cx="197864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E2869-3487-4060-98F9-7A3F2AD6364A}"/>
              </a:ext>
            </a:extLst>
          </p:cNvPr>
          <p:cNvSpPr txBox="1"/>
          <p:nvPr/>
        </p:nvSpPr>
        <p:spPr>
          <a:xfrm>
            <a:off x="2943076" y="2602861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四大功能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3CAE7-0513-4CD7-B966-375301219B51}"/>
              </a:ext>
            </a:extLst>
          </p:cNvPr>
          <p:cNvSpPr txBox="1"/>
          <p:nvPr/>
        </p:nvSpPr>
        <p:spPr>
          <a:xfrm>
            <a:off x="10167407" y="2604479"/>
            <a:ext cx="18466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評估系統成效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79EC9-2092-4F16-96AA-059F8843BBC4}"/>
              </a:ext>
            </a:extLst>
          </p:cNvPr>
          <p:cNvSpPr txBox="1"/>
          <p:nvPr/>
        </p:nvSpPr>
        <p:spPr>
          <a:xfrm>
            <a:off x="9728387" y="3498348"/>
            <a:ext cx="39066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分析教育效果與使用者接受度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提出優化建議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為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應用於語言教育提供實務參考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4350B-2F21-4965-A954-B2BA9CD7600E}"/>
              </a:ext>
            </a:extLst>
          </p:cNvPr>
          <p:cNvSpPr txBox="1"/>
          <p:nvPr/>
        </p:nvSpPr>
        <p:spPr>
          <a:xfrm>
            <a:off x="2465665" y="3498348"/>
            <a:ext cx="2730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對話、單字造句、　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跟讀、聽力練習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CFC999-091F-4021-AE51-787DED20AEBB}"/>
              </a:ext>
            </a:extLst>
          </p:cNvPr>
          <p:cNvSpPr txBox="1"/>
          <p:nvPr/>
        </p:nvSpPr>
        <p:spPr>
          <a:xfrm>
            <a:off x="6327227" y="6680022"/>
            <a:ext cx="2534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優化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提示設計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控制語法難度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詞彙選擇與回饋方式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318DC7D0-D0D5-7920-E2E2-5A83DD53A186}"/>
              </a:ext>
            </a:extLst>
          </p:cNvPr>
          <p:cNvSpPr txBox="1"/>
          <p:nvPr/>
        </p:nvSpPr>
        <p:spPr>
          <a:xfrm>
            <a:off x="6107484" y="3298294"/>
            <a:ext cx="26251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Learn English </a:t>
            </a:r>
          </a:p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Linebot</a:t>
            </a:r>
            <a:endParaRPr lang="en-US" altLang="ko-KR" sz="20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B1419320-FF8A-F2FD-ACA6-19E59E1B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849F9A1E-1991-34F1-F8A7-9E73910C9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系統核心功能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BC79AFDB-FA7A-BCD8-68D3-52D0B2E4B012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5244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4929785" y="2340555"/>
            <a:ext cx="851033" cy="851033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cs typeface="Arial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CFBC39-F118-4C40-8D0A-A00A01832B51}"/>
              </a:ext>
            </a:extLst>
          </p:cNvPr>
          <p:cNvGrpSpPr/>
          <p:nvPr/>
        </p:nvGrpSpPr>
        <p:grpSpPr>
          <a:xfrm>
            <a:off x="5927510" y="2104215"/>
            <a:ext cx="3326401" cy="1877437"/>
            <a:chOff x="4903822" y="3840016"/>
            <a:chExt cx="2772001" cy="1564532"/>
          </a:xfrm>
        </p:grpSpPr>
        <p:sp>
          <p:nvSpPr>
            <p:cNvPr id="11" name="TextBox 10"/>
            <p:cNvSpPr txBox="1"/>
            <p:nvPr/>
          </p:nvSpPr>
          <p:spPr>
            <a:xfrm>
              <a:off x="4903823" y="4173441"/>
              <a:ext cx="2772000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LINE Rich Menu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提供視覺化又便利功能入口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四大功能區塊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一鍵快速切換，無需記憶指令或文字輸入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03822" y="3840016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圖文選單設計</a:t>
              </a:r>
              <a:endParaRPr lang="en-US" altLang="ko-KR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7" name="Oval 36"/>
          <p:cNvSpPr/>
          <p:nvPr/>
        </p:nvSpPr>
        <p:spPr>
          <a:xfrm>
            <a:off x="9514219" y="2340555"/>
            <a:ext cx="851033" cy="851033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cs typeface="Arial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65A623-F28B-4F05-802A-0E801E155392}"/>
              </a:ext>
            </a:extLst>
          </p:cNvPr>
          <p:cNvGrpSpPr/>
          <p:nvPr/>
        </p:nvGrpSpPr>
        <p:grpSpPr>
          <a:xfrm>
            <a:off x="10494041" y="2104220"/>
            <a:ext cx="3344304" cy="1358488"/>
            <a:chOff x="8606712" y="3839869"/>
            <a:chExt cx="2786920" cy="1132073"/>
          </a:xfrm>
        </p:grpSpPr>
        <p:sp>
          <p:nvSpPr>
            <p:cNvPr id="38" name="TextBox 37"/>
            <p:cNvSpPr txBox="1"/>
            <p:nvPr/>
          </p:nvSpPr>
          <p:spPr>
            <a:xfrm>
              <a:off x="8606712" y="4202500"/>
              <a:ext cx="2772000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A1-A2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B1-B2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C1-C2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621632" y="3839869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CEFR</a:t>
              </a:r>
              <a:r>
                <a:rPr lang="zh-TW" alt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國際標準分級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1" name="Oval 40"/>
          <p:cNvSpPr/>
          <p:nvPr/>
        </p:nvSpPr>
        <p:spPr>
          <a:xfrm>
            <a:off x="4937815" y="5274349"/>
            <a:ext cx="851033" cy="851033"/>
          </a:xfrm>
          <a:prstGeom prst="ellipse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cs typeface="Arial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FA42CD-23F9-4BA0-88A4-52A346A9ED9A}"/>
              </a:ext>
            </a:extLst>
          </p:cNvPr>
          <p:cNvGrpSpPr/>
          <p:nvPr/>
        </p:nvGrpSpPr>
        <p:grpSpPr>
          <a:xfrm>
            <a:off x="5919211" y="5038013"/>
            <a:ext cx="3334701" cy="1415776"/>
            <a:chOff x="4896906" y="4915303"/>
            <a:chExt cx="2778917" cy="1179813"/>
          </a:xfrm>
        </p:grpSpPr>
        <p:sp>
          <p:nvSpPr>
            <p:cNvPr id="42" name="TextBox 41"/>
            <p:cNvSpPr txBox="1"/>
            <p:nvPr/>
          </p:nvSpPr>
          <p:spPr>
            <a:xfrm>
              <a:off x="4896906" y="5248730"/>
              <a:ext cx="2772000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GPT-3.5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Whisper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000" dirty="0" err="1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gTTS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03823" y="4915303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整合技術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5" name="Oval 44"/>
          <p:cNvSpPr/>
          <p:nvPr/>
        </p:nvSpPr>
        <p:spPr>
          <a:xfrm>
            <a:off x="9522250" y="5274349"/>
            <a:ext cx="851033" cy="851033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cs typeface="Arial" pitchFamily="34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27B846-75DD-4CA8-9B36-661A62F2123C}"/>
              </a:ext>
            </a:extLst>
          </p:cNvPr>
          <p:cNvGrpSpPr/>
          <p:nvPr/>
        </p:nvGrpSpPr>
        <p:grpSpPr>
          <a:xfrm>
            <a:off x="10511944" y="5038012"/>
            <a:ext cx="3577541" cy="2213809"/>
            <a:chOff x="8621632" y="4933374"/>
            <a:chExt cx="2772000" cy="1844842"/>
          </a:xfrm>
        </p:grpSpPr>
        <p:sp>
          <p:nvSpPr>
            <p:cNvPr id="46" name="TextBox 45"/>
            <p:cNvSpPr txBox="1"/>
            <p:nvPr/>
          </p:nvSpPr>
          <p:spPr>
            <a:xfrm>
              <a:off x="8621632" y="5316277"/>
              <a:ext cx="2772000" cy="1461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雙語支持策略（英文學習 </a:t>
              </a:r>
              <a:r>
                <a:rPr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+ </a:t>
              </a: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中文回饋）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零學習成本，無需適應新平台</a:t>
              </a:r>
              <a:endPara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無縫整合體驗，在日常社交平台中進行學習</a:t>
              </a:r>
              <a:endParaRPr lang="ko-KR" altLang="en-US" sz="1600" dirty="0"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21632" y="4933374"/>
              <a:ext cx="2772000" cy="333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使用者界面優勢</a:t>
              </a:r>
              <a:endParaRPr lang="ko-KR" altLang="en-US" b="1" dirty="0"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371D73E6-33D9-43A7-AE69-F4C127AEFE6D}"/>
              </a:ext>
            </a:extLst>
          </p:cNvPr>
          <p:cNvSpPr/>
          <p:nvPr/>
        </p:nvSpPr>
        <p:spPr>
          <a:xfrm>
            <a:off x="5142441" y="5524786"/>
            <a:ext cx="420752" cy="32319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40" name="Rounded Rectangle 7">
            <a:extLst>
              <a:ext uri="{FF2B5EF4-FFF2-40B4-BE49-F238E27FC236}">
                <a16:creationId xmlns:a16="http://schemas.microsoft.com/office/drawing/2014/main" id="{CD7C4185-B102-4289-9C5F-11C2839FB9D3}"/>
              </a:ext>
            </a:extLst>
          </p:cNvPr>
          <p:cNvSpPr/>
          <p:nvPr/>
        </p:nvSpPr>
        <p:spPr>
          <a:xfrm>
            <a:off x="5142439" y="2539376"/>
            <a:ext cx="427774" cy="36916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4097C796-6926-423A-A7D5-AB30714B83E4}"/>
              </a:ext>
            </a:extLst>
          </p:cNvPr>
          <p:cNvSpPr/>
          <p:nvPr/>
        </p:nvSpPr>
        <p:spPr>
          <a:xfrm rot="2700000">
            <a:off x="9789482" y="2458080"/>
            <a:ext cx="300515" cy="538768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B96BED6D-4D7D-4C72-96EE-C9CDD6B72B5A}"/>
              </a:ext>
            </a:extLst>
          </p:cNvPr>
          <p:cNvSpPr/>
          <p:nvPr/>
        </p:nvSpPr>
        <p:spPr>
          <a:xfrm>
            <a:off x="9741948" y="5511080"/>
            <a:ext cx="406976" cy="38096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FA3AD-2750-ADBA-D79B-5F60D81E6C80}"/>
              </a:ext>
            </a:extLst>
          </p:cNvPr>
          <p:cNvSpPr txBox="1">
            <a:spLocks/>
          </p:cNvSpPr>
          <p:nvPr/>
        </p:nvSpPr>
        <p:spPr>
          <a:xfrm>
            <a:off x="274885" y="260843"/>
            <a:ext cx="4321178" cy="9509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整合特色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F422E5C-2EFA-1CC1-5CBA-10DAC6FA4091}"/>
              </a:ext>
            </a:extLst>
          </p:cNvPr>
          <p:cNvGrpSpPr/>
          <p:nvPr/>
        </p:nvGrpSpPr>
        <p:grpSpPr>
          <a:xfrm>
            <a:off x="540914" y="1619403"/>
            <a:ext cx="3453570" cy="6477849"/>
            <a:chOff x="2168827" y="111212"/>
            <a:chExt cx="4689178" cy="7908324"/>
          </a:xfrm>
        </p:grpSpPr>
        <p:grpSp>
          <p:nvGrpSpPr>
            <p:cNvPr id="15" name="Group 25">
              <a:extLst>
                <a:ext uri="{FF2B5EF4-FFF2-40B4-BE49-F238E27FC236}">
                  <a16:creationId xmlns:a16="http://schemas.microsoft.com/office/drawing/2014/main" id="{509FD9C7-D788-95C0-3813-ACBC315E3A1F}"/>
                </a:ext>
              </a:extLst>
            </p:cNvPr>
            <p:cNvGrpSpPr/>
            <p:nvPr/>
          </p:nvGrpSpPr>
          <p:grpSpPr>
            <a:xfrm>
              <a:off x="2168827" y="111212"/>
              <a:ext cx="4689178" cy="7908324"/>
              <a:chOff x="445712" y="1449040"/>
              <a:chExt cx="2113018" cy="3924176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611CFCC6-8BC3-E8DC-9461-A63150C94CE4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9" name="Rectangle 19">
                <a:extLst>
                  <a:ext uri="{FF2B5EF4-FFF2-40B4-BE49-F238E27FC236}">
                    <a16:creationId xmlns:a16="http://schemas.microsoft.com/office/drawing/2014/main" id="{E4DC3BFD-FF5F-F47D-6CD3-A990DB38C36E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grpSp>
            <p:nvGrpSpPr>
              <p:cNvPr id="20" name="Group 24">
                <a:extLst>
                  <a:ext uri="{FF2B5EF4-FFF2-40B4-BE49-F238E27FC236}">
                    <a16:creationId xmlns:a16="http://schemas.microsoft.com/office/drawing/2014/main" id="{73D921F7-BD02-EC41-F8D5-BCACBC0E29B9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1" name="Oval 22">
                  <a:extLst>
                    <a:ext uri="{FF2B5EF4-FFF2-40B4-BE49-F238E27FC236}">
                      <a16:creationId xmlns:a16="http://schemas.microsoft.com/office/drawing/2014/main" id="{984265B1-FC06-E3BB-B611-C2758BBB1FAA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2" name="Rounded Rectangle 23">
                  <a:extLst>
                    <a:ext uri="{FF2B5EF4-FFF2-40B4-BE49-F238E27FC236}">
                      <a16:creationId xmlns:a16="http://schemas.microsoft.com/office/drawing/2014/main" id="{17126564-04C0-13F7-8C3F-C184D35E0885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600B600-60FF-07E0-88C2-200A93727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819"/>
            <a:stretch/>
          </p:blipFill>
          <p:spPr>
            <a:xfrm>
              <a:off x="2360148" y="1414902"/>
              <a:ext cx="4300337" cy="5887278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666374A5-E47A-5DF1-7946-DE71E105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904" b="88588"/>
            <a:stretch/>
          </p:blipFill>
          <p:spPr>
            <a:xfrm>
              <a:off x="2360147" y="733505"/>
              <a:ext cx="4300337" cy="6995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689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6" y="407412"/>
            <a:ext cx="1753385" cy="869096"/>
          </a:xfrm>
        </p:spPr>
        <p:txBody>
          <a:bodyPr/>
          <a:lstStyle/>
          <a:p>
            <a:pPr algn="l"/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D18310E7-4BC8-40A1-8457-34B19B0B2781}"/>
              </a:ext>
            </a:extLst>
          </p:cNvPr>
          <p:cNvSpPr/>
          <p:nvPr/>
        </p:nvSpPr>
        <p:spPr>
          <a:xfrm>
            <a:off x="7400995" y="2189741"/>
            <a:ext cx="6134400" cy="2462400"/>
          </a:xfrm>
          <a:prstGeom prst="roundRect">
            <a:avLst>
              <a:gd name="adj" fmla="val 10788"/>
            </a:avLst>
          </a:prstGeom>
          <a:solidFill>
            <a:srgbClr val="EEB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2731B22-B471-47B8-BC8C-16848B9C1FC0}"/>
              </a:ext>
            </a:extLst>
          </p:cNvPr>
          <p:cNvSpPr/>
          <p:nvPr/>
        </p:nvSpPr>
        <p:spPr>
          <a:xfrm>
            <a:off x="7400995" y="4795368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F1D8C70-7CE7-4740-A658-15400A2DCB6F}"/>
              </a:ext>
            </a:extLst>
          </p:cNvPr>
          <p:cNvSpPr/>
          <p:nvPr/>
        </p:nvSpPr>
        <p:spPr>
          <a:xfrm>
            <a:off x="1086730" y="4795368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EF68B4F4-A0AA-4701-AE1E-F20B0E62D57E}"/>
              </a:ext>
            </a:extLst>
          </p:cNvPr>
          <p:cNvSpPr/>
          <p:nvPr/>
        </p:nvSpPr>
        <p:spPr>
          <a:xfrm>
            <a:off x="1086730" y="2189741"/>
            <a:ext cx="6134400" cy="2462400"/>
          </a:xfrm>
          <a:prstGeom prst="roundRect">
            <a:avLst>
              <a:gd name="adj" fmla="val 107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7A0B3-ED9B-414E-9B79-B706EEDC6C6C}"/>
              </a:ext>
            </a:extLst>
          </p:cNvPr>
          <p:cNvSpPr txBox="1"/>
          <p:nvPr/>
        </p:nvSpPr>
        <p:spPr>
          <a:xfrm>
            <a:off x="1462908" y="2451445"/>
            <a:ext cx="49187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浸入式語言學習理論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角色扮演架構：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扮演真實對話夥伴（非教學工具），降低情感過濾器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技術架構：五大日常主題、三級難度分層、參數化提示設計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教育創新：深度對話策略、隱性糾錯機制：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E4588-6A72-415D-B89E-5B380235C1AF}"/>
              </a:ext>
            </a:extLst>
          </p:cNvPr>
          <p:cNvSpPr txBox="1"/>
          <p:nvPr/>
        </p:nvSpPr>
        <p:spPr>
          <a:xfrm>
            <a:off x="8021203" y="2321029"/>
            <a:ext cx="52746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輸出假說理論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結構化學習：「展示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練習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-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回饋」，促進詞彙內化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分級體系：整合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CEFR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國際標準、預設詞庫備份機制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雙語教學策略：中英文、符合認知負荷理論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多維評估機制：詞彙準確性 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句法正確性 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表達自然度分析</a:t>
            </a:r>
            <a:endParaRPr lang="ko-KR" altLang="en-US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6056B-E578-4528-B575-30A116E5F270}"/>
              </a:ext>
            </a:extLst>
          </p:cNvPr>
          <p:cNvSpPr txBox="1"/>
          <p:nvPr/>
        </p:nvSpPr>
        <p:spPr>
          <a:xfrm>
            <a:off x="8227153" y="5032442"/>
            <a:ext cx="52046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聽力理解理論與自然順序假說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專業語言助手定位：專注創建符合教育目標的聽力訓練內容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內容生成機制：精確長度控制、日常主題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智能評估系統：自動問題生成算法、混合評估模式、難度適應性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EED31-C798-4A44-9DAC-5F76455F90A5}"/>
              </a:ext>
            </a:extLst>
          </p:cNvPr>
          <p:cNvSpPr txBox="1"/>
          <p:nvPr/>
        </p:nvSpPr>
        <p:spPr>
          <a:xfrm>
            <a:off x="1462908" y="5049348"/>
            <a:ext cx="5095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模仿學習理論與支架式教學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母語角色：語言表達範例，標準化語音模型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語音評估技術：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Whisper+ </a:t>
            </a:r>
            <a:r>
              <a:rPr lang="en-US" altLang="zh-TW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Levenshtein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距離算法、發音進行權重處理、語音相似度評估</a:t>
            </a:r>
            <a:endParaRPr lang="en-US" altLang="zh-TW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場景化設計：五大生活場景、</a:t>
            </a:r>
            <a:r>
              <a:rPr lang="en-US" altLang="zh-TW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CEFR</a:t>
            </a:r>
            <a:r>
              <a:rPr lang="zh-TW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標準漸進式難度等級、基於任務型語言教學法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AB538D-E14C-4806-B87D-2DA8E942F579}"/>
              </a:ext>
            </a:extLst>
          </p:cNvPr>
          <p:cNvSpPr txBox="1"/>
          <p:nvPr/>
        </p:nvSpPr>
        <p:spPr>
          <a:xfrm>
            <a:off x="6475710" y="2343817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對話練習</a:t>
            </a:r>
            <a:endParaRPr lang="zh-TW" altLang="en-US" sz="36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F1ECC-8DD8-41E1-B3D2-56445BAC96E1}"/>
              </a:ext>
            </a:extLst>
          </p:cNvPr>
          <p:cNvSpPr txBox="1"/>
          <p:nvPr/>
        </p:nvSpPr>
        <p:spPr>
          <a:xfrm>
            <a:off x="7275783" y="2368775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單字造句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5ED0CA-B76F-47EE-9222-89CC78186A79}"/>
              </a:ext>
            </a:extLst>
          </p:cNvPr>
          <p:cNvSpPr txBox="1"/>
          <p:nvPr/>
        </p:nvSpPr>
        <p:spPr>
          <a:xfrm>
            <a:off x="6295845" y="4864682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跟讀練習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8A6AB-E680-4B6D-A235-7FBF698D8D16}"/>
              </a:ext>
            </a:extLst>
          </p:cNvPr>
          <p:cNvSpPr txBox="1"/>
          <p:nvPr/>
        </p:nvSpPr>
        <p:spPr>
          <a:xfrm>
            <a:off x="7315200" y="4881533"/>
            <a:ext cx="105497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聽力練習</a:t>
            </a:r>
            <a:endParaRPr lang="ko-KR" altLang="en-US" sz="36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E37BB967-A501-E613-CB15-ACAB7B83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1AF018D5-B601-592E-1744-744D24290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系統功能展示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A1731428-C024-8B01-3D05-DF3DCCE820F4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6666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3D4551-4C53-7640-1732-325C0837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54000"/>
            <a:ext cx="12611100" cy="9509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英語對話練習功能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030F3C-3F14-4280-AA6C-19204206B3E0}"/>
              </a:ext>
            </a:extLst>
          </p:cNvPr>
          <p:cNvGrpSpPr/>
          <p:nvPr/>
        </p:nvGrpSpPr>
        <p:grpSpPr>
          <a:xfrm rot="16200000">
            <a:off x="9448901" y="2939386"/>
            <a:ext cx="7164977" cy="2045129"/>
            <a:chOff x="3960971" y="2767117"/>
            <a:chExt cx="4267200" cy="132148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00CC3D4-3213-44FE-AEA1-D00F01745FC6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3D9FB98-AB9C-4644-A8E5-20D1B7786152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6388DEA-7EFF-4878-98F7-417A594FE6FF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DB4C64B-2027-487F-AE96-A7A3A8516637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3" name="Graphic 3">
            <a:extLst>
              <a:ext uri="{FF2B5EF4-FFF2-40B4-BE49-F238E27FC236}">
                <a16:creationId xmlns:a16="http://schemas.microsoft.com/office/drawing/2014/main" id="{19C4EF18-7F43-4D6E-ACAF-E47946F46669}"/>
              </a:ext>
            </a:extLst>
          </p:cNvPr>
          <p:cNvGrpSpPr/>
          <p:nvPr/>
        </p:nvGrpSpPr>
        <p:grpSpPr>
          <a:xfrm rot="21305829" flipH="1">
            <a:off x="337513" y="3263695"/>
            <a:ext cx="1667642" cy="1348264"/>
            <a:chOff x="8338752" y="1211990"/>
            <a:chExt cx="3851961" cy="311425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597336B-849F-41FC-8FBF-F6FB448FBA73}"/>
                </a:ext>
              </a:extLst>
            </p:cNvPr>
            <p:cNvSpPr/>
            <p:nvPr/>
          </p:nvSpPr>
          <p:spPr>
            <a:xfrm>
              <a:off x="8338752" y="1211990"/>
              <a:ext cx="3831088" cy="3114252"/>
            </a:xfrm>
            <a:custGeom>
              <a:avLst/>
              <a:gdLst>
                <a:gd name="connsiteX0" fmla="*/ 3817888 w 3831088"/>
                <a:gd name="connsiteY0" fmla="*/ 722004 h 3114252"/>
                <a:gd name="connsiteX1" fmla="*/ 3452269 w 3831088"/>
                <a:gd name="connsiteY1" fmla="*/ 280008 h 3114252"/>
                <a:gd name="connsiteX2" fmla="*/ 2264893 w 3831088"/>
                <a:gd name="connsiteY2" fmla="*/ 2082 h 3114252"/>
                <a:gd name="connsiteX3" fmla="*/ 1600132 w 3831088"/>
                <a:gd name="connsiteY3" fmla="*/ 195852 h 3114252"/>
                <a:gd name="connsiteX4" fmla="*/ 1027306 w 3831088"/>
                <a:gd name="connsiteY4" fmla="*/ 642091 h 3114252"/>
                <a:gd name="connsiteX5" fmla="*/ 513884 w 3831088"/>
                <a:gd name="connsiteY5" fmla="*/ 1130054 h 3114252"/>
                <a:gd name="connsiteX6" fmla="*/ 66231 w 3831088"/>
                <a:gd name="connsiteY6" fmla="*/ 1725510 h 3114252"/>
                <a:gd name="connsiteX7" fmla="*/ 25921 w 3831088"/>
                <a:gd name="connsiteY7" fmla="*/ 2132146 h 3114252"/>
                <a:gd name="connsiteX8" fmla="*/ 907790 w 3831088"/>
                <a:gd name="connsiteY8" fmla="*/ 2922787 h 3114252"/>
                <a:gd name="connsiteX9" fmla="*/ 1745106 w 3831088"/>
                <a:gd name="connsiteY9" fmla="*/ 3109486 h 3114252"/>
                <a:gd name="connsiteX10" fmla="*/ 2197710 w 3831088"/>
                <a:gd name="connsiteY10" fmla="*/ 2873283 h 3114252"/>
                <a:gd name="connsiteX11" fmla="*/ 2551306 w 3831088"/>
                <a:gd name="connsiteY11" fmla="*/ 2477255 h 3114252"/>
                <a:gd name="connsiteX12" fmla="*/ 3064728 w 3831088"/>
                <a:gd name="connsiteY12" fmla="*/ 1989293 h 3114252"/>
                <a:gd name="connsiteX13" fmla="*/ 3629068 w 3831088"/>
                <a:gd name="connsiteY13" fmla="*/ 1458898 h 3114252"/>
                <a:gd name="connsiteX14" fmla="*/ 3817888 w 3831088"/>
                <a:gd name="connsiteY14" fmla="*/ 1005588 h 3114252"/>
                <a:gd name="connsiteX15" fmla="*/ 3817888 w 3831088"/>
                <a:gd name="connsiteY15" fmla="*/ 722004 h 311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31088" h="3114252">
                  <a:moveTo>
                    <a:pt x="3817888" y="722004"/>
                  </a:moveTo>
                  <a:cubicBezTo>
                    <a:pt x="3782528" y="565714"/>
                    <a:pt x="3521574" y="325976"/>
                    <a:pt x="3452269" y="280008"/>
                  </a:cubicBezTo>
                  <a:cubicBezTo>
                    <a:pt x="3124839" y="63607"/>
                    <a:pt x="2569693" y="-14184"/>
                    <a:pt x="2264893" y="2082"/>
                  </a:cubicBezTo>
                  <a:cubicBezTo>
                    <a:pt x="2037176" y="14104"/>
                    <a:pt x="1734498" y="94724"/>
                    <a:pt x="1600132" y="195852"/>
                  </a:cubicBezTo>
                  <a:cubicBezTo>
                    <a:pt x="1465765" y="296981"/>
                    <a:pt x="1179352" y="499238"/>
                    <a:pt x="1027306" y="642091"/>
                  </a:cubicBezTo>
                  <a:cubicBezTo>
                    <a:pt x="875259" y="784944"/>
                    <a:pt x="615719" y="1020439"/>
                    <a:pt x="513884" y="1130054"/>
                  </a:cubicBezTo>
                  <a:cubicBezTo>
                    <a:pt x="419827" y="1231182"/>
                    <a:pt x="105127" y="1612359"/>
                    <a:pt x="66231" y="1725510"/>
                  </a:cubicBezTo>
                  <a:cubicBezTo>
                    <a:pt x="20263" y="1859169"/>
                    <a:pt x="-32776" y="2005558"/>
                    <a:pt x="25921" y="2132146"/>
                  </a:cubicBezTo>
                  <a:cubicBezTo>
                    <a:pt x="168774" y="2511201"/>
                    <a:pt x="751501" y="2843581"/>
                    <a:pt x="907790" y="2922787"/>
                  </a:cubicBezTo>
                  <a:cubicBezTo>
                    <a:pt x="1086002" y="3012600"/>
                    <a:pt x="1487688" y="3140602"/>
                    <a:pt x="1745106" y="3109486"/>
                  </a:cubicBezTo>
                  <a:cubicBezTo>
                    <a:pt x="1995453" y="3079076"/>
                    <a:pt x="2046370" y="3016843"/>
                    <a:pt x="2197710" y="2873283"/>
                  </a:cubicBezTo>
                  <a:cubicBezTo>
                    <a:pt x="2349049" y="2729723"/>
                    <a:pt x="2399967" y="2662540"/>
                    <a:pt x="2551306" y="2477255"/>
                  </a:cubicBezTo>
                  <a:cubicBezTo>
                    <a:pt x="2702645" y="2291971"/>
                    <a:pt x="2904902" y="2089714"/>
                    <a:pt x="3064728" y="1989293"/>
                  </a:cubicBezTo>
                  <a:cubicBezTo>
                    <a:pt x="3224553" y="1888164"/>
                    <a:pt x="3471363" y="1666106"/>
                    <a:pt x="3629068" y="1458898"/>
                  </a:cubicBezTo>
                  <a:cubicBezTo>
                    <a:pt x="3755654" y="1293415"/>
                    <a:pt x="3817888" y="1005588"/>
                    <a:pt x="3817888" y="1005588"/>
                  </a:cubicBezTo>
                  <a:cubicBezTo>
                    <a:pt x="3817888" y="1005588"/>
                    <a:pt x="3847589" y="852127"/>
                    <a:pt x="3817888" y="722004"/>
                  </a:cubicBezTo>
                  <a:close/>
                </a:path>
              </a:pathLst>
            </a:custGeom>
            <a:solidFill>
              <a:srgbClr val="000000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FCBCE89-77CA-4B4E-BDA6-1A6C8C0F5D90}"/>
                </a:ext>
              </a:extLst>
            </p:cNvPr>
            <p:cNvSpPr/>
            <p:nvPr/>
          </p:nvSpPr>
          <p:spPr>
            <a:xfrm>
              <a:off x="8338752" y="1947152"/>
              <a:ext cx="1882301" cy="1882825"/>
            </a:xfrm>
            <a:custGeom>
              <a:avLst/>
              <a:gdLst>
                <a:gd name="connsiteX0" fmla="*/ 1040743 w 1882301"/>
                <a:gd name="connsiteY0" fmla="*/ 1158660 h 1882825"/>
                <a:gd name="connsiteX1" fmla="*/ 1544970 w 1882301"/>
                <a:gd name="connsiteY1" fmla="*/ 517237 h 1882825"/>
                <a:gd name="connsiteX2" fmla="*/ 1882302 w 1882301"/>
                <a:gd name="connsiteY2" fmla="*/ 8765 h 1882825"/>
                <a:gd name="connsiteX3" fmla="*/ 1492638 w 1882301"/>
                <a:gd name="connsiteY3" fmla="*/ 143839 h 1882825"/>
                <a:gd name="connsiteX4" fmla="*/ 1486981 w 1882301"/>
                <a:gd name="connsiteY4" fmla="*/ 149497 h 1882825"/>
                <a:gd name="connsiteX5" fmla="*/ 1482030 w 1882301"/>
                <a:gd name="connsiteY5" fmla="*/ 143132 h 1882825"/>
                <a:gd name="connsiteX6" fmla="*/ 915569 w 1882301"/>
                <a:gd name="connsiteY6" fmla="*/ 12301 h 1882825"/>
                <a:gd name="connsiteX7" fmla="*/ 513884 w 1882301"/>
                <a:gd name="connsiteY7" fmla="*/ 395600 h 1882825"/>
                <a:gd name="connsiteX8" fmla="*/ 66231 w 1882301"/>
                <a:gd name="connsiteY8" fmla="*/ 991056 h 1882825"/>
                <a:gd name="connsiteX9" fmla="*/ 25921 w 1882301"/>
                <a:gd name="connsiteY9" fmla="*/ 1397692 h 1882825"/>
                <a:gd name="connsiteX10" fmla="*/ 375274 w 1882301"/>
                <a:gd name="connsiteY10" fmla="*/ 1727950 h 1882825"/>
                <a:gd name="connsiteX11" fmla="*/ 673710 w 1882301"/>
                <a:gd name="connsiteY11" fmla="*/ 1882826 h 1882825"/>
                <a:gd name="connsiteX12" fmla="*/ 937492 w 1882301"/>
                <a:gd name="connsiteY12" fmla="*/ 1276762 h 1882825"/>
                <a:gd name="connsiteX13" fmla="*/ 1040743 w 1882301"/>
                <a:gd name="connsiteY13" fmla="*/ 1158660 h 188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2301" h="1882825">
                  <a:moveTo>
                    <a:pt x="1040743" y="1158660"/>
                  </a:moveTo>
                  <a:cubicBezTo>
                    <a:pt x="1044986" y="1153710"/>
                    <a:pt x="1503246" y="603514"/>
                    <a:pt x="1544970" y="517237"/>
                  </a:cubicBezTo>
                  <a:cubicBezTo>
                    <a:pt x="1584573" y="435202"/>
                    <a:pt x="1839162" y="70998"/>
                    <a:pt x="1882302" y="8765"/>
                  </a:cubicBezTo>
                  <a:cubicBezTo>
                    <a:pt x="1718233" y="-28716"/>
                    <a:pt x="1580330" y="61098"/>
                    <a:pt x="1492638" y="143839"/>
                  </a:cubicBezTo>
                  <a:lnTo>
                    <a:pt x="1486981" y="149497"/>
                  </a:lnTo>
                  <a:lnTo>
                    <a:pt x="1482030" y="143132"/>
                  </a:lnTo>
                  <a:cubicBezTo>
                    <a:pt x="1443135" y="87971"/>
                    <a:pt x="1063373" y="29981"/>
                    <a:pt x="915569" y="12301"/>
                  </a:cubicBezTo>
                  <a:cubicBezTo>
                    <a:pt x="769888" y="147375"/>
                    <a:pt x="593796" y="310029"/>
                    <a:pt x="513884" y="395600"/>
                  </a:cubicBezTo>
                  <a:cubicBezTo>
                    <a:pt x="419827" y="496728"/>
                    <a:pt x="105127" y="877905"/>
                    <a:pt x="66231" y="991056"/>
                  </a:cubicBezTo>
                  <a:cubicBezTo>
                    <a:pt x="20263" y="1124715"/>
                    <a:pt x="-32776" y="1271104"/>
                    <a:pt x="25921" y="1397692"/>
                  </a:cubicBezTo>
                  <a:cubicBezTo>
                    <a:pt x="84618" y="1524279"/>
                    <a:pt x="257173" y="1655817"/>
                    <a:pt x="375274" y="1727950"/>
                  </a:cubicBezTo>
                  <a:cubicBezTo>
                    <a:pt x="455894" y="1777454"/>
                    <a:pt x="563388" y="1831908"/>
                    <a:pt x="673710" y="1882826"/>
                  </a:cubicBezTo>
                  <a:cubicBezTo>
                    <a:pt x="702704" y="1725122"/>
                    <a:pt x="896475" y="1331216"/>
                    <a:pt x="937492" y="1276762"/>
                  </a:cubicBezTo>
                  <a:cubicBezTo>
                    <a:pt x="979923" y="1220186"/>
                    <a:pt x="1040035" y="1159368"/>
                    <a:pt x="1040743" y="1158660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E290C5-17C5-4E8C-84C3-8D553BE9FF39}"/>
                </a:ext>
              </a:extLst>
            </p:cNvPr>
            <p:cNvSpPr/>
            <p:nvPr/>
          </p:nvSpPr>
          <p:spPr>
            <a:xfrm>
              <a:off x="9018827" y="1959453"/>
              <a:ext cx="2123698" cy="2134891"/>
            </a:xfrm>
            <a:custGeom>
              <a:avLst/>
              <a:gdLst>
                <a:gd name="connsiteX0" fmla="*/ 1260924 w 2123698"/>
                <a:gd name="connsiteY0" fmla="*/ 313286 h 2134891"/>
                <a:gd name="connsiteX1" fmla="*/ 1253852 w 2123698"/>
                <a:gd name="connsiteY1" fmla="*/ 310458 h 2134891"/>
                <a:gd name="connsiteX2" fmla="*/ 1256681 w 2123698"/>
                <a:gd name="connsiteY2" fmla="*/ 303386 h 2134891"/>
                <a:gd name="connsiteX3" fmla="*/ 1261631 w 2123698"/>
                <a:gd name="connsiteY3" fmla="*/ 292071 h 2134891"/>
                <a:gd name="connsiteX4" fmla="*/ 1292041 w 2123698"/>
                <a:gd name="connsiteY4" fmla="*/ 71426 h 2134891"/>
                <a:gd name="connsiteX5" fmla="*/ 1216371 w 2123698"/>
                <a:gd name="connsiteY5" fmla="*/ 0 h 2134891"/>
                <a:gd name="connsiteX6" fmla="*/ 877626 w 2123698"/>
                <a:gd name="connsiteY6" fmla="*/ 510593 h 2134891"/>
                <a:gd name="connsiteX7" fmla="*/ 371276 w 2123698"/>
                <a:gd name="connsiteY7" fmla="*/ 1155553 h 2134891"/>
                <a:gd name="connsiteX8" fmla="*/ 268733 w 2123698"/>
                <a:gd name="connsiteY8" fmla="*/ 1272239 h 2134891"/>
                <a:gd name="connsiteX9" fmla="*/ 7072 w 2123698"/>
                <a:gd name="connsiteY9" fmla="*/ 1874060 h 2134891"/>
                <a:gd name="connsiteX10" fmla="*/ 0 w 2123698"/>
                <a:gd name="connsiteY10" fmla="*/ 1872646 h 2134891"/>
                <a:gd name="connsiteX11" fmla="*/ 438459 w 2123698"/>
                <a:gd name="connsiteY11" fmla="*/ 2050151 h 2134891"/>
                <a:gd name="connsiteX12" fmla="*/ 1079883 w 2123698"/>
                <a:gd name="connsiteY12" fmla="*/ 2116627 h 2134891"/>
                <a:gd name="connsiteX13" fmla="*/ 1440551 w 2123698"/>
                <a:gd name="connsiteY13" fmla="*/ 1869110 h 2134891"/>
                <a:gd name="connsiteX14" fmla="*/ 2023985 w 2123698"/>
                <a:gd name="connsiteY14" fmla="*/ 988655 h 2134891"/>
                <a:gd name="connsiteX15" fmla="*/ 2123699 w 2123698"/>
                <a:gd name="connsiteY15" fmla="*/ 858532 h 2134891"/>
                <a:gd name="connsiteX16" fmla="*/ 1260924 w 2123698"/>
                <a:gd name="connsiteY16" fmla="*/ 313286 h 213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23698" h="2134891">
                  <a:moveTo>
                    <a:pt x="1260924" y="313286"/>
                  </a:moveTo>
                  <a:lnTo>
                    <a:pt x="1253852" y="310458"/>
                  </a:lnTo>
                  <a:lnTo>
                    <a:pt x="1256681" y="303386"/>
                  </a:lnTo>
                  <a:cubicBezTo>
                    <a:pt x="1258095" y="300557"/>
                    <a:pt x="1259510" y="297021"/>
                    <a:pt x="1261631" y="292071"/>
                  </a:cubicBezTo>
                  <a:cubicBezTo>
                    <a:pt x="1278604" y="253175"/>
                    <a:pt x="1324571" y="148510"/>
                    <a:pt x="1292041" y="71426"/>
                  </a:cubicBezTo>
                  <a:cubicBezTo>
                    <a:pt x="1278604" y="39603"/>
                    <a:pt x="1253145" y="15558"/>
                    <a:pt x="1216371" y="0"/>
                  </a:cubicBezTo>
                  <a:cubicBezTo>
                    <a:pt x="1183840" y="46675"/>
                    <a:pt x="916521" y="428559"/>
                    <a:pt x="877626" y="510593"/>
                  </a:cubicBezTo>
                  <a:cubicBezTo>
                    <a:pt x="835194" y="598992"/>
                    <a:pt x="389663" y="1132922"/>
                    <a:pt x="371276" y="1155553"/>
                  </a:cubicBezTo>
                  <a:cubicBezTo>
                    <a:pt x="370568" y="1156967"/>
                    <a:pt x="310457" y="1216371"/>
                    <a:pt x="268733" y="1272239"/>
                  </a:cubicBezTo>
                  <a:cubicBezTo>
                    <a:pt x="228423" y="1325986"/>
                    <a:pt x="35360" y="1718478"/>
                    <a:pt x="7072" y="1874060"/>
                  </a:cubicBezTo>
                  <a:lnTo>
                    <a:pt x="0" y="1872646"/>
                  </a:lnTo>
                  <a:cubicBezTo>
                    <a:pt x="169018" y="1950437"/>
                    <a:pt x="342988" y="2020449"/>
                    <a:pt x="438459" y="2050151"/>
                  </a:cubicBezTo>
                  <a:cubicBezTo>
                    <a:pt x="606771" y="2103191"/>
                    <a:pt x="894599" y="2166838"/>
                    <a:pt x="1079883" y="2116627"/>
                  </a:cubicBezTo>
                  <a:cubicBezTo>
                    <a:pt x="1168989" y="2092583"/>
                    <a:pt x="1310427" y="1991454"/>
                    <a:pt x="1440551" y="1869110"/>
                  </a:cubicBezTo>
                  <a:cubicBezTo>
                    <a:pt x="1695140" y="1628664"/>
                    <a:pt x="1879010" y="1207885"/>
                    <a:pt x="2023985" y="988655"/>
                  </a:cubicBezTo>
                  <a:cubicBezTo>
                    <a:pt x="2050859" y="947638"/>
                    <a:pt x="2084803" y="903792"/>
                    <a:pt x="2123699" y="858532"/>
                  </a:cubicBezTo>
                  <a:cubicBezTo>
                    <a:pt x="2034593" y="741138"/>
                    <a:pt x="1751716" y="490792"/>
                    <a:pt x="1260924" y="313286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2F9C513-FADF-4D04-84EE-961B06D79CF7}"/>
                </a:ext>
              </a:extLst>
            </p:cNvPr>
            <p:cNvSpPr/>
            <p:nvPr/>
          </p:nvSpPr>
          <p:spPr>
            <a:xfrm>
              <a:off x="9256172" y="2170520"/>
              <a:ext cx="815663" cy="1058343"/>
            </a:xfrm>
            <a:custGeom>
              <a:avLst/>
              <a:gdLst>
                <a:gd name="connsiteX0" fmla="*/ 123323 w 815663"/>
                <a:gd name="connsiteY0" fmla="*/ 935292 h 1058343"/>
                <a:gd name="connsiteX1" fmla="*/ 627551 w 815663"/>
                <a:gd name="connsiteY1" fmla="*/ 293869 h 1058343"/>
                <a:gd name="connsiteX2" fmla="*/ 815664 w 815663"/>
                <a:gd name="connsiteY2" fmla="*/ 1798 h 1058343"/>
                <a:gd name="connsiteX3" fmla="*/ 263346 w 815663"/>
                <a:gd name="connsiteY3" fmla="*/ 411970 h 1058343"/>
                <a:gd name="connsiteX4" fmla="*/ 16536 w 815663"/>
                <a:gd name="connsiteY4" fmla="*/ 1058344 h 1058343"/>
                <a:gd name="connsiteX5" fmla="*/ 20072 w 815663"/>
                <a:gd name="connsiteY5" fmla="*/ 1053393 h 1058343"/>
                <a:gd name="connsiteX6" fmla="*/ 123323 w 815663"/>
                <a:gd name="connsiteY6" fmla="*/ 935292 h 105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663" h="1058343">
                  <a:moveTo>
                    <a:pt x="123323" y="935292"/>
                  </a:moveTo>
                  <a:cubicBezTo>
                    <a:pt x="127566" y="930342"/>
                    <a:pt x="585826" y="380146"/>
                    <a:pt x="627551" y="293869"/>
                  </a:cubicBezTo>
                  <a:cubicBezTo>
                    <a:pt x="648766" y="249316"/>
                    <a:pt x="735044" y="119899"/>
                    <a:pt x="815664" y="1798"/>
                  </a:cubicBezTo>
                  <a:cubicBezTo>
                    <a:pt x="696149" y="-19418"/>
                    <a:pt x="464189" y="148894"/>
                    <a:pt x="263346" y="411970"/>
                  </a:cubicBezTo>
                  <a:cubicBezTo>
                    <a:pt x="58968" y="679289"/>
                    <a:pt x="-42160" y="952972"/>
                    <a:pt x="16536" y="1058344"/>
                  </a:cubicBezTo>
                  <a:cubicBezTo>
                    <a:pt x="17951" y="1056222"/>
                    <a:pt x="19365" y="1054808"/>
                    <a:pt x="20072" y="1053393"/>
                  </a:cubicBezTo>
                  <a:cubicBezTo>
                    <a:pt x="62504" y="996111"/>
                    <a:pt x="122615" y="935999"/>
                    <a:pt x="123323" y="93529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75D5EF7-4D68-451A-B3EF-253EC99AC782}"/>
                </a:ext>
              </a:extLst>
            </p:cNvPr>
            <p:cNvSpPr/>
            <p:nvPr/>
          </p:nvSpPr>
          <p:spPr>
            <a:xfrm>
              <a:off x="9281195" y="2175854"/>
              <a:ext cx="868199" cy="1097283"/>
            </a:xfrm>
            <a:custGeom>
              <a:avLst/>
              <a:gdLst>
                <a:gd name="connsiteX0" fmla="*/ 14144 w 868199"/>
                <a:gd name="connsiteY0" fmla="*/ 1079176 h 1097283"/>
                <a:gd name="connsiteX1" fmla="*/ 604650 w 868199"/>
                <a:gd name="connsiteY1" fmla="*/ 685270 h 1097283"/>
                <a:gd name="connsiteX2" fmla="*/ 828829 w 868199"/>
                <a:gd name="connsiteY2" fmla="*/ 12022 h 1097283"/>
                <a:gd name="connsiteX3" fmla="*/ 805493 w 868199"/>
                <a:gd name="connsiteY3" fmla="*/ 0 h 1097283"/>
                <a:gd name="connsiteX4" fmla="*/ 615258 w 868199"/>
                <a:gd name="connsiteY4" fmla="*/ 294899 h 1097283"/>
                <a:gd name="connsiteX5" fmla="*/ 108908 w 868199"/>
                <a:gd name="connsiteY5" fmla="*/ 939859 h 1097283"/>
                <a:gd name="connsiteX6" fmla="*/ 6365 w 868199"/>
                <a:gd name="connsiteY6" fmla="*/ 1056546 h 1097283"/>
                <a:gd name="connsiteX7" fmla="*/ 0 w 868199"/>
                <a:gd name="connsiteY7" fmla="*/ 1065739 h 1097283"/>
                <a:gd name="connsiteX8" fmla="*/ 14144 w 868199"/>
                <a:gd name="connsiteY8" fmla="*/ 1079176 h 1097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99" h="1097283">
                  <a:moveTo>
                    <a:pt x="14144" y="1079176"/>
                  </a:moveTo>
                  <a:cubicBezTo>
                    <a:pt x="115272" y="1156260"/>
                    <a:pt x="379762" y="980169"/>
                    <a:pt x="604650" y="685270"/>
                  </a:cubicBezTo>
                  <a:cubicBezTo>
                    <a:pt x="829536" y="390370"/>
                    <a:pt x="929958" y="89106"/>
                    <a:pt x="828829" y="12022"/>
                  </a:cubicBezTo>
                  <a:cubicBezTo>
                    <a:pt x="821757" y="6365"/>
                    <a:pt x="813979" y="2829"/>
                    <a:pt x="805493" y="0"/>
                  </a:cubicBezTo>
                  <a:cubicBezTo>
                    <a:pt x="724165" y="118808"/>
                    <a:pt x="636473" y="250346"/>
                    <a:pt x="615258" y="294899"/>
                  </a:cubicBezTo>
                  <a:cubicBezTo>
                    <a:pt x="572826" y="383298"/>
                    <a:pt x="127295" y="917229"/>
                    <a:pt x="108908" y="939859"/>
                  </a:cubicBezTo>
                  <a:cubicBezTo>
                    <a:pt x="108200" y="941273"/>
                    <a:pt x="48089" y="1000677"/>
                    <a:pt x="6365" y="1056546"/>
                  </a:cubicBezTo>
                  <a:cubicBezTo>
                    <a:pt x="4243" y="1058667"/>
                    <a:pt x="2121" y="1062203"/>
                    <a:pt x="0" y="1065739"/>
                  </a:cubicBezTo>
                  <a:cubicBezTo>
                    <a:pt x="4243" y="1070690"/>
                    <a:pt x="8486" y="1075640"/>
                    <a:pt x="14144" y="107917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E294D0-AABC-44BF-B931-92E93C29B2EC}"/>
                </a:ext>
              </a:extLst>
            </p:cNvPr>
            <p:cNvSpPr/>
            <p:nvPr/>
          </p:nvSpPr>
          <p:spPr>
            <a:xfrm>
              <a:off x="9267758" y="1211990"/>
              <a:ext cx="2922955" cy="1595386"/>
            </a:xfrm>
            <a:custGeom>
              <a:avLst/>
              <a:gdLst>
                <a:gd name="connsiteX0" fmla="*/ 2888882 w 2922955"/>
                <a:gd name="connsiteY0" fmla="*/ 722004 h 1595386"/>
                <a:gd name="connsiteX1" fmla="*/ 2523264 w 2922955"/>
                <a:gd name="connsiteY1" fmla="*/ 280008 h 1595386"/>
                <a:gd name="connsiteX2" fmla="*/ 1335887 w 2922955"/>
                <a:gd name="connsiteY2" fmla="*/ 2082 h 1595386"/>
                <a:gd name="connsiteX3" fmla="*/ 671126 w 2922955"/>
                <a:gd name="connsiteY3" fmla="*/ 195852 h 1595386"/>
                <a:gd name="connsiteX4" fmla="*/ 98300 w 2922955"/>
                <a:gd name="connsiteY4" fmla="*/ 642091 h 1595386"/>
                <a:gd name="connsiteX5" fmla="*/ 0 w 2922955"/>
                <a:gd name="connsiteY5" fmla="*/ 734026 h 1595386"/>
                <a:gd name="connsiteX6" fmla="*/ 559389 w 2922955"/>
                <a:gd name="connsiteY6" fmla="*/ 863442 h 1595386"/>
                <a:gd name="connsiteX7" fmla="*/ 967440 w 2922955"/>
                <a:gd name="connsiteY7" fmla="*/ 732612 h 1595386"/>
                <a:gd name="connsiteX8" fmla="*/ 968147 w 2922955"/>
                <a:gd name="connsiteY8" fmla="*/ 732612 h 1595386"/>
                <a:gd name="connsiteX9" fmla="*/ 1057253 w 2922955"/>
                <a:gd name="connsiteY9" fmla="*/ 813939 h 1595386"/>
                <a:gd name="connsiteX10" fmla="*/ 1026136 w 2922955"/>
                <a:gd name="connsiteY10" fmla="*/ 1045898 h 1595386"/>
                <a:gd name="connsiteX11" fmla="*/ 1024722 w 2922955"/>
                <a:gd name="connsiteY11" fmla="*/ 1050141 h 1595386"/>
                <a:gd name="connsiteX12" fmla="*/ 1884668 w 2922955"/>
                <a:gd name="connsiteY12" fmla="*/ 1595386 h 1595386"/>
                <a:gd name="connsiteX13" fmla="*/ 2581960 w 2922955"/>
                <a:gd name="connsiteY13" fmla="*/ 1103888 h 1595386"/>
                <a:gd name="connsiteX14" fmla="*/ 2888882 w 2922955"/>
                <a:gd name="connsiteY14" fmla="*/ 722004 h 159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2955" h="1595386">
                  <a:moveTo>
                    <a:pt x="2888882" y="722004"/>
                  </a:moveTo>
                  <a:cubicBezTo>
                    <a:pt x="2853522" y="565714"/>
                    <a:pt x="2592568" y="325976"/>
                    <a:pt x="2523264" y="280008"/>
                  </a:cubicBezTo>
                  <a:cubicBezTo>
                    <a:pt x="2195833" y="63607"/>
                    <a:pt x="1640687" y="-14184"/>
                    <a:pt x="1335887" y="2082"/>
                  </a:cubicBezTo>
                  <a:cubicBezTo>
                    <a:pt x="1108170" y="14104"/>
                    <a:pt x="805493" y="94724"/>
                    <a:pt x="671126" y="195852"/>
                  </a:cubicBezTo>
                  <a:cubicBezTo>
                    <a:pt x="536759" y="296981"/>
                    <a:pt x="250346" y="499238"/>
                    <a:pt x="98300" y="642091"/>
                  </a:cubicBezTo>
                  <a:cubicBezTo>
                    <a:pt x="68597" y="669671"/>
                    <a:pt x="35360" y="701495"/>
                    <a:pt x="0" y="734026"/>
                  </a:cubicBezTo>
                  <a:cubicBezTo>
                    <a:pt x="85570" y="744634"/>
                    <a:pt x="492206" y="799795"/>
                    <a:pt x="559389" y="863442"/>
                  </a:cubicBezTo>
                  <a:cubicBezTo>
                    <a:pt x="652031" y="777872"/>
                    <a:pt x="796299" y="688058"/>
                    <a:pt x="967440" y="732612"/>
                  </a:cubicBezTo>
                  <a:lnTo>
                    <a:pt x="968147" y="732612"/>
                  </a:lnTo>
                  <a:cubicBezTo>
                    <a:pt x="1011992" y="749584"/>
                    <a:pt x="1041695" y="777165"/>
                    <a:pt x="1057253" y="813939"/>
                  </a:cubicBezTo>
                  <a:cubicBezTo>
                    <a:pt x="1091906" y="896680"/>
                    <a:pt x="1044523" y="1004881"/>
                    <a:pt x="1026136" y="1045898"/>
                  </a:cubicBezTo>
                  <a:cubicBezTo>
                    <a:pt x="1025429" y="1047312"/>
                    <a:pt x="1024722" y="1048727"/>
                    <a:pt x="1024722" y="1050141"/>
                  </a:cubicBezTo>
                  <a:cubicBezTo>
                    <a:pt x="1510563" y="1226939"/>
                    <a:pt x="1792733" y="1476578"/>
                    <a:pt x="1884668" y="1595386"/>
                  </a:cubicBezTo>
                  <a:cubicBezTo>
                    <a:pt x="2068538" y="1384643"/>
                    <a:pt x="2355658" y="1155513"/>
                    <a:pt x="2581960" y="1103888"/>
                  </a:cubicBezTo>
                  <a:cubicBezTo>
                    <a:pt x="3009105" y="1004881"/>
                    <a:pt x="2930606" y="906581"/>
                    <a:pt x="2888882" y="722004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34A1B24-026B-4C86-A1A6-DAF05C52EA44}"/>
                </a:ext>
              </a:extLst>
            </p:cNvPr>
            <p:cNvSpPr/>
            <p:nvPr/>
          </p:nvSpPr>
          <p:spPr>
            <a:xfrm>
              <a:off x="9012462" y="3829270"/>
              <a:ext cx="7071" cy="2828"/>
            </a:xfrm>
            <a:custGeom>
              <a:avLst/>
              <a:gdLst>
                <a:gd name="connsiteX0" fmla="*/ 0 w 7071"/>
                <a:gd name="connsiteY0" fmla="*/ 1414 h 2828"/>
                <a:gd name="connsiteX1" fmla="*/ 7072 w 7071"/>
                <a:gd name="connsiteY1" fmla="*/ 2829 h 2828"/>
                <a:gd name="connsiteX2" fmla="*/ 707 w 7071"/>
                <a:gd name="connsiteY2" fmla="*/ 0 h 2828"/>
                <a:gd name="connsiteX3" fmla="*/ 0 w 7071"/>
                <a:gd name="connsiteY3" fmla="*/ 1414 h 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71" h="2828">
                  <a:moveTo>
                    <a:pt x="0" y="1414"/>
                  </a:moveTo>
                  <a:lnTo>
                    <a:pt x="7072" y="2829"/>
                  </a:lnTo>
                  <a:cubicBezTo>
                    <a:pt x="4950" y="2121"/>
                    <a:pt x="2829" y="707"/>
                    <a:pt x="707" y="0"/>
                  </a:cubicBezTo>
                  <a:cubicBezTo>
                    <a:pt x="0" y="707"/>
                    <a:pt x="0" y="1414"/>
                    <a:pt x="0" y="1414"/>
                  </a:cubicBezTo>
                  <a:close/>
                </a:path>
              </a:pathLst>
            </a:custGeom>
            <a:solidFill>
              <a:srgbClr val="ED1C24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B2BFA7B-2E28-4C79-B559-1D0B0309EE94}"/>
                </a:ext>
              </a:extLst>
            </p:cNvPr>
            <p:cNvSpPr/>
            <p:nvPr/>
          </p:nvSpPr>
          <p:spPr>
            <a:xfrm>
              <a:off x="9233651" y="2347195"/>
              <a:ext cx="817443" cy="889403"/>
            </a:xfrm>
            <a:custGeom>
              <a:avLst/>
              <a:gdLst>
                <a:gd name="connsiteX0" fmla="*/ 676189 w 817443"/>
                <a:gd name="connsiteY0" fmla="*/ 114374 h 889403"/>
                <a:gd name="connsiteX1" fmla="*/ 549977 w 817443"/>
                <a:gd name="connsiteY1" fmla="*/ 559076 h 889403"/>
                <a:gd name="connsiteX2" fmla="*/ 141255 w 817443"/>
                <a:gd name="connsiteY2" fmla="*/ 775029 h 889403"/>
                <a:gd name="connsiteX3" fmla="*/ 267467 w 817443"/>
                <a:gd name="connsiteY3" fmla="*/ 330328 h 889403"/>
                <a:gd name="connsiteX4" fmla="*/ 676189 w 817443"/>
                <a:gd name="connsiteY4" fmla="*/ 114374 h 889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443" h="889403">
                  <a:moveTo>
                    <a:pt x="676189" y="114374"/>
                  </a:moveTo>
                  <a:cubicBezTo>
                    <a:pt x="754202" y="177542"/>
                    <a:pt x="697694" y="376641"/>
                    <a:pt x="549977" y="559076"/>
                  </a:cubicBezTo>
                  <a:cubicBezTo>
                    <a:pt x="402259" y="741511"/>
                    <a:pt x="219268" y="838196"/>
                    <a:pt x="141255" y="775029"/>
                  </a:cubicBezTo>
                  <a:cubicBezTo>
                    <a:pt x="63242" y="711862"/>
                    <a:pt x="119749" y="512762"/>
                    <a:pt x="267467" y="330328"/>
                  </a:cubicBezTo>
                  <a:cubicBezTo>
                    <a:pt x="415185" y="147893"/>
                    <a:pt x="598176" y="51207"/>
                    <a:pt x="676189" y="11437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C938BF-274F-4644-8F23-CD7AE6676BA0}"/>
              </a:ext>
            </a:extLst>
          </p:cNvPr>
          <p:cNvGrpSpPr/>
          <p:nvPr/>
        </p:nvGrpSpPr>
        <p:grpSpPr>
          <a:xfrm>
            <a:off x="1607969" y="2823252"/>
            <a:ext cx="12073986" cy="3141121"/>
            <a:chOff x="1427713" y="2852132"/>
            <a:chExt cx="10061655" cy="26176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B454B5-5F77-4C49-9103-B7C97A7995BA}"/>
                </a:ext>
              </a:extLst>
            </p:cNvPr>
            <p:cNvGrpSpPr/>
            <p:nvPr/>
          </p:nvGrpSpPr>
          <p:grpSpPr>
            <a:xfrm>
              <a:off x="1427713" y="2852132"/>
              <a:ext cx="9478349" cy="2617601"/>
              <a:chOff x="2895898" y="2601320"/>
              <a:chExt cx="9478349" cy="2617601"/>
            </a:xfrm>
          </p:grpSpPr>
          <p:sp>
            <p:nvSpPr>
              <p:cNvPr id="109" name="Block Arc 108">
                <a:extLst>
                  <a:ext uri="{FF2B5EF4-FFF2-40B4-BE49-F238E27FC236}">
                    <a16:creationId xmlns:a16="http://schemas.microsoft.com/office/drawing/2014/main" id="{FE8A1025-CBFC-402B-BE6B-AFFE5D4E969B}"/>
                  </a:ext>
                </a:extLst>
              </p:cNvPr>
              <p:cNvSpPr/>
              <p:nvPr/>
            </p:nvSpPr>
            <p:spPr>
              <a:xfrm>
                <a:off x="10539544" y="3374995"/>
                <a:ext cx="1834703" cy="1834703"/>
              </a:xfrm>
              <a:prstGeom prst="blockArc">
                <a:avLst>
                  <a:gd name="adj1" fmla="val 12399071"/>
                  <a:gd name="adj2" fmla="val 16243311"/>
                  <a:gd name="adj3" fmla="val 6643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dirty="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0" name="Block Arc 109">
                <a:extLst>
                  <a:ext uri="{FF2B5EF4-FFF2-40B4-BE49-F238E27FC236}">
                    <a16:creationId xmlns:a16="http://schemas.microsoft.com/office/drawing/2014/main" id="{5B9948DF-5A0A-4747-B694-A56DACB3FF4D}"/>
                  </a:ext>
                </a:extLst>
              </p:cNvPr>
              <p:cNvSpPr/>
              <p:nvPr/>
            </p:nvSpPr>
            <p:spPr>
              <a:xfrm rot="10800000">
                <a:off x="2895898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1" name="Block Arc 110">
                <a:extLst>
                  <a:ext uri="{FF2B5EF4-FFF2-40B4-BE49-F238E27FC236}">
                    <a16:creationId xmlns:a16="http://schemas.microsoft.com/office/drawing/2014/main" id="{E67BDBDC-F19E-406B-B8E2-0E2179EB9E4D}"/>
                  </a:ext>
                </a:extLst>
              </p:cNvPr>
              <p:cNvSpPr/>
              <p:nvPr/>
            </p:nvSpPr>
            <p:spPr>
              <a:xfrm>
                <a:off x="747756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2" name="Block Arc 111">
                <a:extLst>
                  <a:ext uri="{FF2B5EF4-FFF2-40B4-BE49-F238E27FC236}">
                    <a16:creationId xmlns:a16="http://schemas.microsoft.com/office/drawing/2014/main" id="{330036F1-9DAC-4969-B3EF-83EF2CF63EB1}"/>
                  </a:ext>
                </a:extLst>
              </p:cNvPr>
              <p:cNvSpPr/>
              <p:nvPr/>
            </p:nvSpPr>
            <p:spPr>
              <a:xfrm>
                <a:off x="441628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3" name="Block Arc 112">
                <a:extLst>
                  <a:ext uri="{FF2B5EF4-FFF2-40B4-BE49-F238E27FC236}">
                    <a16:creationId xmlns:a16="http://schemas.microsoft.com/office/drawing/2014/main" id="{E40E8946-5E4B-4C26-84C5-466244B4392C}"/>
                  </a:ext>
                </a:extLst>
              </p:cNvPr>
              <p:cNvSpPr/>
              <p:nvPr/>
            </p:nvSpPr>
            <p:spPr>
              <a:xfrm rot="10800000">
                <a:off x="5946920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4" name="Block Arc 160">
                <a:extLst>
                  <a:ext uri="{FF2B5EF4-FFF2-40B4-BE49-F238E27FC236}">
                    <a16:creationId xmlns:a16="http://schemas.microsoft.com/office/drawing/2014/main" id="{66238CEF-C54D-4BBA-BA3E-140CFFCE07D7}"/>
                  </a:ext>
                </a:extLst>
              </p:cNvPr>
              <p:cNvSpPr/>
              <p:nvPr/>
            </p:nvSpPr>
            <p:spPr>
              <a:xfrm rot="10800000">
                <a:off x="9008904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BD60E6-79DF-41AA-859E-722ADC1D512C}"/>
                </a:ext>
              </a:extLst>
            </p:cNvPr>
            <p:cNvSpPr/>
            <p:nvPr/>
          </p:nvSpPr>
          <p:spPr>
            <a:xfrm>
              <a:off x="9988709" y="3625806"/>
              <a:ext cx="1500659" cy="1180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15" name="Oval 114">
            <a:extLst>
              <a:ext uri="{FF2B5EF4-FFF2-40B4-BE49-F238E27FC236}">
                <a16:creationId xmlns:a16="http://schemas.microsoft.com/office/drawing/2014/main" id="{7054A256-8CF5-4768-B0E4-8D3ABDC99DD0}"/>
              </a:ext>
            </a:extLst>
          </p:cNvPr>
          <p:cNvSpPr/>
          <p:nvPr/>
        </p:nvSpPr>
        <p:spPr>
          <a:xfrm>
            <a:off x="5958845" y="3717985"/>
            <a:ext cx="832097" cy="832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478EFDC-91F9-4AB0-86AA-EF757AA65B89}"/>
              </a:ext>
            </a:extLst>
          </p:cNvPr>
          <p:cNvSpPr/>
          <p:nvPr/>
        </p:nvSpPr>
        <p:spPr>
          <a:xfrm>
            <a:off x="4124090" y="4299252"/>
            <a:ext cx="832097" cy="832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58C1468-307F-4474-A7C3-796841EE438D}"/>
              </a:ext>
            </a:extLst>
          </p:cNvPr>
          <p:cNvSpPr/>
          <p:nvPr/>
        </p:nvSpPr>
        <p:spPr>
          <a:xfrm>
            <a:off x="2289336" y="3717985"/>
            <a:ext cx="832097" cy="832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E9AEEA8-BE6A-406B-BB73-D62F6237E8FD}"/>
              </a:ext>
            </a:extLst>
          </p:cNvPr>
          <p:cNvSpPr/>
          <p:nvPr/>
        </p:nvSpPr>
        <p:spPr>
          <a:xfrm>
            <a:off x="7793598" y="4299252"/>
            <a:ext cx="832097" cy="832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1" name="Oval 100">
            <a:extLst>
              <a:ext uri="{FF2B5EF4-FFF2-40B4-BE49-F238E27FC236}">
                <a16:creationId xmlns:a16="http://schemas.microsoft.com/office/drawing/2014/main" id="{102A3DBB-340A-440D-BDBC-B66D4D01EFDC}"/>
              </a:ext>
            </a:extLst>
          </p:cNvPr>
          <p:cNvSpPr/>
          <p:nvPr/>
        </p:nvSpPr>
        <p:spPr>
          <a:xfrm>
            <a:off x="9628351" y="3717985"/>
            <a:ext cx="832097" cy="832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2" name="Rounded Rectangle 5">
            <a:extLst>
              <a:ext uri="{FF2B5EF4-FFF2-40B4-BE49-F238E27FC236}">
                <a16:creationId xmlns:a16="http://schemas.microsoft.com/office/drawing/2014/main" id="{D97E1B44-B49D-405E-95C5-A37725F4C545}"/>
              </a:ext>
            </a:extLst>
          </p:cNvPr>
          <p:cNvSpPr/>
          <p:nvPr/>
        </p:nvSpPr>
        <p:spPr>
          <a:xfrm flipH="1">
            <a:off x="8012568" y="4559568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3" name="Teardrop 1">
            <a:extLst>
              <a:ext uri="{FF2B5EF4-FFF2-40B4-BE49-F238E27FC236}">
                <a16:creationId xmlns:a16="http://schemas.microsoft.com/office/drawing/2014/main" id="{C847896E-BD24-44C0-9042-AA9B5E52CAB5}"/>
              </a:ext>
            </a:extLst>
          </p:cNvPr>
          <p:cNvSpPr/>
          <p:nvPr/>
        </p:nvSpPr>
        <p:spPr>
          <a:xfrm rot="18805991">
            <a:off x="9818282" y="3910275"/>
            <a:ext cx="452234" cy="44751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5" name="Donut 39">
            <a:extLst>
              <a:ext uri="{FF2B5EF4-FFF2-40B4-BE49-F238E27FC236}">
                <a16:creationId xmlns:a16="http://schemas.microsoft.com/office/drawing/2014/main" id="{DD09BE52-0808-4E49-8B9D-FD83EFC511C3}"/>
              </a:ext>
            </a:extLst>
          </p:cNvPr>
          <p:cNvSpPr/>
          <p:nvPr/>
        </p:nvSpPr>
        <p:spPr>
          <a:xfrm>
            <a:off x="2462905" y="3891554"/>
            <a:ext cx="484958" cy="48495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6" name="Rectangle 36">
            <a:extLst>
              <a:ext uri="{FF2B5EF4-FFF2-40B4-BE49-F238E27FC236}">
                <a16:creationId xmlns:a16="http://schemas.microsoft.com/office/drawing/2014/main" id="{E23CAE8B-D24C-4776-AE65-17AEE895AF15}"/>
              </a:ext>
            </a:extLst>
          </p:cNvPr>
          <p:cNvSpPr/>
          <p:nvPr/>
        </p:nvSpPr>
        <p:spPr>
          <a:xfrm>
            <a:off x="6152184" y="3938744"/>
            <a:ext cx="467244" cy="390578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7" name="Chord 15">
            <a:extLst>
              <a:ext uri="{FF2B5EF4-FFF2-40B4-BE49-F238E27FC236}">
                <a16:creationId xmlns:a16="http://schemas.microsoft.com/office/drawing/2014/main" id="{2B10FE4D-3BAF-420B-A89E-5967ADB268E1}"/>
              </a:ext>
            </a:extLst>
          </p:cNvPr>
          <p:cNvSpPr/>
          <p:nvPr/>
        </p:nvSpPr>
        <p:spPr>
          <a:xfrm>
            <a:off x="4410671" y="4454813"/>
            <a:ext cx="238950" cy="520975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4618F2-4883-423B-AE84-8CF62C57CB54}"/>
              </a:ext>
            </a:extLst>
          </p:cNvPr>
          <p:cNvSpPr txBox="1"/>
          <p:nvPr/>
        </p:nvSpPr>
        <p:spPr>
          <a:xfrm>
            <a:off x="1602794" y="313100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主題選擇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4529F9-1047-4826-8B79-9416E4A16560}"/>
              </a:ext>
            </a:extLst>
          </p:cNvPr>
          <p:cNvSpPr txBox="1"/>
          <p:nvPr/>
        </p:nvSpPr>
        <p:spPr>
          <a:xfrm>
            <a:off x="7226078" y="5382231"/>
            <a:ext cx="2152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使用者回應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5C191C3-10BB-43C7-BB71-6081C453520A}"/>
              </a:ext>
            </a:extLst>
          </p:cNvPr>
          <p:cNvSpPr txBox="1"/>
          <p:nvPr/>
        </p:nvSpPr>
        <p:spPr>
          <a:xfrm>
            <a:off x="5284138" y="298976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對話引導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13B9285-80FB-4AF7-AADC-36E601DD3EDE}"/>
              </a:ext>
            </a:extLst>
          </p:cNvPr>
          <p:cNvSpPr txBox="1"/>
          <p:nvPr/>
        </p:nvSpPr>
        <p:spPr>
          <a:xfrm>
            <a:off x="8992995" y="2892593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系統回饋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7CF6FF8-66D2-839E-2675-4197FB26DFB7}"/>
              </a:ext>
            </a:extLst>
          </p:cNvPr>
          <p:cNvSpPr txBox="1"/>
          <p:nvPr/>
        </p:nvSpPr>
        <p:spPr>
          <a:xfrm>
            <a:off x="3723141" y="5421498"/>
            <a:ext cx="2201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難易度選擇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7C7E5-0D50-B41C-9354-B0E1765E3244}"/>
              </a:ext>
            </a:extLst>
          </p:cNvPr>
          <p:cNvSpPr txBox="1"/>
          <p:nvPr/>
        </p:nvSpPr>
        <p:spPr>
          <a:xfrm>
            <a:off x="3950522" y="6791497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對話具連貫性，系統可延伸話題</a:t>
            </a:r>
          </a:p>
        </p:txBody>
      </p:sp>
    </p:spTree>
    <p:extLst>
      <p:ext uri="{BB962C8B-B14F-4D97-AF65-F5344CB8AC3E}">
        <p14:creationId xmlns:p14="http://schemas.microsoft.com/office/powerpoint/2010/main" val="1891802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BAF077F-E9AA-35CD-6C90-F6BBA179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17FC64D-0225-E137-C6B6-435A3AD3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57" y="0"/>
            <a:ext cx="515368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2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D4C23-81FB-460B-A16B-715818231E4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57188"/>
            <a:ext cx="5983288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單字造句練習功能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B0E7B-0E58-43A0-88FC-794C043EB0DF}"/>
              </a:ext>
            </a:extLst>
          </p:cNvPr>
          <p:cNvSpPr/>
          <p:nvPr/>
        </p:nvSpPr>
        <p:spPr>
          <a:xfrm>
            <a:off x="6074441" y="6138733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ED873-13CE-4E55-BCC5-5AB15A39B02E}"/>
              </a:ext>
            </a:extLst>
          </p:cNvPr>
          <p:cNvSpPr/>
          <p:nvPr/>
        </p:nvSpPr>
        <p:spPr>
          <a:xfrm>
            <a:off x="7685441" y="5105879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77E4A7-CCA3-4C64-B89F-9487147317F8}"/>
              </a:ext>
            </a:extLst>
          </p:cNvPr>
          <p:cNvSpPr/>
          <p:nvPr/>
        </p:nvSpPr>
        <p:spPr>
          <a:xfrm>
            <a:off x="6074441" y="4073022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0A2FB5-174C-4E55-84D6-DA857A6D71BC}"/>
              </a:ext>
            </a:extLst>
          </p:cNvPr>
          <p:cNvSpPr/>
          <p:nvPr/>
        </p:nvSpPr>
        <p:spPr>
          <a:xfrm>
            <a:off x="7685441" y="3040168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EFBC72-1C81-44DC-BF8B-10C03C43E42C}"/>
              </a:ext>
            </a:extLst>
          </p:cNvPr>
          <p:cNvSpPr/>
          <p:nvPr/>
        </p:nvSpPr>
        <p:spPr>
          <a:xfrm>
            <a:off x="6074441" y="2007311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Freeform 65">
            <a:extLst>
              <a:ext uri="{FF2B5EF4-FFF2-40B4-BE49-F238E27FC236}">
                <a16:creationId xmlns:a16="http://schemas.microsoft.com/office/drawing/2014/main" id="{47D1EAA2-836C-4FC8-A189-4DE0B1C3BD0A}"/>
              </a:ext>
            </a:extLst>
          </p:cNvPr>
          <p:cNvSpPr/>
          <p:nvPr/>
        </p:nvSpPr>
        <p:spPr>
          <a:xfrm>
            <a:off x="7121141" y="2409097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9" name="Freeform 66">
            <a:extLst>
              <a:ext uri="{FF2B5EF4-FFF2-40B4-BE49-F238E27FC236}">
                <a16:creationId xmlns:a16="http://schemas.microsoft.com/office/drawing/2014/main" id="{2F587C56-2D1F-454D-9D36-3B981D9948F3}"/>
              </a:ext>
            </a:extLst>
          </p:cNvPr>
          <p:cNvSpPr/>
          <p:nvPr/>
        </p:nvSpPr>
        <p:spPr>
          <a:xfrm flipH="1">
            <a:off x="5327860" y="3450366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0" name="Freeform 67">
            <a:extLst>
              <a:ext uri="{FF2B5EF4-FFF2-40B4-BE49-F238E27FC236}">
                <a16:creationId xmlns:a16="http://schemas.microsoft.com/office/drawing/2014/main" id="{7FE3E602-CF2F-47FB-B50E-FEA01A03AC37}"/>
              </a:ext>
            </a:extLst>
          </p:cNvPr>
          <p:cNvSpPr/>
          <p:nvPr/>
        </p:nvSpPr>
        <p:spPr>
          <a:xfrm>
            <a:off x="7121141" y="4522411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1" name="Freeform 68">
            <a:extLst>
              <a:ext uri="{FF2B5EF4-FFF2-40B4-BE49-F238E27FC236}">
                <a16:creationId xmlns:a16="http://schemas.microsoft.com/office/drawing/2014/main" id="{E8982959-F5BB-4826-B860-9F9E247CC240}"/>
              </a:ext>
            </a:extLst>
          </p:cNvPr>
          <p:cNvSpPr/>
          <p:nvPr/>
        </p:nvSpPr>
        <p:spPr>
          <a:xfrm flipH="1">
            <a:off x="5327860" y="5563680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A5CAC-D092-4CFE-9191-F023ACE1131B}"/>
              </a:ext>
            </a:extLst>
          </p:cNvPr>
          <p:cNvSpPr txBox="1"/>
          <p:nvPr/>
        </p:nvSpPr>
        <p:spPr>
          <a:xfrm>
            <a:off x="1579627" y="6266267"/>
            <a:ext cx="3767275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輸入指令或選單啟動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30EC4-4F6F-4AEB-9470-F1926A2C7C51}"/>
              </a:ext>
            </a:extLst>
          </p:cNvPr>
          <p:cNvSpPr txBox="1"/>
          <p:nvPr/>
        </p:nvSpPr>
        <p:spPr>
          <a:xfrm>
            <a:off x="8968320" y="5212947"/>
            <a:ext cx="3126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選擇難易度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0E023-AA01-44F1-BE6F-FCA574206449}"/>
              </a:ext>
            </a:extLst>
          </p:cNvPr>
          <p:cNvSpPr txBox="1"/>
          <p:nvPr/>
        </p:nvSpPr>
        <p:spPr>
          <a:xfrm>
            <a:off x="1832647" y="4205555"/>
            <a:ext cx="3612581" cy="954107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系統提供單字，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附詞性、定義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Isosceles Triangle 51">
            <a:extLst>
              <a:ext uri="{FF2B5EF4-FFF2-40B4-BE49-F238E27FC236}">
                <a16:creationId xmlns:a16="http://schemas.microsoft.com/office/drawing/2014/main" id="{A24E2121-4AF7-427A-86EF-337919F3F135}"/>
              </a:ext>
            </a:extLst>
          </p:cNvPr>
          <p:cNvSpPr/>
          <p:nvPr/>
        </p:nvSpPr>
        <p:spPr>
          <a:xfrm>
            <a:off x="6353854" y="4389544"/>
            <a:ext cx="399650" cy="293065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F27EBD3-3206-4C8A-9B24-1300017ECF40}"/>
              </a:ext>
            </a:extLst>
          </p:cNvPr>
          <p:cNvSpPr/>
          <p:nvPr/>
        </p:nvSpPr>
        <p:spPr>
          <a:xfrm rot="2700000">
            <a:off x="7990436" y="5277635"/>
            <a:ext cx="319104" cy="57209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0C6EE5F0-BAF3-465E-964F-2CA5A51C8604}"/>
              </a:ext>
            </a:extLst>
          </p:cNvPr>
          <p:cNvSpPr/>
          <p:nvPr/>
        </p:nvSpPr>
        <p:spPr>
          <a:xfrm flipH="1">
            <a:off x="7918431" y="3325547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918B03A7-C29B-4642-B5FB-6EAA705CB936}"/>
              </a:ext>
            </a:extLst>
          </p:cNvPr>
          <p:cNvSpPr/>
          <p:nvPr/>
        </p:nvSpPr>
        <p:spPr>
          <a:xfrm>
            <a:off x="6267367" y="6381138"/>
            <a:ext cx="512926" cy="41396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FFA25F9C-9F12-4757-9B7A-720CE2B55BC8}"/>
              </a:ext>
            </a:extLst>
          </p:cNvPr>
          <p:cNvSpPr>
            <a:spLocks noChangeAspect="1"/>
          </p:cNvSpPr>
          <p:nvPr/>
        </p:nvSpPr>
        <p:spPr>
          <a:xfrm>
            <a:off x="6313010" y="2228106"/>
            <a:ext cx="475789" cy="47976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C6C5CCF-251F-7773-B7EF-F164062E9370}"/>
              </a:ext>
            </a:extLst>
          </p:cNvPr>
          <p:cNvSpPr txBox="1"/>
          <p:nvPr/>
        </p:nvSpPr>
        <p:spPr>
          <a:xfrm>
            <a:off x="9514131" y="2944674"/>
            <a:ext cx="3833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使用者造句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ACBFBA7-8D26-81A4-8983-482653826B62}"/>
              </a:ext>
            </a:extLst>
          </p:cNvPr>
          <p:cNvSpPr txBox="1"/>
          <p:nvPr/>
        </p:nvSpPr>
        <p:spPr>
          <a:xfrm>
            <a:off x="2395299" y="2184648"/>
            <a:ext cx="3665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系統給予建議與範例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4488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E7D5-A58E-B110-5195-A2FD6323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CCE8190-6BF5-132A-05DD-3E2991DD8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455" y="0"/>
            <a:ext cx="68054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45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5925" y="407988"/>
            <a:ext cx="14214475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12">
            <a:extLst>
              <a:ext uri="{FF2B5EF4-FFF2-40B4-BE49-F238E27FC236}">
                <a16:creationId xmlns:a16="http://schemas.microsoft.com/office/drawing/2014/main" id="{F9100D22-6F2D-4BBF-9C17-554A67E0CC25}"/>
              </a:ext>
            </a:extLst>
          </p:cNvPr>
          <p:cNvGrpSpPr/>
          <p:nvPr/>
        </p:nvGrpSpPr>
        <p:grpSpPr>
          <a:xfrm>
            <a:off x="4725765" y="2474592"/>
            <a:ext cx="5147174" cy="1515448"/>
            <a:chOff x="4054872" y="2062159"/>
            <a:chExt cx="4289312" cy="1262873"/>
          </a:xfrm>
        </p:grpSpPr>
        <p:sp>
          <p:nvSpPr>
            <p:cNvPr id="4" name="Rectangle 44">
              <a:extLst>
                <a:ext uri="{FF2B5EF4-FFF2-40B4-BE49-F238E27FC236}">
                  <a16:creationId xmlns:a16="http://schemas.microsoft.com/office/drawing/2014/main" id="{2F5CDD95-A6F5-423A-A99F-F02C31F5DC46}"/>
                </a:ext>
              </a:extLst>
            </p:cNvPr>
            <p:cNvSpPr/>
            <p:nvPr/>
          </p:nvSpPr>
          <p:spPr>
            <a:xfrm>
              <a:off x="5317238" y="3133113"/>
              <a:ext cx="785533" cy="1919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542ADC-AD48-44A8-AD43-D1362927C678}"/>
                </a:ext>
              </a:extLst>
            </p:cNvPr>
            <p:cNvSpPr/>
            <p:nvPr/>
          </p:nvSpPr>
          <p:spPr>
            <a:xfrm>
              <a:off x="5317238" y="2231199"/>
              <a:ext cx="2747277" cy="1927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161380-3D67-4D1B-81A7-16F22900EFF0}"/>
                </a:ext>
              </a:extLst>
            </p:cNvPr>
            <p:cNvSpPr/>
            <p:nvPr/>
          </p:nvSpPr>
          <p:spPr>
            <a:xfrm rot="5400000">
              <a:off x="7894041" y="2157089"/>
              <a:ext cx="545074" cy="35521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2">
              <a:extLst>
                <a:ext uri="{FF2B5EF4-FFF2-40B4-BE49-F238E27FC236}">
                  <a16:creationId xmlns:a16="http://schemas.microsoft.com/office/drawing/2014/main" id="{C7493750-D971-4D80-A215-1DCE9898D37C}"/>
                </a:ext>
              </a:extLst>
            </p:cNvPr>
            <p:cNvSpPr/>
            <p:nvPr/>
          </p:nvSpPr>
          <p:spPr>
            <a:xfrm rot="16200000">
              <a:off x="4139139" y="2146933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8" name="그룹 13">
            <a:extLst>
              <a:ext uri="{FF2B5EF4-FFF2-40B4-BE49-F238E27FC236}">
                <a16:creationId xmlns:a16="http://schemas.microsoft.com/office/drawing/2014/main" id="{757BF4CE-A7B4-4C30-B5A2-CEF1AF6F82F8}"/>
              </a:ext>
            </a:extLst>
          </p:cNvPr>
          <p:cNvGrpSpPr/>
          <p:nvPr/>
        </p:nvGrpSpPr>
        <p:grpSpPr>
          <a:xfrm>
            <a:off x="6756986" y="3554810"/>
            <a:ext cx="2490689" cy="1509329"/>
            <a:chOff x="5747557" y="2962342"/>
            <a:chExt cx="2075574" cy="125777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8AEF3A5F-ED00-46D2-9374-11595279C1DC}"/>
                </a:ext>
              </a:extLst>
            </p:cNvPr>
            <p:cNvSpPr/>
            <p:nvPr/>
          </p:nvSpPr>
          <p:spPr>
            <a:xfrm>
              <a:off x="5778874" y="4028197"/>
              <a:ext cx="784800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19534FF-1EBB-46EF-93F4-0D85B38FEF67}"/>
                </a:ext>
              </a:extLst>
            </p:cNvPr>
            <p:cNvSpPr/>
            <p:nvPr/>
          </p:nvSpPr>
          <p:spPr>
            <a:xfrm rot="16200000">
              <a:off x="5652627" y="3057272"/>
              <a:ext cx="545074" cy="35521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1" name="Rectangle 44">
              <a:extLst>
                <a:ext uri="{FF2B5EF4-FFF2-40B4-BE49-F238E27FC236}">
                  <a16:creationId xmlns:a16="http://schemas.microsoft.com/office/drawing/2014/main" id="{BCBB4509-4980-4D60-A85C-1C57D33719E0}"/>
                </a:ext>
              </a:extLst>
            </p:cNvPr>
            <p:cNvSpPr/>
            <p:nvPr/>
          </p:nvSpPr>
          <p:spPr>
            <a:xfrm>
              <a:off x="6095999" y="3126283"/>
              <a:ext cx="467675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2" name="Block Arc 2">
              <a:extLst>
                <a:ext uri="{FF2B5EF4-FFF2-40B4-BE49-F238E27FC236}">
                  <a16:creationId xmlns:a16="http://schemas.microsoft.com/office/drawing/2014/main" id="{ED8164D0-B083-44B8-AA73-51D95E291918}"/>
                </a:ext>
              </a:extLst>
            </p:cNvPr>
            <p:cNvSpPr/>
            <p:nvPr/>
          </p:nvSpPr>
          <p:spPr>
            <a:xfrm rot="5400000">
              <a:off x="6645033" y="304126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FA2F3A-D401-4D31-AA0F-548413EB0F95}"/>
              </a:ext>
            </a:extLst>
          </p:cNvPr>
          <p:cNvSpPr txBox="1"/>
          <p:nvPr/>
        </p:nvSpPr>
        <p:spPr>
          <a:xfrm>
            <a:off x="9537336" y="3895367"/>
            <a:ext cx="3559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提供分數、發音建議與改進方向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D605A-9FF8-4740-8D14-7114442DAF31}"/>
              </a:ext>
            </a:extLst>
          </p:cNvPr>
          <p:cNvSpPr txBox="1"/>
          <p:nvPr/>
        </p:nvSpPr>
        <p:spPr>
          <a:xfrm>
            <a:off x="9524667" y="6126379"/>
            <a:ext cx="315049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難度選擇 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標準語音示範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C3AB22-D184-465A-92A9-62DEB76DCC18}"/>
              </a:ext>
            </a:extLst>
          </p:cNvPr>
          <p:cNvGrpSpPr/>
          <p:nvPr/>
        </p:nvGrpSpPr>
        <p:grpSpPr>
          <a:xfrm>
            <a:off x="1388926" y="5177131"/>
            <a:ext cx="2874433" cy="648438"/>
            <a:chOff x="232423" y="3982706"/>
            <a:chExt cx="2395361" cy="540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CFB836-F50E-4C5C-A4B5-64A5A3FFE335}"/>
                </a:ext>
              </a:extLst>
            </p:cNvPr>
            <p:cNvSpPr txBox="1"/>
            <p:nvPr/>
          </p:nvSpPr>
          <p:spPr>
            <a:xfrm>
              <a:off x="232423" y="3982706"/>
              <a:ext cx="2395361" cy="4360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TW" altLang="en-US" sz="28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使用者語音回覆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1D4A1D-05BF-4709-A091-7DA4BD951B39}"/>
                </a:ext>
              </a:extLst>
            </p:cNvPr>
            <p:cNvSpPr txBox="1"/>
            <p:nvPr/>
          </p:nvSpPr>
          <p:spPr>
            <a:xfrm>
              <a:off x="232423" y="4261461"/>
              <a:ext cx="23953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0E653-C9DA-459D-A0F6-4332F8673894}"/>
              </a:ext>
            </a:extLst>
          </p:cNvPr>
          <p:cNvGrpSpPr/>
          <p:nvPr/>
        </p:nvGrpSpPr>
        <p:grpSpPr>
          <a:xfrm>
            <a:off x="1752560" y="2696987"/>
            <a:ext cx="2874432" cy="985939"/>
            <a:chOff x="7308304" y="1365984"/>
            <a:chExt cx="1691680" cy="8216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59DF5A-1B0A-430A-B131-8FC4C269F2F2}"/>
                </a:ext>
              </a:extLst>
            </p:cNvPr>
            <p:cNvSpPr txBox="1"/>
            <p:nvPr/>
          </p:nvSpPr>
          <p:spPr>
            <a:xfrm>
              <a:off x="7308304" y="1365984"/>
              <a:ext cx="169168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44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ABB121-2C89-4989-AF97-D2F8CAB007AA}"/>
                </a:ext>
              </a:extLst>
            </p:cNvPr>
            <p:cNvSpPr txBox="1"/>
            <p:nvPr/>
          </p:nvSpPr>
          <p:spPr>
            <a:xfrm>
              <a:off x="7308304" y="1392511"/>
              <a:ext cx="1691680" cy="795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鼓勵反覆練習，提升口語流暢度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21EF4BF-26F9-4040-8939-2CE7A6995298}"/>
              </a:ext>
            </a:extLst>
          </p:cNvPr>
          <p:cNvSpPr/>
          <p:nvPr/>
        </p:nvSpPr>
        <p:spPr>
          <a:xfrm>
            <a:off x="5010868" y="2981254"/>
            <a:ext cx="731310" cy="73130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C32B2D-E12C-44A3-BA3B-0E56497B410E}"/>
              </a:ext>
            </a:extLst>
          </p:cNvPr>
          <p:cNvSpPr/>
          <p:nvPr/>
        </p:nvSpPr>
        <p:spPr>
          <a:xfrm>
            <a:off x="8233430" y="4044110"/>
            <a:ext cx="731310" cy="7313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C87023-689C-4DF0-B8BB-3626E861EFD1}"/>
              </a:ext>
            </a:extLst>
          </p:cNvPr>
          <p:cNvSpPr/>
          <p:nvPr/>
        </p:nvSpPr>
        <p:spPr>
          <a:xfrm>
            <a:off x="5010868" y="5141743"/>
            <a:ext cx="731310" cy="731309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A9C859-E442-42D1-AE47-7FF5ECC57352}"/>
              </a:ext>
            </a:extLst>
          </p:cNvPr>
          <p:cNvSpPr/>
          <p:nvPr/>
        </p:nvSpPr>
        <p:spPr>
          <a:xfrm>
            <a:off x="8233430" y="6219980"/>
            <a:ext cx="731310" cy="731309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grpSp>
        <p:nvGrpSpPr>
          <p:cNvPr id="33" name="그룹 14">
            <a:extLst>
              <a:ext uri="{FF2B5EF4-FFF2-40B4-BE49-F238E27FC236}">
                <a16:creationId xmlns:a16="http://schemas.microsoft.com/office/drawing/2014/main" id="{E06BBE54-E860-4812-8A9D-14E4E3212CCE}"/>
              </a:ext>
            </a:extLst>
          </p:cNvPr>
          <p:cNvGrpSpPr/>
          <p:nvPr/>
        </p:nvGrpSpPr>
        <p:grpSpPr>
          <a:xfrm>
            <a:off x="4725766" y="4626665"/>
            <a:ext cx="2495060" cy="1523071"/>
            <a:chOff x="4054872" y="3855554"/>
            <a:chExt cx="2079217" cy="1269226"/>
          </a:xfrm>
        </p:grpSpPr>
        <p:sp>
          <p:nvSpPr>
            <p:cNvPr id="34" name="Rectangle 44">
              <a:extLst>
                <a:ext uri="{FF2B5EF4-FFF2-40B4-BE49-F238E27FC236}">
                  <a16:creationId xmlns:a16="http://schemas.microsoft.com/office/drawing/2014/main" id="{8640024A-38CA-4774-A680-12ED0BE3CAC5}"/>
                </a:ext>
              </a:extLst>
            </p:cNvPr>
            <p:cNvSpPr/>
            <p:nvPr/>
          </p:nvSpPr>
          <p:spPr>
            <a:xfrm>
              <a:off x="5317238" y="4932861"/>
              <a:ext cx="785533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5" name="Block Arc 2">
              <a:extLst>
                <a:ext uri="{FF2B5EF4-FFF2-40B4-BE49-F238E27FC236}">
                  <a16:creationId xmlns:a16="http://schemas.microsoft.com/office/drawing/2014/main" id="{18BED823-96BD-4EB3-8945-4DCDA5F4B6E6}"/>
                </a:ext>
              </a:extLst>
            </p:cNvPr>
            <p:cNvSpPr/>
            <p:nvPr/>
          </p:nvSpPr>
          <p:spPr>
            <a:xfrm rot="16200000">
              <a:off x="4139139" y="394668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BD57713-BD8B-4AE3-9B63-9DFBD7EB9D21}"/>
                </a:ext>
              </a:extLst>
            </p:cNvPr>
            <p:cNvSpPr/>
            <p:nvPr/>
          </p:nvSpPr>
          <p:spPr>
            <a:xfrm rot="5400000">
              <a:off x="5683946" y="3950484"/>
              <a:ext cx="545074" cy="35521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146BD6C3-0ADF-4ACC-B1E1-755F03497CDD}"/>
                </a:ext>
              </a:extLst>
            </p:cNvPr>
            <p:cNvSpPr/>
            <p:nvPr/>
          </p:nvSpPr>
          <p:spPr>
            <a:xfrm>
              <a:off x="5317239" y="4030947"/>
              <a:ext cx="559042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38" name="그룹 15">
            <a:extLst>
              <a:ext uri="{FF2B5EF4-FFF2-40B4-BE49-F238E27FC236}">
                <a16:creationId xmlns:a16="http://schemas.microsoft.com/office/drawing/2014/main" id="{5B646D24-989E-40CE-9ABE-211DD1919461}"/>
              </a:ext>
            </a:extLst>
          </p:cNvPr>
          <p:cNvGrpSpPr/>
          <p:nvPr/>
        </p:nvGrpSpPr>
        <p:grpSpPr>
          <a:xfrm>
            <a:off x="1955239" y="5703962"/>
            <a:ext cx="7292436" cy="1524433"/>
            <a:chOff x="1746101" y="4753300"/>
            <a:chExt cx="6077030" cy="1270361"/>
          </a:xfrm>
        </p:grpSpPr>
        <p:sp>
          <p:nvSpPr>
            <p:cNvPr id="39" name="Block Arc 2">
              <a:extLst>
                <a:ext uri="{FF2B5EF4-FFF2-40B4-BE49-F238E27FC236}">
                  <a16:creationId xmlns:a16="http://schemas.microsoft.com/office/drawing/2014/main" id="{82B75635-848B-4D1F-AEC3-A9C9787CBA1D}"/>
                </a:ext>
              </a:extLst>
            </p:cNvPr>
            <p:cNvSpPr/>
            <p:nvPr/>
          </p:nvSpPr>
          <p:spPr>
            <a:xfrm rot="5400000">
              <a:off x="6645033" y="4845562"/>
              <a:ext cx="1093832" cy="1262365"/>
            </a:xfrm>
            <a:custGeom>
              <a:avLst/>
              <a:gdLst/>
              <a:ahLst/>
              <a:cxnLst/>
              <a:rect l="l" t="t" r="r" b="b"/>
              <a:pathLst>
                <a:path w="1011518" h="1167369">
                  <a:moveTo>
                    <a:pt x="1011518" y="485411"/>
                  </a:moveTo>
                  <a:lnTo>
                    <a:pt x="1011518" y="1167369"/>
                  </a:lnTo>
                  <a:lnTo>
                    <a:pt x="834370" y="1167369"/>
                  </a:lnTo>
                  <a:lnTo>
                    <a:pt x="834370" y="491393"/>
                  </a:lnTo>
                  <a:lnTo>
                    <a:pt x="831381" y="491507"/>
                  </a:ln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504057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lnTo>
                    <a:pt x="990372" y="48541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C8FB40-4465-40EC-8BB3-D381EC775854}"/>
                </a:ext>
              </a:extLst>
            </p:cNvPr>
            <p:cNvSpPr/>
            <p:nvPr/>
          </p:nvSpPr>
          <p:spPr>
            <a:xfrm>
              <a:off x="1746101" y="5828472"/>
              <a:ext cx="4817572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42963681-4EBA-49BC-B0D0-FAC3DA06B35D}"/>
                </a:ext>
              </a:extLst>
            </p:cNvPr>
            <p:cNvSpPr/>
            <p:nvPr/>
          </p:nvSpPr>
          <p:spPr>
            <a:xfrm rot="16200000">
              <a:off x="5652627" y="4848230"/>
              <a:ext cx="545074" cy="3552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F8A6D69D-0985-4CCD-8BE6-2CE52574F85C}"/>
                </a:ext>
              </a:extLst>
            </p:cNvPr>
            <p:cNvSpPr/>
            <p:nvPr/>
          </p:nvSpPr>
          <p:spPr>
            <a:xfrm>
              <a:off x="6102771" y="4936555"/>
              <a:ext cx="460903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F887A7C0-A74B-4C41-992C-32BF73D74B8B}"/>
              </a:ext>
            </a:extLst>
          </p:cNvPr>
          <p:cNvSpPr/>
          <p:nvPr/>
        </p:nvSpPr>
        <p:spPr>
          <a:xfrm>
            <a:off x="8452770" y="4223041"/>
            <a:ext cx="304992" cy="40362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5" name="Frame 17">
            <a:extLst>
              <a:ext uri="{FF2B5EF4-FFF2-40B4-BE49-F238E27FC236}">
                <a16:creationId xmlns:a16="http://schemas.microsoft.com/office/drawing/2014/main" id="{FC7A52F0-04B7-48A9-9838-5D9DBB87721E}"/>
              </a:ext>
            </a:extLst>
          </p:cNvPr>
          <p:cNvSpPr/>
          <p:nvPr/>
        </p:nvSpPr>
        <p:spPr>
          <a:xfrm>
            <a:off x="5185462" y="3155849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27451FAA-5645-4A7F-A46E-BD8138E07EDC}"/>
              </a:ext>
            </a:extLst>
          </p:cNvPr>
          <p:cNvSpPr/>
          <p:nvPr/>
        </p:nvSpPr>
        <p:spPr>
          <a:xfrm flipH="1">
            <a:off x="5136288" y="5313530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7" name="Oval 7">
            <a:extLst>
              <a:ext uri="{FF2B5EF4-FFF2-40B4-BE49-F238E27FC236}">
                <a16:creationId xmlns:a16="http://schemas.microsoft.com/office/drawing/2014/main" id="{F59119B5-750F-4381-8915-B555ADC69974}"/>
              </a:ext>
            </a:extLst>
          </p:cNvPr>
          <p:cNvSpPr/>
          <p:nvPr/>
        </p:nvSpPr>
        <p:spPr>
          <a:xfrm>
            <a:off x="8382318" y="6355328"/>
            <a:ext cx="433532" cy="4335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grpSp>
        <p:nvGrpSpPr>
          <p:cNvPr id="48" name="Group 115">
            <a:extLst>
              <a:ext uri="{FF2B5EF4-FFF2-40B4-BE49-F238E27FC236}">
                <a16:creationId xmlns:a16="http://schemas.microsoft.com/office/drawing/2014/main" id="{96D3B590-B0E9-45F5-BD00-05B3544E7CA1}"/>
              </a:ext>
            </a:extLst>
          </p:cNvPr>
          <p:cNvGrpSpPr/>
          <p:nvPr/>
        </p:nvGrpSpPr>
        <p:grpSpPr>
          <a:xfrm rot="5400000">
            <a:off x="702673" y="6339878"/>
            <a:ext cx="966247" cy="1538884"/>
            <a:chOff x="6867874" y="3721883"/>
            <a:chExt cx="1093501" cy="1741553"/>
          </a:xfrm>
        </p:grpSpPr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C4968815-35AC-47E1-AA90-AE1E1545E641}"/>
                </a:ext>
              </a:extLst>
            </p:cNvPr>
            <p:cNvSpPr/>
            <p:nvPr/>
          </p:nvSpPr>
          <p:spPr>
            <a:xfrm>
              <a:off x="6867874" y="3721883"/>
              <a:ext cx="1093501" cy="1741553"/>
            </a:xfrm>
            <a:custGeom>
              <a:avLst/>
              <a:gdLst/>
              <a:ahLst/>
              <a:cxnLst/>
              <a:rect l="l" t="t" r="r" b="b"/>
              <a:pathLst>
                <a:path w="1093501" h="1741553">
                  <a:moveTo>
                    <a:pt x="422037" y="0"/>
                  </a:moveTo>
                  <a:lnTo>
                    <a:pt x="422037" y="630979"/>
                  </a:lnTo>
                  <a:cubicBezTo>
                    <a:pt x="422037" y="680563"/>
                    <a:pt x="455258" y="722388"/>
                    <a:pt x="500795" y="734926"/>
                  </a:cubicBezTo>
                  <a:lnTo>
                    <a:pt x="500795" y="955639"/>
                  </a:lnTo>
                  <a:cubicBezTo>
                    <a:pt x="500795" y="982077"/>
                    <a:pt x="522227" y="1003509"/>
                    <a:pt x="548664" y="1003509"/>
                  </a:cubicBezTo>
                  <a:cubicBezTo>
                    <a:pt x="575102" y="1003509"/>
                    <a:pt x="596533" y="982077"/>
                    <a:pt x="596533" y="955639"/>
                  </a:cubicBezTo>
                  <a:lnTo>
                    <a:pt x="596533" y="735077"/>
                  </a:lnTo>
                  <a:cubicBezTo>
                    <a:pt x="642317" y="722690"/>
                    <a:pt x="675778" y="680742"/>
                    <a:pt x="675778" y="630979"/>
                  </a:cubicBezTo>
                  <a:lnTo>
                    <a:pt x="675778" y="658"/>
                  </a:lnTo>
                  <a:cubicBezTo>
                    <a:pt x="911634" y="31647"/>
                    <a:pt x="1093500" y="233580"/>
                    <a:pt x="1093500" y="477990"/>
                  </a:cubicBezTo>
                  <a:lnTo>
                    <a:pt x="1093500" y="780133"/>
                  </a:lnTo>
                  <a:lnTo>
                    <a:pt x="1093501" y="780133"/>
                  </a:lnTo>
                  <a:lnTo>
                    <a:pt x="1093501" y="1260843"/>
                  </a:lnTo>
                  <a:cubicBezTo>
                    <a:pt x="1093501" y="1526332"/>
                    <a:pt x="878279" y="1741553"/>
                    <a:pt x="612791" y="1741553"/>
                  </a:cubicBezTo>
                  <a:lnTo>
                    <a:pt x="480710" y="1741553"/>
                  </a:lnTo>
                  <a:cubicBezTo>
                    <a:pt x="215222" y="1741553"/>
                    <a:pt x="1" y="1526332"/>
                    <a:pt x="1" y="1260843"/>
                  </a:cubicBezTo>
                  <a:lnTo>
                    <a:pt x="1" y="787709"/>
                  </a:lnTo>
                  <a:lnTo>
                    <a:pt x="0" y="787709"/>
                  </a:lnTo>
                  <a:lnTo>
                    <a:pt x="0" y="477990"/>
                  </a:lnTo>
                  <a:cubicBezTo>
                    <a:pt x="0" y="232085"/>
                    <a:pt x="184097" y="29180"/>
                    <a:pt x="4220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50" name="Rounded Rectangle 108">
              <a:extLst>
                <a:ext uri="{FF2B5EF4-FFF2-40B4-BE49-F238E27FC236}">
                  <a16:creationId xmlns:a16="http://schemas.microsoft.com/office/drawing/2014/main" id="{41537A03-55CA-4A94-86B9-E2733194DA5D}"/>
                </a:ext>
              </a:extLst>
            </p:cNvPr>
            <p:cNvSpPr/>
            <p:nvPr/>
          </p:nvSpPr>
          <p:spPr>
            <a:xfrm>
              <a:off x="7309131" y="3809649"/>
              <a:ext cx="210986" cy="45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980FB-357A-414B-A235-EF1FC419EBB2}"/>
              </a:ext>
            </a:extLst>
          </p:cNvPr>
          <p:cNvGrpSpPr/>
          <p:nvPr/>
        </p:nvGrpSpPr>
        <p:grpSpPr>
          <a:xfrm>
            <a:off x="9875907" y="1584916"/>
            <a:ext cx="1552669" cy="2127647"/>
            <a:chOff x="149043" y="399678"/>
            <a:chExt cx="1877570" cy="2572864"/>
          </a:xfrm>
        </p:grpSpPr>
        <p:sp>
          <p:nvSpPr>
            <p:cNvPr id="53" name="Rounded Rectangle 39">
              <a:extLst>
                <a:ext uri="{FF2B5EF4-FFF2-40B4-BE49-F238E27FC236}">
                  <a16:creationId xmlns:a16="http://schemas.microsoft.com/office/drawing/2014/main" id="{F788514F-57BD-4FB4-BB0A-B6F8D1854EA6}"/>
                </a:ext>
              </a:extLst>
            </p:cNvPr>
            <p:cNvSpPr/>
            <p:nvPr/>
          </p:nvSpPr>
          <p:spPr>
            <a:xfrm rot="2483232">
              <a:off x="149043" y="703955"/>
              <a:ext cx="1877570" cy="2268587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BDF997-D8F0-4793-9BC0-325BD455A6D5}"/>
                </a:ext>
              </a:extLst>
            </p:cNvPr>
            <p:cNvGrpSpPr/>
            <p:nvPr/>
          </p:nvGrpSpPr>
          <p:grpSpPr>
            <a:xfrm>
              <a:off x="664860" y="399678"/>
              <a:ext cx="1074221" cy="1717693"/>
              <a:chOff x="664860" y="399678"/>
              <a:chExt cx="1074221" cy="1717693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7F00225-F5AB-40B7-874F-745A8104A5BA}"/>
                  </a:ext>
                </a:extLst>
              </p:cNvPr>
              <p:cNvGrpSpPr/>
              <p:nvPr/>
            </p:nvGrpSpPr>
            <p:grpSpPr>
              <a:xfrm rot="20671139">
                <a:off x="664860" y="399678"/>
                <a:ext cx="920312" cy="1717693"/>
                <a:chOff x="3501573" y="3178068"/>
                <a:chExt cx="1340594" cy="2737840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F78C17-B246-47F0-B740-112984E52643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651AA12-E3A8-4758-9CCA-20DBC4440451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1F542D0E-A035-48AE-9CE2-87436B5E5DEE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F6BF979-9805-471D-AC76-389632C6A90B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C5C14AEB-789D-4545-A72D-6A34B0E4341A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4C629FE2-B500-4E35-98FC-07EBCC72310F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59C20D9-CE8B-48C4-9C66-7C4D378E64DE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FDB7D03D-9282-4DE9-904F-17ACCC89C8AE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46B6EE85-04A7-475F-B569-336DD289BCC4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</p:grp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55D00922-C018-49AF-A8EB-C9EFBFCE3772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B6C582F-4337-419B-98EE-DEE80E587CBF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D38A93-CE35-4CBC-8267-0A9BD24EA0DB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  <p:sp>
            <p:nvSpPr>
              <p:cNvPr id="56" name="Rounded Rectangle 51">
                <a:extLst>
                  <a:ext uri="{FF2B5EF4-FFF2-40B4-BE49-F238E27FC236}">
                    <a16:creationId xmlns:a16="http://schemas.microsoft.com/office/drawing/2014/main" id="{5D8EE758-1B64-4E5D-9173-8D81009E057F}"/>
                  </a:ext>
                </a:extLst>
              </p:cNvPr>
              <p:cNvSpPr/>
              <p:nvPr/>
            </p:nvSpPr>
            <p:spPr>
              <a:xfrm rot="3148397">
                <a:off x="1443651" y="1047331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7" name="Rounded Rectangle 52">
                <a:extLst>
                  <a:ext uri="{FF2B5EF4-FFF2-40B4-BE49-F238E27FC236}">
                    <a16:creationId xmlns:a16="http://schemas.microsoft.com/office/drawing/2014/main" id="{42AB6689-921F-40DE-84CA-54B216685B94}"/>
                  </a:ext>
                </a:extLst>
              </p:cNvPr>
              <p:cNvSpPr/>
              <p:nvPr/>
            </p:nvSpPr>
            <p:spPr>
              <a:xfrm rot="3148397">
                <a:off x="1463592" y="1265972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8" name="Rounded Rectangle 53">
                <a:extLst>
                  <a:ext uri="{FF2B5EF4-FFF2-40B4-BE49-F238E27FC236}">
                    <a16:creationId xmlns:a16="http://schemas.microsoft.com/office/drawing/2014/main" id="{FE93D1CA-F359-4FE3-B77E-AA48E6FAD03D}"/>
                  </a:ext>
                </a:extLst>
              </p:cNvPr>
              <p:cNvSpPr/>
              <p:nvPr/>
            </p:nvSpPr>
            <p:spPr>
              <a:xfrm rot="3148397">
                <a:off x="1500837" y="1488593"/>
                <a:ext cx="215985" cy="260502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</p:grp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8973A0A7-18AE-223D-7504-DA3E8E0B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8B92-2BFF-3DCE-97ED-44B8593B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C2B4109-AC37-A6E3-D1B3-BC8A3099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802" y="0"/>
            <a:ext cx="53721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96">
            <a:extLst>
              <a:ext uri="{FF2B5EF4-FFF2-40B4-BE49-F238E27FC236}">
                <a16:creationId xmlns:a16="http://schemas.microsoft.com/office/drawing/2014/main" id="{6FA90F40-9475-44A4-B029-E7ADB0595DF4}"/>
              </a:ext>
            </a:extLst>
          </p:cNvPr>
          <p:cNvSpPr/>
          <p:nvPr/>
        </p:nvSpPr>
        <p:spPr>
          <a:xfrm>
            <a:off x="6871962" y="2315075"/>
            <a:ext cx="1463911" cy="4603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Circle: Hollow 49">
            <a:extLst>
              <a:ext uri="{FF2B5EF4-FFF2-40B4-BE49-F238E27FC236}">
                <a16:creationId xmlns:a16="http://schemas.microsoft.com/office/drawing/2014/main" id="{80B45867-92D9-4512-8CCF-98BEEB4C6674}"/>
              </a:ext>
            </a:extLst>
          </p:cNvPr>
          <p:cNvSpPr/>
          <p:nvPr/>
        </p:nvSpPr>
        <p:spPr>
          <a:xfrm>
            <a:off x="7446730" y="947590"/>
            <a:ext cx="1823519" cy="1823519"/>
          </a:xfrm>
          <a:prstGeom prst="donu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1" name="Rounded Rectangle 96">
            <a:extLst>
              <a:ext uri="{FF2B5EF4-FFF2-40B4-BE49-F238E27FC236}">
                <a16:creationId xmlns:a16="http://schemas.microsoft.com/office/drawing/2014/main" id="{C0AE763C-858D-4C72-80CE-27833870E988}"/>
              </a:ext>
            </a:extLst>
          </p:cNvPr>
          <p:cNvSpPr/>
          <p:nvPr/>
        </p:nvSpPr>
        <p:spPr>
          <a:xfrm>
            <a:off x="8381104" y="947590"/>
            <a:ext cx="6249296" cy="4603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Rounded Rectangle 96">
            <a:extLst>
              <a:ext uri="{FF2B5EF4-FFF2-40B4-BE49-F238E27FC236}">
                <a16:creationId xmlns:a16="http://schemas.microsoft.com/office/drawing/2014/main" id="{A292042E-5456-45FE-9561-9F5C8ECAEFDD}"/>
              </a:ext>
            </a:extLst>
          </p:cNvPr>
          <p:cNvSpPr/>
          <p:nvPr/>
        </p:nvSpPr>
        <p:spPr>
          <a:xfrm>
            <a:off x="5362819" y="3682560"/>
            <a:ext cx="1463911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Circle: Hollow 47">
            <a:extLst>
              <a:ext uri="{FF2B5EF4-FFF2-40B4-BE49-F238E27FC236}">
                <a16:creationId xmlns:a16="http://schemas.microsoft.com/office/drawing/2014/main" id="{A8F75F8E-32CF-42B7-A103-B15C60E18B98}"/>
              </a:ext>
            </a:extLst>
          </p:cNvPr>
          <p:cNvSpPr/>
          <p:nvPr/>
        </p:nvSpPr>
        <p:spPr>
          <a:xfrm>
            <a:off x="5937587" y="2315075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45" name="Rounded Rectangle 96">
            <a:extLst>
              <a:ext uri="{FF2B5EF4-FFF2-40B4-BE49-F238E27FC236}">
                <a16:creationId xmlns:a16="http://schemas.microsoft.com/office/drawing/2014/main" id="{A9160358-B538-4278-B4F9-A84DB164311D}"/>
              </a:ext>
            </a:extLst>
          </p:cNvPr>
          <p:cNvSpPr/>
          <p:nvPr/>
        </p:nvSpPr>
        <p:spPr>
          <a:xfrm>
            <a:off x="3853677" y="5050045"/>
            <a:ext cx="1463911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Circle: Hollow 45">
            <a:extLst>
              <a:ext uri="{FF2B5EF4-FFF2-40B4-BE49-F238E27FC236}">
                <a16:creationId xmlns:a16="http://schemas.microsoft.com/office/drawing/2014/main" id="{0A8F7C65-833E-4F34-8F38-B5D7F7D92A52}"/>
              </a:ext>
            </a:extLst>
          </p:cNvPr>
          <p:cNvSpPr/>
          <p:nvPr/>
        </p:nvSpPr>
        <p:spPr>
          <a:xfrm>
            <a:off x="4428445" y="3682561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8CDC64-CB6F-46A4-BC82-EB7408C05A62}"/>
              </a:ext>
            </a:extLst>
          </p:cNvPr>
          <p:cNvSpPr/>
          <p:nvPr/>
        </p:nvSpPr>
        <p:spPr>
          <a:xfrm>
            <a:off x="2942274" y="5300614"/>
            <a:ext cx="1582836" cy="1582836"/>
          </a:xfrm>
          <a:prstGeom prst="ellipse">
            <a:avLst/>
          </a:prstGeom>
          <a:noFill/>
          <a:ln w="139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ounded Rectangle 96">
            <a:extLst>
              <a:ext uri="{FF2B5EF4-FFF2-40B4-BE49-F238E27FC236}">
                <a16:creationId xmlns:a16="http://schemas.microsoft.com/office/drawing/2014/main" id="{05A6C3BF-7F50-45A5-A56B-779D85BB39F7}"/>
              </a:ext>
            </a:extLst>
          </p:cNvPr>
          <p:cNvSpPr/>
          <p:nvPr/>
        </p:nvSpPr>
        <p:spPr>
          <a:xfrm>
            <a:off x="0" y="6413177"/>
            <a:ext cx="3826534" cy="460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84779-35EA-4872-8367-0EAE74E67CA7}"/>
              </a:ext>
            </a:extLst>
          </p:cNvPr>
          <p:cNvSpPr txBox="1"/>
          <p:nvPr/>
        </p:nvSpPr>
        <p:spPr>
          <a:xfrm>
            <a:off x="6689775" y="4952081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播放音訊後進行提問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8DF01A-F232-4963-BC94-2163305D53A2}"/>
              </a:ext>
            </a:extLst>
          </p:cNvPr>
          <p:cNvSpPr txBox="1"/>
          <p:nvPr/>
        </p:nvSpPr>
        <p:spPr>
          <a:xfrm>
            <a:off x="9692340" y="1995510"/>
            <a:ext cx="3662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系統回覆聽力原文、答案、分數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1AAF1D-D949-4E4A-B377-A8E496D66BAE}"/>
              </a:ext>
            </a:extLst>
          </p:cNvPr>
          <p:cNvSpPr txBox="1"/>
          <p:nvPr/>
        </p:nvSpPr>
        <p:spPr>
          <a:xfrm>
            <a:off x="5188492" y="6319567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選擇難易度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9" name="Donut 8">
            <a:extLst>
              <a:ext uri="{FF2B5EF4-FFF2-40B4-BE49-F238E27FC236}">
                <a16:creationId xmlns:a16="http://schemas.microsoft.com/office/drawing/2014/main" id="{5DD4C900-7672-4C45-A30E-397B41D18687}"/>
              </a:ext>
            </a:extLst>
          </p:cNvPr>
          <p:cNvSpPr/>
          <p:nvPr/>
        </p:nvSpPr>
        <p:spPr>
          <a:xfrm>
            <a:off x="6644498" y="2946576"/>
            <a:ext cx="409696" cy="48971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0" name="Donut 24">
            <a:extLst>
              <a:ext uri="{FF2B5EF4-FFF2-40B4-BE49-F238E27FC236}">
                <a16:creationId xmlns:a16="http://schemas.microsoft.com/office/drawing/2014/main" id="{32AA287B-CF9F-467C-A5C0-CE3CC2F1A3D7}"/>
              </a:ext>
            </a:extLst>
          </p:cNvPr>
          <p:cNvSpPr/>
          <p:nvPr/>
        </p:nvSpPr>
        <p:spPr>
          <a:xfrm>
            <a:off x="8121358" y="1611421"/>
            <a:ext cx="474260" cy="478121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1" name="Block Arc 25">
            <a:extLst>
              <a:ext uri="{FF2B5EF4-FFF2-40B4-BE49-F238E27FC236}">
                <a16:creationId xmlns:a16="http://schemas.microsoft.com/office/drawing/2014/main" id="{31FE919C-941E-4BE6-A9BE-8BF45AA177F7}"/>
              </a:ext>
            </a:extLst>
          </p:cNvPr>
          <p:cNvSpPr>
            <a:spLocks noChangeAspect="1"/>
          </p:cNvSpPr>
          <p:nvPr/>
        </p:nvSpPr>
        <p:spPr>
          <a:xfrm>
            <a:off x="3683409" y="5685387"/>
            <a:ext cx="340535" cy="49197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2" name="자유형 151">
            <a:extLst>
              <a:ext uri="{FF2B5EF4-FFF2-40B4-BE49-F238E27FC236}">
                <a16:creationId xmlns:a16="http://schemas.microsoft.com/office/drawing/2014/main" id="{15F5A486-914E-4CD1-A4C9-53BA05E124B6}"/>
              </a:ext>
            </a:extLst>
          </p:cNvPr>
          <p:cNvSpPr/>
          <p:nvPr/>
        </p:nvSpPr>
        <p:spPr>
          <a:xfrm>
            <a:off x="5096133" y="4389213"/>
            <a:ext cx="442910" cy="464866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44" name="Circle: Hollow 43">
            <a:extLst>
              <a:ext uri="{FF2B5EF4-FFF2-40B4-BE49-F238E27FC236}">
                <a16:creationId xmlns:a16="http://schemas.microsoft.com/office/drawing/2014/main" id="{DEC173AA-C82E-4B92-B550-6E65463C41A6}"/>
              </a:ext>
            </a:extLst>
          </p:cNvPr>
          <p:cNvSpPr/>
          <p:nvPr/>
        </p:nvSpPr>
        <p:spPr>
          <a:xfrm>
            <a:off x="2919302" y="5050046"/>
            <a:ext cx="1823519" cy="1823519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19B331-E5DF-4207-8F99-4863206F079D}"/>
              </a:ext>
            </a:extLst>
          </p:cNvPr>
          <p:cNvSpPr txBox="1"/>
          <p:nvPr/>
        </p:nvSpPr>
        <p:spPr>
          <a:xfrm>
            <a:off x="8191058" y="3584596"/>
            <a:ext cx="4416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使用者輸入答案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FD1FFE-EE5D-4508-BC53-E1CBBA637A09}"/>
              </a:ext>
            </a:extLst>
          </p:cNvPr>
          <p:cNvSpPr txBox="1"/>
          <p:nvPr/>
        </p:nvSpPr>
        <p:spPr>
          <a:xfrm>
            <a:off x="432440" y="291591"/>
            <a:ext cx="488514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聽力練習</a:t>
            </a:r>
            <a:endParaRPr lang="en-US" altLang="ko-KR" sz="54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3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98DF3DB-FB62-374B-8E26-62A510AB58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51"/>
          <a:stretch/>
        </p:blipFill>
        <p:spPr bwMode="auto">
          <a:xfrm>
            <a:off x="5922661" y="12031"/>
            <a:ext cx="3410805" cy="44877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C8F6972-FCF7-C569-A8B4-94F42E3B5A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78"/>
          <a:stretch/>
        </p:blipFill>
        <p:spPr bwMode="auto">
          <a:xfrm>
            <a:off x="5922661" y="4499810"/>
            <a:ext cx="3410805" cy="3700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6572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ED16C6E5-859E-44CD-07EC-6FE8EB2A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A686F9FA-85F9-422B-0794-2CA9CECAC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提示工程設計 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74542FA2-D983-F59C-7236-B312EC0C87A6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8400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477" y="406570"/>
            <a:ext cx="4400332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基本設計原則</a:t>
            </a:r>
            <a:endParaRPr lang="zh-TW" altLang="en-US" sz="5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E06061-A028-4E9A-88A2-FF642457DCF5}"/>
              </a:ext>
            </a:extLst>
          </p:cNvPr>
          <p:cNvGrpSpPr/>
          <p:nvPr/>
        </p:nvGrpSpPr>
        <p:grpSpPr>
          <a:xfrm>
            <a:off x="5055636" y="2507417"/>
            <a:ext cx="4519130" cy="4492516"/>
            <a:chOff x="2670753" y="2114334"/>
            <a:chExt cx="3765942" cy="3743763"/>
          </a:xfrm>
        </p:grpSpPr>
        <p:sp>
          <p:nvSpPr>
            <p:cNvPr id="4" name="Block Arc 3">
              <a:extLst>
                <a:ext uri="{FF2B5EF4-FFF2-40B4-BE49-F238E27FC236}">
                  <a16:creationId xmlns:a16="http://schemas.microsoft.com/office/drawing/2014/main" id="{318C2E1B-EC3B-4D1F-AD14-B959940C5018}"/>
                </a:ext>
              </a:extLst>
            </p:cNvPr>
            <p:cNvSpPr/>
            <p:nvPr/>
          </p:nvSpPr>
          <p:spPr>
            <a:xfrm>
              <a:off x="2680279" y="2119944"/>
              <a:ext cx="3619171" cy="3619170"/>
            </a:xfrm>
            <a:prstGeom prst="blockArc">
              <a:avLst>
                <a:gd name="adj1" fmla="val 11665054"/>
                <a:gd name="adj2" fmla="val 16188267"/>
                <a:gd name="adj3" fmla="val 29857"/>
              </a:avLst>
            </a:prstGeom>
            <a:solidFill>
              <a:schemeClr val="bg1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F6358D7B-2B4C-4AA4-8E0A-5D0973949947}"/>
                </a:ext>
              </a:extLst>
            </p:cNvPr>
            <p:cNvSpPr/>
            <p:nvPr/>
          </p:nvSpPr>
          <p:spPr>
            <a:xfrm rot="4500000">
              <a:off x="2784252" y="2114333"/>
              <a:ext cx="3619170" cy="3619171"/>
            </a:xfrm>
            <a:prstGeom prst="blockArc">
              <a:avLst>
                <a:gd name="adj1" fmla="val 11684609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806655E9-FEA6-4806-99F0-D464E1809E80}"/>
                </a:ext>
              </a:extLst>
            </p:cNvPr>
            <p:cNvSpPr/>
            <p:nvPr/>
          </p:nvSpPr>
          <p:spPr>
            <a:xfrm rot="9180000">
              <a:off x="2817524" y="2209409"/>
              <a:ext cx="3619171" cy="3619170"/>
            </a:xfrm>
            <a:prstGeom prst="blockArc">
              <a:avLst>
                <a:gd name="adj1" fmla="val 11508045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78578029-514C-4001-9A86-AA76B3684E9B}"/>
                </a:ext>
              </a:extLst>
            </p:cNvPr>
            <p:cNvSpPr/>
            <p:nvPr/>
          </p:nvSpPr>
          <p:spPr>
            <a:xfrm rot="17100000">
              <a:off x="2670754" y="2238926"/>
              <a:ext cx="3619170" cy="3619171"/>
            </a:xfrm>
            <a:prstGeom prst="blockArc">
              <a:avLst>
                <a:gd name="adj1" fmla="val 11665054"/>
                <a:gd name="adj2" fmla="val 16173964"/>
                <a:gd name="adj3" fmla="val 29814"/>
              </a:avLst>
            </a:prstGeom>
            <a:solidFill>
              <a:schemeClr val="bg1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8" name="Teardrop 7">
            <a:extLst>
              <a:ext uri="{FF2B5EF4-FFF2-40B4-BE49-F238E27FC236}">
                <a16:creationId xmlns:a16="http://schemas.microsoft.com/office/drawing/2014/main" id="{9E216DA0-B739-4BB5-AC55-76518F73D15E}"/>
              </a:ext>
            </a:extLst>
          </p:cNvPr>
          <p:cNvSpPr/>
          <p:nvPr/>
        </p:nvSpPr>
        <p:spPr>
          <a:xfrm rot="8100000">
            <a:off x="6581208" y="4075018"/>
            <a:ext cx="1434492" cy="1434492"/>
          </a:xfrm>
          <a:prstGeom prst="teardrop">
            <a:avLst>
              <a:gd name="adj" fmla="val 182889"/>
            </a:avLst>
          </a:prstGeom>
          <a:solidFill>
            <a:schemeClr val="accent6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8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CB09F203-AAD7-435D-AA58-7513D16D43AC}"/>
              </a:ext>
            </a:extLst>
          </p:cNvPr>
          <p:cNvSpPr/>
          <p:nvPr/>
        </p:nvSpPr>
        <p:spPr>
          <a:xfrm>
            <a:off x="6996203" y="4369546"/>
            <a:ext cx="644683" cy="768257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0CC93A-C114-4E09-9C5C-01CBC3241985}"/>
              </a:ext>
            </a:extLst>
          </p:cNvPr>
          <p:cNvGrpSpPr/>
          <p:nvPr/>
        </p:nvGrpSpPr>
        <p:grpSpPr>
          <a:xfrm>
            <a:off x="9773338" y="2122687"/>
            <a:ext cx="4243450" cy="1889876"/>
            <a:chOff x="3017860" y="4283314"/>
            <a:chExt cx="1805687" cy="15748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983EA5-752F-476E-B71A-1620C5A16D65}"/>
                </a:ext>
              </a:extLst>
            </p:cNvPr>
            <p:cNvSpPr txBox="1"/>
            <p:nvPr/>
          </p:nvSpPr>
          <p:spPr>
            <a:xfrm>
              <a:off x="3024240" y="4755344"/>
              <a:ext cx="1755206" cy="1102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指令層：定義</a:t>
              </a:r>
              <a:r>
                <a:rPr lang="en-US" altLang="zh-TW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AI</a:t>
              </a: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角色和任務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限制層：設定回應邊界和風格示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例層：提供參考範例和格式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參數層：主題難度等元素參數化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6292BA-2824-4125-BF9C-D13443F38F08}"/>
                </a:ext>
              </a:extLst>
            </p:cNvPr>
            <p:cNvSpPr txBox="1"/>
            <p:nvPr/>
          </p:nvSpPr>
          <p:spPr>
            <a:xfrm>
              <a:off x="3017860" y="4283314"/>
              <a:ext cx="1805687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結構化提示框架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A66BE1-5DBC-4A7B-BB26-E1DA4ED1197E}"/>
              </a:ext>
            </a:extLst>
          </p:cNvPr>
          <p:cNvGrpSpPr/>
          <p:nvPr/>
        </p:nvGrpSpPr>
        <p:grpSpPr>
          <a:xfrm>
            <a:off x="9773338" y="5381598"/>
            <a:ext cx="4139810" cy="1846659"/>
            <a:chOff x="2386449" y="4283314"/>
            <a:chExt cx="2544610" cy="15388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5A1A29-52BE-4AC9-AF81-521240F87180}"/>
                </a:ext>
              </a:extLst>
            </p:cNvPr>
            <p:cNvSpPr txBox="1"/>
            <p:nvPr/>
          </p:nvSpPr>
          <p:spPr>
            <a:xfrm>
              <a:off x="2386449" y="4719330"/>
              <a:ext cx="2544610" cy="1102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針對聽說讀寫客製化提示策略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每功能都有專屬角色定位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結合語言學習理論基礎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技術實現與教育目標對齊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C4B452-5B4B-4945-A14C-54F0BA34D565}"/>
                </a:ext>
              </a:extLst>
            </p:cNvPr>
            <p:cNvSpPr txBox="1"/>
            <p:nvPr/>
          </p:nvSpPr>
          <p:spPr>
            <a:xfrm>
              <a:off x="2539830" y="4283314"/>
              <a:ext cx="2259014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功能導向設計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463E48A-3C15-48FF-B515-99D504E50DF2}"/>
              </a:ext>
            </a:extLst>
          </p:cNvPr>
          <p:cNvSpPr txBox="1"/>
          <p:nvPr/>
        </p:nvSpPr>
        <p:spPr>
          <a:xfrm>
            <a:off x="1256643" y="2005644"/>
            <a:ext cx="331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教育導向原則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6C2604-63AC-4DE8-B3DC-57D9E186AA77}"/>
              </a:ext>
            </a:extLst>
          </p:cNvPr>
          <p:cNvGrpSpPr/>
          <p:nvPr/>
        </p:nvGrpSpPr>
        <p:grpSpPr>
          <a:xfrm>
            <a:off x="893115" y="5381596"/>
            <a:ext cx="4186947" cy="1815640"/>
            <a:chOff x="3017861" y="4283313"/>
            <a:chExt cx="1703991" cy="15130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08484C-5B6D-4ACE-B90F-625F32E35582}"/>
                </a:ext>
              </a:extLst>
            </p:cNvPr>
            <p:cNvSpPr txBox="1"/>
            <p:nvPr/>
          </p:nvSpPr>
          <p:spPr>
            <a:xfrm>
              <a:off x="3059415" y="4693479"/>
              <a:ext cx="1662437" cy="1102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動態調整語言複雜度和術語使用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根據學習意圖選擇最適提示模板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維持對話上下文連貫性</a:t>
              </a:r>
              <a:endPara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情緒狀態感知，適時調整支持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5F0C59-37A5-400F-B7F9-28A578DDE1E7}"/>
                </a:ext>
              </a:extLst>
            </p:cNvPr>
            <p:cNvSpPr txBox="1"/>
            <p:nvPr/>
          </p:nvSpPr>
          <p:spPr>
            <a:xfrm>
              <a:off x="3017861" y="4283313"/>
              <a:ext cx="1698702" cy="436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情境適應性原則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8D105139-2C83-462B-8141-623B1CAA0CF8}"/>
              </a:ext>
            </a:extLst>
          </p:cNvPr>
          <p:cNvSpPr/>
          <p:nvPr/>
        </p:nvSpPr>
        <p:spPr>
          <a:xfrm>
            <a:off x="8570071" y="5043714"/>
            <a:ext cx="434702" cy="575280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24BEE717-A09F-4978-9ECA-470B331686BA}"/>
              </a:ext>
            </a:extLst>
          </p:cNvPr>
          <p:cNvSpPr/>
          <p:nvPr/>
        </p:nvSpPr>
        <p:spPr>
          <a:xfrm>
            <a:off x="8007305" y="3203904"/>
            <a:ext cx="591778" cy="60165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454E16A-3740-462D-AC5A-F64B6D4C51AB}"/>
              </a:ext>
            </a:extLst>
          </p:cNvPr>
          <p:cNvSpPr/>
          <p:nvPr/>
        </p:nvSpPr>
        <p:spPr>
          <a:xfrm>
            <a:off x="5581058" y="5103810"/>
            <a:ext cx="592458" cy="45508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AF162714-ECBB-4E40-990F-2FF863660954}"/>
              </a:ext>
            </a:extLst>
          </p:cNvPr>
          <p:cNvSpPr/>
          <p:nvPr/>
        </p:nvSpPr>
        <p:spPr>
          <a:xfrm>
            <a:off x="6030626" y="3228508"/>
            <a:ext cx="602344" cy="519816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BC368DA-1D4D-0BC8-468C-8E92F8C28309}"/>
              </a:ext>
            </a:extLst>
          </p:cNvPr>
          <p:cNvSpPr txBox="1"/>
          <p:nvPr/>
        </p:nvSpPr>
        <p:spPr>
          <a:xfrm>
            <a:off x="1127847" y="2566788"/>
            <a:ext cx="40411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每次互動都有明確學習目標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根據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CEFR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標準提供階梯式挑戰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建設性錯誤處理，保護學習信心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鼓勵性回饋，維持學習動機</a:t>
            </a:r>
          </a:p>
        </p:txBody>
      </p: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4">
            <a:extLst>
              <a:ext uri="{FF2B5EF4-FFF2-40B4-BE49-F238E27FC236}">
                <a16:creationId xmlns:a16="http://schemas.microsoft.com/office/drawing/2014/main" id="{474D1811-2EDF-46B5-9243-156C3E89C7A5}"/>
              </a:ext>
            </a:extLst>
          </p:cNvPr>
          <p:cNvGrpSpPr/>
          <p:nvPr/>
        </p:nvGrpSpPr>
        <p:grpSpPr>
          <a:xfrm>
            <a:off x="6326564" y="3499342"/>
            <a:ext cx="1415258" cy="2242993"/>
            <a:chOff x="2267743" y="2067694"/>
            <a:chExt cx="1296144" cy="2068083"/>
          </a:xfrm>
          <a:solidFill>
            <a:schemeClr val="accent4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29C41DF-7784-478B-BB62-B6E309E461B1}"/>
                </a:ext>
              </a:extLst>
            </p:cNvPr>
            <p:cNvSpPr/>
            <p:nvPr/>
          </p:nvSpPr>
          <p:spPr>
            <a:xfrm>
              <a:off x="2267743" y="2067694"/>
              <a:ext cx="1296144" cy="1512168"/>
            </a:xfrm>
            <a:custGeom>
              <a:avLst/>
              <a:gdLst/>
              <a:ahLst/>
              <a:cxnLst/>
              <a:rect l="l" t="t" r="r" b="b"/>
              <a:pathLst>
                <a:path w="1296144" h="1512168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789887"/>
                    <a:pt x="1250593" y="921063"/>
                    <a:pt x="1171961" y="1026780"/>
                  </a:cubicBezTo>
                  <a:lnTo>
                    <a:pt x="1173960" y="1026780"/>
                  </a:lnTo>
                  <a:cubicBezTo>
                    <a:pt x="1071256" y="1150055"/>
                    <a:pt x="991158" y="1317624"/>
                    <a:pt x="945903" y="1512168"/>
                  </a:cubicBezTo>
                  <a:lnTo>
                    <a:pt x="350240" y="1512168"/>
                  </a:lnTo>
                  <a:cubicBezTo>
                    <a:pt x="304986" y="1317624"/>
                    <a:pt x="224888" y="1150055"/>
                    <a:pt x="122183" y="1026780"/>
                  </a:cubicBezTo>
                  <a:lnTo>
                    <a:pt x="124183" y="1026780"/>
                  </a:lnTo>
                  <a:cubicBezTo>
                    <a:pt x="45551" y="921063"/>
                    <a:pt x="0" y="789887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glow rad="495300">
                <a:schemeClr val="accent4">
                  <a:alpha val="28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/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8D4E17BB-BF8C-465F-89A3-2AA24A026569}"/>
                </a:ext>
              </a:extLst>
            </p:cNvPr>
            <p:cNvGrpSpPr/>
            <p:nvPr/>
          </p:nvGrpSpPr>
          <p:grpSpPr>
            <a:xfrm>
              <a:off x="2591815" y="3645376"/>
              <a:ext cx="648000" cy="490401"/>
              <a:chOff x="2591815" y="3645376"/>
              <a:chExt cx="648000" cy="490401"/>
            </a:xfrm>
            <a:grpFill/>
          </p:grpSpPr>
          <p:sp>
            <p:nvSpPr>
              <p:cNvPr id="6" name="Rounded Rectangle 10">
                <a:extLst>
                  <a:ext uri="{FF2B5EF4-FFF2-40B4-BE49-F238E27FC236}">
                    <a16:creationId xmlns:a16="http://schemas.microsoft.com/office/drawing/2014/main" id="{5ED2C188-1E94-487E-B611-CFCD7ECDD4F6}"/>
                  </a:ext>
                </a:extLst>
              </p:cNvPr>
              <p:cNvSpPr/>
              <p:nvPr/>
            </p:nvSpPr>
            <p:spPr>
              <a:xfrm>
                <a:off x="2591815" y="3645376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7" name="Rounded Rectangle 34">
                <a:extLst>
                  <a:ext uri="{FF2B5EF4-FFF2-40B4-BE49-F238E27FC236}">
                    <a16:creationId xmlns:a16="http://schemas.microsoft.com/office/drawing/2014/main" id="{A7E0E27B-0D97-4728-B5CA-C1D16A2880B5}"/>
                  </a:ext>
                </a:extLst>
              </p:cNvPr>
              <p:cNvSpPr/>
              <p:nvPr/>
            </p:nvSpPr>
            <p:spPr>
              <a:xfrm>
                <a:off x="2591815" y="3841787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8" name="Oval 11">
                <a:extLst>
                  <a:ext uri="{FF2B5EF4-FFF2-40B4-BE49-F238E27FC236}">
                    <a16:creationId xmlns:a16="http://schemas.microsoft.com/office/drawing/2014/main" id="{8E2022F7-AAAC-4EF6-918B-71852ADF05D3}"/>
                  </a:ext>
                </a:extLst>
              </p:cNvPr>
              <p:cNvSpPr/>
              <p:nvPr/>
            </p:nvSpPr>
            <p:spPr>
              <a:xfrm>
                <a:off x="2651523" y="4038198"/>
                <a:ext cx="528585" cy="97579"/>
              </a:xfrm>
              <a:custGeom>
                <a:avLst/>
                <a:gdLst/>
                <a:ahLst/>
                <a:cxnLst/>
                <a:rect l="l" t="t" r="r" b="b"/>
                <a:pathLst>
                  <a:path w="780137" h="144016">
                    <a:moveTo>
                      <a:pt x="0" y="0"/>
                    </a:moveTo>
                    <a:lnTo>
                      <a:pt x="780137" y="0"/>
                    </a:lnTo>
                    <a:cubicBezTo>
                      <a:pt x="675766" y="90723"/>
                      <a:pt x="539141" y="144016"/>
                      <a:pt x="390068" y="144016"/>
                    </a:cubicBezTo>
                    <a:cubicBezTo>
                      <a:pt x="240996" y="144016"/>
                      <a:pt x="104371" y="9072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</p:grpSp>
      </p:grpSp>
      <p:sp>
        <p:nvSpPr>
          <p:cNvPr id="9" name="Hexagon 15">
            <a:extLst>
              <a:ext uri="{FF2B5EF4-FFF2-40B4-BE49-F238E27FC236}">
                <a16:creationId xmlns:a16="http://schemas.microsoft.com/office/drawing/2014/main" id="{23E0B26B-9041-4FF6-BDBF-4C3E6730E7A3}"/>
              </a:ext>
            </a:extLst>
          </p:cNvPr>
          <p:cNvSpPr/>
          <p:nvPr/>
        </p:nvSpPr>
        <p:spPr>
          <a:xfrm>
            <a:off x="8421391" y="2338145"/>
            <a:ext cx="798713" cy="798713"/>
          </a:xfrm>
          <a:prstGeom prst="ellipse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0" name="Hexagon 61">
            <a:extLst>
              <a:ext uri="{FF2B5EF4-FFF2-40B4-BE49-F238E27FC236}">
                <a16:creationId xmlns:a16="http://schemas.microsoft.com/office/drawing/2014/main" id="{2F706734-8DA2-410E-9F15-779501AFBCAA}"/>
              </a:ext>
            </a:extLst>
          </p:cNvPr>
          <p:cNvSpPr/>
          <p:nvPr/>
        </p:nvSpPr>
        <p:spPr>
          <a:xfrm>
            <a:off x="9082047" y="4460145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1" name="Hexagon 62">
            <a:extLst>
              <a:ext uri="{FF2B5EF4-FFF2-40B4-BE49-F238E27FC236}">
                <a16:creationId xmlns:a16="http://schemas.microsoft.com/office/drawing/2014/main" id="{F0401EB7-6B5F-47BE-9C9B-8334F3D86B19}"/>
              </a:ext>
            </a:extLst>
          </p:cNvPr>
          <p:cNvSpPr/>
          <p:nvPr/>
        </p:nvSpPr>
        <p:spPr>
          <a:xfrm>
            <a:off x="5361742" y="6651291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sp>
        <p:nvSpPr>
          <p:cNvPr id="12" name="Hexagon 64">
            <a:extLst>
              <a:ext uri="{FF2B5EF4-FFF2-40B4-BE49-F238E27FC236}">
                <a16:creationId xmlns:a16="http://schemas.microsoft.com/office/drawing/2014/main" id="{FDE4C641-7905-48AB-A3B7-59B2E88686D5}"/>
              </a:ext>
            </a:extLst>
          </p:cNvPr>
          <p:cNvSpPr/>
          <p:nvPr/>
        </p:nvSpPr>
        <p:spPr>
          <a:xfrm flipH="1">
            <a:off x="5239791" y="2336412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Hexagon 65">
            <a:extLst>
              <a:ext uri="{FF2B5EF4-FFF2-40B4-BE49-F238E27FC236}">
                <a16:creationId xmlns:a16="http://schemas.microsoft.com/office/drawing/2014/main" id="{E3C87B40-8439-472E-8D76-545A7962FE19}"/>
              </a:ext>
            </a:extLst>
          </p:cNvPr>
          <p:cNvSpPr/>
          <p:nvPr/>
        </p:nvSpPr>
        <p:spPr>
          <a:xfrm flipH="1">
            <a:off x="4857738" y="4180837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grpSp>
        <p:nvGrpSpPr>
          <p:cNvPr id="19" name="Group 42">
            <a:extLst>
              <a:ext uri="{FF2B5EF4-FFF2-40B4-BE49-F238E27FC236}">
                <a16:creationId xmlns:a16="http://schemas.microsoft.com/office/drawing/2014/main" id="{7D1B461F-100E-45A1-B9FD-E13F84FC2C94}"/>
              </a:ext>
            </a:extLst>
          </p:cNvPr>
          <p:cNvGrpSpPr/>
          <p:nvPr/>
        </p:nvGrpSpPr>
        <p:grpSpPr>
          <a:xfrm>
            <a:off x="10132259" y="4490038"/>
            <a:ext cx="4171570" cy="1475484"/>
            <a:chOff x="6485792" y="1342900"/>
            <a:chExt cx="1923961" cy="169677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08470-BCC0-40D9-8806-645FB59D7D12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1344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對話開展策略：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自然引人入勝的開場方式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話題深入探討，鼓勵多輪交流練習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問題優化技巧，轉寬泛問題為具體針對性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明確結束機制，提供用戶控制感與練習提示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15B4CA-16DF-40A5-B06C-F3C5107AE672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互動流程設計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2" name="Group 45">
            <a:extLst>
              <a:ext uri="{FF2B5EF4-FFF2-40B4-BE49-F238E27FC236}">
                <a16:creationId xmlns:a16="http://schemas.microsoft.com/office/drawing/2014/main" id="{80528C5C-C638-4403-B3D2-2B7E997C416D}"/>
              </a:ext>
            </a:extLst>
          </p:cNvPr>
          <p:cNvGrpSpPr/>
          <p:nvPr/>
        </p:nvGrpSpPr>
        <p:grpSpPr>
          <a:xfrm>
            <a:off x="6428186" y="6378522"/>
            <a:ext cx="4511001" cy="2171059"/>
            <a:chOff x="6485792" y="1342900"/>
            <a:chExt cx="1923961" cy="24966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F8C8E8-BE31-44C4-9CB1-54C1481B470A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2144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擬真互動原理：避免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AI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特徵，模擬真實人物角色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輸出控制原理：基於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i+1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假說，嚴格限制回應複雜度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深度對話原理：交際教學法，培養持續性對話能力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參數化設計原理：模塊化思想，主題難度詞彙動態組合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C4F8855-94E0-43AD-8475-9F23DA17FC17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設計原理 </a:t>
              </a:r>
              <a:endParaRPr lang="ko-KR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5480EBF-6FAA-4615-9178-C0EB34ADC982}"/>
              </a:ext>
            </a:extLst>
          </p:cNvPr>
          <p:cNvSpPr txBox="1"/>
          <p:nvPr/>
        </p:nvSpPr>
        <p:spPr>
          <a:xfrm>
            <a:off x="1400970" y="1578340"/>
            <a:ext cx="3645610" cy="36933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核心架構 </a:t>
            </a:r>
            <a:endParaRPr lang="ko-KR" altLang="en-US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8" name="Group 51">
            <a:extLst>
              <a:ext uri="{FF2B5EF4-FFF2-40B4-BE49-F238E27FC236}">
                <a16:creationId xmlns:a16="http://schemas.microsoft.com/office/drawing/2014/main" id="{4BB5E117-5C82-4C89-BF8D-7F179E83DE3A}"/>
              </a:ext>
            </a:extLst>
          </p:cNvPr>
          <p:cNvGrpSpPr/>
          <p:nvPr/>
        </p:nvGrpSpPr>
        <p:grpSpPr>
          <a:xfrm>
            <a:off x="741119" y="4051710"/>
            <a:ext cx="4027818" cy="2171059"/>
            <a:chOff x="6485792" y="1342900"/>
            <a:chExt cx="1923961" cy="249666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38E364-3DF2-493F-88D3-0F5CCB77A119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2144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多元主題覆蓋：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五大核心主題：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主題有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emoji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圖標，增強視覺化體驗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情境描述與角色設定，創造接近真實的語言環境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場景開場設計：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雙語開場兼顧情境明確性與理解障礙降低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各難度級別專屬場景描述與開場問題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B33009-E594-416F-8ED5-FC498A3E07A9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3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主題情境設計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D3531B89-7112-495A-9901-53FCA645850E}"/>
              </a:ext>
            </a:extLst>
          </p:cNvPr>
          <p:cNvGrpSpPr/>
          <p:nvPr/>
        </p:nvGrpSpPr>
        <p:grpSpPr>
          <a:xfrm>
            <a:off x="9383289" y="1277218"/>
            <a:ext cx="5364281" cy="2171059"/>
            <a:chOff x="6485792" y="1342900"/>
            <a:chExt cx="1923961" cy="249666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50E468-E312-469A-9FFB-069407705EFA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2144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CEFR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標準分級：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初級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(A1-A2)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：基礎日常詞彙，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2-3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音節單詞，簡單現在式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中級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(B1-B2)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：常用詞彙，基本時態變化，完整句子結構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高級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(C1-C2)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：專業詞彙，複雜句型，從句和多時態運用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回應長度精確控制：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梯度式輸出控制，獲得適當挑戰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詞彙與句型難度漸進式設計，提供明確學習路徑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問題類型從是非問答逐步發展到深入討論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C1DCAD-B01D-454F-AA0A-16715461EAFA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難度調整機制</a:t>
              </a:r>
              <a:endParaRPr lang="ko-KR" altLang="en-US" b="1" dirty="0">
                <a:solidFill>
                  <a:schemeClr val="accent3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4" name="Parallelogram 15">
            <a:extLst>
              <a:ext uri="{FF2B5EF4-FFF2-40B4-BE49-F238E27FC236}">
                <a16:creationId xmlns:a16="http://schemas.microsoft.com/office/drawing/2014/main" id="{75BD4391-CAD0-4FAB-9848-481C5FFA8297}"/>
              </a:ext>
            </a:extLst>
          </p:cNvPr>
          <p:cNvSpPr/>
          <p:nvPr/>
        </p:nvSpPr>
        <p:spPr>
          <a:xfrm flipH="1">
            <a:off x="5099506" y="4452905"/>
            <a:ext cx="314585" cy="31458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B16C2041-94E3-4046-A454-52A2065C995C}"/>
              </a:ext>
            </a:extLst>
          </p:cNvPr>
          <p:cNvSpPr/>
          <p:nvPr/>
        </p:nvSpPr>
        <p:spPr>
          <a:xfrm>
            <a:off x="9349915" y="4730480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6" name="Rounded Rectangle 32">
            <a:extLst>
              <a:ext uri="{FF2B5EF4-FFF2-40B4-BE49-F238E27FC236}">
                <a16:creationId xmlns:a16="http://schemas.microsoft.com/office/drawing/2014/main" id="{6133BE79-B574-4C0D-9A39-F05358AE57CE}"/>
              </a:ext>
            </a:extLst>
          </p:cNvPr>
          <p:cNvSpPr/>
          <p:nvPr/>
        </p:nvSpPr>
        <p:spPr>
          <a:xfrm>
            <a:off x="5511426" y="2614064"/>
            <a:ext cx="280559" cy="28055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7" name="Frame 17">
            <a:extLst>
              <a:ext uri="{FF2B5EF4-FFF2-40B4-BE49-F238E27FC236}">
                <a16:creationId xmlns:a16="http://schemas.microsoft.com/office/drawing/2014/main" id="{4429B83F-5FB8-4A34-B9B4-242F997C3B28}"/>
              </a:ext>
            </a:extLst>
          </p:cNvPr>
          <p:cNvSpPr/>
          <p:nvPr/>
        </p:nvSpPr>
        <p:spPr>
          <a:xfrm>
            <a:off x="5612893" y="6912074"/>
            <a:ext cx="298902" cy="29890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8" name="Donut 39">
            <a:extLst>
              <a:ext uri="{FF2B5EF4-FFF2-40B4-BE49-F238E27FC236}">
                <a16:creationId xmlns:a16="http://schemas.microsoft.com/office/drawing/2014/main" id="{08436396-1D5A-4BA0-B655-550AFB60EB5F}"/>
              </a:ext>
            </a:extLst>
          </p:cNvPr>
          <p:cNvSpPr/>
          <p:nvPr/>
        </p:nvSpPr>
        <p:spPr>
          <a:xfrm>
            <a:off x="8638526" y="2573629"/>
            <a:ext cx="351426" cy="35142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1E95AF89-B644-DD78-333F-79FFCF4B8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643" y="320505"/>
            <a:ext cx="5714438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129CFC5B-C1DA-7B95-3F2C-DBC710768049}"/>
              </a:ext>
            </a:extLst>
          </p:cNvPr>
          <p:cNvSpPr txBox="1"/>
          <p:nvPr/>
        </p:nvSpPr>
        <p:spPr>
          <a:xfrm>
            <a:off x="1400969" y="2006831"/>
            <a:ext cx="384614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角色定位：「真實對話夥伴」而非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助手，創造自然語言環境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互動規範：維持對話擬真性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難度控制：初級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5-7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詞 → 中級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10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詞 → 高級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12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詞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問題策略：深入話題，避免跳轉，使用具體針對性問題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7B29-0349-DB40-20DD-CD6523D4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4">
            <a:extLst>
              <a:ext uri="{FF2B5EF4-FFF2-40B4-BE49-F238E27FC236}">
                <a16:creationId xmlns:a16="http://schemas.microsoft.com/office/drawing/2014/main" id="{3E4B3797-633B-A6BE-D2F3-160D42402F38}"/>
              </a:ext>
            </a:extLst>
          </p:cNvPr>
          <p:cNvGrpSpPr/>
          <p:nvPr/>
        </p:nvGrpSpPr>
        <p:grpSpPr>
          <a:xfrm>
            <a:off x="6326564" y="3499342"/>
            <a:ext cx="1415258" cy="2242993"/>
            <a:chOff x="2267743" y="2067694"/>
            <a:chExt cx="1296144" cy="2068083"/>
          </a:xfrm>
          <a:solidFill>
            <a:schemeClr val="accent4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24F0976-38E7-33ED-E479-FE024D7B52C6}"/>
                </a:ext>
              </a:extLst>
            </p:cNvPr>
            <p:cNvSpPr/>
            <p:nvPr/>
          </p:nvSpPr>
          <p:spPr>
            <a:xfrm>
              <a:off x="2267743" y="2067694"/>
              <a:ext cx="1296144" cy="1512168"/>
            </a:xfrm>
            <a:custGeom>
              <a:avLst/>
              <a:gdLst/>
              <a:ahLst/>
              <a:cxnLst/>
              <a:rect l="l" t="t" r="r" b="b"/>
              <a:pathLst>
                <a:path w="1296144" h="1512168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789887"/>
                    <a:pt x="1250593" y="921063"/>
                    <a:pt x="1171961" y="1026780"/>
                  </a:cubicBezTo>
                  <a:lnTo>
                    <a:pt x="1173960" y="1026780"/>
                  </a:lnTo>
                  <a:cubicBezTo>
                    <a:pt x="1071256" y="1150055"/>
                    <a:pt x="991158" y="1317624"/>
                    <a:pt x="945903" y="1512168"/>
                  </a:cubicBezTo>
                  <a:lnTo>
                    <a:pt x="350240" y="1512168"/>
                  </a:lnTo>
                  <a:cubicBezTo>
                    <a:pt x="304986" y="1317624"/>
                    <a:pt x="224888" y="1150055"/>
                    <a:pt x="122183" y="1026780"/>
                  </a:cubicBezTo>
                  <a:lnTo>
                    <a:pt x="124183" y="1026780"/>
                  </a:lnTo>
                  <a:cubicBezTo>
                    <a:pt x="45551" y="921063"/>
                    <a:pt x="0" y="789887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glow rad="495300">
                <a:schemeClr val="accent4">
                  <a:alpha val="28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/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839EF063-86FB-5070-5938-9C95014D6A69}"/>
                </a:ext>
              </a:extLst>
            </p:cNvPr>
            <p:cNvGrpSpPr/>
            <p:nvPr/>
          </p:nvGrpSpPr>
          <p:grpSpPr>
            <a:xfrm>
              <a:off x="2591815" y="3645376"/>
              <a:ext cx="648000" cy="490401"/>
              <a:chOff x="2591815" y="3645376"/>
              <a:chExt cx="648000" cy="490401"/>
            </a:xfrm>
            <a:grpFill/>
          </p:grpSpPr>
          <p:sp>
            <p:nvSpPr>
              <p:cNvPr id="6" name="Rounded Rectangle 10">
                <a:extLst>
                  <a:ext uri="{FF2B5EF4-FFF2-40B4-BE49-F238E27FC236}">
                    <a16:creationId xmlns:a16="http://schemas.microsoft.com/office/drawing/2014/main" id="{509F71A5-ADB6-7239-D7FF-85AE432D597A}"/>
                  </a:ext>
                </a:extLst>
              </p:cNvPr>
              <p:cNvSpPr/>
              <p:nvPr/>
            </p:nvSpPr>
            <p:spPr>
              <a:xfrm>
                <a:off x="2591815" y="3645376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7" name="Rounded Rectangle 34">
                <a:extLst>
                  <a:ext uri="{FF2B5EF4-FFF2-40B4-BE49-F238E27FC236}">
                    <a16:creationId xmlns:a16="http://schemas.microsoft.com/office/drawing/2014/main" id="{27BE588E-C14F-A259-9622-0122DA6B78AE}"/>
                  </a:ext>
                </a:extLst>
              </p:cNvPr>
              <p:cNvSpPr/>
              <p:nvPr/>
            </p:nvSpPr>
            <p:spPr>
              <a:xfrm>
                <a:off x="2591815" y="3841787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8" name="Oval 11">
                <a:extLst>
                  <a:ext uri="{FF2B5EF4-FFF2-40B4-BE49-F238E27FC236}">
                    <a16:creationId xmlns:a16="http://schemas.microsoft.com/office/drawing/2014/main" id="{E6E0E944-C511-4D5E-D3C9-CAE06AD4FA94}"/>
                  </a:ext>
                </a:extLst>
              </p:cNvPr>
              <p:cNvSpPr/>
              <p:nvPr/>
            </p:nvSpPr>
            <p:spPr>
              <a:xfrm>
                <a:off x="2651523" y="4038198"/>
                <a:ext cx="528585" cy="97579"/>
              </a:xfrm>
              <a:custGeom>
                <a:avLst/>
                <a:gdLst/>
                <a:ahLst/>
                <a:cxnLst/>
                <a:rect l="l" t="t" r="r" b="b"/>
                <a:pathLst>
                  <a:path w="780137" h="144016">
                    <a:moveTo>
                      <a:pt x="0" y="0"/>
                    </a:moveTo>
                    <a:lnTo>
                      <a:pt x="780137" y="0"/>
                    </a:lnTo>
                    <a:cubicBezTo>
                      <a:pt x="675766" y="90723"/>
                      <a:pt x="539141" y="144016"/>
                      <a:pt x="390068" y="144016"/>
                    </a:cubicBezTo>
                    <a:cubicBezTo>
                      <a:pt x="240996" y="144016"/>
                      <a:pt x="104371" y="9072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</p:grpSp>
      </p:grpSp>
      <p:sp>
        <p:nvSpPr>
          <p:cNvPr id="9" name="Hexagon 15">
            <a:extLst>
              <a:ext uri="{FF2B5EF4-FFF2-40B4-BE49-F238E27FC236}">
                <a16:creationId xmlns:a16="http://schemas.microsoft.com/office/drawing/2014/main" id="{2D0E8C45-6F3E-D41D-7AE2-A9C28A00A58A}"/>
              </a:ext>
            </a:extLst>
          </p:cNvPr>
          <p:cNvSpPr/>
          <p:nvPr/>
        </p:nvSpPr>
        <p:spPr>
          <a:xfrm>
            <a:off x="8421391" y="2338145"/>
            <a:ext cx="798713" cy="798713"/>
          </a:xfrm>
          <a:prstGeom prst="ellipse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1" name="Hexagon 62">
            <a:extLst>
              <a:ext uri="{FF2B5EF4-FFF2-40B4-BE49-F238E27FC236}">
                <a16:creationId xmlns:a16="http://schemas.microsoft.com/office/drawing/2014/main" id="{13BB0B34-7067-82DE-E586-7F8031A2C282}"/>
              </a:ext>
            </a:extLst>
          </p:cNvPr>
          <p:cNvSpPr/>
          <p:nvPr/>
        </p:nvSpPr>
        <p:spPr>
          <a:xfrm>
            <a:off x="4847947" y="6590664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sp>
        <p:nvSpPr>
          <p:cNvPr id="12" name="Hexagon 64">
            <a:extLst>
              <a:ext uri="{FF2B5EF4-FFF2-40B4-BE49-F238E27FC236}">
                <a16:creationId xmlns:a16="http://schemas.microsoft.com/office/drawing/2014/main" id="{FD85B224-9794-A763-893D-A5C5CD454323}"/>
              </a:ext>
            </a:extLst>
          </p:cNvPr>
          <p:cNvSpPr/>
          <p:nvPr/>
        </p:nvSpPr>
        <p:spPr>
          <a:xfrm flipH="1">
            <a:off x="5239791" y="2336412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Hexagon 65">
            <a:extLst>
              <a:ext uri="{FF2B5EF4-FFF2-40B4-BE49-F238E27FC236}">
                <a16:creationId xmlns:a16="http://schemas.microsoft.com/office/drawing/2014/main" id="{19EB4DC8-E76B-E4EB-FCB2-A0F979CA4B75}"/>
              </a:ext>
            </a:extLst>
          </p:cNvPr>
          <p:cNvSpPr/>
          <p:nvPr/>
        </p:nvSpPr>
        <p:spPr>
          <a:xfrm flipH="1">
            <a:off x="5195365" y="4694699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grpSp>
        <p:nvGrpSpPr>
          <p:cNvPr id="22" name="Group 45">
            <a:extLst>
              <a:ext uri="{FF2B5EF4-FFF2-40B4-BE49-F238E27FC236}">
                <a16:creationId xmlns:a16="http://schemas.microsoft.com/office/drawing/2014/main" id="{3F613992-1320-6D79-F45D-EC9B321AE07A}"/>
              </a:ext>
            </a:extLst>
          </p:cNvPr>
          <p:cNvGrpSpPr/>
          <p:nvPr/>
        </p:nvGrpSpPr>
        <p:grpSpPr>
          <a:xfrm>
            <a:off x="5914391" y="6312651"/>
            <a:ext cx="4511001" cy="1348387"/>
            <a:chOff x="6485792" y="1342900"/>
            <a:chExt cx="1923961" cy="155061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B10F4C-A1F5-B79E-3FD1-DAEE57D65678}"/>
                </a:ext>
              </a:extLst>
            </p:cNvPr>
            <p:cNvSpPr txBox="1"/>
            <p:nvPr/>
          </p:nvSpPr>
          <p:spPr>
            <a:xfrm>
              <a:off x="6485792" y="1796313"/>
              <a:ext cx="1923961" cy="109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主動輸出原理：基於輸出假說，促進詞彙內化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即時回饋原理：形成性評估理論，立即修正指導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雙語支持原理：認知負荷理論，母語減輕學習壓力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漸進挑戰原理：支架式教學，逐步提升難度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AD6A35-9CFB-317A-1EF9-83A47277A3F3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設計原理 </a:t>
              </a:r>
              <a:endParaRPr lang="ko-KR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06B03F6-2614-8800-4895-21799AED4452}"/>
              </a:ext>
            </a:extLst>
          </p:cNvPr>
          <p:cNvSpPr txBox="1"/>
          <p:nvPr/>
        </p:nvSpPr>
        <p:spPr>
          <a:xfrm>
            <a:off x="1400970" y="1578340"/>
            <a:ext cx="3645610" cy="36933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核心架構 </a:t>
            </a:r>
            <a:endParaRPr lang="ko-KR" altLang="en-US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8" name="Group 51">
            <a:extLst>
              <a:ext uri="{FF2B5EF4-FFF2-40B4-BE49-F238E27FC236}">
                <a16:creationId xmlns:a16="http://schemas.microsoft.com/office/drawing/2014/main" id="{ACD4DC52-DF7E-0303-4DE7-CC412AFE35D4}"/>
              </a:ext>
            </a:extLst>
          </p:cNvPr>
          <p:cNvGrpSpPr/>
          <p:nvPr/>
        </p:nvGrpSpPr>
        <p:grpSpPr>
          <a:xfrm>
            <a:off x="739477" y="4269670"/>
            <a:ext cx="4027818" cy="1621292"/>
            <a:chOff x="6485792" y="1342900"/>
            <a:chExt cx="1923961" cy="186445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2FDD1A-A16A-F3D1-854C-9702BF92B9B2}"/>
                </a:ext>
              </a:extLst>
            </p:cNvPr>
            <p:cNvSpPr txBox="1"/>
            <p:nvPr/>
          </p:nvSpPr>
          <p:spPr>
            <a:xfrm>
              <a:off x="6485792" y="1862392"/>
              <a:ext cx="1923961" cy="134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詞彙定義模式：英中雙語定義，確保理解準確性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範例回饋分離：英文範例句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中文詳細回饋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文化適應考量：注重文化差異與表達習慣，增強實用性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F6B4B50-2D30-0C81-B5C2-3EC8812994B8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3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雙語教學策略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33C8D965-AFE0-DAEF-2784-35D68FF00F44}"/>
              </a:ext>
            </a:extLst>
          </p:cNvPr>
          <p:cNvGrpSpPr/>
          <p:nvPr/>
        </p:nvGrpSpPr>
        <p:grpSpPr>
          <a:xfrm>
            <a:off x="9383289" y="1880458"/>
            <a:ext cx="5018511" cy="1256400"/>
            <a:chOff x="6485792" y="1342900"/>
            <a:chExt cx="1923961" cy="14448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16782BD-BE50-1477-970E-4FD41A894428}"/>
                </a:ext>
              </a:extLst>
            </p:cNvPr>
            <p:cNvSpPr txBox="1"/>
            <p:nvPr/>
          </p:nvSpPr>
          <p:spPr>
            <a:xfrm>
              <a:off x="6485792" y="1938285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初級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(A1-A2)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：基礎詞彙，簡單句型示例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中級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(B1-B2)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：中等詞彙難度，多樣化句型，詳細語法分析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高級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(C1-C2)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：學術專業詞彙，複雜句型，多維評估機制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3F7A15-B318-D64F-CA4C-9369C16CEF2E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難度調整機制</a:t>
              </a:r>
              <a:endParaRPr lang="ko-KR" altLang="en-US" b="1" dirty="0">
                <a:solidFill>
                  <a:schemeClr val="accent3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4" name="Parallelogram 15">
            <a:extLst>
              <a:ext uri="{FF2B5EF4-FFF2-40B4-BE49-F238E27FC236}">
                <a16:creationId xmlns:a16="http://schemas.microsoft.com/office/drawing/2014/main" id="{7B88065C-2C91-992A-5E52-F9446AD9C017}"/>
              </a:ext>
            </a:extLst>
          </p:cNvPr>
          <p:cNvSpPr/>
          <p:nvPr/>
        </p:nvSpPr>
        <p:spPr>
          <a:xfrm flipH="1">
            <a:off x="5437133" y="4966767"/>
            <a:ext cx="314585" cy="31458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45092328-4DAD-A18C-0909-626F2A8BCEBE}"/>
              </a:ext>
            </a:extLst>
          </p:cNvPr>
          <p:cNvSpPr/>
          <p:nvPr/>
        </p:nvSpPr>
        <p:spPr>
          <a:xfrm>
            <a:off x="9349915" y="4419892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6" name="Rounded Rectangle 32">
            <a:extLst>
              <a:ext uri="{FF2B5EF4-FFF2-40B4-BE49-F238E27FC236}">
                <a16:creationId xmlns:a16="http://schemas.microsoft.com/office/drawing/2014/main" id="{CC15E7E0-4452-3A75-3D66-BC72C7C86F03}"/>
              </a:ext>
            </a:extLst>
          </p:cNvPr>
          <p:cNvSpPr/>
          <p:nvPr/>
        </p:nvSpPr>
        <p:spPr>
          <a:xfrm>
            <a:off x="5511426" y="2614064"/>
            <a:ext cx="280559" cy="28055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7" name="Frame 17">
            <a:extLst>
              <a:ext uri="{FF2B5EF4-FFF2-40B4-BE49-F238E27FC236}">
                <a16:creationId xmlns:a16="http://schemas.microsoft.com/office/drawing/2014/main" id="{0F6C2436-EF5C-6DF6-BF1E-AAA909FEFBF0}"/>
              </a:ext>
            </a:extLst>
          </p:cNvPr>
          <p:cNvSpPr/>
          <p:nvPr/>
        </p:nvSpPr>
        <p:spPr>
          <a:xfrm>
            <a:off x="5099098" y="6851447"/>
            <a:ext cx="298902" cy="29890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8" name="Donut 39">
            <a:extLst>
              <a:ext uri="{FF2B5EF4-FFF2-40B4-BE49-F238E27FC236}">
                <a16:creationId xmlns:a16="http://schemas.microsoft.com/office/drawing/2014/main" id="{E45CCC5F-3FDF-F7E9-559C-6972056EF4AD}"/>
              </a:ext>
            </a:extLst>
          </p:cNvPr>
          <p:cNvSpPr/>
          <p:nvPr/>
        </p:nvSpPr>
        <p:spPr>
          <a:xfrm>
            <a:off x="8638526" y="2573629"/>
            <a:ext cx="351426" cy="35142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9" name="Chord 15">
            <a:extLst>
              <a:ext uri="{FF2B5EF4-FFF2-40B4-BE49-F238E27FC236}">
                <a16:creationId xmlns:a16="http://schemas.microsoft.com/office/drawing/2014/main" id="{E4189D2E-F42D-8646-6E1B-DE0CFD8533D0}"/>
              </a:ext>
            </a:extLst>
          </p:cNvPr>
          <p:cNvSpPr/>
          <p:nvPr/>
        </p:nvSpPr>
        <p:spPr>
          <a:xfrm>
            <a:off x="5564513" y="6166636"/>
            <a:ext cx="173156" cy="37752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4B7258AC-020A-E312-DF8C-4EA054EA73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643" y="320505"/>
            <a:ext cx="5714438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DA0F3395-51E3-431C-51B2-A73DE1650FD4}"/>
              </a:ext>
            </a:extLst>
          </p:cNvPr>
          <p:cNvSpPr txBox="1"/>
          <p:nvPr/>
        </p:nvSpPr>
        <p:spPr>
          <a:xfrm>
            <a:off x="1400969" y="2006831"/>
            <a:ext cx="384614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角色定位：「有耐心的英語教師」，建立支持性學習關係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學習流程：單字介紹 → 學生造句 → 教師回饋雙語策略：英文定義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中文解釋，範例回饋分離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評估機制：多維評估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建設性回饋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鼓勵性語言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" name="Hexagon 61">
            <a:extLst>
              <a:ext uri="{FF2B5EF4-FFF2-40B4-BE49-F238E27FC236}">
                <a16:creationId xmlns:a16="http://schemas.microsoft.com/office/drawing/2014/main" id="{54B2E2CA-B2C2-FC4C-8AD0-2F7C9B735414}"/>
              </a:ext>
            </a:extLst>
          </p:cNvPr>
          <p:cNvSpPr/>
          <p:nvPr/>
        </p:nvSpPr>
        <p:spPr>
          <a:xfrm>
            <a:off x="8169892" y="4089093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grpSp>
        <p:nvGrpSpPr>
          <p:cNvPr id="16" name="Group 42">
            <a:extLst>
              <a:ext uri="{FF2B5EF4-FFF2-40B4-BE49-F238E27FC236}">
                <a16:creationId xmlns:a16="http://schemas.microsoft.com/office/drawing/2014/main" id="{24C97FE7-1684-7630-4D37-E547D6117E0E}"/>
              </a:ext>
            </a:extLst>
          </p:cNvPr>
          <p:cNvGrpSpPr/>
          <p:nvPr/>
        </p:nvGrpSpPr>
        <p:grpSpPr>
          <a:xfrm>
            <a:off x="9220104" y="4036245"/>
            <a:ext cx="4171570" cy="1727861"/>
            <a:chOff x="6485792" y="1342900"/>
            <a:chExt cx="1923961" cy="1987001"/>
          </a:xfrm>
        </p:grpSpPr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0407FEA3-F98C-D3DE-CC2A-296BA4BC37CE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1635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維評估體系：詞彙準確性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句法正確性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表達自然度全面評價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建設性回饋策略：保護學習信心，採用鼓勵支持性語言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預設詞庫備份：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API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失敗時仍可提供基本學習內容，確保連續性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D98D63AF-A7CB-4496-8F73-6D08D9CA5AD6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回饋機制設計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5" name="Rectangle 30">
            <a:extLst>
              <a:ext uri="{FF2B5EF4-FFF2-40B4-BE49-F238E27FC236}">
                <a16:creationId xmlns:a16="http://schemas.microsoft.com/office/drawing/2014/main" id="{EBB206FD-1E76-47C8-AC40-35507308FC77}"/>
              </a:ext>
            </a:extLst>
          </p:cNvPr>
          <p:cNvSpPr/>
          <p:nvPr/>
        </p:nvSpPr>
        <p:spPr>
          <a:xfrm>
            <a:off x="8437760" y="4359428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</p:spTree>
    <p:extLst>
      <p:ext uri="{BB962C8B-B14F-4D97-AF65-F5344CB8AC3E}">
        <p14:creationId xmlns:p14="http://schemas.microsoft.com/office/powerpoint/2010/main" val="52827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CBA1-87B8-A8C3-D264-CD5F8D4A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4">
            <a:extLst>
              <a:ext uri="{FF2B5EF4-FFF2-40B4-BE49-F238E27FC236}">
                <a16:creationId xmlns:a16="http://schemas.microsoft.com/office/drawing/2014/main" id="{CC3EC515-1089-74C1-BF7B-C379F0D1D935}"/>
              </a:ext>
            </a:extLst>
          </p:cNvPr>
          <p:cNvGrpSpPr/>
          <p:nvPr/>
        </p:nvGrpSpPr>
        <p:grpSpPr>
          <a:xfrm>
            <a:off x="6326564" y="3499342"/>
            <a:ext cx="1415258" cy="2242993"/>
            <a:chOff x="2267743" y="2067694"/>
            <a:chExt cx="1296144" cy="2068083"/>
          </a:xfrm>
          <a:solidFill>
            <a:schemeClr val="accent4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7CFB209-B290-CE41-58BF-FC489BA0BDD1}"/>
                </a:ext>
              </a:extLst>
            </p:cNvPr>
            <p:cNvSpPr/>
            <p:nvPr/>
          </p:nvSpPr>
          <p:spPr>
            <a:xfrm>
              <a:off x="2267743" y="2067694"/>
              <a:ext cx="1296144" cy="1512168"/>
            </a:xfrm>
            <a:custGeom>
              <a:avLst/>
              <a:gdLst/>
              <a:ahLst/>
              <a:cxnLst/>
              <a:rect l="l" t="t" r="r" b="b"/>
              <a:pathLst>
                <a:path w="1296144" h="1512168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789887"/>
                    <a:pt x="1250593" y="921063"/>
                    <a:pt x="1171961" y="1026780"/>
                  </a:cubicBezTo>
                  <a:lnTo>
                    <a:pt x="1173960" y="1026780"/>
                  </a:lnTo>
                  <a:cubicBezTo>
                    <a:pt x="1071256" y="1150055"/>
                    <a:pt x="991158" y="1317624"/>
                    <a:pt x="945903" y="1512168"/>
                  </a:cubicBezTo>
                  <a:lnTo>
                    <a:pt x="350240" y="1512168"/>
                  </a:lnTo>
                  <a:cubicBezTo>
                    <a:pt x="304986" y="1317624"/>
                    <a:pt x="224888" y="1150055"/>
                    <a:pt x="122183" y="1026780"/>
                  </a:cubicBezTo>
                  <a:lnTo>
                    <a:pt x="124183" y="1026780"/>
                  </a:lnTo>
                  <a:cubicBezTo>
                    <a:pt x="45551" y="921063"/>
                    <a:pt x="0" y="789887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glow rad="495300">
                <a:schemeClr val="accent4">
                  <a:alpha val="28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/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9F277EDF-5689-D17A-EC99-93A8B23A85F7}"/>
                </a:ext>
              </a:extLst>
            </p:cNvPr>
            <p:cNvGrpSpPr/>
            <p:nvPr/>
          </p:nvGrpSpPr>
          <p:grpSpPr>
            <a:xfrm>
              <a:off x="2591815" y="3645376"/>
              <a:ext cx="648000" cy="490401"/>
              <a:chOff x="2591815" y="3645376"/>
              <a:chExt cx="648000" cy="490401"/>
            </a:xfrm>
            <a:grpFill/>
          </p:grpSpPr>
          <p:sp>
            <p:nvSpPr>
              <p:cNvPr id="6" name="Rounded Rectangle 10">
                <a:extLst>
                  <a:ext uri="{FF2B5EF4-FFF2-40B4-BE49-F238E27FC236}">
                    <a16:creationId xmlns:a16="http://schemas.microsoft.com/office/drawing/2014/main" id="{66BE54F8-186B-ABA5-D9D2-23B1FF300B50}"/>
                  </a:ext>
                </a:extLst>
              </p:cNvPr>
              <p:cNvSpPr/>
              <p:nvPr/>
            </p:nvSpPr>
            <p:spPr>
              <a:xfrm>
                <a:off x="2591815" y="3645376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7" name="Rounded Rectangle 34">
                <a:extLst>
                  <a:ext uri="{FF2B5EF4-FFF2-40B4-BE49-F238E27FC236}">
                    <a16:creationId xmlns:a16="http://schemas.microsoft.com/office/drawing/2014/main" id="{55B8A4EF-ECAC-371D-7590-D76A32B20621}"/>
                  </a:ext>
                </a:extLst>
              </p:cNvPr>
              <p:cNvSpPr/>
              <p:nvPr/>
            </p:nvSpPr>
            <p:spPr>
              <a:xfrm>
                <a:off x="2591815" y="3841787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8" name="Oval 11">
                <a:extLst>
                  <a:ext uri="{FF2B5EF4-FFF2-40B4-BE49-F238E27FC236}">
                    <a16:creationId xmlns:a16="http://schemas.microsoft.com/office/drawing/2014/main" id="{185754D4-5BE9-B894-DC38-442AF8EF7C53}"/>
                  </a:ext>
                </a:extLst>
              </p:cNvPr>
              <p:cNvSpPr/>
              <p:nvPr/>
            </p:nvSpPr>
            <p:spPr>
              <a:xfrm>
                <a:off x="2651523" y="4038198"/>
                <a:ext cx="528585" cy="97579"/>
              </a:xfrm>
              <a:custGeom>
                <a:avLst/>
                <a:gdLst/>
                <a:ahLst/>
                <a:cxnLst/>
                <a:rect l="l" t="t" r="r" b="b"/>
                <a:pathLst>
                  <a:path w="780137" h="144016">
                    <a:moveTo>
                      <a:pt x="0" y="0"/>
                    </a:moveTo>
                    <a:lnTo>
                      <a:pt x="780137" y="0"/>
                    </a:lnTo>
                    <a:cubicBezTo>
                      <a:pt x="675766" y="90723"/>
                      <a:pt x="539141" y="144016"/>
                      <a:pt x="390068" y="144016"/>
                    </a:cubicBezTo>
                    <a:cubicBezTo>
                      <a:pt x="240996" y="144016"/>
                      <a:pt x="104371" y="9072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</p:grpSp>
      </p:grpSp>
      <p:sp>
        <p:nvSpPr>
          <p:cNvPr id="9" name="Hexagon 15">
            <a:extLst>
              <a:ext uri="{FF2B5EF4-FFF2-40B4-BE49-F238E27FC236}">
                <a16:creationId xmlns:a16="http://schemas.microsoft.com/office/drawing/2014/main" id="{5A10D985-7C78-349E-61DB-7A3EF625097A}"/>
              </a:ext>
            </a:extLst>
          </p:cNvPr>
          <p:cNvSpPr/>
          <p:nvPr/>
        </p:nvSpPr>
        <p:spPr>
          <a:xfrm>
            <a:off x="8421391" y="2338145"/>
            <a:ext cx="798713" cy="798713"/>
          </a:xfrm>
          <a:prstGeom prst="ellipse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1" name="Hexagon 62">
            <a:extLst>
              <a:ext uri="{FF2B5EF4-FFF2-40B4-BE49-F238E27FC236}">
                <a16:creationId xmlns:a16="http://schemas.microsoft.com/office/drawing/2014/main" id="{875117F9-9B2F-F2D6-D922-EC7620C20E2C}"/>
              </a:ext>
            </a:extLst>
          </p:cNvPr>
          <p:cNvSpPr/>
          <p:nvPr/>
        </p:nvSpPr>
        <p:spPr>
          <a:xfrm>
            <a:off x="6962714" y="6230855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sp>
        <p:nvSpPr>
          <p:cNvPr id="12" name="Hexagon 64">
            <a:extLst>
              <a:ext uri="{FF2B5EF4-FFF2-40B4-BE49-F238E27FC236}">
                <a16:creationId xmlns:a16="http://schemas.microsoft.com/office/drawing/2014/main" id="{0AE86F10-DAB0-BBD3-3C42-39CE84CF9DC4}"/>
              </a:ext>
            </a:extLst>
          </p:cNvPr>
          <p:cNvSpPr/>
          <p:nvPr/>
        </p:nvSpPr>
        <p:spPr>
          <a:xfrm flipH="1">
            <a:off x="5239791" y="2336412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Hexagon 65">
            <a:extLst>
              <a:ext uri="{FF2B5EF4-FFF2-40B4-BE49-F238E27FC236}">
                <a16:creationId xmlns:a16="http://schemas.microsoft.com/office/drawing/2014/main" id="{02074996-914F-2606-FF47-297865563EF3}"/>
              </a:ext>
            </a:extLst>
          </p:cNvPr>
          <p:cNvSpPr/>
          <p:nvPr/>
        </p:nvSpPr>
        <p:spPr>
          <a:xfrm flipH="1">
            <a:off x="5109867" y="5024124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grpSp>
        <p:nvGrpSpPr>
          <p:cNvPr id="22" name="Group 45">
            <a:extLst>
              <a:ext uri="{FF2B5EF4-FFF2-40B4-BE49-F238E27FC236}">
                <a16:creationId xmlns:a16="http://schemas.microsoft.com/office/drawing/2014/main" id="{C193345F-4CF2-1A1F-76C8-F030418FD1A8}"/>
              </a:ext>
            </a:extLst>
          </p:cNvPr>
          <p:cNvGrpSpPr/>
          <p:nvPr/>
        </p:nvGrpSpPr>
        <p:grpSpPr>
          <a:xfrm>
            <a:off x="8029158" y="5878020"/>
            <a:ext cx="4511001" cy="1348387"/>
            <a:chOff x="6485792" y="1342900"/>
            <a:chExt cx="1923961" cy="155061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BB5FDE-A2F3-41FA-6ABD-F2332BCEB80E}"/>
                </a:ext>
              </a:extLst>
            </p:cNvPr>
            <p:cNvSpPr txBox="1"/>
            <p:nvPr/>
          </p:nvSpPr>
          <p:spPr>
            <a:xfrm>
              <a:off x="6485792" y="1796313"/>
              <a:ext cx="1923961" cy="109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模仿學習原理：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shadowing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技術培養發音語調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實用性優先原理：任務型教學法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漸進挑戰原理：支架式教學逐步增加難度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功能導向原理：交際教學法，語言作為交流工具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3D7F11-178A-D78A-463C-B0FCC4355624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設計原理 </a:t>
              </a:r>
              <a:endParaRPr lang="ko-KR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0E0CDFA-2D4B-6150-3642-4A81183213F8}"/>
              </a:ext>
            </a:extLst>
          </p:cNvPr>
          <p:cNvSpPr txBox="1"/>
          <p:nvPr/>
        </p:nvSpPr>
        <p:spPr>
          <a:xfrm>
            <a:off x="1400970" y="1578340"/>
            <a:ext cx="3645610" cy="36933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核心架構 </a:t>
            </a:r>
            <a:endParaRPr lang="ko-KR" altLang="en-US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8" name="Group 51">
            <a:extLst>
              <a:ext uri="{FF2B5EF4-FFF2-40B4-BE49-F238E27FC236}">
                <a16:creationId xmlns:a16="http://schemas.microsoft.com/office/drawing/2014/main" id="{9568B234-01EF-BD5E-5DA4-E31EFC58C30E}"/>
              </a:ext>
            </a:extLst>
          </p:cNvPr>
          <p:cNvGrpSpPr/>
          <p:nvPr/>
        </p:nvGrpSpPr>
        <p:grpSpPr>
          <a:xfrm>
            <a:off x="580955" y="5040411"/>
            <a:ext cx="4027818" cy="1190405"/>
            <a:chOff x="6485792" y="1342900"/>
            <a:chExt cx="1923961" cy="136893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856CCA8-C002-8571-5DDD-C364B1EDD591}"/>
                </a:ext>
              </a:extLst>
            </p:cNvPr>
            <p:cNvSpPr txBox="1"/>
            <p:nvPr/>
          </p:nvSpPr>
          <p:spPr>
            <a:xfrm>
              <a:off x="6485792" y="1862392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五大生活場景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視覺化輔助：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emoji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圖標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簡明描述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功能性分類：每主題強調特定語言功能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38ABCE-E698-0A7C-EB21-4C7B031000B6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3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主題分類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7B0FEA71-7C14-CB3B-557D-8D884A749577}"/>
              </a:ext>
            </a:extLst>
          </p:cNvPr>
          <p:cNvGrpSpPr/>
          <p:nvPr/>
        </p:nvGrpSpPr>
        <p:grpSpPr>
          <a:xfrm>
            <a:off x="9383289" y="1880458"/>
            <a:ext cx="5018511" cy="1256400"/>
            <a:chOff x="6485792" y="1342900"/>
            <a:chExt cx="1923961" cy="14448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3B284D-33FC-47D7-CBCF-9A4CC0BB0BF2}"/>
                </a:ext>
              </a:extLst>
            </p:cNvPr>
            <p:cNvSpPr txBox="1"/>
            <p:nvPr/>
          </p:nvSpPr>
          <p:spPr>
            <a:xfrm>
              <a:off x="6485792" y="1938285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CEFR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標準分級：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A1-A2 → B1-B2 → C1-C2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語言複雜度調整：簡單表達 → 中等句型 → 複雜論述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語用功能深化：調整交際能力複雜性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E09D53-A685-2145-E22E-62ADDEAA6AF7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難度調整機制</a:t>
              </a:r>
              <a:endParaRPr lang="ko-KR" altLang="en-US" b="1" dirty="0">
                <a:solidFill>
                  <a:schemeClr val="accent3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4" name="Parallelogram 15">
            <a:extLst>
              <a:ext uri="{FF2B5EF4-FFF2-40B4-BE49-F238E27FC236}">
                <a16:creationId xmlns:a16="http://schemas.microsoft.com/office/drawing/2014/main" id="{1A640AF3-9BDB-9B81-2111-BC7ED53E11F1}"/>
              </a:ext>
            </a:extLst>
          </p:cNvPr>
          <p:cNvSpPr/>
          <p:nvPr/>
        </p:nvSpPr>
        <p:spPr>
          <a:xfrm flipH="1">
            <a:off x="5351635" y="5296192"/>
            <a:ext cx="314585" cy="31458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6F868D57-7E31-8238-C591-C7A0D7806BCD}"/>
              </a:ext>
            </a:extLst>
          </p:cNvPr>
          <p:cNvSpPr/>
          <p:nvPr/>
        </p:nvSpPr>
        <p:spPr>
          <a:xfrm>
            <a:off x="9349915" y="4419892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6" name="Rounded Rectangle 32">
            <a:extLst>
              <a:ext uri="{FF2B5EF4-FFF2-40B4-BE49-F238E27FC236}">
                <a16:creationId xmlns:a16="http://schemas.microsoft.com/office/drawing/2014/main" id="{2C90A00F-AF50-5C3E-2E1C-63FA5C59F98B}"/>
              </a:ext>
            </a:extLst>
          </p:cNvPr>
          <p:cNvSpPr/>
          <p:nvPr/>
        </p:nvSpPr>
        <p:spPr>
          <a:xfrm>
            <a:off x="5511426" y="2614064"/>
            <a:ext cx="280559" cy="28055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7" name="Frame 17">
            <a:extLst>
              <a:ext uri="{FF2B5EF4-FFF2-40B4-BE49-F238E27FC236}">
                <a16:creationId xmlns:a16="http://schemas.microsoft.com/office/drawing/2014/main" id="{E6147BA4-DFA7-8B9F-0F97-C36C22AC8358}"/>
              </a:ext>
            </a:extLst>
          </p:cNvPr>
          <p:cNvSpPr/>
          <p:nvPr/>
        </p:nvSpPr>
        <p:spPr>
          <a:xfrm>
            <a:off x="7213865" y="6491638"/>
            <a:ext cx="298902" cy="29890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8" name="Donut 39">
            <a:extLst>
              <a:ext uri="{FF2B5EF4-FFF2-40B4-BE49-F238E27FC236}">
                <a16:creationId xmlns:a16="http://schemas.microsoft.com/office/drawing/2014/main" id="{49751553-E830-2623-919F-F792A87E588A}"/>
              </a:ext>
            </a:extLst>
          </p:cNvPr>
          <p:cNvSpPr/>
          <p:nvPr/>
        </p:nvSpPr>
        <p:spPr>
          <a:xfrm>
            <a:off x="8638526" y="2573629"/>
            <a:ext cx="351426" cy="35142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9" name="Chord 15">
            <a:extLst>
              <a:ext uri="{FF2B5EF4-FFF2-40B4-BE49-F238E27FC236}">
                <a16:creationId xmlns:a16="http://schemas.microsoft.com/office/drawing/2014/main" id="{8DE7A311-7A46-EA22-3CA7-AE384EB246C8}"/>
              </a:ext>
            </a:extLst>
          </p:cNvPr>
          <p:cNvSpPr/>
          <p:nvPr/>
        </p:nvSpPr>
        <p:spPr>
          <a:xfrm>
            <a:off x="5564513" y="6166636"/>
            <a:ext cx="173156" cy="37752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54C5F8FF-7B99-26FA-4F59-6A6DF9E45E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643" y="320505"/>
            <a:ext cx="5714438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456C0441-4BBF-B757-CE8F-34887FB4FAAC}"/>
              </a:ext>
            </a:extLst>
          </p:cNvPr>
          <p:cNvSpPr txBox="1"/>
          <p:nvPr/>
        </p:nvSpPr>
        <p:spPr>
          <a:xfrm>
            <a:off x="1400969" y="2006831"/>
            <a:ext cx="38461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角色定位：英語母語人士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指導原則：簡單句型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緩慢清晰 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實用表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達範例句型：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"What time is it?" / "Can I sit here?“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難度標示：明確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CEFR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語言等級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" name="Hexagon 61">
            <a:extLst>
              <a:ext uri="{FF2B5EF4-FFF2-40B4-BE49-F238E27FC236}">
                <a16:creationId xmlns:a16="http://schemas.microsoft.com/office/drawing/2014/main" id="{6FAE947C-F3D7-38CE-542B-4F5E9477E938}"/>
              </a:ext>
            </a:extLst>
          </p:cNvPr>
          <p:cNvSpPr/>
          <p:nvPr/>
        </p:nvSpPr>
        <p:spPr>
          <a:xfrm>
            <a:off x="8169892" y="4089093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grpSp>
        <p:nvGrpSpPr>
          <p:cNvPr id="16" name="Group 42">
            <a:extLst>
              <a:ext uri="{FF2B5EF4-FFF2-40B4-BE49-F238E27FC236}">
                <a16:creationId xmlns:a16="http://schemas.microsoft.com/office/drawing/2014/main" id="{FE49D50D-B69D-33C7-0A6B-12534C720CAB}"/>
              </a:ext>
            </a:extLst>
          </p:cNvPr>
          <p:cNvGrpSpPr/>
          <p:nvPr/>
        </p:nvGrpSpPr>
        <p:grpSpPr>
          <a:xfrm>
            <a:off x="9220104" y="4036245"/>
            <a:ext cx="4171570" cy="1044597"/>
            <a:chOff x="6485792" y="1342900"/>
            <a:chExt cx="1923961" cy="1201263"/>
          </a:xfrm>
        </p:grpSpPr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53339A38-8C27-0B3C-19D7-E40519C0CF9D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真實場景復現：模擬實際交流表達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交流目的導向：涵蓋請求、建議、詢問等功能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文化適切性：符合目標語言文化習慣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36F52765-A6E1-6093-C6CB-35E695EA65BB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情境化句型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5" name="Rectangle 30">
            <a:extLst>
              <a:ext uri="{FF2B5EF4-FFF2-40B4-BE49-F238E27FC236}">
                <a16:creationId xmlns:a16="http://schemas.microsoft.com/office/drawing/2014/main" id="{0DEC97AB-E175-9FF9-ED53-E10428CE9C63}"/>
              </a:ext>
            </a:extLst>
          </p:cNvPr>
          <p:cNvSpPr/>
          <p:nvPr/>
        </p:nvSpPr>
        <p:spPr>
          <a:xfrm>
            <a:off x="8437760" y="4359428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</p:spTree>
    <p:extLst>
      <p:ext uri="{BB962C8B-B14F-4D97-AF65-F5344CB8AC3E}">
        <p14:creationId xmlns:p14="http://schemas.microsoft.com/office/powerpoint/2010/main" val="2951673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E5698-EFC2-DAD8-9691-382D37C4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4">
            <a:extLst>
              <a:ext uri="{FF2B5EF4-FFF2-40B4-BE49-F238E27FC236}">
                <a16:creationId xmlns:a16="http://schemas.microsoft.com/office/drawing/2014/main" id="{EC8EC97F-C520-2BB6-D9DB-1CCBD19D8E7B}"/>
              </a:ext>
            </a:extLst>
          </p:cNvPr>
          <p:cNvGrpSpPr/>
          <p:nvPr/>
        </p:nvGrpSpPr>
        <p:grpSpPr>
          <a:xfrm>
            <a:off x="6326564" y="3499342"/>
            <a:ext cx="1415258" cy="2242993"/>
            <a:chOff x="2267743" y="2067694"/>
            <a:chExt cx="1296144" cy="2068083"/>
          </a:xfrm>
          <a:solidFill>
            <a:schemeClr val="accent4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FD125D-E6ED-C8F1-5D11-28F9E17A6389}"/>
                </a:ext>
              </a:extLst>
            </p:cNvPr>
            <p:cNvSpPr/>
            <p:nvPr/>
          </p:nvSpPr>
          <p:spPr>
            <a:xfrm>
              <a:off x="2267743" y="2067694"/>
              <a:ext cx="1296144" cy="1512168"/>
            </a:xfrm>
            <a:custGeom>
              <a:avLst/>
              <a:gdLst/>
              <a:ahLst/>
              <a:cxnLst/>
              <a:rect l="l" t="t" r="r" b="b"/>
              <a:pathLst>
                <a:path w="1296144" h="1512168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789887"/>
                    <a:pt x="1250593" y="921063"/>
                    <a:pt x="1171961" y="1026780"/>
                  </a:cubicBezTo>
                  <a:lnTo>
                    <a:pt x="1173960" y="1026780"/>
                  </a:lnTo>
                  <a:cubicBezTo>
                    <a:pt x="1071256" y="1150055"/>
                    <a:pt x="991158" y="1317624"/>
                    <a:pt x="945903" y="1512168"/>
                  </a:cubicBezTo>
                  <a:lnTo>
                    <a:pt x="350240" y="1512168"/>
                  </a:lnTo>
                  <a:cubicBezTo>
                    <a:pt x="304986" y="1317624"/>
                    <a:pt x="224888" y="1150055"/>
                    <a:pt x="122183" y="1026780"/>
                  </a:cubicBezTo>
                  <a:lnTo>
                    <a:pt x="124183" y="1026780"/>
                  </a:lnTo>
                  <a:cubicBezTo>
                    <a:pt x="45551" y="921063"/>
                    <a:pt x="0" y="789887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glow rad="495300">
                <a:schemeClr val="accent4">
                  <a:alpha val="28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/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3EBAB7AD-729A-53FE-A18A-8AE1663EF85B}"/>
                </a:ext>
              </a:extLst>
            </p:cNvPr>
            <p:cNvGrpSpPr/>
            <p:nvPr/>
          </p:nvGrpSpPr>
          <p:grpSpPr>
            <a:xfrm>
              <a:off x="2591815" y="3645376"/>
              <a:ext cx="648000" cy="490401"/>
              <a:chOff x="2591815" y="3645376"/>
              <a:chExt cx="648000" cy="490401"/>
            </a:xfrm>
            <a:grpFill/>
          </p:grpSpPr>
          <p:sp>
            <p:nvSpPr>
              <p:cNvPr id="6" name="Rounded Rectangle 10">
                <a:extLst>
                  <a:ext uri="{FF2B5EF4-FFF2-40B4-BE49-F238E27FC236}">
                    <a16:creationId xmlns:a16="http://schemas.microsoft.com/office/drawing/2014/main" id="{3E5B8679-0B8C-324D-CE14-B5B230631793}"/>
                  </a:ext>
                </a:extLst>
              </p:cNvPr>
              <p:cNvSpPr/>
              <p:nvPr/>
            </p:nvSpPr>
            <p:spPr>
              <a:xfrm>
                <a:off x="2591815" y="3645376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7" name="Rounded Rectangle 34">
                <a:extLst>
                  <a:ext uri="{FF2B5EF4-FFF2-40B4-BE49-F238E27FC236}">
                    <a16:creationId xmlns:a16="http://schemas.microsoft.com/office/drawing/2014/main" id="{89875D3B-64F0-719D-3908-0B2F2D403197}"/>
                  </a:ext>
                </a:extLst>
              </p:cNvPr>
              <p:cNvSpPr/>
              <p:nvPr/>
            </p:nvSpPr>
            <p:spPr>
              <a:xfrm>
                <a:off x="2591815" y="3841787"/>
                <a:ext cx="648000" cy="14401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  <p:sp>
            <p:nvSpPr>
              <p:cNvPr id="8" name="Oval 11">
                <a:extLst>
                  <a:ext uri="{FF2B5EF4-FFF2-40B4-BE49-F238E27FC236}">
                    <a16:creationId xmlns:a16="http://schemas.microsoft.com/office/drawing/2014/main" id="{6731A42D-3C11-593D-E068-05CAEEE58C0D}"/>
                  </a:ext>
                </a:extLst>
              </p:cNvPr>
              <p:cNvSpPr/>
              <p:nvPr/>
            </p:nvSpPr>
            <p:spPr>
              <a:xfrm>
                <a:off x="2651523" y="4038198"/>
                <a:ext cx="528585" cy="97579"/>
              </a:xfrm>
              <a:custGeom>
                <a:avLst/>
                <a:gdLst/>
                <a:ahLst/>
                <a:cxnLst/>
                <a:rect l="l" t="t" r="r" b="b"/>
                <a:pathLst>
                  <a:path w="780137" h="144016">
                    <a:moveTo>
                      <a:pt x="0" y="0"/>
                    </a:moveTo>
                    <a:lnTo>
                      <a:pt x="780137" y="0"/>
                    </a:lnTo>
                    <a:cubicBezTo>
                      <a:pt x="675766" y="90723"/>
                      <a:pt x="539141" y="144016"/>
                      <a:pt x="390068" y="144016"/>
                    </a:cubicBezTo>
                    <a:cubicBezTo>
                      <a:pt x="240996" y="144016"/>
                      <a:pt x="104371" y="90723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40"/>
              </a:p>
            </p:txBody>
          </p:sp>
        </p:grpSp>
      </p:grpSp>
      <p:sp>
        <p:nvSpPr>
          <p:cNvPr id="9" name="Hexagon 15">
            <a:extLst>
              <a:ext uri="{FF2B5EF4-FFF2-40B4-BE49-F238E27FC236}">
                <a16:creationId xmlns:a16="http://schemas.microsoft.com/office/drawing/2014/main" id="{02AD205D-0243-0C6A-3D40-8EF1B9B764D3}"/>
              </a:ext>
            </a:extLst>
          </p:cNvPr>
          <p:cNvSpPr/>
          <p:nvPr/>
        </p:nvSpPr>
        <p:spPr>
          <a:xfrm>
            <a:off x="8421391" y="2338145"/>
            <a:ext cx="798713" cy="798713"/>
          </a:xfrm>
          <a:prstGeom prst="ellipse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1" name="Hexagon 62">
            <a:extLst>
              <a:ext uri="{FF2B5EF4-FFF2-40B4-BE49-F238E27FC236}">
                <a16:creationId xmlns:a16="http://schemas.microsoft.com/office/drawing/2014/main" id="{FC31C898-B307-6BD6-1901-CAE14D270214}"/>
              </a:ext>
            </a:extLst>
          </p:cNvPr>
          <p:cNvSpPr/>
          <p:nvPr/>
        </p:nvSpPr>
        <p:spPr>
          <a:xfrm>
            <a:off x="5239791" y="6701977"/>
            <a:ext cx="844207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sp>
        <p:nvSpPr>
          <p:cNvPr id="12" name="Hexagon 64">
            <a:extLst>
              <a:ext uri="{FF2B5EF4-FFF2-40B4-BE49-F238E27FC236}">
                <a16:creationId xmlns:a16="http://schemas.microsoft.com/office/drawing/2014/main" id="{FC0B2A32-E117-C6DC-FC9B-DA25B0BEB80E}"/>
              </a:ext>
            </a:extLst>
          </p:cNvPr>
          <p:cNvSpPr/>
          <p:nvPr/>
        </p:nvSpPr>
        <p:spPr>
          <a:xfrm flipH="1">
            <a:off x="5239791" y="2336412"/>
            <a:ext cx="798713" cy="798713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Hexagon 65">
            <a:extLst>
              <a:ext uri="{FF2B5EF4-FFF2-40B4-BE49-F238E27FC236}">
                <a16:creationId xmlns:a16="http://schemas.microsoft.com/office/drawing/2014/main" id="{2F67515D-26D2-849D-809E-217EAE249170}"/>
              </a:ext>
            </a:extLst>
          </p:cNvPr>
          <p:cNvSpPr/>
          <p:nvPr/>
        </p:nvSpPr>
        <p:spPr>
          <a:xfrm flipH="1">
            <a:off x="5099781" y="4756453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/>
          </a:p>
        </p:txBody>
      </p:sp>
      <p:grpSp>
        <p:nvGrpSpPr>
          <p:cNvPr id="22" name="Group 45">
            <a:extLst>
              <a:ext uri="{FF2B5EF4-FFF2-40B4-BE49-F238E27FC236}">
                <a16:creationId xmlns:a16="http://schemas.microsoft.com/office/drawing/2014/main" id="{954A1F30-C844-8D75-320C-D7946A0FBAA4}"/>
              </a:ext>
            </a:extLst>
          </p:cNvPr>
          <p:cNvGrpSpPr/>
          <p:nvPr/>
        </p:nvGrpSpPr>
        <p:grpSpPr>
          <a:xfrm>
            <a:off x="6306235" y="6349142"/>
            <a:ext cx="4767943" cy="1779275"/>
            <a:chOff x="6485792" y="1342900"/>
            <a:chExt cx="1923961" cy="204612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9F46FF-9C50-6717-E86E-1CF98E21CDCE}"/>
                </a:ext>
              </a:extLst>
            </p:cNvPr>
            <p:cNvSpPr txBox="1"/>
            <p:nvPr/>
          </p:nvSpPr>
          <p:spPr>
            <a:xfrm>
              <a:off x="6485792" y="1796313"/>
              <a:ext cx="1923961" cy="159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循序漸進原理：自然順序假說，科學安排難度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直接理解測試原理：聽力理解理論，培養信息提取能力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量身定制回饋原理：形成性評估，提供針對性指導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主題多元化原理：情境學習理論，適應各種交流場景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3A9450-E404-1F7F-3BAD-27C9DF74089B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設計原理 </a:t>
              </a:r>
              <a:endParaRPr lang="ko-KR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6F3F76F-A274-BEDB-D006-CC103B328593}"/>
              </a:ext>
            </a:extLst>
          </p:cNvPr>
          <p:cNvSpPr txBox="1"/>
          <p:nvPr/>
        </p:nvSpPr>
        <p:spPr>
          <a:xfrm>
            <a:off x="1400970" y="1578340"/>
            <a:ext cx="3645610" cy="36933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核心架構 </a:t>
            </a:r>
            <a:endParaRPr lang="ko-KR" altLang="en-US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8" name="Group 51">
            <a:extLst>
              <a:ext uri="{FF2B5EF4-FFF2-40B4-BE49-F238E27FC236}">
                <a16:creationId xmlns:a16="http://schemas.microsoft.com/office/drawing/2014/main" id="{E7ABE98C-9ADB-06CB-E287-96F05048CC69}"/>
              </a:ext>
            </a:extLst>
          </p:cNvPr>
          <p:cNvGrpSpPr/>
          <p:nvPr/>
        </p:nvGrpSpPr>
        <p:grpSpPr>
          <a:xfrm>
            <a:off x="1189883" y="4428921"/>
            <a:ext cx="4027818" cy="1190405"/>
            <a:chOff x="6485792" y="1342900"/>
            <a:chExt cx="1923961" cy="136893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CB6F30-7D23-68BA-643B-009F570ADDA1}"/>
                </a:ext>
              </a:extLst>
            </p:cNvPr>
            <p:cNvSpPr txBox="1"/>
            <p:nvPr/>
          </p:nvSpPr>
          <p:spPr>
            <a:xfrm>
              <a:off x="6485792" y="1862392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八大日常主題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視覺化輔助：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emoji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圖標增強界面友好性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目標明確性：每主題有清晰學習焦點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9EB845-5133-3FFB-2599-F0F8E7D512DE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3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主題分類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44C8F2A4-971B-4B87-496A-073280A371F9}"/>
              </a:ext>
            </a:extLst>
          </p:cNvPr>
          <p:cNvGrpSpPr/>
          <p:nvPr/>
        </p:nvGrpSpPr>
        <p:grpSpPr>
          <a:xfrm>
            <a:off x="9383289" y="1880458"/>
            <a:ext cx="5018511" cy="1256400"/>
            <a:chOff x="6485792" y="1342900"/>
            <a:chExt cx="1923961" cy="14448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4A1B0B-9122-744F-5FEB-A8D0CF868EDA}"/>
                </a:ext>
              </a:extLst>
            </p:cNvPr>
            <p:cNvSpPr txBox="1"/>
            <p:nvPr/>
          </p:nvSpPr>
          <p:spPr>
            <a:xfrm>
              <a:off x="6485792" y="1938285"/>
              <a:ext cx="1923961" cy="849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自動問題生成：基於理解檢測理論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智能答案評估：量化評分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質性反饋 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+ 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原文對照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難度適應性：初中級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1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個問題 → 高級</a:t>
              </a:r>
              <a:r>
                <a: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3</a:t>
              </a: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個問題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79C4897-FC0E-C8D8-CF23-97878A87AD47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3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問題生成評估</a:t>
              </a:r>
              <a:endParaRPr lang="ko-KR" altLang="en-US" b="1" dirty="0">
                <a:solidFill>
                  <a:schemeClr val="accent3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4" name="Parallelogram 15">
            <a:extLst>
              <a:ext uri="{FF2B5EF4-FFF2-40B4-BE49-F238E27FC236}">
                <a16:creationId xmlns:a16="http://schemas.microsoft.com/office/drawing/2014/main" id="{AE97F8FB-24CF-CB1C-5C52-649B20F2122E}"/>
              </a:ext>
            </a:extLst>
          </p:cNvPr>
          <p:cNvSpPr/>
          <p:nvPr/>
        </p:nvSpPr>
        <p:spPr>
          <a:xfrm flipH="1">
            <a:off x="5341549" y="5028521"/>
            <a:ext cx="314585" cy="31458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8837658E-C456-5F67-A957-17D7D6340295}"/>
              </a:ext>
            </a:extLst>
          </p:cNvPr>
          <p:cNvSpPr/>
          <p:nvPr/>
        </p:nvSpPr>
        <p:spPr>
          <a:xfrm>
            <a:off x="9349915" y="4419892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6" name="Rounded Rectangle 32">
            <a:extLst>
              <a:ext uri="{FF2B5EF4-FFF2-40B4-BE49-F238E27FC236}">
                <a16:creationId xmlns:a16="http://schemas.microsoft.com/office/drawing/2014/main" id="{EB989B5B-F92D-70CB-634C-CB6237B2714E}"/>
              </a:ext>
            </a:extLst>
          </p:cNvPr>
          <p:cNvSpPr/>
          <p:nvPr/>
        </p:nvSpPr>
        <p:spPr>
          <a:xfrm>
            <a:off x="5511426" y="2614064"/>
            <a:ext cx="280559" cy="28055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37" name="Frame 17">
            <a:extLst>
              <a:ext uri="{FF2B5EF4-FFF2-40B4-BE49-F238E27FC236}">
                <a16:creationId xmlns:a16="http://schemas.microsoft.com/office/drawing/2014/main" id="{3D1096AA-5C3E-3B18-706F-9880A648FE06}"/>
              </a:ext>
            </a:extLst>
          </p:cNvPr>
          <p:cNvSpPr/>
          <p:nvPr/>
        </p:nvSpPr>
        <p:spPr>
          <a:xfrm>
            <a:off x="5490941" y="6962760"/>
            <a:ext cx="315927" cy="29890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8" name="Donut 39">
            <a:extLst>
              <a:ext uri="{FF2B5EF4-FFF2-40B4-BE49-F238E27FC236}">
                <a16:creationId xmlns:a16="http://schemas.microsoft.com/office/drawing/2014/main" id="{2F06C20F-B299-C3EC-162B-7CF1589252EC}"/>
              </a:ext>
            </a:extLst>
          </p:cNvPr>
          <p:cNvSpPr/>
          <p:nvPr/>
        </p:nvSpPr>
        <p:spPr>
          <a:xfrm>
            <a:off x="8638526" y="2573629"/>
            <a:ext cx="351426" cy="35142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</a:endParaRPr>
          </a:p>
        </p:txBody>
      </p:sp>
      <p:sp>
        <p:nvSpPr>
          <p:cNvPr id="39" name="Chord 15">
            <a:extLst>
              <a:ext uri="{FF2B5EF4-FFF2-40B4-BE49-F238E27FC236}">
                <a16:creationId xmlns:a16="http://schemas.microsoft.com/office/drawing/2014/main" id="{3DAA08AF-C4C1-9DAB-991D-8DD14A24F0CB}"/>
              </a:ext>
            </a:extLst>
          </p:cNvPr>
          <p:cNvSpPr/>
          <p:nvPr/>
        </p:nvSpPr>
        <p:spPr>
          <a:xfrm>
            <a:off x="5564513" y="6166636"/>
            <a:ext cx="173156" cy="37752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68BE4800-4A6C-6BD9-86B0-0E7E2F40B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643" y="320505"/>
            <a:ext cx="5714438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聽力練習提示設計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419E1970-B32C-1BD4-20FB-01B8C5239AD0}"/>
              </a:ext>
            </a:extLst>
          </p:cNvPr>
          <p:cNvSpPr txBox="1"/>
          <p:nvPr/>
        </p:nvSpPr>
        <p:spPr>
          <a:xfrm>
            <a:off x="1400969" y="2006831"/>
            <a:ext cx="3846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角色定位：英語語言助手，專注聽力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主題目標設定：明確學習重點，增強針對性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學習指南範例：提供具體指導和示例內容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" name="Hexagon 61">
            <a:extLst>
              <a:ext uri="{FF2B5EF4-FFF2-40B4-BE49-F238E27FC236}">
                <a16:creationId xmlns:a16="http://schemas.microsoft.com/office/drawing/2014/main" id="{9191E364-5F47-D72B-A5DB-E12F98DA711B}"/>
              </a:ext>
            </a:extLst>
          </p:cNvPr>
          <p:cNvSpPr/>
          <p:nvPr/>
        </p:nvSpPr>
        <p:spPr>
          <a:xfrm>
            <a:off x="8169892" y="4089093"/>
            <a:ext cx="798713" cy="798713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grpSp>
        <p:nvGrpSpPr>
          <p:cNvPr id="16" name="Group 42">
            <a:extLst>
              <a:ext uri="{FF2B5EF4-FFF2-40B4-BE49-F238E27FC236}">
                <a16:creationId xmlns:a16="http://schemas.microsoft.com/office/drawing/2014/main" id="{131CDB39-4685-CB75-0E76-7C91DAE7CC70}"/>
              </a:ext>
            </a:extLst>
          </p:cNvPr>
          <p:cNvGrpSpPr/>
          <p:nvPr/>
        </p:nvGrpSpPr>
        <p:grpSpPr>
          <a:xfrm>
            <a:off x="9220104" y="4036245"/>
            <a:ext cx="4171570" cy="1260040"/>
            <a:chOff x="6485792" y="1342900"/>
            <a:chExt cx="1923961" cy="1449018"/>
          </a:xfrm>
        </p:grpSpPr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659EF255-A56C-28DE-FBE1-164FFCC792B3}"/>
                </a:ext>
              </a:extLst>
            </p:cNvPr>
            <p:cNvSpPr txBox="1"/>
            <p:nvPr/>
          </p:nvSpPr>
          <p:spPr>
            <a:xfrm>
              <a:off x="6485792" y="1694716"/>
              <a:ext cx="1923961" cy="1097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內容長度控制：精確控制字數範圍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語言複雜度梯度：基礎詞彙 → 專業術語</a:t>
              </a:r>
              <a:endPara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主題深度層級：基本描述 → 詳細分析 → 專業討論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18" name="TextBox 20">
              <a:extLst>
                <a:ext uri="{FF2B5EF4-FFF2-40B4-BE49-F238E27FC236}">
                  <a16:creationId xmlns:a16="http://schemas.microsoft.com/office/drawing/2014/main" id="{B91D9DBC-8DD7-E882-89B6-3C5B1C2E3D56}"/>
                </a:ext>
              </a:extLst>
            </p:cNvPr>
            <p:cNvSpPr txBox="1"/>
            <p:nvPr/>
          </p:nvSpPr>
          <p:spPr>
            <a:xfrm>
              <a:off x="6485792" y="1342900"/>
              <a:ext cx="1923961" cy="42472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accent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難度調整</a:t>
              </a:r>
              <a:endParaRPr lang="ko-KR" altLang="en-US" b="1" dirty="0">
                <a:solidFill>
                  <a:schemeClr val="accent2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5" name="Rectangle 30">
            <a:extLst>
              <a:ext uri="{FF2B5EF4-FFF2-40B4-BE49-F238E27FC236}">
                <a16:creationId xmlns:a16="http://schemas.microsoft.com/office/drawing/2014/main" id="{53506286-8D51-96D3-000F-3156696F82E6}"/>
              </a:ext>
            </a:extLst>
          </p:cNvPr>
          <p:cNvSpPr/>
          <p:nvPr/>
        </p:nvSpPr>
        <p:spPr>
          <a:xfrm>
            <a:off x="8437760" y="4359428"/>
            <a:ext cx="275840" cy="2750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/>
          </a:p>
        </p:txBody>
      </p:sp>
    </p:spTree>
    <p:extLst>
      <p:ext uri="{BB962C8B-B14F-4D97-AF65-F5344CB8AC3E}">
        <p14:creationId xmlns:p14="http://schemas.microsoft.com/office/powerpoint/2010/main" val="3910101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8EFE810F-49BC-8117-4BCE-1EE5D508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D085931B-A369-C534-4302-468E1F8FB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系統架構與運作流程 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694EB755-933E-6165-5D91-CFFBF234EDC7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9668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A97A98A-61DF-F4F6-DDCA-D306ED404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036" y="320327"/>
            <a:ext cx="3008107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系統架構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CB3135-16F0-4E22-8A85-EB9CAE0EDC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" r="6462"/>
          <a:stretch>
            <a:fillRect/>
          </a:stretch>
        </p:blipFill>
        <p:spPr bwMode="auto">
          <a:xfrm>
            <a:off x="4340772" y="2589621"/>
            <a:ext cx="6262439" cy="3779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4E96ACD1-6923-E157-2A01-71B373A7EAAA}"/>
              </a:ext>
            </a:extLst>
          </p:cNvPr>
          <p:cNvSpPr/>
          <p:nvPr/>
        </p:nvSpPr>
        <p:spPr>
          <a:xfrm>
            <a:off x="749735" y="1679807"/>
            <a:ext cx="4005943" cy="1631216"/>
          </a:xfrm>
          <a:prstGeom prst="roundRect">
            <a:avLst/>
          </a:prstGeom>
          <a:solidFill>
            <a:srgbClr val="FFC000"/>
          </a:solidFill>
          <a:ln>
            <a:solidFill>
              <a:srgbClr val="EEB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前端設計</a:t>
            </a: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平台聊天介面，免安裝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支援文字與語音雙向互動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圖文選單快速選擇學習模式</a:t>
            </a: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視覺化設計，操作簡單直覺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0C86BA-CA14-CCC0-FCA7-940631A30004}"/>
              </a:ext>
            </a:extLst>
          </p:cNvPr>
          <p:cNvSpPr/>
          <p:nvPr/>
        </p:nvSpPr>
        <p:spPr>
          <a:xfrm>
            <a:off x="674913" y="3659893"/>
            <a:ext cx="4005943" cy="163121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後端應用模組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Flask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框架建立網路應用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API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連接處理訊息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Webhook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接收用戶請求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ngrok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本機伺服器暴露到互聯網上的工具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04EEA4-FF6D-EABA-0063-0E15E6EC3AD7}"/>
              </a:ext>
            </a:extLst>
          </p:cNvPr>
          <p:cNvSpPr/>
          <p:nvPr/>
        </p:nvSpPr>
        <p:spPr>
          <a:xfrm>
            <a:off x="674913" y="5639979"/>
            <a:ext cx="4005943" cy="1631216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後端服務模組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GPT-3.5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：處理英語對話與回饋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：語音轉文字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gTTS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：文字轉語音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串接方式，靈活調用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34DF6EF-1DB3-AE99-B32E-71BA4CEF61AB}"/>
              </a:ext>
            </a:extLst>
          </p:cNvPr>
          <p:cNvSpPr/>
          <p:nvPr/>
        </p:nvSpPr>
        <p:spPr>
          <a:xfrm>
            <a:off x="10167256" y="1416322"/>
            <a:ext cx="4005943" cy="1631216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提示工程模組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分析用戶學習情境與意圖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管理不同學習模式提示模板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動態生成教育導向提示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確保</a:t>
            </a:r>
            <a:r>
              <a:rPr lang="en-US" altLang="zh-TW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回應符合教學目標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3E8A2D1-EF2D-1D38-67DA-348D50BE92FF}"/>
              </a:ext>
            </a:extLst>
          </p:cNvPr>
          <p:cNvSpPr/>
          <p:nvPr/>
        </p:nvSpPr>
        <p:spPr>
          <a:xfrm>
            <a:off x="10410371" y="5761826"/>
            <a:ext cx="4005943" cy="163121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架構特點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模組化設計，便於維護擴展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輕量化部署，成本低</a:t>
            </a:r>
            <a:endParaRPr lang="en-US" altLang="zh-TW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教育目標導向，專為初學者設計</a:t>
            </a:r>
          </a:p>
        </p:txBody>
      </p:sp>
    </p:spTree>
    <p:extLst>
      <p:ext uri="{BB962C8B-B14F-4D97-AF65-F5344CB8AC3E}">
        <p14:creationId xmlns:p14="http://schemas.microsoft.com/office/powerpoint/2010/main" val="3374759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658" y="188456"/>
            <a:ext cx="4769805" cy="670260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系統運作流程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Arrow: Chevron 1">
            <a:extLst>
              <a:ext uri="{FF2B5EF4-FFF2-40B4-BE49-F238E27FC236}">
                <a16:creationId xmlns:a16="http://schemas.microsoft.com/office/drawing/2014/main" id="{0B6E9D80-65A0-4F30-AA14-603431121CBC}"/>
              </a:ext>
            </a:extLst>
          </p:cNvPr>
          <p:cNvSpPr/>
          <p:nvPr/>
        </p:nvSpPr>
        <p:spPr>
          <a:xfrm>
            <a:off x="223373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4" name="Arrow: Chevron 4">
            <a:extLst>
              <a:ext uri="{FF2B5EF4-FFF2-40B4-BE49-F238E27FC236}">
                <a16:creationId xmlns:a16="http://schemas.microsoft.com/office/drawing/2014/main" id="{D5A0EEAD-B0B2-442E-8E31-E46CC61836AE}"/>
              </a:ext>
            </a:extLst>
          </p:cNvPr>
          <p:cNvSpPr/>
          <p:nvPr/>
        </p:nvSpPr>
        <p:spPr>
          <a:xfrm>
            <a:off x="2140673" y="4264008"/>
            <a:ext cx="2081614" cy="395741"/>
          </a:xfrm>
          <a:prstGeom prst="chevron">
            <a:avLst>
              <a:gd name="adj" fmla="val 525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5" name="Arrow: Chevron 5">
            <a:extLst>
              <a:ext uri="{FF2B5EF4-FFF2-40B4-BE49-F238E27FC236}">
                <a16:creationId xmlns:a16="http://schemas.microsoft.com/office/drawing/2014/main" id="{5496C90F-F947-41A1-8DC6-E86FA64C8259}"/>
              </a:ext>
            </a:extLst>
          </p:cNvPr>
          <p:cNvSpPr/>
          <p:nvPr/>
        </p:nvSpPr>
        <p:spPr>
          <a:xfrm>
            <a:off x="4089505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6" name="Arrow: Chevron 6">
            <a:extLst>
              <a:ext uri="{FF2B5EF4-FFF2-40B4-BE49-F238E27FC236}">
                <a16:creationId xmlns:a16="http://schemas.microsoft.com/office/drawing/2014/main" id="{C66EF2B3-0EBB-4257-9F8B-EF36FF7057CC}"/>
              </a:ext>
            </a:extLst>
          </p:cNvPr>
          <p:cNvSpPr/>
          <p:nvPr/>
        </p:nvSpPr>
        <p:spPr>
          <a:xfrm>
            <a:off x="6027832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7" name="Arrow: Chevron 7">
            <a:extLst>
              <a:ext uri="{FF2B5EF4-FFF2-40B4-BE49-F238E27FC236}">
                <a16:creationId xmlns:a16="http://schemas.microsoft.com/office/drawing/2014/main" id="{7D759B3E-E3A3-4B94-964C-41EC2928D6AE}"/>
              </a:ext>
            </a:extLst>
          </p:cNvPr>
          <p:cNvSpPr/>
          <p:nvPr/>
        </p:nvSpPr>
        <p:spPr>
          <a:xfrm>
            <a:off x="7966153" y="4264008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8D6B4EAA-D517-4133-A995-B42F6179818F}"/>
              </a:ext>
            </a:extLst>
          </p:cNvPr>
          <p:cNvGrpSpPr/>
          <p:nvPr/>
        </p:nvGrpSpPr>
        <p:grpSpPr>
          <a:xfrm>
            <a:off x="776131" y="4157507"/>
            <a:ext cx="573039" cy="1003528"/>
            <a:chOff x="1710911" y="3340249"/>
            <a:chExt cx="605118" cy="1084357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D1DB94B0-BA25-4299-8F4B-26E66D4BCAF5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0" name="Circle: Hollow 8">
              <a:extLst>
                <a:ext uri="{FF2B5EF4-FFF2-40B4-BE49-F238E27FC236}">
                  <a16:creationId xmlns:a16="http://schemas.microsoft.com/office/drawing/2014/main" id="{CE49365B-23F2-4576-B7EC-F5FBA8837767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9">
              <a:extLst>
                <a:ext uri="{FF2B5EF4-FFF2-40B4-BE49-F238E27FC236}">
                  <a16:creationId xmlns:a16="http://schemas.microsoft.com/office/drawing/2014/main" id="{849EA05C-AD96-4314-A163-F2251AF641A4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EA9FE5-AB14-4851-BD47-1638B12C8E0A}"/>
              </a:ext>
            </a:extLst>
          </p:cNvPr>
          <p:cNvGrpSpPr/>
          <p:nvPr/>
        </p:nvGrpSpPr>
        <p:grpSpPr>
          <a:xfrm>
            <a:off x="2693431" y="3698031"/>
            <a:ext cx="573039" cy="1003527"/>
            <a:chOff x="1710911" y="2861011"/>
            <a:chExt cx="605118" cy="108435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7A79D5-2A29-48D6-A462-0F2742166190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4" name="Circle: Hollow 13">
              <a:extLst>
                <a:ext uri="{FF2B5EF4-FFF2-40B4-BE49-F238E27FC236}">
                  <a16:creationId xmlns:a16="http://schemas.microsoft.com/office/drawing/2014/main" id="{1ECF7A77-D0D9-4941-A8A9-6C85EC929665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59A4ADD-6EBE-414E-A713-8A8AA5A13C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D48E063-EC4A-4BAA-8D41-BD5D28089110}"/>
              </a:ext>
            </a:extLst>
          </p:cNvPr>
          <p:cNvGrpSpPr/>
          <p:nvPr/>
        </p:nvGrpSpPr>
        <p:grpSpPr>
          <a:xfrm>
            <a:off x="4642263" y="4157507"/>
            <a:ext cx="573039" cy="1003528"/>
            <a:chOff x="1710911" y="3340249"/>
            <a:chExt cx="605118" cy="108435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9CC4ED-40D6-4DAD-8605-BCB53D7FE719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8" name="Circle: Hollow 17">
              <a:extLst>
                <a:ext uri="{FF2B5EF4-FFF2-40B4-BE49-F238E27FC236}">
                  <a16:creationId xmlns:a16="http://schemas.microsoft.com/office/drawing/2014/main" id="{C5475E50-E7BE-45BE-A411-DE97D0F7CAC8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DA128-E99E-4D5A-BAB3-D6FC6B472879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DFF1A2-2B0E-4A9A-BFB6-D893BDB9F944}"/>
              </a:ext>
            </a:extLst>
          </p:cNvPr>
          <p:cNvGrpSpPr/>
          <p:nvPr/>
        </p:nvGrpSpPr>
        <p:grpSpPr>
          <a:xfrm>
            <a:off x="6580589" y="3719051"/>
            <a:ext cx="573039" cy="1003527"/>
            <a:chOff x="1710911" y="2861011"/>
            <a:chExt cx="605118" cy="108435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FEF34D-108F-47B9-8450-73367D70007D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2" name="Circle: Hollow 21">
              <a:extLst>
                <a:ext uri="{FF2B5EF4-FFF2-40B4-BE49-F238E27FC236}">
                  <a16:creationId xmlns:a16="http://schemas.microsoft.com/office/drawing/2014/main" id="{525B59BF-8B27-4E27-9065-26C22D128FA2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0B4D524-9B26-476E-B5BB-C40AC99B6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3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8F0725-E508-40E9-8FC5-B6599F3FAE74}"/>
              </a:ext>
            </a:extLst>
          </p:cNvPr>
          <p:cNvGrpSpPr/>
          <p:nvPr/>
        </p:nvGrpSpPr>
        <p:grpSpPr>
          <a:xfrm>
            <a:off x="8518911" y="4157507"/>
            <a:ext cx="573039" cy="1003528"/>
            <a:chOff x="1710911" y="3340249"/>
            <a:chExt cx="605118" cy="108435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E986DC-A1AF-41CA-BD34-8E3132B7C720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6" name="Circle: Hollow 25">
              <a:extLst>
                <a:ext uri="{FF2B5EF4-FFF2-40B4-BE49-F238E27FC236}">
                  <a16:creationId xmlns:a16="http://schemas.microsoft.com/office/drawing/2014/main" id="{841BDB97-83B6-4940-9FD7-6FB9A15C433F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CFC597-DF62-4D7D-B221-019F2752D9A7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4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27FA97A-C840-42A8-A20F-5F50B32937A3}"/>
              </a:ext>
            </a:extLst>
          </p:cNvPr>
          <p:cNvSpPr txBox="1"/>
          <p:nvPr/>
        </p:nvSpPr>
        <p:spPr>
          <a:xfrm>
            <a:off x="1697051" y="2560498"/>
            <a:ext cx="2565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 Bot</a:t>
            </a:r>
          </a:p>
          <a:p>
            <a:pPr algn="ctr"/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接受</a:t>
            </a:r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&amp;</a:t>
            </a:r>
            <a:r>
              <a:rPr lang="zh-TW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回應</a:t>
            </a:r>
            <a:r>
              <a:rPr lang="en-US" altLang="zh-TW" sz="20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43992B-60D8-4BC1-A870-498DE63E1B37}"/>
              </a:ext>
            </a:extLst>
          </p:cNvPr>
          <p:cNvSpPr txBox="1"/>
          <p:nvPr/>
        </p:nvSpPr>
        <p:spPr>
          <a:xfrm>
            <a:off x="5539104" y="2813265"/>
            <a:ext cx="274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A5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en-US" altLang="zh-TW" sz="2000" b="1" dirty="0">
              <a:solidFill>
                <a:srgbClr val="A5A5A5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en-US" altLang="zh-TW" sz="2000" b="1" dirty="0">
                <a:solidFill>
                  <a:srgbClr val="A5A5A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(Prompt Engineering)</a:t>
            </a:r>
            <a:endParaRPr lang="ko-KR" altLang="en-US" sz="2000" b="1" dirty="0">
              <a:solidFill>
                <a:srgbClr val="A5A5A5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409BCE-C694-460B-A7A0-0DAFB3FFF806}"/>
              </a:ext>
            </a:extLst>
          </p:cNvPr>
          <p:cNvSpPr txBox="1"/>
          <p:nvPr/>
        </p:nvSpPr>
        <p:spPr>
          <a:xfrm>
            <a:off x="3807231" y="5371385"/>
            <a:ext cx="224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Flask</a:t>
            </a:r>
            <a:r>
              <a:rPr lang="zh-TW" altLang="en-US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後端伺服器</a:t>
            </a:r>
            <a:endParaRPr lang="en-US" altLang="zh-TW" sz="2000" b="1" dirty="0">
              <a:solidFill>
                <a:schemeClr val="accent2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en-US" altLang="zh-TW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處理請求</a:t>
            </a:r>
            <a:r>
              <a:rPr lang="en-US" altLang="zh-TW" sz="20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2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67CA2E-A26A-4EDE-8AEB-1FD2E7C28A18}"/>
              </a:ext>
            </a:extLst>
          </p:cNvPr>
          <p:cNvSpPr txBox="1"/>
          <p:nvPr/>
        </p:nvSpPr>
        <p:spPr>
          <a:xfrm>
            <a:off x="60389" y="5441716"/>
            <a:ext cx="224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(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輸入訊息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)</a:t>
            </a:r>
            <a:endParaRPr lang="ko-KR" altLang="en-US" sz="2000" b="1" dirty="0">
              <a:solidFill>
                <a:schemeClr val="accent6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45" name="Group 31">
            <a:extLst>
              <a:ext uri="{FF2B5EF4-FFF2-40B4-BE49-F238E27FC236}">
                <a16:creationId xmlns:a16="http://schemas.microsoft.com/office/drawing/2014/main" id="{FB28A1A7-A60F-48B1-A860-CE786BDB9A8C}"/>
              </a:ext>
            </a:extLst>
          </p:cNvPr>
          <p:cNvGrpSpPr/>
          <p:nvPr/>
        </p:nvGrpSpPr>
        <p:grpSpPr>
          <a:xfrm>
            <a:off x="7902500" y="5735830"/>
            <a:ext cx="2247984" cy="1257612"/>
            <a:chOff x="2543198" y="4388490"/>
            <a:chExt cx="2581650" cy="135890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74671B-A4E0-4DEC-B225-75E9DDCC9C12}"/>
                </a:ext>
              </a:extLst>
            </p:cNvPr>
            <p:cNvSpPr txBox="1"/>
            <p:nvPr/>
          </p:nvSpPr>
          <p:spPr>
            <a:xfrm>
              <a:off x="2555593" y="5115520"/>
              <a:ext cx="2569255" cy="631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接受結構話提示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並生成高於學習內容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89D1813-4FE4-4CB5-86EB-CA35EA19B544}"/>
                </a:ext>
              </a:extLst>
            </p:cNvPr>
            <p:cNvSpPr txBox="1"/>
            <p:nvPr/>
          </p:nvSpPr>
          <p:spPr>
            <a:xfrm>
              <a:off x="2543198" y="4388490"/>
              <a:ext cx="2577763" cy="764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chemeClr val="accent4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GPT-3.5</a:t>
              </a:r>
            </a:p>
            <a:p>
              <a:pPr algn="ctr"/>
              <a:r>
                <a:rPr lang="zh-TW" altLang="en-US" sz="2000" b="1" dirty="0">
                  <a:solidFill>
                    <a:schemeClr val="accent4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（大型語言模型）</a:t>
              </a:r>
              <a:endParaRPr lang="ko-KR" altLang="en-US" sz="2000" b="1" dirty="0">
                <a:solidFill>
                  <a:schemeClr val="accent4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60" name="Arrow: Chevron 4">
            <a:extLst>
              <a:ext uri="{FF2B5EF4-FFF2-40B4-BE49-F238E27FC236}">
                <a16:creationId xmlns:a16="http://schemas.microsoft.com/office/drawing/2014/main" id="{03B71509-409E-AFFB-CFF7-95E31ED5D1FC}"/>
              </a:ext>
            </a:extLst>
          </p:cNvPr>
          <p:cNvSpPr/>
          <p:nvPr/>
        </p:nvSpPr>
        <p:spPr>
          <a:xfrm>
            <a:off x="9893071" y="4252984"/>
            <a:ext cx="2081614" cy="395741"/>
          </a:xfrm>
          <a:prstGeom prst="chevron">
            <a:avLst>
              <a:gd name="adj" fmla="val 5251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61" name="Group 11">
            <a:extLst>
              <a:ext uri="{FF2B5EF4-FFF2-40B4-BE49-F238E27FC236}">
                <a16:creationId xmlns:a16="http://schemas.microsoft.com/office/drawing/2014/main" id="{2C13661F-7805-221A-E7EF-F40EB52C9C97}"/>
              </a:ext>
            </a:extLst>
          </p:cNvPr>
          <p:cNvGrpSpPr/>
          <p:nvPr/>
        </p:nvGrpSpPr>
        <p:grpSpPr>
          <a:xfrm>
            <a:off x="10445829" y="3687007"/>
            <a:ext cx="573039" cy="1003527"/>
            <a:chOff x="1710911" y="2861011"/>
            <a:chExt cx="605118" cy="1084356"/>
          </a:xfrm>
        </p:grpSpPr>
        <p:sp>
          <p:nvSpPr>
            <p:cNvPr id="62" name="Oval 12">
              <a:extLst>
                <a:ext uri="{FF2B5EF4-FFF2-40B4-BE49-F238E27FC236}">
                  <a16:creationId xmlns:a16="http://schemas.microsoft.com/office/drawing/2014/main" id="{8A33A55A-C833-2C10-8F99-FC993C679DEA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63" name="Circle: Hollow 13">
              <a:extLst>
                <a:ext uri="{FF2B5EF4-FFF2-40B4-BE49-F238E27FC236}">
                  <a16:creationId xmlns:a16="http://schemas.microsoft.com/office/drawing/2014/main" id="{3845EA08-AAA7-C089-889B-4474F78AEA5C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14">
              <a:extLst>
                <a:ext uri="{FF2B5EF4-FFF2-40B4-BE49-F238E27FC236}">
                  <a16:creationId xmlns:a16="http://schemas.microsoft.com/office/drawing/2014/main" id="{24F7A372-4894-1949-7697-CFE98DB1E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3470" y="2861011"/>
              <a:ext cx="0" cy="542663"/>
            </a:xfrm>
            <a:prstGeom prst="line">
              <a:avLst/>
            </a:prstGeom>
            <a:ln w="19050">
              <a:solidFill>
                <a:schemeClr val="accent1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Arrow: Chevron 1">
            <a:extLst>
              <a:ext uri="{FF2B5EF4-FFF2-40B4-BE49-F238E27FC236}">
                <a16:creationId xmlns:a16="http://schemas.microsoft.com/office/drawing/2014/main" id="{48BE6451-4B84-50C9-0A96-FE1169D0CA9A}"/>
              </a:ext>
            </a:extLst>
          </p:cNvPr>
          <p:cNvSpPr/>
          <p:nvPr/>
        </p:nvSpPr>
        <p:spPr>
          <a:xfrm>
            <a:off x="11831564" y="4242926"/>
            <a:ext cx="2081614" cy="395741"/>
          </a:xfrm>
          <a:prstGeom prst="chevron">
            <a:avLst>
              <a:gd name="adj" fmla="val 525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grpSp>
        <p:nvGrpSpPr>
          <p:cNvPr id="66" name="Group 10">
            <a:extLst>
              <a:ext uri="{FF2B5EF4-FFF2-40B4-BE49-F238E27FC236}">
                <a16:creationId xmlns:a16="http://schemas.microsoft.com/office/drawing/2014/main" id="{5F3AB663-5F97-B2F7-2CF7-FD799945E39B}"/>
              </a:ext>
            </a:extLst>
          </p:cNvPr>
          <p:cNvGrpSpPr/>
          <p:nvPr/>
        </p:nvGrpSpPr>
        <p:grpSpPr>
          <a:xfrm>
            <a:off x="12384322" y="4136425"/>
            <a:ext cx="573039" cy="1003528"/>
            <a:chOff x="1710911" y="3340249"/>
            <a:chExt cx="605118" cy="1084357"/>
          </a:xfrm>
        </p:grpSpPr>
        <p:sp>
          <p:nvSpPr>
            <p:cNvPr id="67" name="Oval 2">
              <a:extLst>
                <a:ext uri="{FF2B5EF4-FFF2-40B4-BE49-F238E27FC236}">
                  <a16:creationId xmlns:a16="http://schemas.microsoft.com/office/drawing/2014/main" id="{A9188EEE-D952-EEC2-19C9-996DE24ACB0C}"/>
                </a:ext>
              </a:extLst>
            </p:cNvPr>
            <p:cNvSpPr/>
            <p:nvPr/>
          </p:nvSpPr>
          <p:spPr>
            <a:xfrm>
              <a:off x="1710911" y="3340249"/>
              <a:ext cx="605118" cy="60511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68" name="Circle: Hollow 8">
              <a:extLst>
                <a:ext uri="{FF2B5EF4-FFF2-40B4-BE49-F238E27FC236}">
                  <a16:creationId xmlns:a16="http://schemas.microsoft.com/office/drawing/2014/main" id="{E89521D4-1835-B534-6760-85F28F86AB5E}"/>
                </a:ext>
              </a:extLst>
            </p:cNvPr>
            <p:cNvSpPr/>
            <p:nvPr/>
          </p:nvSpPr>
          <p:spPr>
            <a:xfrm>
              <a:off x="1774336" y="3403674"/>
              <a:ext cx="478269" cy="478269"/>
            </a:xfrm>
            <a:prstGeom prst="donut">
              <a:avLst>
                <a:gd name="adj" fmla="val 1754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>
                <a:solidFill>
                  <a:schemeClr val="tx1"/>
                </a:solidFill>
              </a:endParaRPr>
            </a:p>
          </p:txBody>
        </p:sp>
        <p:cxnSp>
          <p:nvCxnSpPr>
            <p:cNvPr id="69" name="Straight Connector 9">
              <a:extLst>
                <a:ext uri="{FF2B5EF4-FFF2-40B4-BE49-F238E27FC236}">
                  <a16:creationId xmlns:a16="http://schemas.microsoft.com/office/drawing/2014/main" id="{3301D369-4ABD-6B91-E959-82205E8E704B}"/>
                </a:ext>
              </a:extLst>
            </p:cNvPr>
            <p:cNvCxnSpPr>
              <a:cxnSpLocks/>
            </p:cNvCxnSpPr>
            <p:nvPr/>
          </p:nvCxnSpPr>
          <p:spPr>
            <a:xfrm>
              <a:off x="2013470" y="3881943"/>
              <a:ext cx="0" cy="542663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31">
            <a:extLst>
              <a:ext uri="{FF2B5EF4-FFF2-40B4-BE49-F238E27FC236}">
                <a16:creationId xmlns:a16="http://schemas.microsoft.com/office/drawing/2014/main" id="{934361D3-6CE9-D870-39E9-DE3418840238}"/>
              </a:ext>
            </a:extLst>
          </p:cNvPr>
          <p:cNvGrpSpPr/>
          <p:nvPr/>
        </p:nvGrpSpPr>
        <p:grpSpPr>
          <a:xfrm>
            <a:off x="9024799" y="2125968"/>
            <a:ext cx="3378276" cy="1436488"/>
            <a:chOff x="2546236" y="4572819"/>
            <a:chExt cx="2606171" cy="1552190"/>
          </a:xfrm>
        </p:grpSpPr>
        <p:sp>
          <p:nvSpPr>
            <p:cNvPr id="71" name="TextBox 45">
              <a:extLst>
                <a:ext uri="{FF2B5EF4-FFF2-40B4-BE49-F238E27FC236}">
                  <a16:creationId xmlns:a16="http://schemas.microsoft.com/office/drawing/2014/main" id="{B602136E-392A-C9F5-F4C9-2F9E343AB41C}"/>
                </a:ext>
              </a:extLst>
            </p:cNvPr>
            <p:cNvSpPr txBox="1"/>
            <p:nvPr/>
          </p:nvSpPr>
          <p:spPr>
            <a:xfrm>
              <a:off x="2546236" y="4961026"/>
              <a:ext cx="2569255" cy="1163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Whisper API</a:t>
              </a: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（語音轉文字</a:t>
              </a: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, STT</a:t>
              </a:r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）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zh-TW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gTTS</a:t>
              </a:r>
              <a:endPara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（文字轉語音</a:t>
              </a:r>
              <a:r>
                <a:rPr lang="en-US" altLang="zh-TW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, TTS</a:t>
              </a:r>
              <a:r>
                <a:rPr lang="zh-TW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）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72" name="TextBox 46">
              <a:extLst>
                <a:ext uri="{FF2B5EF4-FFF2-40B4-BE49-F238E27FC236}">
                  <a16:creationId xmlns:a16="http://schemas.microsoft.com/office/drawing/2014/main" id="{62EABC70-971C-9A3C-1731-A332B3A90901}"/>
                </a:ext>
              </a:extLst>
            </p:cNvPr>
            <p:cNvSpPr txBox="1"/>
            <p:nvPr/>
          </p:nvSpPr>
          <p:spPr>
            <a:xfrm>
              <a:off x="2574644" y="4572819"/>
              <a:ext cx="2577763" cy="432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chemeClr val="accent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語音處理</a:t>
              </a:r>
              <a:endParaRPr lang="ko-KR" altLang="en-US" sz="2000" b="1" dirty="0">
                <a:solidFill>
                  <a:schemeClr val="accent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75" name="TextBox 46">
            <a:extLst>
              <a:ext uri="{FF2B5EF4-FFF2-40B4-BE49-F238E27FC236}">
                <a16:creationId xmlns:a16="http://schemas.microsoft.com/office/drawing/2014/main" id="{A4989B54-9F0D-E8DB-D3EE-2EE0B8175FDE}"/>
              </a:ext>
            </a:extLst>
          </p:cNvPr>
          <p:cNvSpPr txBox="1"/>
          <p:nvPr/>
        </p:nvSpPr>
        <p:spPr>
          <a:xfrm>
            <a:off x="11750071" y="5481462"/>
            <a:ext cx="2244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 Bot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回傳結果（文字</a:t>
            </a:r>
            <a:r>
              <a:rPr lang="en-US" altLang="zh-TW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&amp;</a:t>
            </a:r>
            <a:r>
              <a:rPr lang="zh-TW" altLang="en-US" sz="2000" b="1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語音）</a:t>
            </a:r>
            <a:endParaRPr lang="ko-KR" altLang="en-US" sz="2000" b="1" dirty="0">
              <a:solidFill>
                <a:schemeClr val="accent6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46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33CD9729-A340-E4F6-8DE3-D3DCF8C3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0EA955C7-31EB-1D12-E200-5502857BB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技術實作與部署流程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25DF9A20-7DE8-D535-B24E-579C80F2EECF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52511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82">
            <a:extLst>
              <a:ext uri="{FF2B5EF4-FFF2-40B4-BE49-F238E27FC236}">
                <a16:creationId xmlns:a16="http://schemas.microsoft.com/office/drawing/2014/main" id="{8E4600D5-2BA2-4F3B-9189-1E6FA2AE40BB}"/>
              </a:ext>
            </a:extLst>
          </p:cNvPr>
          <p:cNvCxnSpPr/>
          <p:nvPr/>
        </p:nvCxnSpPr>
        <p:spPr>
          <a:xfrm>
            <a:off x="9288630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83">
            <a:extLst>
              <a:ext uri="{FF2B5EF4-FFF2-40B4-BE49-F238E27FC236}">
                <a16:creationId xmlns:a16="http://schemas.microsoft.com/office/drawing/2014/main" id="{D935D87D-FB5A-4641-BDFD-8AE872B999DB}"/>
              </a:ext>
            </a:extLst>
          </p:cNvPr>
          <p:cNvCxnSpPr/>
          <p:nvPr/>
        </p:nvCxnSpPr>
        <p:spPr>
          <a:xfrm>
            <a:off x="5959789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4">
            <a:extLst>
              <a:ext uri="{FF2B5EF4-FFF2-40B4-BE49-F238E27FC236}">
                <a16:creationId xmlns:a16="http://schemas.microsoft.com/office/drawing/2014/main" id="{5C7C45C8-F5E0-4FC1-B5A1-FA0613F9569A}"/>
              </a:ext>
            </a:extLst>
          </p:cNvPr>
          <p:cNvCxnSpPr/>
          <p:nvPr/>
        </p:nvCxnSpPr>
        <p:spPr>
          <a:xfrm>
            <a:off x="2630951" y="3656668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85">
            <a:extLst>
              <a:ext uri="{FF2B5EF4-FFF2-40B4-BE49-F238E27FC236}">
                <a16:creationId xmlns:a16="http://schemas.microsoft.com/office/drawing/2014/main" id="{DA62A30A-39CF-427A-B705-E2372C403975}"/>
              </a:ext>
            </a:extLst>
          </p:cNvPr>
          <p:cNvCxnSpPr/>
          <p:nvPr/>
        </p:nvCxnSpPr>
        <p:spPr>
          <a:xfrm flipV="1">
            <a:off x="7624209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86">
            <a:extLst>
              <a:ext uri="{FF2B5EF4-FFF2-40B4-BE49-F238E27FC236}">
                <a16:creationId xmlns:a16="http://schemas.microsoft.com/office/drawing/2014/main" id="{2FF2B5C8-56FE-4C75-9987-9AC2D190ACF6}"/>
              </a:ext>
            </a:extLst>
          </p:cNvPr>
          <p:cNvCxnSpPr/>
          <p:nvPr/>
        </p:nvCxnSpPr>
        <p:spPr>
          <a:xfrm flipV="1">
            <a:off x="4295370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55">
            <a:extLst>
              <a:ext uri="{FF2B5EF4-FFF2-40B4-BE49-F238E27FC236}">
                <a16:creationId xmlns:a16="http://schemas.microsoft.com/office/drawing/2014/main" id="{3862F53B-DC67-49F4-A10E-A7BCCB86A383}"/>
              </a:ext>
            </a:extLst>
          </p:cNvPr>
          <p:cNvCxnSpPr/>
          <p:nvPr/>
        </p:nvCxnSpPr>
        <p:spPr>
          <a:xfrm flipV="1">
            <a:off x="11126068" y="4814150"/>
            <a:ext cx="548640" cy="548640"/>
          </a:xfrm>
          <a:prstGeom prst="line">
            <a:avLst/>
          </a:prstGeom>
          <a:ln w="22225">
            <a:solidFill>
              <a:schemeClr val="tx1">
                <a:lumMod val="75000"/>
                <a:lumOff val="25000"/>
              </a:schemeClr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hevron 2">
            <a:extLst>
              <a:ext uri="{FF2B5EF4-FFF2-40B4-BE49-F238E27FC236}">
                <a16:creationId xmlns:a16="http://schemas.microsoft.com/office/drawing/2014/main" id="{962A0E2E-8BEE-4C77-BB76-47ED27D985D3}"/>
              </a:ext>
            </a:extLst>
          </p:cNvPr>
          <p:cNvSpPr/>
          <p:nvPr/>
        </p:nvSpPr>
        <p:spPr>
          <a:xfrm>
            <a:off x="2109056" y="4205309"/>
            <a:ext cx="1905067" cy="617930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2" name="Chevron 37">
            <a:extLst>
              <a:ext uri="{FF2B5EF4-FFF2-40B4-BE49-F238E27FC236}">
                <a16:creationId xmlns:a16="http://schemas.microsoft.com/office/drawing/2014/main" id="{10829331-9F8B-42B2-AC2B-9AC21513805E}"/>
              </a:ext>
            </a:extLst>
          </p:cNvPr>
          <p:cNvSpPr/>
          <p:nvPr/>
        </p:nvSpPr>
        <p:spPr>
          <a:xfrm>
            <a:off x="3797048" y="4205309"/>
            <a:ext cx="1905067" cy="61793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3" name="Chevron 38">
            <a:extLst>
              <a:ext uri="{FF2B5EF4-FFF2-40B4-BE49-F238E27FC236}">
                <a16:creationId xmlns:a16="http://schemas.microsoft.com/office/drawing/2014/main" id="{EAB984BC-0012-4AE8-8238-8E8812EFB3C6}"/>
              </a:ext>
            </a:extLst>
          </p:cNvPr>
          <p:cNvSpPr/>
          <p:nvPr/>
        </p:nvSpPr>
        <p:spPr>
          <a:xfrm>
            <a:off x="5485038" y="4205309"/>
            <a:ext cx="1905067" cy="61793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4" name="Chevron 39">
            <a:extLst>
              <a:ext uri="{FF2B5EF4-FFF2-40B4-BE49-F238E27FC236}">
                <a16:creationId xmlns:a16="http://schemas.microsoft.com/office/drawing/2014/main" id="{9F08F313-81CD-43C6-89D4-3451017D7D3D}"/>
              </a:ext>
            </a:extLst>
          </p:cNvPr>
          <p:cNvSpPr/>
          <p:nvPr/>
        </p:nvSpPr>
        <p:spPr>
          <a:xfrm>
            <a:off x="7173030" y="4205309"/>
            <a:ext cx="1905067" cy="61793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5" name="Chevron 40">
            <a:extLst>
              <a:ext uri="{FF2B5EF4-FFF2-40B4-BE49-F238E27FC236}">
                <a16:creationId xmlns:a16="http://schemas.microsoft.com/office/drawing/2014/main" id="{5D5961FB-AD8D-4406-8EFC-4B1CE25CED63}"/>
              </a:ext>
            </a:extLst>
          </p:cNvPr>
          <p:cNvSpPr/>
          <p:nvPr/>
        </p:nvSpPr>
        <p:spPr>
          <a:xfrm>
            <a:off x="8861022" y="4205309"/>
            <a:ext cx="1905067" cy="61793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6" name="Chevron 2">
            <a:extLst>
              <a:ext uri="{FF2B5EF4-FFF2-40B4-BE49-F238E27FC236}">
                <a16:creationId xmlns:a16="http://schemas.microsoft.com/office/drawing/2014/main" id="{98E639F9-67B4-4749-9C43-F20FF10FCE54}"/>
              </a:ext>
            </a:extLst>
          </p:cNvPr>
          <p:cNvSpPr/>
          <p:nvPr/>
        </p:nvSpPr>
        <p:spPr>
          <a:xfrm>
            <a:off x="10532183" y="4205309"/>
            <a:ext cx="1905067" cy="61793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grpSp>
        <p:nvGrpSpPr>
          <p:cNvPr id="17" name="Group 52">
            <a:extLst>
              <a:ext uri="{FF2B5EF4-FFF2-40B4-BE49-F238E27FC236}">
                <a16:creationId xmlns:a16="http://schemas.microsoft.com/office/drawing/2014/main" id="{F919D0B5-B295-43C6-A82E-65E9B4183374}"/>
              </a:ext>
            </a:extLst>
          </p:cNvPr>
          <p:cNvGrpSpPr/>
          <p:nvPr/>
        </p:nvGrpSpPr>
        <p:grpSpPr>
          <a:xfrm>
            <a:off x="961203" y="2360340"/>
            <a:ext cx="2645993" cy="1286640"/>
            <a:chOff x="7026501" y="4479810"/>
            <a:chExt cx="1499710" cy="107219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C3D360-EB85-4686-B585-488E7A116E57}"/>
                </a:ext>
              </a:extLst>
            </p:cNvPr>
            <p:cNvSpPr txBox="1"/>
            <p:nvPr/>
          </p:nvSpPr>
          <p:spPr>
            <a:xfrm>
              <a:off x="7026501" y="447981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LINE Platform </a:t>
              </a:r>
              <a:r>
                <a:rPr lang="zh-TW" altLang="en-US" sz="1600" b="1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設定</a:t>
              </a:r>
              <a:endParaRPr lang="ko-KR" altLang="en-US" sz="1600" b="1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070ABE-7667-4E0F-9D87-822BE4D48C55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795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註冊 </a:t>
              </a:r>
              <a:r>
                <a:rPr lang="en-US" altLang="ko-KR" sz="1400" dirty="0">
                  <a:cs typeface="Arial" pitchFamily="34" charset="0"/>
                </a:rPr>
                <a:t>LINE Developers </a:t>
              </a:r>
              <a:r>
                <a:rPr lang="zh-TW" altLang="en-US" sz="1400" dirty="0">
                  <a:cs typeface="Arial" pitchFamily="34" charset="0"/>
                </a:rPr>
                <a:t>並創建 </a:t>
              </a:r>
              <a:r>
                <a:rPr lang="en-US" altLang="ko-KR" sz="1400" dirty="0">
                  <a:cs typeface="Arial" pitchFamily="34" charset="0"/>
                </a:rPr>
                <a:t>Messaging API Channel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設定基本資訊</a:t>
              </a:r>
              <a:endParaRPr lang="en-US" altLang="zh-TW" sz="1400" dirty="0"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cs typeface="Arial" pitchFamily="34" charset="0"/>
                </a:rPr>
                <a:t>生成 </a:t>
              </a:r>
              <a:r>
                <a:rPr lang="en-US" altLang="ko-KR" sz="1400" dirty="0">
                  <a:cs typeface="Arial" pitchFamily="34" charset="0"/>
                </a:rPr>
                <a:t>Channel Access Token</a:t>
              </a:r>
              <a:endParaRPr lang="ko-KR" altLang="en-US" sz="1400" dirty="0">
                <a:cs typeface="Arial" pitchFamily="34" charset="0"/>
              </a:endParaRPr>
            </a:p>
          </p:txBody>
        </p:sp>
      </p:grpSp>
      <p:grpSp>
        <p:nvGrpSpPr>
          <p:cNvPr id="20" name="Group 53">
            <a:extLst>
              <a:ext uri="{FF2B5EF4-FFF2-40B4-BE49-F238E27FC236}">
                <a16:creationId xmlns:a16="http://schemas.microsoft.com/office/drawing/2014/main" id="{C63E8D6D-E32E-4402-B86B-1F6563979A1D}"/>
              </a:ext>
            </a:extLst>
          </p:cNvPr>
          <p:cNvGrpSpPr/>
          <p:nvPr/>
        </p:nvGrpSpPr>
        <p:grpSpPr>
          <a:xfrm>
            <a:off x="4618453" y="2403140"/>
            <a:ext cx="3140962" cy="1276091"/>
            <a:chOff x="7026501" y="4509120"/>
            <a:chExt cx="1499710" cy="106340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7BE2AE-5D2B-4874-8D2E-E79544861A3B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應用程式設定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E83B8B-D6E0-42E6-8BA3-07CF5BDECCB1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設定環境變數存儲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API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密鑰</a:t>
              </a:r>
              <a:endParaRPr lang="en-US" altLang="zh-TW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配置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Flask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路由和錯誤處理</a:t>
              </a:r>
              <a:endParaRPr lang="en-US" altLang="zh-TW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整合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OpenAI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、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gTTS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、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LINE API 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服務</a:t>
              </a:r>
              <a:endParaRPr lang="ko-KR" altLang="en-US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54">
            <a:extLst>
              <a:ext uri="{FF2B5EF4-FFF2-40B4-BE49-F238E27FC236}">
                <a16:creationId xmlns:a16="http://schemas.microsoft.com/office/drawing/2014/main" id="{E88F88C9-7DC0-49A7-A46E-4E777219618B}"/>
              </a:ext>
            </a:extLst>
          </p:cNvPr>
          <p:cNvGrpSpPr/>
          <p:nvPr/>
        </p:nvGrpSpPr>
        <p:grpSpPr>
          <a:xfrm>
            <a:off x="8121973" y="2354301"/>
            <a:ext cx="2953219" cy="1719289"/>
            <a:chOff x="7026501" y="4509120"/>
            <a:chExt cx="1499710" cy="14327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D3C53E-3B03-4E05-86F9-30F197903A1E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服務啟動與監控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BACEDB1-73F5-455F-B38C-8F737B53B49A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啟動 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Flask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：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python app.py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啟動 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ngrok</a:t>
              </a: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：</a:t>
              </a:r>
              <a:r>
                <a:rPr lang="en-US" altLang="zh-TW" sz="1440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ngrok</a:t>
              </a:r>
              <a:r>
                <a:rPr lang="en-US" altLang="zh-TW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http 5000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4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設定日誌記錄和健康檢查</a:t>
              </a:r>
              <a:endParaRPr lang="ko-KR" altLang="en-US" sz="144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55">
            <a:extLst>
              <a:ext uri="{FF2B5EF4-FFF2-40B4-BE49-F238E27FC236}">
                <a16:creationId xmlns:a16="http://schemas.microsoft.com/office/drawing/2014/main" id="{DE032EA6-5682-4B86-B9CE-CB3D562F7B4C}"/>
              </a:ext>
            </a:extLst>
          </p:cNvPr>
          <p:cNvGrpSpPr/>
          <p:nvPr/>
        </p:nvGrpSpPr>
        <p:grpSpPr>
          <a:xfrm>
            <a:off x="2432889" y="5491015"/>
            <a:ext cx="3030994" cy="1280078"/>
            <a:chOff x="7026501" y="4509120"/>
            <a:chExt cx="1542979" cy="10667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02AB47B-33E1-4005-8311-6D33C71A4AF1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Webhook </a:t>
              </a:r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配置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2A8538-C783-41AF-AE3B-14A281D669FB}"/>
                </a:ext>
              </a:extLst>
            </p:cNvPr>
            <p:cNvSpPr txBox="1"/>
            <p:nvPr/>
          </p:nvSpPr>
          <p:spPr>
            <a:xfrm>
              <a:off x="7069770" y="4780763"/>
              <a:ext cx="1499710" cy="79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ngrok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生成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HTTPS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網址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設定 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Webhook URL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指向 </a:t>
              </a:r>
              <a:r>
                <a:rPr lang="en-US" altLang="zh-TW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/</a:t>
              </a: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callback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路徑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啟用文字和音訊訊息接收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9" name="Group 56">
            <a:extLst>
              <a:ext uri="{FF2B5EF4-FFF2-40B4-BE49-F238E27FC236}">
                <a16:creationId xmlns:a16="http://schemas.microsoft.com/office/drawing/2014/main" id="{0B07893B-B690-4043-A2DE-F137DC57535B}"/>
              </a:ext>
            </a:extLst>
          </p:cNvPr>
          <p:cNvGrpSpPr/>
          <p:nvPr/>
        </p:nvGrpSpPr>
        <p:grpSpPr>
          <a:xfrm>
            <a:off x="6516568" y="5491018"/>
            <a:ext cx="2203222" cy="1036025"/>
            <a:chOff x="7026501" y="4509120"/>
            <a:chExt cx="1499710" cy="86335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FBC3951-F619-4460-B58C-57C3DDC3B180}"/>
                </a:ext>
              </a:extLst>
            </p:cNvPr>
            <p:cNvSpPr txBox="1"/>
            <p:nvPr/>
          </p:nvSpPr>
          <p:spPr>
            <a:xfrm>
              <a:off x="7026501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LINE Bot </a:t>
              </a:r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功能配置 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0E2136-52BF-4698-973A-B1CA58A38387}"/>
                </a:ext>
              </a:extLst>
            </p:cNvPr>
            <p:cNvSpPr txBox="1"/>
            <p:nvPr/>
          </p:nvSpPr>
          <p:spPr>
            <a:xfrm>
              <a:off x="7026501" y="4756921"/>
              <a:ext cx="149971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上傳 </a:t>
              </a:r>
              <a:r>
                <a:rPr lang="en-US" altLang="zh-TW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Rich Menu </a:t>
              </a: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圖片）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配置選單功能映射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設定歡迎訊息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2AAB6D1-FEB4-48C8-AC5C-54CE0BF2E54B}"/>
              </a:ext>
            </a:extLst>
          </p:cNvPr>
          <p:cNvSpPr txBox="1"/>
          <p:nvPr/>
        </p:nvSpPr>
        <p:spPr>
          <a:xfrm>
            <a:off x="2406430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1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3A8BB0-496B-4B60-946D-368C69859456}"/>
              </a:ext>
            </a:extLst>
          </p:cNvPr>
          <p:cNvSpPr txBox="1"/>
          <p:nvPr/>
        </p:nvSpPr>
        <p:spPr>
          <a:xfrm>
            <a:off x="4098304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2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5B873-18A3-456F-9DD7-85100101F9AA}"/>
              </a:ext>
            </a:extLst>
          </p:cNvPr>
          <p:cNvSpPr txBox="1"/>
          <p:nvPr/>
        </p:nvSpPr>
        <p:spPr>
          <a:xfrm>
            <a:off x="5790178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3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787AFC-A11C-4775-9F74-D1B68E04769D}"/>
              </a:ext>
            </a:extLst>
          </p:cNvPr>
          <p:cNvSpPr txBox="1"/>
          <p:nvPr/>
        </p:nvSpPr>
        <p:spPr>
          <a:xfrm>
            <a:off x="7482052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4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BBD06A-FC54-443E-B957-56AF37F25257}"/>
              </a:ext>
            </a:extLst>
          </p:cNvPr>
          <p:cNvSpPr txBox="1"/>
          <p:nvPr/>
        </p:nvSpPr>
        <p:spPr>
          <a:xfrm>
            <a:off x="9173926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5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22E18-3B7A-432F-A372-C0353B86E383}"/>
              </a:ext>
            </a:extLst>
          </p:cNvPr>
          <p:cNvSpPr txBox="1"/>
          <p:nvPr/>
        </p:nvSpPr>
        <p:spPr>
          <a:xfrm>
            <a:off x="10865798" y="4292675"/>
            <a:ext cx="14443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60" b="1" dirty="0">
                <a:solidFill>
                  <a:schemeClr val="bg1"/>
                </a:solidFill>
                <a:cs typeface="Arial" pitchFamily="34" charset="0"/>
              </a:rPr>
              <a:t>6</a:t>
            </a:r>
            <a:endParaRPr lang="ko-KR" altLang="en-US" sz="216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8" name="Group 71">
            <a:extLst>
              <a:ext uri="{FF2B5EF4-FFF2-40B4-BE49-F238E27FC236}">
                <a16:creationId xmlns:a16="http://schemas.microsoft.com/office/drawing/2014/main" id="{991BAC4C-69D5-428D-BA7D-EB8B7C5B3A9F}"/>
              </a:ext>
            </a:extLst>
          </p:cNvPr>
          <p:cNvGrpSpPr/>
          <p:nvPr/>
        </p:nvGrpSpPr>
        <p:grpSpPr>
          <a:xfrm>
            <a:off x="9994290" y="5503057"/>
            <a:ext cx="2807309" cy="1682356"/>
            <a:chOff x="13941990" y="4509120"/>
            <a:chExt cx="1499710" cy="140196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6E0026-5357-4E7F-B224-A58FE8C7DC95}"/>
                </a:ext>
              </a:extLst>
            </p:cNvPr>
            <p:cNvSpPr txBox="1"/>
            <p:nvPr/>
          </p:nvSpPr>
          <p:spPr>
            <a:xfrm>
              <a:off x="13941990" y="4509120"/>
              <a:ext cx="1499710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系統測試與驗證 </a:t>
              </a:r>
              <a:endPara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354C9FB-4559-4AD2-A0AD-55331B495274}"/>
                </a:ext>
              </a:extLst>
            </p:cNvPr>
            <p:cNvSpPr txBox="1"/>
            <p:nvPr/>
          </p:nvSpPr>
          <p:spPr>
            <a:xfrm>
              <a:off x="13941990" y="4756921"/>
              <a:ext cx="149971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功能測試：驗證四大學習模式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壓力測試：多用戶同時使用</a:t>
              </a:r>
              <a:endPara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異常測試：網路中斷恢復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08220473-2CD2-7719-E64A-E2533D0B398D}"/>
              </a:ext>
            </a:extLst>
          </p:cNvPr>
          <p:cNvSpPr txBox="1">
            <a:spLocks/>
          </p:cNvSpPr>
          <p:nvPr/>
        </p:nvSpPr>
        <p:spPr>
          <a:xfrm>
            <a:off x="171161" y="291665"/>
            <a:ext cx="6453230" cy="86909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648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5400" b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技術實作與部署流程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42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880B047E-8B41-295E-A5CB-2035224E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4BCB9C7F-A7F8-5E62-B171-0DCEC151B0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現有英語學習應用比較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EB764971-80C4-0653-099B-1452F22A9A08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437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87364" y="271463"/>
            <a:ext cx="7186652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現有英語學習應用比較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974B2B-D7E9-2D4D-679F-CED51C1BE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960151"/>
              </p:ext>
            </p:extLst>
          </p:nvPr>
        </p:nvGraphicFramePr>
        <p:xfrm>
          <a:off x="810228" y="1514497"/>
          <a:ext cx="12824749" cy="259080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729465">
                  <a:extLst>
                    <a:ext uri="{9D8B030D-6E8A-4147-A177-3AD203B41FA5}">
                      <a16:colId xmlns:a16="http://schemas.microsoft.com/office/drawing/2014/main" val="2317270925"/>
                    </a:ext>
                  </a:extLst>
                </a:gridCol>
                <a:gridCol w="2973976">
                  <a:extLst>
                    <a:ext uri="{9D8B030D-6E8A-4147-A177-3AD203B41FA5}">
                      <a16:colId xmlns:a16="http://schemas.microsoft.com/office/drawing/2014/main" val="1292655883"/>
                    </a:ext>
                  </a:extLst>
                </a:gridCol>
                <a:gridCol w="2646729">
                  <a:extLst>
                    <a:ext uri="{9D8B030D-6E8A-4147-A177-3AD203B41FA5}">
                      <a16:colId xmlns:a16="http://schemas.microsoft.com/office/drawing/2014/main" val="330181598"/>
                    </a:ext>
                  </a:extLst>
                </a:gridCol>
                <a:gridCol w="2996722">
                  <a:extLst>
                    <a:ext uri="{9D8B030D-6E8A-4147-A177-3AD203B41FA5}">
                      <a16:colId xmlns:a16="http://schemas.microsoft.com/office/drawing/2014/main" val="3472439507"/>
                    </a:ext>
                  </a:extLst>
                </a:gridCol>
                <a:gridCol w="2477857">
                  <a:extLst>
                    <a:ext uri="{9D8B030D-6E8A-4147-A177-3AD203B41FA5}">
                      <a16:colId xmlns:a16="http://schemas.microsoft.com/office/drawing/2014/main" val="99418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ELSA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本研究系統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33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Line Bot，</a:t>
                      </a:r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無需額外下載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對話練習、發音評估、自動回饋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對話練習、單字練習、社群互動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專業發音訓練、語音辨識、聽力練習、個人化建議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對話、單字造句、跟讀、聽力練習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19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價格模式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免費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71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目標用戶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英語初學者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84672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0A30482B-0DE2-B56F-1C59-9F1DC0AE779B}"/>
              </a:ext>
            </a:extLst>
          </p:cNvPr>
          <p:cNvSpPr txBox="1"/>
          <p:nvPr/>
        </p:nvSpPr>
        <p:spPr>
          <a:xfrm>
            <a:off x="3256005" y="5074415"/>
            <a:ext cx="81183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差異化優勢總結</a:t>
            </a: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低使用門檻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：無需額外安裝、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直接使用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功能整合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：對話、造句、跟讀三合一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零成本學習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：完全免費，無經濟壓力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適合初學者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：簡易操作、降低技術門檻</a:t>
            </a: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68048183-B9FD-AA92-A600-5A67ABFB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29477FF6-FDBD-CEDD-985B-0FFBDDCBF8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使用者回饋與改善建議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843E5EFD-475A-EDC0-5301-BC001FD13C67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90231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0205933-4EE2-4A46-9FA3-CC7EB24DA067}"/>
              </a:ext>
            </a:extLst>
          </p:cNvPr>
          <p:cNvSpPr/>
          <p:nvPr/>
        </p:nvSpPr>
        <p:spPr>
          <a:xfrm>
            <a:off x="4905056" y="1448756"/>
            <a:ext cx="4364072" cy="4364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8029" y="303856"/>
            <a:ext cx="7137171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使用者回饋與改善建議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D09B46-3B65-4F09-9E94-91FE49C5A21F}"/>
              </a:ext>
            </a:extLst>
          </p:cNvPr>
          <p:cNvSpPr/>
          <p:nvPr/>
        </p:nvSpPr>
        <p:spPr>
          <a:xfrm>
            <a:off x="7337934" y="2333163"/>
            <a:ext cx="1744818" cy="2777628"/>
          </a:xfrm>
          <a:custGeom>
            <a:avLst/>
            <a:gdLst>
              <a:gd name="connsiteX0" fmla="*/ 1127628 w 1136356"/>
              <a:gd name="connsiteY0" fmla="*/ 671962 h 1808998"/>
              <a:gd name="connsiteX1" fmla="*/ 1015351 w 1136356"/>
              <a:gd name="connsiteY1" fmla="*/ 617607 h 1808998"/>
              <a:gd name="connsiteX2" fmla="*/ 995308 w 1136356"/>
              <a:gd name="connsiteY2" fmla="*/ 623383 h 1808998"/>
              <a:gd name="connsiteX3" fmla="*/ 953862 w 1136356"/>
              <a:gd name="connsiteY3" fmla="*/ 695573 h 1808998"/>
              <a:gd name="connsiteX4" fmla="*/ 846341 w 1136356"/>
              <a:gd name="connsiteY4" fmla="*/ 882418 h 1808998"/>
              <a:gd name="connsiteX5" fmla="*/ 833093 w 1136356"/>
              <a:gd name="connsiteY5" fmla="*/ 885305 h 1808998"/>
              <a:gd name="connsiteX6" fmla="*/ 778228 w 1136356"/>
              <a:gd name="connsiteY6" fmla="*/ 844029 h 1808998"/>
              <a:gd name="connsiteX7" fmla="*/ 725062 w 1136356"/>
              <a:gd name="connsiteY7" fmla="*/ 830441 h 1808998"/>
              <a:gd name="connsiteX8" fmla="*/ 715041 w 1136356"/>
              <a:gd name="connsiteY8" fmla="*/ 830271 h 1808998"/>
              <a:gd name="connsiteX9" fmla="*/ 698564 w 1136356"/>
              <a:gd name="connsiteY9" fmla="*/ 831120 h 1808998"/>
              <a:gd name="connsiteX10" fmla="*/ 680559 w 1136356"/>
              <a:gd name="connsiteY10" fmla="*/ 834687 h 1808998"/>
              <a:gd name="connsiteX11" fmla="*/ 614654 w 1136356"/>
              <a:gd name="connsiteY11" fmla="*/ 823137 h 1808998"/>
              <a:gd name="connsiteX12" fmla="*/ 606671 w 1136356"/>
              <a:gd name="connsiteY12" fmla="*/ 818551 h 1808998"/>
              <a:gd name="connsiteX13" fmla="*/ 584929 w 1136356"/>
              <a:gd name="connsiteY13" fmla="*/ 808189 h 1808998"/>
              <a:gd name="connsiteX14" fmla="*/ 552146 w 1136356"/>
              <a:gd name="connsiteY14" fmla="*/ 796639 h 1808998"/>
              <a:gd name="connsiteX15" fmla="*/ 545351 w 1136356"/>
              <a:gd name="connsiteY15" fmla="*/ 790524 h 1808998"/>
              <a:gd name="connsiteX16" fmla="*/ 499490 w 1136356"/>
              <a:gd name="connsiteY16" fmla="*/ 772689 h 1808998"/>
              <a:gd name="connsiteX17" fmla="*/ 475709 w 1136356"/>
              <a:gd name="connsiteY17" fmla="*/ 765555 h 1808998"/>
              <a:gd name="connsiteX18" fmla="*/ 449381 w 1136356"/>
              <a:gd name="connsiteY18" fmla="*/ 751796 h 1808998"/>
              <a:gd name="connsiteX19" fmla="*/ 440209 w 1136356"/>
              <a:gd name="connsiteY19" fmla="*/ 741944 h 1808998"/>
              <a:gd name="connsiteX20" fmla="*/ 428319 w 1136356"/>
              <a:gd name="connsiteY20" fmla="*/ 728865 h 1808998"/>
              <a:gd name="connsiteX21" fmla="*/ 418127 w 1136356"/>
              <a:gd name="connsiteY21" fmla="*/ 727846 h 1808998"/>
              <a:gd name="connsiteX22" fmla="*/ 406916 w 1136356"/>
              <a:gd name="connsiteY22" fmla="*/ 710520 h 1808998"/>
              <a:gd name="connsiteX23" fmla="*/ 413541 w 1136356"/>
              <a:gd name="connsiteY23" fmla="*/ 692175 h 1808998"/>
              <a:gd name="connsiteX24" fmla="*/ 421354 w 1136356"/>
              <a:gd name="connsiteY24" fmla="*/ 662620 h 1808998"/>
              <a:gd name="connsiteX25" fmla="*/ 419656 w 1136356"/>
              <a:gd name="connsiteY25" fmla="*/ 616928 h 1808998"/>
              <a:gd name="connsiteX26" fmla="*/ 403349 w 1136356"/>
              <a:gd name="connsiteY26" fmla="*/ 577011 h 1808998"/>
              <a:gd name="connsiteX27" fmla="*/ 389081 w 1136356"/>
              <a:gd name="connsiteY27" fmla="*/ 534376 h 1808998"/>
              <a:gd name="connsiteX28" fmla="*/ 367849 w 1136356"/>
              <a:gd name="connsiteY28" fmla="*/ 467452 h 1808998"/>
              <a:gd name="connsiteX29" fmla="*/ 373794 w 1136356"/>
              <a:gd name="connsiteY29" fmla="*/ 432631 h 1808998"/>
              <a:gd name="connsiteX30" fmla="*/ 376681 w 1136356"/>
              <a:gd name="connsiteY30" fmla="*/ 426516 h 1808998"/>
              <a:gd name="connsiteX31" fmla="*/ 372265 w 1136356"/>
              <a:gd name="connsiteY31" fmla="*/ 406812 h 1808998"/>
              <a:gd name="connsiteX32" fmla="*/ 350693 w 1136356"/>
              <a:gd name="connsiteY32" fmla="*/ 385240 h 1808998"/>
              <a:gd name="connsiteX33" fmla="*/ 351542 w 1136356"/>
              <a:gd name="connsiteY33" fmla="*/ 370123 h 1808998"/>
              <a:gd name="connsiteX34" fmla="*/ 370736 w 1136356"/>
              <a:gd name="connsiteY34" fmla="*/ 368764 h 1808998"/>
              <a:gd name="connsiteX35" fmla="*/ 400292 w 1136356"/>
              <a:gd name="connsiteY35" fmla="*/ 383542 h 1808998"/>
              <a:gd name="connsiteX36" fmla="*/ 430697 w 1136356"/>
              <a:gd name="connsiteY36" fmla="*/ 370972 h 1808998"/>
              <a:gd name="connsiteX37" fmla="*/ 444795 w 1136356"/>
              <a:gd name="connsiteY37" fmla="*/ 357383 h 1808998"/>
              <a:gd name="connsiteX38" fmla="*/ 468915 w 1136356"/>
              <a:gd name="connsiteY38" fmla="*/ 338529 h 1808998"/>
              <a:gd name="connsiteX39" fmla="*/ 470444 w 1136356"/>
              <a:gd name="connsiteY39" fmla="*/ 334622 h 1808998"/>
              <a:gd name="connsiteX40" fmla="*/ 485901 w 1136356"/>
              <a:gd name="connsiteY40" fmla="*/ 322732 h 1808998"/>
              <a:gd name="connsiteX41" fmla="*/ 506114 w 1136356"/>
              <a:gd name="connsiteY41" fmla="*/ 302689 h 1808998"/>
              <a:gd name="connsiteX42" fmla="*/ 503566 w 1136356"/>
              <a:gd name="connsiteY42" fmla="*/ 264640 h 1808998"/>
              <a:gd name="connsiteX43" fmla="*/ 510700 w 1136356"/>
              <a:gd name="connsiteY43" fmla="*/ 231518 h 1808998"/>
              <a:gd name="connsiteX44" fmla="*/ 514607 w 1136356"/>
              <a:gd name="connsiteY44" fmla="*/ 220477 h 1808998"/>
              <a:gd name="connsiteX45" fmla="*/ 518344 w 1136356"/>
              <a:gd name="connsiteY45" fmla="*/ 188543 h 1808998"/>
              <a:gd name="connsiteX46" fmla="*/ 532782 w 1136356"/>
              <a:gd name="connsiteY46" fmla="*/ 141153 h 1808998"/>
              <a:gd name="connsiteX47" fmla="*/ 534480 w 1136356"/>
              <a:gd name="connsiteY47" fmla="*/ 131301 h 1808998"/>
              <a:gd name="connsiteX48" fmla="*/ 527686 w 1136356"/>
              <a:gd name="connsiteY48" fmla="*/ 107860 h 1808998"/>
              <a:gd name="connsiteX49" fmla="*/ 498980 w 1136356"/>
              <a:gd name="connsiteY49" fmla="*/ 61829 h 1808998"/>
              <a:gd name="connsiteX50" fmla="*/ 496772 w 1136356"/>
              <a:gd name="connsiteY50" fmla="*/ 59281 h 1808998"/>
              <a:gd name="connsiteX51" fmla="*/ 471293 w 1136356"/>
              <a:gd name="connsiteY51" fmla="*/ 38728 h 1808998"/>
              <a:gd name="connsiteX52" fmla="*/ 445644 w 1136356"/>
              <a:gd name="connsiteY52" fmla="*/ 18345 h 1808998"/>
              <a:gd name="connsiteX53" fmla="*/ 423223 w 1136356"/>
              <a:gd name="connsiteY53" fmla="*/ 5945 h 1808998"/>
              <a:gd name="connsiteX54" fmla="*/ 381777 w 1136356"/>
              <a:gd name="connsiteY54" fmla="*/ 0 h 1808998"/>
              <a:gd name="connsiteX55" fmla="*/ 373284 w 1136356"/>
              <a:gd name="connsiteY55" fmla="*/ 0 h 1808998"/>
              <a:gd name="connsiteX56" fmla="*/ 344918 w 1136356"/>
              <a:gd name="connsiteY56" fmla="*/ 9852 h 1808998"/>
              <a:gd name="connsiteX57" fmla="*/ 300075 w 1136356"/>
              <a:gd name="connsiteY57" fmla="*/ 35161 h 1808998"/>
              <a:gd name="connsiteX58" fmla="*/ 273407 w 1136356"/>
              <a:gd name="connsiteY58" fmla="*/ 71001 h 1808998"/>
              <a:gd name="connsiteX59" fmla="*/ 251156 w 1136356"/>
              <a:gd name="connsiteY59" fmla="*/ 134358 h 1808998"/>
              <a:gd name="connsiteX60" fmla="*/ 243172 w 1136356"/>
              <a:gd name="connsiteY60" fmla="*/ 183618 h 1808998"/>
              <a:gd name="connsiteX61" fmla="*/ 237907 w 1136356"/>
              <a:gd name="connsiteY61" fmla="*/ 235594 h 1808998"/>
              <a:gd name="connsiteX62" fmla="*/ 227375 w 1136356"/>
              <a:gd name="connsiteY62" fmla="*/ 272794 h 1808998"/>
              <a:gd name="connsiteX63" fmla="*/ 214636 w 1136356"/>
              <a:gd name="connsiteY63" fmla="*/ 276530 h 1808998"/>
              <a:gd name="connsiteX64" fmla="*/ 194423 w 1136356"/>
              <a:gd name="connsiteY64" fmla="*/ 286382 h 1808998"/>
              <a:gd name="connsiteX65" fmla="*/ 167925 w 1136356"/>
              <a:gd name="connsiteY65" fmla="*/ 335641 h 1808998"/>
              <a:gd name="connsiteX66" fmla="*/ 153317 w 1136356"/>
              <a:gd name="connsiteY66" fmla="*/ 353307 h 1808998"/>
              <a:gd name="connsiteX67" fmla="*/ 115948 w 1136356"/>
              <a:gd name="connsiteY67" fmla="*/ 403585 h 1808998"/>
              <a:gd name="connsiteX68" fmla="*/ 59045 w 1136356"/>
              <a:gd name="connsiteY68" fmla="*/ 481550 h 1808998"/>
              <a:gd name="connsiteX69" fmla="*/ 49193 w 1136356"/>
              <a:gd name="connsiteY69" fmla="*/ 495139 h 1808998"/>
              <a:gd name="connsiteX70" fmla="*/ 29320 w 1136356"/>
              <a:gd name="connsiteY70" fmla="*/ 577181 h 1808998"/>
              <a:gd name="connsiteX71" fmla="*/ 29320 w 1136356"/>
              <a:gd name="connsiteY71" fmla="*/ 660752 h 1808998"/>
              <a:gd name="connsiteX72" fmla="*/ 25753 w 1136356"/>
              <a:gd name="connsiteY72" fmla="*/ 670264 h 1808998"/>
              <a:gd name="connsiteX73" fmla="*/ 614 w 1136356"/>
              <a:gd name="connsiteY73" fmla="*/ 734131 h 1808998"/>
              <a:gd name="connsiteX74" fmla="*/ 17600 w 1136356"/>
              <a:gd name="connsiteY74" fmla="*/ 818041 h 1808998"/>
              <a:gd name="connsiteX75" fmla="*/ 34416 w 1136356"/>
              <a:gd name="connsiteY75" fmla="*/ 881059 h 1808998"/>
              <a:gd name="connsiteX76" fmla="*/ 53949 w 1136356"/>
              <a:gd name="connsiteY76" fmla="*/ 945435 h 1808998"/>
              <a:gd name="connsiteX77" fmla="*/ 61763 w 1136356"/>
              <a:gd name="connsiteY77" fmla="*/ 982295 h 1808998"/>
              <a:gd name="connsiteX78" fmla="*/ 59894 w 1136356"/>
              <a:gd name="connsiteY78" fmla="*/ 1014398 h 1808998"/>
              <a:gd name="connsiteX79" fmla="*/ 54289 w 1136356"/>
              <a:gd name="connsiteY79" fmla="*/ 1099837 h 1808998"/>
              <a:gd name="connsiteX80" fmla="*/ 79768 w 1136356"/>
              <a:gd name="connsiteY80" fmla="*/ 1170498 h 1808998"/>
              <a:gd name="connsiteX81" fmla="*/ 97943 w 1136356"/>
              <a:gd name="connsiteY81" fmla="*/ 1188673 h 1808998"/>
              <a:gd name="connsiteX82" fmla="*/ 115269 w 1136356"/>
              <a:gd name="connsiteY82" fmla="*/ 1200903 h 1808998"/>
              <a:gd name="connsiteX83" fmla="*/ 140408 w 1136356"/>
              <a:gd name="connsiteY83" fmla="*/ 1210755 h 1808998"/>
              <a:gd name="connsiteX84" fmla="*/ 196801 w 1136356"/>
              <a:gd name="connsiteY84" fmla="*/ 1222985 h 1808998"/>
              <a:gd name="connsiteX85" fmla="*/ 239945 w 1136356"/>
              <a:gd name="connsiteY85" fmla="*/ 1225872 h 1808998"/>
              <a:gd name="connsiteX86" fmla="*/ 259649 w 1136356"/>
              <a:gd name="connsiteY86" fmla="*/ 1242349 h 1808998"/>
              <a:gd name="connsiteX87" fmla="*/ 270690 w 1136356"/>
              <a:gd name="connsiteY87" fmla="*/ 1256787 h 1808998"/>
              <a:gd name="connsiteX88" fmla="*/ 304661 w 1136356"/>
              <a:gd name="connsiteY88" fmla="*/ 1252031 h 1808998"/>
              <a:gd name="connsiteX89" fmla="*/ 314004 w 1136356"/>
              <a:gd name="connsiteY89" fmla="*/ 1237253 h 1808998"/>
              <a:gd name="connsiteX90" fmla="*/ 327762 w 1136356"/>
              <a:gd name="connsiteY90" fmla="*/ 1223494 h 1808998"/>
              <a:gd name="connsiteX91" fmla="*/ 337954 w 1136356"/>
              <a:gd name="connsiteY91" fmla="*/ 1224174 h 1808998"/>
              <a:gd name="connsiteX92" fmla="*/ 344578 w 1136356"/>
              <a:gd name="connsiteY92" fmla="*/ 1229779 h 1808998"/>
              <a:gd name="connsiteX93" fmla="*/ 359016 w 1136356"/>
              <a:gd name="connsiteY93" fmla="*/ 1241500 h 1808998"/>
              <a:gd name="connsiteX94" fmla="*/ 365811 w 1136356"/>
              <a:gd name="connsiteY94" fmla="*/ 1251861 h 1808998"/>
              <a:gd name="connsiteX95" fmla="*/ 353241 w 1136356"/>
              <a:gd name="connsiteY95" fmla="*/ 1261543 h 1808998"/>
              <a:gd name="connsiteX96" fmla="*/ 347636 w 1136356"/>
              <a:gd name="connsiteY96" fmla="*/ 1266639 h 1808998"/>
              <a:gd name="connsiteX97" fmla="*/ 348315 w 1136356"/>
              <a:gd name="connsiteY97" fmla="*/ 1298742 h 1808998"/>
              <a:gd name="connsiteX98" fmla="*/ 348994 w 1136356"/>
              <a:gd name="connsiteY98" fmla="*/ 1315558 h 1808998"/>
              <a:gd name="connsiteX99" fmla="*/ 349504 w 1136356"/>
              <a:gd name="connsiteY99" fmla="*/ 1334582 h 1808998"/>
              <a:gd name="connsiteX100" fmla="*/ 348994 w 1136356"/>
              <a:gd name="connsiteY100" fmla="*/ 1367365 h 1808998"/>
              <a:gd name="connsiteX101" fmla="*/ 349164 w 1136356"/>
              <a:gd name="connsiteY101" fmla="*/ 1383502 h 1808998"/>
              <a:gd name="connsiteX102" fmla="*/ 347975 w 1136356"/>
              <a:gd name="connsiteY102" fmla="*/ 1410679 h 1808998"/>
              <a:gd name="connsiteX103" fmla="*/ 349164 w 1136356"/>
              <a:gd name="connsiteY103" fmla="*/ 1443802 h 1808998"/>
              <a:gd name="connsiteX104" fmla="*/ 346616 w 1136356"/>
              <a:gd name="connsiteY104" fmla="*/ 1497137 h 1808998"/>
              <a:gd name="connsiteX105" fmla="*/ 336255 w 1136356"/>
              <a:gd name="connsiteY105" fmla="*/ 1503932 h 1808998"/>
              <a:gd name="connsiteX106" fmla="*/ 292431 w 1136356"/>
              <a:gd name="connsiteY106" fmla="*/ 1486096 h 1808998"/>
              <a:gd name="connsiteX107" fmla="*/ 216335 w 1136356"/>
              <a:gd name="connsiteY107" fmla="*/ 1454842 h 1808998"/>
              <a:gd name="connsiteX108" fmla="*/ 193743 w 1136356"/>
              <a:gd name="connsiteY108" fmla="*/ 1467922 h 1808998"/>
              <a:gd name="connsiteX109" fmla="*/ 201387 w 1136356"/>
              <a:gd name="connsiteY109" fmla="*/ 1533147 h 1808998"/>
              <a:gd name="connsiteX110" fmla="*/ 203086 w 1136356"/>
              <a:gd name="connsiteY110" fmla="*/ 1537903 h 1808998"/>
              <a:gd name="connsiteX111" fmla="*/ 208012 w 1136356"/>
              <a:gd name="connsiteY111" fmla="*/ 1545037 h 1808998"/>
              <a:gd name="connsiteX112" fmla="*/ 212598 w 1136356"/>
              <a:gd name="connsiteY112" fmla="*/ 1556078 h 1808998"/>
              <a:gd name="connsiteX113" fmla="*/ 205124 w 1136356"/>
              <a:gd name="connsiteY113" fmla="*/ 1561854 h 1808998"/>
              <a:gd name="connsiteX114" fmla="*/ 138369 w 1136356"/>
              <a:gd name="connsiteY114" fmla="*/ 1577650 h 1808998"/>
              <a:gd name="connsiteX115" fmla="*/ 73653 w 1136356"/>
              <a:gd name="connsiteY115" fmla="*/ 1591579 h 1808998"/>
              <a:gd name="connsiteX116" fmla="*/ 54119 w 1136356"/>
              <a:gd name="connsiteY116" fmla="*/ 1608055 h 1808998"/>
              <a:gd name="connsiteX117" fmla="*/ 66009 w 1136356"/>
              <a:gd name="connsiteY117" fmla="*/ 1685001 h 1808998"/>
              <a:gd name="connsiteX118" fmla="*/ 81467 w 1136356"/>
              <a:gd name="connsiteY118" fmla="*/ 1699949 h 1808998"/>
              <a:gd name="connsiteX119" fmla="*/ 115608 w 1136356"/>
              <a:gd name="connsiteY119" fmla="*/ 1695193 h 1808998"/>
              <a:gd name="connsiteX120" fmla="*/ 134123 w 1136356"/>
              <a:gd name="connsiteY120" fmla="*/ 1651199 h 1808998"/>
              <a:gd name="connsiteX121" fmla="*/ 131235 w 1136356"/>
              <a:gd name="connsiteY121" fmla="*/ 1640668 h 1808998"/>
              <a:gd name="connsiteX122" fmla="*/ 137860 w 1136356"/>
              <a:gd name="connsiteY122" fmla="*/ 1626400 h 1808998"/>
              <a:gd name="connsiteX123" fmla="*/ 239775 w 1136356"/>
              <a:gd name="connsiteY123" fmla="*/ 1615529 h 1808998"/>
              <a:gd name="connsiteX124" fmla="*/ 245550 w 1136356"/>
              <a:gd name="connsiteY124" fmla="*/ 1614680 h 1808998"/>
              <a:gd name="connsiteX125" fmla="*/ 265933 w 1136356"/>
              <a:gd name="connsiteY125" fmla="*/ 1608395 h 1808998"/>
              <a:gd name="connsiteX126" fmla="*/ 316042 w 1136356"/>
              <a:gd name="connsiteY126" fmla="*/ 1599902 h 1808998"/>
              <a:gd name="connsiteX127" fmla="*/ 348994 w 1136356"/>
              <a:gd name="connsiteY127" fmla="*/ 1599053 h 1808998"/>
              <a:gd name="connsiteX128" fmla="*/ 364112 w 1136356"/>
              <a:gd name="connsiteY128" fmla="*/ 1612132 h 1808998"/>
              <a:gd name="connsiteX129" fmla="*/ 368528 w 1136356"/>
              <a:gd name="connsiteY129" fmla="*/ 1668015 h 1808998"/>
              <a:gd name="connsiteX130" fmla="*/ 353750 w 1136356"/>
              <a:gd name="connsiteY130" fmla="*/ 1679906 h 1808998"/>
              <a:gd name="connsiteX131" fmla="*/ 345427 w 1136356"/>
              <a:gd name="connsiteY131" fmla="*/ 1685171 h 1808998"/>
              <a:gd name="connsiteX132" fmla="*/ 344578 w 1136356"/>
              <a:gd name="connsiteY132" fmla="*/ 1694513 h 1808998"/>
              <a:gd name="connsiteX133" fmla="*/ 361394 w 1136356"/>
              <a:gd name="connsiteY133" fmla="*/ 1786067 h 1808998"/>
              <a:gd name="connsiteX134" fmla="*/ 372435 w 1136356"/>
              <a:gd name="connsiteY134" fmla="*/ 1798297 h 1808998"/>
              <a:gd name="connsiteX135" fmla="*/ 419995 w 1136356"/>
              <a:gd name="connsiteY135" fmla="*/ 1808998 h 1808998"/>
              <a:gd name="connsiteX136" fmla="*/ 435453 w 1136356"/>
              <a:gd name="connsiteY136" fmla="*/ 1803223 h 1808998"/>
              <a:gd name="connsiteX137" fmla="*/ 456006 w 1136356"/>
              <a:gd name="connsiteY137" fmla="*/ 1753624 h 1808998"/>
              <a:gd name="connsiteX138" fmla="*/ 441568 w 1136356"/>
              <a:gd name="connsiteY138" fmla="*/ 1732562 h 1808998"/>
              <a:gd name="connsiteX139" fmla="*/ 432056 w 1136356"/>
              <a:gd name="connsiteY139" fmla="*/ 1729165 h 1808998"/>
              <a:gd name="connsiteX140" fmla="*/ 417108 w 1136356"/>
              <a:gd name="connsiteY140" fmla="*/ 1711499 h 1808998"/>
              <a:gd name="connsiteX141" fmla="*/ 410653 w 1136356"/>
              <a:gd name="connsiteY141" fmla="*/ 1615869 h 1808998"/>
              <a:gd name="connsiteX142" fmla="*/ 425771 w 1136356"/>
              <a:gd name="connsiteY142" fmla="*/ 1597694 h 1808998"/>
              <a:gd name="connsiteX143" fmla="*/ 475709 w 1136356"/>
              <a:gd name="connsiteY143" fmla="*/ 1599053 h 1808998"/>
              <a:gd name="connsiteX144" fmla="*/ 555713 w 1136356"/>
              <a:gd name="connsiteY144" fmla="*/ 1608395 h 1808998"/>
              <a:gd name="connsiteX145" fmla="*/ 662894 w 1136356"/>
              <a:gd name="connsiteY145" fmla="*/ 1618926 h 1808998"/>
              <a:gd name="connsiteX146" fmla="*/ 671726 w 1136356"/>
              <a:gd name="connsiteY146" fmla="*/ 1630477 h 1808998"/>
              <a:gd name="connsiteX147" fmla="*/ 680389 w 1136356"/>
              <a:gd name="connsiteY147" fmla="*/ 1677188 h 1808998"/>
              <a:gd name="connsiteX148" fmla="*/ 694488 w 1136356"/>
              <a:gd name="connsiteY148" fmla="*/ 1714896 h 1808998"/>
              <a:gd name="connsiteX149" fmla="*/ 733725 w 1136356"/>
              <a:gd name="connsiteY149" fmla="*/ 1752945 h 1808998"/>
              <a:gd name="connsiteX150" fmla="*/ 800140 w 1136356"/>
              <a:gd name="connsiteY150" fmla="*/ 1760758 h 1808998"/>
              <a:gd name="connsiteX151" fmla="*/ 808463 w 1136356"/>
              <a:gd name="connsiteY151" fmla="*/ 1759739 h 1808998"/>
              <a:gd name="connsiteX152" fmla="*/ 825449 w 1136356"/>
              <a:gd name="connsiteY152" fmla="*/ 1757022 h 1808998"/>
              <a:gd name="connsiteX153" fmla="*/ 875217 w 1136356"/>
              <a:gd name="connsiteY153" fmla="*/ 1766873 h 1808998"/>
              <a:gd name="connsiteX154" fmla="*/ 972207 w 1136356"/>
              <a:gd name="connsiteY154" fmla="*/ 1778594 h 1808998"/>
              <a:gd name="connsiteX155" fmla="*/ 1054589 w 1136356"/>
              <a:gd name="connsiteY155" fmla="*/ 1768572 h 1808998"/>
              <a:gd name="connsiteX156" fmla="*/ 1096204 w 1136356"/>
              <a:gd name="connsiteY156" fmla="*/ 1747339 h 1808998"/>
              <a:gd name="connsiteX157" fmla="*/ 1099771 w 1136356"/>
              <a:gd name="connsiteY157" fmla="*/ 1719483 h 1808998"/>
              <a:gd name="connsiteX158" fmla="*/ 1043038 w 1136356"/>
              <a:gd name="connsiteY158" fmla="*/ 1684662 h 1808998"/>
              <a:gd name="connsiteX159" fmla="*/ 1022145 w 1136356"/>
              <a:gd name="connsiteY159" fmla="*/ 1682623 h 1808998"/>
              <a:gd name="connsiteX160" fmla="*/ 1001253 w 1136356"/>
              <a:gd name="connsiteY160" fmla="*/ 1681434 h 1808998"/>
              <a:gd name="connsiteX161" fmla="*/ 995308 w 1136356"/>
              <a:gd name="connsiteY161" fmla="*/ 1680755 h 1808998"/>
              <a:gd name="connsiteX162" fmla="*/ 980870 w 1136356"/>
              <a:gd name="connsiteY162" fmla="*/ 1671243 h 1808998"/>
              <a:gd name="connsiteX163" fmla="*/ 948257 w 1136356"/>
              <a:gd name="connsiteY163" fmla="*/ 1655616 h 1808998"/>
              <a:gd name="connsiteX164" fmla="*/ 945539 w 1136356"/>
              <a:gd name="connsiteY164" fmla="*/ 1651879 h 1808998"/>
              <a:gd name="connsiteX165" fmla="*/ 950295 w 1136356"/>
              <a:gd name="connsiteY165" fmla="*/ 1649331 h 1808998"/>
              <a:gd name="connsiteX166" fmla="*/ 964733 w 1136356"/>
              <a:gd name="connsiteY166" fmla="*/ 1648991 h 1808998"/>
              <a:gd name="connsiteX167" fmla="*/ 1037773 w 1136356"/>
              <a:gd name="connsiteY167" fmla="*/ 1646783 h 1808998"/>
              <a:gd name="connsiteX168" fmla="*/ 1088560 w 1136356"/>
              <a:gd name="connsiteY168" fmla="*/ 1626740 h 1808998"/>
              <a:gd name="connsiteX169" fmla="*/ 1092467 w 1136356"/>
              <a:gd name="connsiteY169" fmla="*/ 1607206 h 1808998"/>
              <a:gd name="connsiteX170" fmla="*/ 1071235 w 1136356"/>
              <a:gd name="connsiteY170" fmla="*/ 1587842 h 1808998"/>
              <a:gd name="connsiteX171" fmla="*/ 1058326 w 1136356"/>
              <a:gd name="connsiteY171" fmla="*/ 1584105 h 1808998"/>
              <a:gd name="connsiteX172" fmla="*/ 1055947 w 1136356"/>
              <a:gd name="connsiteY172" fmla="*/ 1584615 h 1808998"/>
              <a:gd name="connsiteX173" fmla="*/ 1044737 w 1136356"/>
              <a:gd name="connsiteY173" fmla="*/ 1587332 h 1808998"/>
              <a:gd name="connsiteX174" fmla="*/ 1029959 w 1136356"/>
              <a:gd name="connsiteY174" fmla="*/ 1581387 h 1808998"/>
              <a:gd name="connsiteX175" fmla="*/ 1003461 w 1136356"/>
              <a:gd name="connsiteY175" fmla="*/ 1570347 h 1808998"/>
              <a:gd name="connsiteX176" fmla="*/ 994968 w 1136356"/>
              <a:gd name="connsiteY176" fmla="*/ 1561514 h 1808998"/>
              <a:gd name="connsiteX177" fmla="*/ 995987 w 1136356"/>
              <a:gd name="connsiteY177" fmla="*/ 1489324 h 1808998"/>
              <a:gd name="connsiteX178" fmla="*/ 1001253 w 1136356"/>
              <a:gd name="connsiteY178" fmla="*/ 1482360 h 1808998"/>
              <a:gd name="connsiteX179" fmla="*/ 1008047 w 1136356"/>
              <a:gd name="connsiteY179" fmla="*/ 1468941 h 1808998"/>
              <a:gd name="connsiteX180" fmla="*/ 1006519 w 1136356"/>
              <a:gd name="connsiteY180" fmla="*/ 1457220 h 1808998"/>
              <a:gd name="connsiteX181" fmla="*/ 1002442 w 1136356"/>
              <a:gd name="connsiteY181" fmla="*/ 1390296 h 1808998"/>
              <a:gd name="connsiteX182" fmla="*/ 1006519 w 1136356"/>
              <a:gd name="connsiteY182" fmla="*/ 1229439 h 1808998"/>
              <a:gd name="connsiteX183" fmla="*/ 1015691 w 1136356"/>
              <a:gd name="connsiteY183" fmla="*/ 1100856 h 1808998"/>
              <a:gd name="connsiteX184" fmla="*/ 999724 w 1136356"/>
              <a:gd name="connsiteY184" fmla="*/ 1050238 h 1808998"/>
              <a:gd name="connsiteX185" fmla="*/ 992760 w 1136356"/>
              <a:gd name="connsiteY185" fmla="*/ 1032403 h 1808998"/>
              <a:gd name="connsiteX186" fmla="*/ 983248 w 1136356"/>
              <a:gd name="connsiteY186" fmla="*/ 1004037 h 1808998"/>
              <a:gd name="connsiteX187" fmla="*/ 981719 w 1136356"/>
              <a:gd name="connsiteY187" fmla="*/ 990957 h 1808998"/>
              <a:gd name="connsiteX188" fmla="*/ 1133403 w 1136356"/>
              <a:gd name="connsiteY188" fmla="*/ 687759 h 1808998"/>
              <a:gd name="connsiteX189" fmla="*/ 1137819 w 1136356"/>
              <a:gd name="connsiteY189" fmla="*/ 680795 h 1808998"/>
              <a:gd name="connsiteX190" fmla="*/ 1137819 w 1136356"/>
              <a:gd name="connsiteY190" fmla="*/ 679096 h 1808998"/>
              <a:gd name="connsiteX191" fmla="*/ 1127628 w 1136356"/>
              <a:gd name="connsiteY191" fmla="*/ 671962 h 1808998"/>
              <a:gd name="connsiteX192" fmla="*/ 187798 w 1136356"/>
              <a:gd name="connsiteY192" fmla="*/ 1154022 h 1808998"/>
              <a:gd name="connsiteX193" fmla="*/ 143125 w 1136356"/>
              <a:gd name="connsiteY193" fmla="*/ 1155891 h 1808998"/>
              <a:gd name="connsiteX194" fmla="*/ 125630 w 1136356"/>
              <a:gd name="connsiteY194" fmla="*/ 1144000 h 1808998"/>
              <a:gd name="connsiteX195" fmla="*/ 103548 w 1136356"/>
              <a:gd name="connsiteY195" fmla="*/ 1086079 h 1808998"/>
              <a:gd name="connsiteX196" fmla="*/ 103548 w 1136356"/>
              <a:gd name="connsiteY196" fmla="*/ 1069942 h 1808998"/>
              <a:gd name="connsiteX197" fmla="*/ 107795 w 1136356"/>
              <a:gd name="connsiteY197" fmla="*/ 997242 h 1808998"/>
              <a:gd name="connsiteX198" fmla="*/ 120364 w 1136356"/>
              <a:gd name="connsiteY198" fmla="*/ 987051 h 1808998"/>
              <a:gd name="connsiteX199" fmla="*/ 128687 w 1136356"/>
              <a:gd name="connsiteY199" fmla="*/ 997072 h 1808998"/>
              <a:gd name="connsiteX200" fmla="*/ 152128 w 1136356"/>
              <a:gd name="connsiteY200" fmla="*/ 1027817 h 1808998"/>
              <a:gd name="connsiteX201" fmla="*/ 176078 w 1136356"/>
              <a:gd name="connsiteY201" fmla="*/ 1063317 h 1808998"/>
              <a:gd name="connsiteX202" fmla="*/ 176758 w 1136356"/>
              <a:gd name="connsiteY202" fmla="*/ 1066545 h 1808998"/>
              <a:gd name="connsiteX203" fmla="*/ 192215 w 1136356"/>
              <a:gd name="connsiteY203" fmla="*/ 1124636 h 1808998"/>
              <a:gd name="connsiteX204" fmla="*/ 187798 w 1136356"/>
              <a:gd name="connsiteY204" fmla="*/ 1154022 h 1808998"/>
              <a:gd name="connsiteX205" fmla="*/ 795724 w 1136356"/>
              <a:gd name="connsiteY205" fmla="*/ 1195638 h 1808998"/>
              <a:gd name="connsiteX206" fmla="*/ 783663 w 1136356"/>
              <a:gd name="connsiteY206" fmla="*/ 1278699 h 1808998"/>
              <a:gd name="connsiteX207" fmla="*/ 782305 w 1136356"/>
              <a:gd name="connsiteY207" fmla="*/ 1330506 h 1808998"/>
              <a:gd name="connsiteX208" fmla="*/ 772962 w 1136356"/>
              <a:gd name="connsiteY208" fmla="*/ 1370422 h 1808998"/>
              <a:gd name="connsiteX209" fmla="*/ 750201 w 1136356"/>
              <a:gd name="connsiteY209" fmla="*/ 1462486 h 1808998"/>
              <a:gd name="connsiteX210" fmla="*/ 721495 w 1136356"/>
              <a:gd name="connsiteY210" fmla="*/ 1605337 h 1808998"/>
              <a:gd name="connsiteX211" fmla="*/ 720306 w 1136356"/>
              <a:gd name="connsiteY211" fmla="*/ 1606526 h 1808998"/>
              <a:gd name="connsiteX212" fmla="*/ 715041 w 1136356"/>
              <a:gd name="connsiteY212" fmla="*/ 1586313 h 1808998"/>
              <a:gd name="connsiteX213" fmla="*/ 702981 w 1136356"/>
              <a:gd name="connsiteY213" fmla="*/ 1577820 h 1808998"/>
              <a:gd name="connsiteX214" fmla="*/ 615673 w 1136356"/>
              <a:gd name="connsiteY214" fmla="*/ 1561174 h 1808998"/>
              <a:gd name="connsiteX215" fmla="*/ 590024 w 1136356"/>
              <a:gd name="connsiteY215" fmla="*/ 1555739 h 1808998"/>
              <a:gd name="connsiteX216" fmla="*/ 585778 w 1136356"/>
              <a:gd name="connsiteY216" fmla="*/ 1550643 h 1808998"/>
              <a:gd name="connsiteX217" fmla="*/ 589515 w 1136356"/>
              <a:gd name="connsiteY217" fmla="*/ 1516671 h 1808998"/>
              <a:gd name="connsiteX218" fmla="*/ 585608 w 1136356"/>
              <a:gd name="connsiteY218" fmla="*/ 1479302 h 1808998"/>
              <a:gd name="connsiteX219" fmla="*/ 579493 w 1136356"/>
              <a:gd name="connsiteY219" fmla="*/ 1475395 h 1808998"/>
              <a:gd name="connsiteX220" fmla="*/ 569471 w 1136356"/>
              <a:gd name="connsiteY220" fmla="*/ 1463675 h 1808998"/>
              <a:gd name="connsiteX221" fmla="*/ 553335 w 1136356"/>
              <a:gd name="connsiteY221" fmla="*/ 1443292 h 1808998"/>
              <a:gd name="connsiteX222" fmla="*/ 541275 w 1136356"/>
              <a:gd name="connsiteY222" fmla="*/ 1444481 h 1808998"/>
              <a:gd name="connsiteX223" fmla="*/ 442077 w 1136356"/>
              <a:gd name="connsiteY223" fmla="*/ 1492381 h 1808998"/>
              <a:gd name="connsiteX224" fmla="*/ 424072 w 1136356"/>
              <a:gd name="connsiteY224" fmla="*/ 1481340 h 1808998"/>
              <a:gd name="connsiteX225" fmla="*/ 423053 w 1136356"/>
              <a:gd name="connsiteY225" fmla="*/ 1308933 h 1808998"/>
              <a:gd name="connsiteX226" fmla="*/ 423393 w 1136356"/>
              <a:gd name="connsiteY226" fmla="*/ 1264261 h 1808998"/>
              <a:gd name="connsiteX227" fmla="*/ 419486 w 1136356"/>
              <a:gd name="connsiteY227" fmla="*/ 1258485 h 1808998"/>
              <a:gd name="connsiteX228" fmla="*/ 409294 w 1136356"/>
              <a:gd name="connsiteY228" fmla="*/ 1254239 h 1808998"/>
              <a:gd name="connsiteX229" fmla="*/ 404708 w 1136356"/>
              <a:gd name="connsiteY229" fmla="*/ 1251012 h 1808998"/>
              <a:gd name="connsiteX230" fmla="*/ 408275 w 1136356"/>
              <a:gd name="connsiteY230" fmla="*/ 1246086 h 1808998"/>
              <a:gd name="connsiteX231" fmla="*/ 413371 w 1136356"/>
              <a:gd name="connsiteY231" fmla="*/ 1241669 h 1808998"/>
              <a:gd name="connsiteX232" fmla="*/ 440039 w 1136356"/>
              <a:gd name="connsiteY232" fmla="*/ 1229439 h 1808998"/>
              <a:gd name="connsiteX233" fmla="*/ 585268 w 1136356"/>
              <a:gd name="connsiteY233" fmla="*/ 1229100 h 1808998"/>
              <a:gd name="connsiteX234" fmla="*/ 658987 w 1136356"/>
              <a:gd name="connsiteY234" fmla="*/ 1213133 h 1808998"/>
              <a:gd name="connsiteX235" fmla="*/ 680559 w 1136356"/>
              <a:gd name="connsiteY235" fmla="*/ 1196996 h 1808998"/>
              <a:gd name="connsiteX236" fmla="*/ 690241 w 1136356"/>
              <a:gd name="connsiteY236" fmla="*/ 1192580 h 1808998"/>
              <a:gd name="connsiteX237" fmla="*/ 788589 w 1136356"/>
              <a:gd name="connsiteY237" fmla="*/ 1186805 h 1808998"/>
              <a:gd name="connsiteX238" fmla="*/ 795724 w 1136356"/>
              <a:gd name="connsiteY238" fmla="*/ 1195638 h 180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1136356" h="1808998">
                <a:moveTo>
                  <a:pt x="1127628" y="671962"/>
                </a:moveTo>
                <a:cubicBezTo>
                  <a:pt x="1090089" y="653957"/>
                  <a:pt x="1052720" y="635612"/>
                  <a:pt x="1015351" y="617607"/>
                </a:cubicBezTo>
                <a:cubicBezTo>
                  <a:pt x="1003121" y="611662"/>
                  <a:pt x="1001932" y="611832"/>
                  <a:pt x="995308" y="623383"/>
                </a:cubicBezTo>
                <a:cubicBezTo>
                  <a:pt x="981549" y="647503"/>
                  <a:pt x="967621" y="671453"/>
                  <a:pt x="953862" y="695573"/>
                </a:cubicBezTo>
                <a:cubicBezTo>
                  <a:pt x="918022" y="757911"/>
                  <a:pt x="882182" y="820079"/>
                  <a:pt x="846341" y="882418"/>
                </a:cubicBezTo>
                <a:cubicBezTo>
                  <a:pt x="841416" y="891080"/>
                  <a:pt x="840906" y="891080"/>
                  <a:pt x="833093" y="885305"/>
                </a:cubicBezTo>
                <a:cubicBezTo>
                  <a:pt x="814748" y="871547"/>
                  <a:pt x="796063" y="858128"/>
                  <a:pt x="778228" y="844029"/>
                </a:cubicBezTo>
                <a:cubicBezTo>
                  <a:pt x="762261" y="831460"/>
                  <a:pt x="744766" y="827043"/>
                  <a:pt x="725062" y="830441"/>
                </a:cubicBezTo>
                <a:cubicBezTo>
                  <a:pt x="721665" y="830950"/>
                  <a:pt x="718268" y="831630"/>
                  <a:pt x="715041" y="830271"/>
                </a:cubicBezTo>
                <a:cubicBezTo>
                  <a:pt x="709435" y="827893"/>
                  <a:pt x="704000" y="828912"/>
                  <a:pt x="698564" y="831120"/>
                </a:cubicBezTo>
                <a:cubicBezTo>
                  <a:pt x="692789" y="833328"/>
                  <a:pt x="687014" y="835536"/>
                  <a:pt x="680559" y="834687"/>
                </a:cubicBezTo>
                <a:cubicBezTo>
                  <a:pt x="658308" y="831969"/>
                  <a:pt x="636736" y="826194"/>
                  <a:pt x="614654" y="823137"/>
                </a:cubicBezTo>
                <a:cubicBezTo>
                  <a:pt x="611427" y="822627"/>
                  <a:pt x="608879" y="820929"/>
                  <a:pt x="606671" y="818551"/>
                </a:cubicBezTo>
                <a:cubicBezTo>
                  <a:pt x="600895" y="812096"/>
                  <a:pt x="593422" y="809208"/>
                  <a:pt x="584929" y="808189"/>
                </a:cubicBezTo>
                <a:cubicBezTo>
                  <a:pt x="573208" y="806830"/>
                  <a:pt x="563017" y="800715"/>
                  <a:pt x="552146" y="796639"/>
                </a:cubicBezTo>
                <a:cubicBezTo>
                  <a:pt x="549258" y="795620"/>
                  <a:pt x="546710" y="793411"/>
                  <a:pt x="545351" y="790524"/>
                </a:cubicBezTo>
                <a:cubicBezTo>
                  <a:pt x="535500" y="770990"/>
                  <a:pt x="516306" y="772349"/>
                  <a:pt x="499490" y="772689"/>
                </a:cubicBezTo>
                <a:cubicBezTo>
                  <a:pt x="489977" y="772858"/>
                  <a:pt x="482164" y="772519"/>
                  <a:pt x="475709" y="765555"/>
                </a:cubicBezTo>
                <a:cubicBezTo>
                  <a:pt x="468405" y="757571"/>
                  <a:pt x="459912" y="752815"/>
                  <a:pt x="449381" y="751796"/>
                </a:cubicBezTo>
                <a:cubicBezTo>
                  <a:pt x="443606" y="751286"/>
                  <a:pt x="439869" y="748399"/>
                  <a:pt x="440209" y="741944"/>
                </a:cubicBezTo>
                <a:cubicBezTo>
                  <a:pt x="440548" y="733961"/>
                  <a:pt x="435623" y="730394"/>
                  <a:pt x="428319" y="728865"/>
                </a:cubicBezTo>
                <a:cubicBezTo>
                  <a:pt x="424921" y="728186"/>
                  <a:pt x="421524" y="728016"/>
                  <a:pt x="418127" y="727846"/>
                </a:cubicBezTo>
                <a:cubicBezTo>
                  <a:pt x="407426" y="727336"/>
                  <a:pt x="402840" y="720542"/>
                  <a:pt x="406916" y="710520"/>
                </a:cubicBezTo>
                <a:cubicBezTo>
                  <a:pt x="409464" y="704405"/>
                  <a:pt x="411333" y="698290"/>
                  <a:pt x="413541" y="692175"/>
                </a:cubicBezTo>
                <a:cubicBezTo>
                  <a:pt x="417278" y="682663"/>
                  <a:pt x="417108" y="672132"/>
                  <a:pt x="421354" y="662620"/>
                </a:cubicBezTo>
                <a:cubicBezTo>
                  <a:pt x="428319" y="646993"/>
                  <a:pt x="427469" y="632045"/>
                  <a:pt x="419656" y="616928"/>
                </a:cubicBezTo>
                <a:cubicBezTo>
                  <a:pt x="413031" y="604189"/>
                  <a:pt x="406747" y="591109"/>
                  <a:pt x="403349" y="577011"/>
                </a:cubicBezTo>
                <a:cubicBezTo>
                  <a:pt x="399782" y="562403"/>
                  <a:pt x="394177" y="548475"/>
                  <a:pt x="389081" y="534376"/>
                </a:cubicBezTo>
                <a:cubicBezTo>
                  <a:pt x="381098" y="512295"/>
                  <a:pt x="370567" y="491062"/>
                  <a:pt x="367849" y="467452"/>
                </a:cubicBezTo>
                <a:cubicBezTo>
                  <a:pt x="366490" y="455392"/>
                  <a:pt x="364791" y="443162"/>
                  <a:pt x="373794" y="432631"/>
                </a:cubicBezTo>
                <a:cubicBezTo>
                  <a:pt x="375323" y="430932"/>
                  <a:pt x="375832" y="428554"/>
                  <a:pt x="376681" y="426516"/>
                </a:cubicBezTo>
                <a:cubicBezTo>
                  <a:pt x="379739" y="418872"/>
                  <a:pt x="379060" y="412588"/>
                  <a:pt x="372265" y="406812"/>
                </a:cubicBezTo>
                <a:cubicBezTo>
                  <a:pt x="364452" y="400188"/>
                  <a:pt x="357487" y="392884"/>
                  <a:pt x="350693" y="385240"/>
                </a:cubicBezTo>
                <a:cubicBezTo>
                  <a:pt x="345258" y="379125"/>
                  <a:pt x="345597" y="375558"/>
                  <a:pt x="351542" y="370123"/>
                </a:cubicBezTo>
                <a:cubicBezTo>
                  <a:pt x="357657" y="364517"/>
                  <a:pt x="362753" y="363838"/>
                  <a:pt x="370736" y="368764"/>
                </a:cubicBezTo>
                <a:cubicBezTo>
                  <a:pt x="380249" y="374539"/>
                  <a:pt x="389931" y="379635"/>
                  <a:pt x="400292" y="383542"/>
                </a:cubicBezTo>
                <a:cubicBezTo>
                  <a:pt x="414900" y="388977"/>
                  <a:pt x="424752" y="384901"/>
                  <a:pt x="430697" y="370972"/>
                </a:cubicBezTo>
                <a:cubicBezTo>
                  <a:pt x="433584" y="364178"/>
                  <a:pt x="438001" y="360101"/>
                  <a:pt x="444795" y="357383"/>
                </a:cubicBezTo>
                <a:cubicBezTo>
                  <a:pt x="454647" y="353646"/>
                  <a:pt x="459403" y="342945"/>
                  <a:pt x="468915" y="338529"/>
                </a:cubicBezTo>
                <a:cubicBezTo>
                  <a:pt x="469934" y="338019"/>
                  <a:pt x="470104" y="335981"/>
                  <a:pt x="470444" y="334622"/>
                </a:cubicBezTo>
                <a:cubicBezTo>
                  <a:pt x="474011" y="323921"/>
                  <a:pt x="475200" y="322902"/>
                  <a:pt x="485901" y="322732"/>
                </a:cubicBezTo>
                <a:cubicBezTo>
                  <a:pt x="500509" y="322392"/>
                  <a:pt x="505435" y="317466"/>
                  <a:pt x="506114" y="302689"/>
                </a:cubicBezTo>
                <a:cubicBezTo>
                  <a:pt x="506624" y="289949"/>
                  <a:pt x="505265" y="277210"/>
                  <a:pt x="503566" y="264640"/>
                </a:cubicBezTo>
                <a:cubicBezTo>
                  <a:pt x="501868" y="252580"/>
                  <a:pt x="503906" y="241539"/>
                  <a:pt x="510700" y="231518"/>
                </a:cubicBezTo>
                <a:cubicBezTo>
                  <a:pt x="512908" y="228121"/>
                  <a:pt x="514267" y="224554"/>
                  <a:pt x="514607" y="220477"/>
                </a:cubicBezTo>
                <a:cubicBezTo>
                  <a:pt x="515626" y="209776"/>
                  <a:pt x="516475" y="199075"/>
                  <a:pt x="518344" y="188543"/>
                </a:cubicBezTo>
                <a:cubicBezTo>
                  <a:pt x="521231" y="172237"/>
                  <a:pt x="522081" y="155251"/>
                  <a:pt x="532782" y="141153"/>
                </a:cubicBezTo>
                <a:cubicBezTo>
                  <a:pt x="534820" y="138435"/>
                  <a:pt x="535500" y="134698"/>
                  <a:pt x="534480" y="131301"/>
                </a:cubicBezTo>
                <a:cubicBezTo>
                  <a:pt x="531933" y="123487"/>
                  <a:pt x="531593" y="114655"/>
                  <a:pt x="527686" y="107860"/>
                </a:cubicBezTo>
                <a:cubicBezTo>
                  <a:pt x="518853" y="92233"/>
                  <a:pt x="514607" y="73379"/>
                  <a:pt x="498980" y="61829"/>
                </a:cubicBezTo>
                <a:cubicBezTo>
                  <a:pt x="498131" y="61149"/>
                  <a:pt x="497451" y="60130"/>
                  <a:pt x="496772" y="59281"/>
                </a:cubicBezTo>
                <a:cubicBezTo>
                  <a:pt x="490147" y="50108"/>
                  <a:pt x="481145" y="43484"/>
                  <a:pt x="471293" y="38728"/>
                </a:cubicBezTo>
                <a:cubicBezTo>
                  <a:pt x="461101" y="33802"/>
                  <a:pt x="452439" y="27008"/>
                  <a:pt x="445644" y="18345"/>
                </a:cubicBezTo>
                <a:cubicBezTo>
                  <a:pt x="439699" y="10871"/>
                  <a:pt x="432056" y="7983"/>
                  <a:pt x="423223" y="5945"/>
                </a:cubicBezTo>
                <a:cubicBezTo>
                  <a:pt x="409634" y="3397"/>
                  <a:pt x="395706" y="1868"/>
                  <a:pt x="381777" y="0"/>
                </a:cubicBezTo>
                <a:cubicBezTo>
                  <a:pt x="378890" y="0"/>
                  <a:pt x="376172" y="0"/>
                  <a:pt x="373284" y="0"/>
                </a:cubicBezTo>
                <a:cubicBezTo>
                  <a:pt x="363772" y="3227"/>
                  <a:pt x="354430" y="6964"/>
                  <a:pt x="344918" y="9852"/>
                </a:cubicBezTo>
                <a:cubicBezTo>
                  <a:pt x="327932" y="14778"/>
                  <a:pt x="313154" y="23780"/>
                  <a:pt x="300075" y="35161"/>
                </a:cubicBezTo>
                <a:cubicBezTo>
                  <a:pt x="288695" y="45013"/>
                  <a:pt x="280202" y="57412"/>
                  <a:pt x="273407" y="71001"/>
                </a:cubicBezTo>
                <a:cubicBezTo>
                  <a:pt x="263216" y="91214"/>
                  <a:pt x="253194" y="111088"/>
                  <a:pt x="251156" y="134358"/>
                </a:cubicBezTo>
                <a:cubicBezTo>
                  <a:pt x="249797" y="150835"/>
                  <a:pt x="246909" y="167311"/>
                  <a:pt x="243172" y="183618"/>
                </a:cubicBezTo>
                <a:cubicBezTo>
                  <a:pt x="239435" y="200603"/>
                  <a:pt x="234510" y="217929"/>
                  <a:pt x="237907" y="235594"/>
                </a:cubicBezTo>
                <a:cubicBezTo>
                  <a:pt x="240794" y="250202"/>
                  <a:pt x="234510" y="261583"/>
                  <a:pt x="227375" y="272794"/>
                </a:cubicBezTo>
                <a:cubicBezTo>
                  <a:pt x="224488" y="277380"/>
                  <a:pt x="221091" y="279758"/>
                  <a:pt x="214636" y="276530"/>
                </a:cubicBezTo>
                <a:cubicBezTo>
                  <a:pt x="205124" y="271605"/>
                  <a:pt x="196801" y="275681"/>
                  <a:pt x="194423" y="286382"/>
                </a:cubicBezTo>
                <a:cubicBezTo>
                  <a:pt x="190007" y="305237"/>
                  <a:pt x="181514" y="321713"/>
                  <a:pt x="167925" y="335641"/>
                </a:cubicBezTo>
                <a:cubicBezTo>
                  <a:pt x="162659" y="341077"/>
                  <a:pt x="157903" y="347192"/>
                  <a:pt x="153317" y="353307"/>
                </a:cubicBezTo>
                <a:cubicBezTo>
                  <a:pt x="140747" y="370123"/>
                  <a:pt x="126309" y="385240"/>
                  <a:pt x="115948" y="403585"/>
                </a:cubicBezTo>
                <a:cubicBezTo>
                  <a:pt x="99811" y="431612"/>
                  <a:pt x="81976" y="458449"/>
                  <a:pt x="59045" y="481550"/>
                </a:cubicBezTo>
                <a:cubicBezTo>
                  <a:pt x="55138" y="485627"/>
                  <a:pt x="51062" y="489703"/>
                  <a:pt x="49193" y="495139"/>
                </a:cubicBezTo>
                <a:cubicBezTo>
                  <a:pt x="39681" y="521807"/>
                  <a:pt x="33057" y="549494"/>
                  <a:pt x="29320" y="577181"/>
                </a:cubicBezTo>
                <a:cubicBezTo>
                  <a:pt x="25753" y="604698"/>
                  <a:pt x="23035" y="632895"/>
                  <a:pt x="29320" y="660752"/>
                </a:cubicBezTo>
                <a:cubicBezTo>
                  <a:pt x="30169" y="664658"/>
                  <a:pt x="29320" y="667546"/>
                  <a:pt x="25753" y="670264"/>
                </a:cubicBezTo>
                <a:cubicBezTo>
                  <a:pt x="3841" y="686230"/>
                  <a:pt x="-2104" y="709331"/>
                  <a:pt x="614" y="734131"/>
                </a:cubicBezTo>
                <a:cubicBezTo>
                  <a:pt x="3501" y="762497"/>
                  <a:pt x="10126" y="790354"/>
                  <a:pt x="17600" y="818041"/>
                </a:cubicBezTo>
                <a:cubicBezTo>
                  <a:pt x="23375" y="838934"/>
                  <a:pt x="30509" y="859656"/>
                  <a:pt x="34416" y="881059"/>
                </a:cubicBezTo>
                <a:cubicBezTo>
                  <a:pt x="38492" y="903480"/>
                  <a:pt x="44098" y="925052"/>
                  <a:pt x="53949" y="945435"/>
                </a:cubicBezTo>
                <a:cubicBezTo>
                  <a:pt x="59725" y="957325"/>
                  <a:pt x="61763" y="969555"/>
                  <a:pt x="61763" y="982295"/>
                </a:cubicBezTo>
                <a:cubicBezTo>
                  <a:pt x="61763" y="992996"/>
                  <a:pt x="60574" y="1003697"/>
                  <a:pt x="59894" y="1014398"/>
                </a:cubicBezTo>
                <a:cubicBezTo>
                  <a:pt x="57856" y="1042934"/>
                  <a:pt x="53440" y="1071131"/>
                  <a:pt x="54289" y="1099837"/>
                </a:cubicBezTo>
                <a:cubicBezTo>
                  <a:pt x="55138" y="1126335"/>
                  <a:pt x="63801" y="1149436"/>
                  <a:pt x="79768" y="1170498"/>
                </a:cubicBezTo>
                <a:cubicBezTo>
                  <a:pt x="85204" y="1177632"/>
                  <a:pt x="92847" y="1181709"/>
                  <a:pt x="97943" y="1188673"/>
                </a:cubicBezTo>
                <a:cubicBezTo>
                  <a:pt x="102189" y="1194449"/>
                  <a:pt x="108814" y="1197676"/>
                  <a:pt x="115269" y="1200903"/>
                </a:cubicBezTo>
                <a:cubicBezTo>
                  <a:pt x="123252" y="1205150"/>
                  <a:pt x="131575" y="1208377"/>
                  <a:pt x="140408" y="1210755"/>
                </a:cubicBezTo>
                <a:cubicBezTo>
                  <a:pt x="158922" y="1215851"/>
                  <a:pt x="177267" y="1221966"/>
                  <a:pt x="196801" y="1222985"/>
                </a:cubicBezTo>
                <a:cubicBezTo>
                  <a:pt x="211239" y="1223834"/>
                  <a:pt x="225677" y="1224514"/>
                  <a:pt x="239945" y="1225872"/>
                </a:cubicBezTo>
                <a:cubicBezTo>
                  <a:pt x="255402" y="1227401"/>
                  <a:pt x="255232" y="1227741"/>
                  <a:pt x="259649" y="1242349"/>
                </a:cubicBezTo>
                <a:cubicBezTo>
                  <a:pt x="261517" y="1248294"/>
                  <a:pt x="262536" y="1255428"/>
                  <a:pt x="270690" y="1256787"/>
                </a:cubicBezTo>
                <a:cubicBezTo>
                  <a:pt x="282410" y="1258655"/>
                  <a:pt x="293790" y="1257126"/>
                  <a:pt x="304661" y="1252031"/>
                </a:cubicBezTo>
                <a:cubicBezTo>
                  <a:pt x="310946" y="1249143"/>
                  <a:pt x="313834" y="1244387"/>
                  <a:pt x="314004" y="1237253"/>
                </a:cubicBezTo>
                <a:cubicBezTo>
                  <a:pt x="314004" y="1223834"/>
                  <a:pt x="314683" y="1223494"/>
                  <a:pt x="327762" y="1223494"/>
                </a:cubicBezTo>
                <a:cubicBezTo>
                  <a:pt x="331159" y="1223494"/>
                  <a:pt x="334556" y="1223834"/>
                  <a:pt x="337954" y="1224174"/>
                </a:cubicBezTo>
                <a:cubicBezTo>
                  <a:pt x="341351" y="1224514"/>
                  <a:pt x="344578" y="1226212"/>
                  <a:pt x="344578" y="1229779"/>
                </a:cubicBezTo>
                <a:cubicBezTo>
                  <a:pt x="344408" y="1240141"/>
                  <a:pt x="351203" y="1241160"/>
                  <a:pt x="359016" y="1241500"/>
                </a:cubicBezTo>
                <a:cubicBezTo>
                  <a:pt x="365980" y="1241839"/>
                  <a:pt x="367509" y="1245576"/>
                  <a:pt x="365811" y="1251861"/>
                </a:cubicBezTo>
                <a:cubicBezTo>
                  <a:pt x="364112" y="1258485"/>
                  <a:pt x="358846" y="1260184"/>
                  <a:pt x="353241" y="1261543"/>
                </a:cubicBezTo>
                <a:cubicBezTo>
                  <a:pt x="350693" y="1262222"/>
                  <a:pt x="346447" y="1261883"/>
                  <a:pt x="347636" y="1266639"/>
                </a:cubicBezTo>
                <a:cubicBezTo>
                  <a:pt x="350014" y="1277340"/>
                  <a:pt x="348655" y="1288041"/>
                  <a:pt x="348315" y="1298742"/>
                </a:cubicBezTo>
                <a:cubicBezTo>
                  <a:pt x="348145" y="1304347"/>
                  <a:pt x="346447" y="1310462"/>
                  <a:pt x="348994" y="1315558"/>
                </a:cubicBezTo>
                <a:cubicBezTo>
                  <a:pt x="352222" y="1322013"/>
                  <a:pt x="350014" y="1328807"/>
                  <a:pt x="349504" y="1334582"/>
                </a:cubicBezTo>
                <a:cubicBezTo>
                  <a:pt x="348485" y="1345623"/>
                  <a:pt x="347975" y="1356324"/>
                  <a:pt x="348994" y="1367365"/>
                </a:cubicBezTo>
                <a:cubicBezTo>
                  <a:pt x="349504" y="1372801"/>
                  <a:pt x="349504" y="1378236"/>
                  <a:pt x="349164" y="1383502"/>
                </a:cubicBezTo>
                <a:cubicBezTo>
                  <a:pt x="348825" y="1392504"/>
                  <a:pt x="346616" y="1401846"/>
                  <a:pt x="347975" y="1410679"/>
                </a:cubicBezTo>
                <a:cubicBezTo>
                  <a:pt x="349844" y="1421720"/>
                  <a:pt x="349674" y="1433100"/>
                  <a:pt x="349164" y="1443802"/>
                </a:cubicBezTo>
                <a:cubicBezTo>
                  <a:pt x="348145" y="1461637"/>
                  <a:pt x="348485" y="1479472"/>
                  <a:pt x="346616" y="1497137"/>
                </a:cubicBezTo>
                <a:cubicBezTo>
                  <a:pt x="345767" y="1505291"/>
                  <a:pt x="343559" y="1506989"/>
                  <a:pt x="336255" y="1503932"/>
                </a:cubicBezTo>
                <a:cubicBezTo>
                  <a:pt x="321647" y="1497987"/>
                  <a:pt x="306700" y="1493061"/>
                  <a:pt x="292431" y="1486096"/>
                </a:cubicBezTo>
                <a:cubicBezTo>
                  <a:pt x="267802" y="1474206"/>
                  <a:pt x="242323" y="1463845"/>
                  <a:pt x="216335" y="1454842"/>
                </a:cubicBezTo>
                <a:cubicBezTo>
                  <a:pt x="203425" y="1450426"/>
                  <a:pt x="194593" y="1454333"/>
                  <a:pt x="193743" y="1467922"/>
                </a:cubicBezTo>
                <a:cubicBezTo>
                  <a:pt x="192384" y="1489833"/>
                  <a:pt x="184911" y="1513104"/>
                  <a:pt x="201387" y="1533147"/>
                </a:cubicBezTo>
                <a:cubicBezTo>
                  <a:pt x="202406" y="1534336"/>
                  <a:pt x="202916" y="1536205"/>
                  <a:pt x="203086" y="1537903"/>
                </a:cubicBezTo>
                <a:cubicBezTo>
                  <a:pt x="203255" y="1541301"/>
                  <a:pt x="204614" y="1543509"/>
                  <a:pt x="208012" y="1545037"/>
                </a:cubicBezTo>
                <a:cubicBezTo>
                  <a:pt x="212598" y="1547076"/>
                  <a:pt x="212937" y="1551662"/>
                  <a:pt x="212598" y="1556078"/>
                </a:cubicBezTo>
                <a:cubicBezTo>
                  <a:pt x="212258" y="1560665"/>
                  <a:pt x="208181" y="1560834"/>
                  <a:pt x="205124" y="1561854"/>
                </a:cubicBezTo>
                <a:cubicBezTo>
                  <a:pt x="183212" y="1568478"/>
                  <a:pt x="160791" y="1572894"/>
                  <a:pt x="138369" y="1577650"/>
                </a:cubicBezTo>
                <a:cubicBezTo>
                  <a:pt x="116797" y="1582237"/>
                  <a:pt x="95225" y="1586653"/>
                  <a:pt x="73653" y="1591579"/>
                </a:cubicBezTo>
                <a:cubicBezTo>
                  <a:pt x="64651" y="1593617"/>
                  <a:pt x="55818" y="1597524"/>
                  <a:pt x="54119" y="1608055"/>
                </a:cubicBezTo>
                <a:cubicBezTo>
                  <a:pt x="49873" y="1634893"/>
                  <a:pt x="44098" y="1662070"/>
                  <a:pt x="66009" y="1685001"/>
                </a:cubicBezTo>
                <a:cubicBezTo>
                  <a:pt x="66009" y="1695363"/>
                  <a:pt x="74502" y="1696722"/>
                  <a:pt x="81467" y="1699949"/>
                </a:cubicBezTo>
                <a:cubicBezTo>
                  <a:pt x="91658" y="1704535"/>
                  <a:pt x="107625" y="1703006"/>
                  <a:pt x="115608" y="1695193"/>
                </a:cubicBezTo>
                <a:cubicBezTo>
                  <a:pt x="127838" y="1683303"/>
                  <a:pt x="134802" y="1668695"/>
                  <a:pt x="134123" y="1651199"/>
                </a:cubicBezTo>
                <a:cubicBezTo>
                  <a:pt x="133953" y="1647463"/>
                  <a:pt x="133274" y="1644065"/>
                  <a:pt x="131235" y="1640668"/>
                </a:cubicBezTo>
                <a:cubicBezTo>
                  <a:pt x="125290" y="1631156"/>
                  <a:pt x="126819" y="1627759"/>
                  <a:pt x="137860" y="1626400"/>
                </a:cubicBezTo>
                <a:cubicBezTo>
                  <a:pt x="171832" y="1621984"/>
                  <a:pt x="205634" y="1616548"/>
                  <a:pt x="239775" y="1615529"/>
                </a:cubicBezTo>
                <a:cubicBezTo>
                  <a:pt x="241813" y="1615529"/>
                  <a:pt x="244531" y="1615699"/>
                  <a:pt x="245550" y="1614680"/>
                </a:cubicBezTo>
                <a:cubicBezTo>
                  <a:pt x="250986" y="1608055"/>
                  <a:pt x="258969" y="1609754"/>
                  <a:pt x="265933" y="1608395"/>
                </a:cubicBezTo>
                <a:cubicBezTo>
                  <a:pt x="282580" y="1605337"/>
                  <a:pt x="299396" y="1602790"/>
                  <a:pt x="316042" y="1599902"/>
                </a:cubicBezTo>
                <a:cubicBezTo>
                  <a:pt x="327083" y="1598033"/>
                  <a:pt x="338124" y="1597694"/>
                  <a:pt x="348994" y="1599053"/>
                </a:cubicBezTo>
                <a:cubicBezTo>
                  <a:pt x="356468" y="1600072"/>
                  <a:pt x="363432" y="1602790"/>
                  <a:pt x="364112" y="1612132"/>
                </a:cubicBezTo>
                <a:cubicBezTo>
                  <a:pt x="365471" y="1630816"/>
                  <a:pt x="368698" y="1649161"/>
                  <a:pt x="368528" y="1668015"/>
                </a:cubicBezTo>
                <a:cubicBezTo>
                  <a:pt x="368358" y="1680585"/>
                  <a:pt x="366150" y="1682453"/>
                  <a:pt x="353750" y="1679906"/>
                </a:cubicBezTo>
                <a:cubicBezTo>
                  <a:pt x="348655" y="1678886"/>
                  <a:pt x="346107" y="1680075"/>
                  <a:pt x="345427" y="1685171"/>
                </a:cubicBezTo>
                <a:cubicBezTo>
                  <a:pt x="345088" y="1688229"/>
                  <a:pt x="344578" y="1691286"/>
                  <a:pt x="344578" y="1694513"/>
                </a:cubicBezTo>
                <a:cubicBezTo>
                  <a:pt x="344748" y="1726107"/>
                  <a:pt x="348825" y="1756852"/>
                  <a:pt x="361394" y="1786067"/>
                </a:cubicBezTo>
                <a:cubicBezTo>
                  <a:pt x="363772" y="1791503"/>
                  <a:pt x="367000" y="1796259"/>
                  <a:pt x="372435" y="1798297"/>
                </a:cubicBezTo>
                <a:cubicBezTo>
                  <a:pt x="387722" y="1804072"/>
                  <a:pt x="403349" y="1808829"/>
                  <a:pt x="419995" y="1808998"/>
                </a:cubicBezTo>
                <a:cubicBezTo>
                  <a:pt x="425771" y="1809168"/>
                  <a:pt x="431376" y="1807639"/>
                  <a:pt x="435453" y="1803223"/>
                </a:cubicBezTo>
                <a:cubicBezTo>
                  <a:pt x="448532" y="1789295"/>
                  <a:pt x="456006" y="1772988"/>
                  <a:pt x="456006" y="1753624"/>
                </a:cubicBezTo>
                <a:cubicBezTo>
                  <a:pt x="456006" y="1743263"/>
                  <a:pt x="450570" y="1736639"/>
                  <a:pt x="441568" y="1732562"/>
                </a:cubicBezTo>
                <a:cubicBezTo>
                  <a:pt x="438510" y="1731203"/>
                  <a:pt x="435283" y="1729844"/>
                  <a:pt x="432056" y="1729165"/>
                </a:cubicBezTo>
                <a:cubicBezTo>
                  <a:pt x="422374" y="1727126"/>
                  <a:pt x="418297" y="1721181"/>
                  <a:pt x="417108" y="1711499"/>
                </a:cubicBezTo>
                <a:cubicBezTo>
                  <a:pt x="413371" y="1679736"/>
                  <a:pt x="412692" y="1647632"/>
                  <a:pt x="410653" y="1615869"/>
                </a:cubicBezTo>
                <a:cubicBezTo>
                  <a:pt x="409804" y="1603299"/>
                  <a:pt x="413201" y="1599562"/>
                  <a:pt x="425771" y="1597694"/>
                </a:cubicBezTo>
                <a:cubicBezTo>
                  <a:pt x="442417" y="1595316"/>
                  <a:pt x="459063" y="1597524"/>
                  <a:pt x="475709" y="1599053"/>
                </a:cubicBezTo>
                <a:cubicBezTo>
                  <a:pt x="502377" y="1601770"/>
                  <a:pt x="529045" y="1605847"/>
                  <a:pt x="555713" y="1608395"/>
                </a:cubicBezTo>
                <a:cubicBezTo>
                  <a:pt x="591553" y="1611792"/>
                  <a:pt x="627223" y="1614850"/>
                  <a:pt x="662894" y="1618926"/>
                </a:cubicBezTo>
                <a:cubicBezTo>
                  <a:pt x="670537" y="1619775"/>
                  <a:pt x="674105" y="1623173"/>
                  <a:pt x="671726" y="1630477"/>
                </a:cubicBezTo>
                <a:cubicBezTo>
                  <a:pt x="665951" y="1647802"/>
                  <a:pt x="672916" y="1663259"/>
                  <a:pt x="680389" y="1677188"/>
                </a:cubicBezTo>
                <a:cubicBezTo>
                  <a:pt x="686844" y="1689418"/>
                  <a:pt x="691770" y="1701478"/>
                  <a:pt x="694488" y="1714896"/>
                </a:cubicBezTo>
                <a:cubicBezTo>
                  <a:pt x="698904" y="1736299"/>
                  <a:pt x="712493" y="1748019"/>
                  <a:pt x="733725" y="1752945"/>
                </a:cubicBezTo>
                <a:cubicBezTo>
                  <a:pt x="755637" y="1758041"/>
                  <a:pt x="777888" y="1758890"/>
                  <a:pt x="800140" y="1760758"/>
                </a:cubicBezTo>
                <a:cubicBezTo>
                  <a:pt x="802858" y="1760928"/>
                  <a:pt x="805915" y="1761438"/>
                  <a:pt x="808463" y="1759739"/>
                </a:cubicBezTo>
                <a:cubicBezTo>
                  <a:pt x="813729" y="1755832"/>
                  <a:pt x="819504" y="1756512"/>
                  <a:pt x="825449" y="1757022"/>
                </a:cubicBezTo>
                <a:cubicBezTo>
                  <a:pt x="842605" y="1758041"/>
                  <a:pt x="858911" y="1762117"/>
                  <a:pt x="875217" y="1766873"/>
                </a:cubicBezTo>
                <a:cubicBezTo>
                  <a:pt x="906981" y="1776386"/>
                  <a:pt x="939084" y="1781651"/>
                  <a:pt x="972207" y="1778594"/>
                </a:cubicBezTo>
                <a:cubicBezTo>
                  <a:pt x="999724" y="1776046"/>
                  <a:pt x="1027411" y="1773498"/>
                  <a:pt x="1054589" y="1768572"/>
                </a:cubicBezTo>
                <a:cubicBezTo>
                  <a:pt x="1070725" y="1765684"/>
                  <a:pt x="1085673" y="1761608"/>
                  <a:pt x="1096204" y="1747339"/>
                </a:cubicBezTo>
                <a:cubicBezTo>
                  <a:pt x="1101979" y="1739526"/>
                  <a:pt x="1104527" y="1727806"/>
                  <a:pt x="1099771" y="1719483"/>
                </a:cubicBezTo>
                <a:cubicBezTo>
                  <a:pt x="1087371" y="1697401"/>
                  <a:pt x="1068857" y="1685171"/>
                  <a:pt x="1043038" y="1684662"/>
                </a:cubicBezTo>
                <a:cubicBezTo>
                  <a:pt x="1036074" y="1684492"/>
                  <a:pt x="1028430" y="1685851"/>
                  <a:pt x="1022145" y="1682623"/>
                </a:cubicBezTo>
                <a:cubicBezTo>
                  <a:pt x="1015011" y="1678886"/>
                  <a:pt x="1008387" y="1677867"/>
                  <a:pt x="1001253" y="1681434"/>
                </a:cubicBezTo>
                <a:cubicBezTo>
                  <a:pt x="999215" y="1682453"/>
                  <a:pt x="995987" y="1683473"/>
                  <a:pt x="995308" y="1680755"/>
                </a:cubicBezTo>
                <a:cubicBezTo>
                  <a:pt x="993609" y="1672432"/>
                  <a:pt x="986305" y="1673111"/>
                  <a:pt x="980870" y="1671243"/>
                </a:cubicBezTo>
                <a:cubicBezTo>
                  <a:pt x="969319" y="1667336"/>
                  <a:pt x="957769" y="1663939"/>
                  <a:pt x="948257" y="1655616"/>
                </a:cubicBezTo>
                <a:cubicBezTo>
                  <a:pt x="947068" y="1654597"/>
                  <a:pt x="945029" y="1653917"/>
                  <a:pt x="945539" y="1651879"/>
                </a:cubicBezTo>
                <a:cubicBezTo>
                  <a:pt x="946049" y="1649501"/>
                  <a:pt x="948427" y="1649331"/>
                  <a:pt x="950295" y="1649331"/>
                </a:cubicBezTo>
                <a:cubicBezTo>
                  <a:pt x="955051" y="1649161"/>
                  <a:pt x="959977" y="1648991"/>
                  <a:pt x="964733" y="1648991"/>
                </a:cubicBezTo>
                <a:cubicBezTo>
                  <a:pt x="989023" y="1648991"/>
                  <a:pt x="1013483" y="1649840"/>
                  <a:pt x="1037773" y="1646783"/>
                </a:cubicBezTo>
                <a:cubicBezTo>
                  <a:pt x="1055947" y="1644575"/>
                  <a:pt x="1075821" y="1645084"/>
                  <a:pt x="1088560" y="1626740"/>
                </a:cubicBezTo>
                <a:cubicBezTo>
                  <a:pt x="1093147" y="1619945"/>
                  <a:pt x="1097053" y="1614510"/>
                  <a:pt x="1092467" y="1607206"/>
                </a:cubicBezTo>
                <a:cubicBezTo>
                  <a:pt x="1087202" y="1598883"/>
                  <a:pt x="1084144" y="1588182"/>
                  <a:pt x="1071235" y="1587842"/>
                </a:cubicBezTo>
                <a:cubicBezTo>
                  <a:pt x="1066819" y="1587842"/>
                  <a:pt x="1061383" y="1589880"/>
                  <a:pt x="1058326" y="1584105"/>
                </a:cubicBezTo>
                <a:cubicBezTo>
                  <a:pt x="1057646" y="1582916"/>
                  <a:pt x="1056627" y="1583426"/>
                  <a:pt x="1055947" y="1584615"/>
                </a:cubicBezTo>
                <a:cubicBezTo>
                  <a:pt x="1053230" y="1589880"/>
                  <a:pt x="1048474" y="1588012"/>
                  <a:pt x="1044737" y="1587332"/>
                </a:cubicBezTo>
                <a:cubicBezTo>
                  <a:pt x="1039471" y="1586483"/>
                  <a:pt x="1034715" y="1583595"/>
                  <a:pt x="1029959" y="1581387"/>
                </a:cubicBezTo>
                <a:cubicBezTo>
                  <a:pt x="1021296" y="1577650"/>
                  <a:pt x="1014332" y="1569667"/>
                  <a:pt x="1003461" y="1570347"/>
                </a:cubicBezTo>
                <a:cubicBezTo>
                  <a:pt x="998195" y="1570686"/>
                  <a:pt x="994968" y="1566610"/>
                  <a:pt x="994968" y="1561514"/>
                </a:cubicBezTo>
                <a:cubicBezTo>
                  <a:pt x="994459" y="1537394"/>
                  <a:pt x="994119" y="1513444"/>
                  <a:pt x="995987" y="1489324"/>
                </a:cubicBezTo>
                <a:cubicBezTo>
                  <a:pt x="996327" y="1485757"/>
                  <a:pt x="998026" y="1483209"/>
                  <a:pt x="1001253" y="1482360"/>
                </a:cubicBezTo>
                <a:cubicBezTo>
                  <a:pt x="1008727" y="1480321"/>
                  <a:pt x="1008727" y="1474886"/>
                  <a:pt x="1008047" y="1468941"/>
                </a:cubicBezTo>
                <a:cubicBezTo>
                  <a:pt x="1007538" y="1465034"/>
                  <a:pt x="1006688" y="1461127"/>
                  <a:pt x="1006519" y="1457220"/>
                </a:cubicBezTo>
                <a:cubicBezTo>
                  <a:pt x="1005160" y="1434969"/>
                  <a:pt x="1005329" y="1412378"/>
                  <a:pt x="1002442" y="1390296"/>
                </a:cubicBezTo>
                <a:cubicBezTo>
                  <a:pt x="995648" y="1336451"/>
                  <a:pt x="1001593" y="1282775"/>
                  <a:pt x="1006519" y="1229439"/>
                </a:cubicBezTo>
                <a:cubicBezTo>
                  <a:pt x="1010425" y="1186635"/>
                  <a:pt x="1016370" y="1144170"/>
                  <a:pt x="1015691" y="1100856"/>
                </a:cubicBezTo>
                <a:cubicBezTo>
                  <a:pt x="1015351" y="1081832"/>
                  <a:pt x="1010595" y="1065356"/>
                  <a:pt x="999724" y="1050238"/>
                </a:cubicBezTo>
                <a:cubicBezTo>
                  <a:pt x="995817" y="1044803"/>
                  <a:pt x="993609" y="1039028"/>
                  <a:pt x="992760" y="1032403"/>
                </a:cubicBezTo>
                <a:cubicBezTo>
                  <a:pt x="991231" y="1022381"/>
                  <a:pt x="990042" y="1011850"/>
                  <a:pt x="983248" y="1004037"/>
                </a:cubicBezTo>
                <a:cubicBezTo>
                  <a:pt x="979001" y="999111"/>
                  <a:pt x="979171" y="996053"/>
                  <a:pt x="981719" y="990957"/>
                </a:cubicBezTo>
                <a:cubicBezTo>
                  <a:pt x="1032337" y="889891"/>
                  <a:pt x="1082785" y="788825"/>
                  <a:pt x="1133403" y="687759"/>
                </a:cubicBezTo>
                <a:cubicBezTo>
                  <a:pt x="1134592" y="685381"/>
                  <a:pt x="1135102" y="682324"/>
                  <a:pt x="1137819" y="680795"/>
                </a:cubicBezTo>
                <a:cubicBezTo>
                  <a:pt x="1137819" y="680285"/>
                  <a:pt x="1137819" y="679606"/>
                  <a:pt x="1137819" y="679096"/>
                </a:cubicBezTo>
                <a:cubicBezTo>
                  <a:pt x="1135442" y="675359"/>
                  <a:pt x="1131365" y="673831"/>
                  <a:pt x="1127628" y="671962"/>
                </a:cubicBezTo>
                <a:close/>
                <a:moveTo>
                  <a:pt x="187798" y="1154022"/>
                </a:moveTo>
                <a:cubicBezTo>
                  <a:pt x="172851" y="1168800"/>
                  <a:pt x="159432" y="1169479"/>
                  <a:pt x="143125" y="1155891"/>
                </a:cubicBezTo>
                <a:cubicBezTo>
                  <a:pt x="137690" y="1151304"/>
                  <a:pt x="130896" y="1148926"/>
                  <a:pt x="125630" y="1144000"/>
                </a:cubicBezTo>
                <a:cubicBezTo>
                  <a:pt x="108984" y="1128204"/>
                  <a:pt x="105417" y="1107481"/>
                  <a:pt x="103548" y="1086079"/>
                </a:cubicBezTo>
                <a:cubicBezTo>
                  <a:pt x="103039" y="1080813"/>
                  <a:pt x="103548" y="1075377"/>
                  <a:pt x="103548" y="1069942"/>
                </a:cubicBezTo>
                <a:cubicBezTo>
                  <a:pt x="104228" y="1045652"/>
                  <a:pt x="107455" y="1021532"/>
                  <a:pt x="107795" y="997242"/>
                </a:cubicBezTo>
                <a:cubicBezTo>
                  <a:pt x="107965" y="989938"/>
                  <a:pt x="113740" y="985012"/>
                  <a:pt x="120364" y="987051"/>
                </a:cubicBezTo>
                <a:cubicBezTo>
                  <a:pt x="125120" y="988410"/>
                  <a:pt x="126989" y="993335"/>
                  <a:pt x="128687" y="997072"/>
                </a:cubicBezTo>
                <a:cubicBezTo>
                  <a:pt x="134463" y="1008962"/>
                  <a:pt x="143125" y="1018135"/>
                  <a:pt x="152128" y="1027817"/>
                </a:cubicBezTo>
                <a:cubicBezTo>
                  <a:pt x="161810" y="1038178"/>
                  <a:pt x="168265" y="1051427"/>
                  <a:pt x="176078" y="1063317"/>
                </a:cubicBezTo>
                <a:cubicBezTo>
                  <a:pt x="176588" y="1064167"/>
                  <a:pt x="177097" y="1065695"/>
                  <a:pt x="176758" y="1066545"/>
                </a:cubicBezTo>
                <a:cubicBezTo>
                  <a:pt x="170643" y="1088796"/>
                  <a:pt x="183892" y="1106292"/>
                  <a:pt x="192215" y="1124636"/>
                </a:cubicBezTo>
                <a:cubicBezTo>
                  <a:pt x="199858" y="1141453"/>
                  <a:pt x="201047" y="1140943"/>
                  <a:pt x="187798" y="1154022"/>
                </a:cubicBezTo>
                <a:close/>
                <a:moveTo>
                  <a:pt x="795724" y="1195638"/>
                </a:moveTo>
                <a:cubicBezTo>
                  <a:pt x="790458" y="1223155"/>
                  <a:pt x="786211" y="1250842"/>
                  <a:pt x="783663" y="1278699"/>
                </a:cubicBezTo>
                <a:cubicBezTo>
                  <a:pt x="782135" y="1295854"/>
                  <a:pt x="782305" y="1313180"/>
                  <a:pt x="782305" y="1330506"/>
                </a:cubicBezTo>
                <a:cubicBezTo>
                  <a:pt x="782305" y="1344604"/>
                  <a:pt x="780436" y="1358362"/>
                  <a:pt x="772962" y="1370422"/>
                </a:cubicBezTo>
                <a:cubicBezTo>
                  <a:pt x="755467" y="1398789"/>
                  <a:pt x="753599" y="1430553"/>
                  <a:pt x="750201" y="1462486"/>
                </a:cubicBezTo>
                <a:cubicBezTo>
                  <a:pt x="744936" y="1510896"/>
                  <a:pt x="732706" y="1558117"/>
                  <a:pt x="721495" y="1605337"/>
                </a:cubicBezTo>
                <a:cubicBezTo>
                  <a:pt x="721325" y="1605677"/>
                  <a:pt x="720816" y="1606017"/>
                  <a:pt x="720306" y="1606526"/>
                </a:cubicBezTo>
                <a:cubicBezTo>
                  <a:pt x="717418" y="1600242"/>
                  <a:pt x="720306" y="1592598"/>
                  <a:pt x="715041" y="1586313"/>
                </a:cubicBezTo>
                <a:cubicBezTo>
                  <a:pt x="711473" y="1582237"/>
                  <a:pt x="708076" y="1579179"/>
                  <a:pt x="702981" y="1577820"/>
                </a:cubicBezTo>
                <a:cubicBezTo>
                  <a:pt x="674274" y="1569837"/>
                  <a:pt x="644719" y="1567119"/>
                  <a:pt x="615673" y="1561174"/>
                </a:cubicBezTo>
                <a:cubicBezTo>
                  <a:pt x="607180" y="1559475"/>
                  <a:pt x="598517" y="1557437"/>
                  <a:pt x="590024" y="1555739"/>
                </a:cubicBezTo>
                <a:cubicBezTo>
                  <a:pt x="586967" y="1555229"/>
                  <a:pt x="585778" y="1553700"/>
                  <a:pt x="585778" y="1550643"/>
                </a:cubicBezTo>
                <a:cubicBezTo>
                  <a:pt x="585268" y="1539092"/>
                  <a:pt x="584419" y="1528221"/>
                  <a:pt x="589515" y="1516671"/>
                </a:cubicBezTo>
                <a:cubicBezTo>
                  <a:pt x="594950" y="1504611"/>
                  <a:pt x="593082" y="1491192"/>
                  <a:pt x="585608" y="1479302"/>
                </a:cubicBezTo>
                <a:cubicBezTo>
                  <a:pt x="584079" y="1476924"/>
                  <a:pt x="582041" y="1475225"/>
                  <a:pt x="579493" y="1475395"/>
                </a:cubicBezTo>
                <a:cubicBezTo>
                  <a:pt x="571170" y="1475565"/>
                  <a:pt x="569981" y="1470639"/>
                  <a:pt x="569471" y="1463675"/>
                </a:cubicBezTo>
                <a:cubicBezTo>
                  <a:pt x="568792" y="1453484"/>
                  <a:pt x="564036" y="1446349"/>
                  <a:pt x="553335" y="1443292"/>
                </a:cubicBezTo>
                <a:cubicBezTo>
                  <a:pt x="548749" y="1441933"/>
                  <a:pt x="545182" y="1442443"/>
                  <a:pt x="541275" y="1444481"/>
                </a:cubicBezTo>
                <a:cubicBezTo>
                  <a:pt x="508322" y="1460618"/>
                  <a:pt x="475200" y="1476584"/>
                  <a:pt x="442077" y="1492381"/>
                </a:cubicBezTo>
                <a:cubicBezTo>
                  <a:pt x="426110" y="1500025"/>
                  <a:pt x="424921" y="1499006"/>
                  <a:pt x="424072" y="1481340"/>
                </a:cubicBezTo>
                <a:cubicBezTo>
                  <a:pt x="421015" y="1423928"/>
                  <a:pt x="421864" y="1366346"/>
                  <a:pt x="423053" y="1308933"/>
                </a:cubicBezTo>
                <a:cubicBezTo>
                  <a:pt x="423393" y="1293986"/>
                  <a:pt x="421185" y="1279038"/>
                  <a:pt x="423393" y="1264261"/>
                </a:cubicBezTo>
                <a:cubicBezTo>
                  <a:pt x="423902" y="1261033"/>
                  <a:pt x="421864" y="1259505"/>
                  <a:pt x="419486" y="1258485"/>
                </a:cubicBezTo>
                <a:cubicBezTo>
                  <a:pt x="416259" y="1256957"/>
                  <a:pt x="412692" y="1255768"/>
                  <a:pt x="409294" y="1254239"/>
                </a:cubicBezTo>
                <a:cubicBezTo>
                  <a:pt x="407426" y="1253559"/>
                  <a:pt x="405218" y="1253220"/>
                  <a:pt x="404708" y="1251012"/>
                </a:cubicBezTo>
                <a:cubicBezTo>
                  <a:pt x="404199" y="1248294"/>
                  <a:pt x="406407" y="1247275"/>
                  <a:pt x="408275" y="1246086"/>
                </a:cubicBezTo>
                <a:cubicBezTo>
                  <a:pt x="410144" y="1244897"/>
                  <a:pt x="412522" y="1243538"/>
                  <a:pt x="413371" y="1241669"/>
                </a:cubicBezTo>
                <a:cubicBezTo>
                  <a:pt x="418807" y="1229609"/>
                  <a:pt x="428828" y="1229439"/>
                  <a:pt x="440039" y="1229439"/>
                </a:cubicBezTo>
                <a:cubicBezTo>
                  <a:pt x="488449" y="1229779"/>
                  <a:pt x="536859" y="1230459"/>
                  <a:pt x="585268" y="1229100"/>
                </a:cubicBezTo>
                <a:cubicBezTo>
                  <a:pt x="610577" y="1228420"/>
                  <a:pt x="635886" y="1224683"/>
                  <a:pt x="658987" y="1213133"/>
                </a:cubicBezTo>
                <a:cubicBezTo>
                  <a:pt x="667140" y="1209056"/>
                  <a:pt x="673935" y="1203111"/>
                  <a:pt x="680559" y="1196996"/>
                </a:cubicBezTo>
                <a:cubicBezTo>
                  <a:pt x="683447" y="1194449"/>
                  <a:pt x="686164" y="1192750"/>
                  <a:pt x="690241" y="1192580"/>
                </a:cubicBezTo>
                <a:cubicBezTo>
                  <a:pt x="723024" y="1190881"/>
                  <a:pt x="755807" y="1189183"/>
                  <a:pt x="788589" y="1186805"/>
                </a:cubicBezTo>
                <a:cubicBezTo>
                  <a:pt x="796743" y="1186295"/>
                  <a:pt x="797082" y="1189183"/>
                  <a:pt x="795724" y="1195638"/>
                </a:cubicBezTo>
                <a:close/>
              </a:path>
            </a:pathLst>
          </a:custGeom>
          <a:solidFill>
            <a:schemeClr val="accent3"/>
          </a:solidFill>
          <a:ln w="16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F2BF412-86C4-482C-9098-4975791B54C0}"/>
              </a:ext>
            </a:extLst>
          </p:cNvPr>
          <p:cNvSpPr/>
          <p:nvPr/>
        </p:nvSpPr>
        <p:spPr>
          <a:xfrm>
            <a:off x="5566097" y="2379964"/>
            <a:ext cx="1551820" cy="2767195"/>
          </a:xfrm>
          <a:custGeom>
            <a:avLst/>
            <a:gdLst>
              <a:gd name="connsiteX0" fmla="*/ 1010278 w 1010660"/>
              <a:gd name="connsiteY0" fmla="*/ 1613160 h 1802203"/>
              <a:gd name="connsiteX1" fmla="*/ 998557 w 1010660"/>
              <a:gd name="connsiteY1" fmla="*/ 1603308 h 1802203"/>
              <a:gd name="connsiteX2" fmla="*/ 990404 w 1010660"/>
              <a:gd name="connsiteY2" fmla="*/ 1596344 h 1802203"/>
              <a:gd name="connsiteX3" fmla="*/ 988536 w 1010660"/>
              <a:gd name="connsiteY3" fmla="*/ 1584624 h 1802203"/>
              <a:gd name="connsiteX4" fmla="*/ 968322 w 1010660"/>
              <a:gd name="connsiteY4" fmla="*/ 1564241 h 1802203"/>
              <a:gd name="connsiteX5" fmla="*/ 871163 w 1010660"/>
              <a:gd name="connsiteY5" fmla="*/ 1548444 h 1802203"/>
              <a:gd name="connsiteX6" fmla="*/ 749714 w 1010660"/>
              <a:gd name="connsiteY6" fmla="*/ 1529589 h 1802203"/>
              <a:gd name="connsiteX7" fmla="*/ 717101 w 1010660"/>
              <a:gd name="connsiteY7" fmla="*/ 1522625 h 1802203"/>
              <a:gd name="connsiteX8" fmla="*/ 717441 w 1010660"/>
              <a:gd name="connsiteY8" fmla="*/ 1520417 h 1802203"/>
              <a:gd name="connsiteX9" fmla="*/ 740032 w 1010660"/>
              <a:gd name="connsiteY9" fmla="*/ 1517020 h 1802203"/>
              <a:gd name="connsiteX10" fmla="*/ 743769 w 1010660"/>
              <a:gd name="connsiteY10" fmla="*/ 1518379 h 1802203"/>
              <a:gd name="connsiteX11" fmla="*/ 750563 w 1010660"/>
              <a:gd name="connsiteY11" fmla="*/ 1523474 h 1802203"/>
              <a:gd name="connsiteX12" fmla="*/ 804069 w 1010660"/>
              <a:gd name="connsiteY12" fmla="*/ 1521946 h 1802203"/>
              <a:gd name="connsiteX13" fmla="*/ 813581 w 1010660"/>
              <a:gd name="connsiteY13" fmla="*/ 1509036 h 1802203"/>
              <a:gd name="connsiteX14" fmla="*/ 816129 w 1010660"/>
              <a:gd name="connsiteY14" fmla="*/ 1490522 h 1802203"/>
              <a:gd name="connsiteX15" fmla="*/ 806277 w 1010660"/>
              <a:gd name="connsiteY15" fmla="*/ 1469459 h 1802203"/>
              <a:gd name="connsiteX16" fmla="*/ 798124 w 1010660"/>
              <a:gd name="connsiteY16" fmla="*/ 1455871 h 1802203"/>
              <a:gd name="connsiteX17" fmla="*/ 797274 w 1010660"/>
              <a:gd name="connsiteY17" fmla="*/ 1445849 h 1802203"/>
              <a:gd name="connsiteX18" fmla="*/ 786064 w 1010660"/>
              <a:gd name="connsiteY18" fmla="*/ 1441772 h 1802203"/>
              <a:gd name="connsiteX19" fmla="*/ 758037 w 1010660"/>
              <a:gd name="connsiteY19" fmla="*/ 1457739 h 1802203"/>
              <a:gd name="connsiteX20" fmla="*/ 698586 w 1010660"/>
              <a:gd name="connsiteY20" fmla="*/ 1490012 h 1802203"/>
              <a:gd name="connsiteX21" fmla="*/ 685507 w 1010660"/>
              <a:gd name="connsiteY21" fmla="*/ 1481859 h 1802203"/>
              <a:gd name="connsiteX22" fmla="*/ 683299 w 1010660"/>
              <a:gd name="connsiteY22" fmla="*/ 1417313 h 1802203"/>
              <a:gd name="connsiteX23" fmla="*/ 692302 w 1010660"/>
              <a:gd name="connsiteY23" fmla="*/ 1403214 h 1802203"/>
              <a:gd name="connsiteX24" fmla="*/ 708608 w 1010660"/>
              <a:gd name="connsiteY24" fmla="*/ 1399138 h 1802203"/>
              <a:gd name="connsiteX25" fmla="*/ 784875 w 1010660"/>
              <a:gd name="connsiteY25" fmla="*/ 1387417 h 1802203"/>
              <a:gd name="connsiteX26" fmla="*/ 833794 w 1010660"/>
              <a:gd name="connsiteY26" fmla="*/ 1365675 h 1802203"/>
              <a:gd name="connsiteX27" fmla="*/ 910231 w 1010660"/>
              <a:gd name="connsiteY27" fmla="*/ 1264100 h 1802203"/>
              <a:gd name="connsiteX28" fmla="*/ 935540 w 1010660"/>
              <a:gd name="connsiteY28" fmla="*/ 1186474 h 1802203"/>
              <a:gd name="connsiteX29" fmla="*/ 939616 w 1010660"/>
              <a:gd name="connsiteY29" fmla="*/ 1178661 h 1802203"/>
              <a:gd name="connsiteX30" fmla="*/ 960679 w 1010660"/>
              <a:gd name="connsiteY30" fmla="*/ 1157768 h 1802203"/>
              <a:gd name="connsiteX31" fmla="*/ 976646 w 1010660"/>
              <a:gd name="connsiteY31" fmla="*/ 1104602 h 1802203"/>
              <a:gd name="connsiteX32" fmla="*/ 958301 w 1010660"/>
              <a:gd name="connsiteY32" fmla="*/ 973301 h 1802203"/>
              <a:gd name="connsiteX33" fmla="*/ 956942 w 1010660"/>
              <a:gd name="connsiteY33" fmla="*/ 961751 h 1802203"/>
              <a:gd name="connsiteX34" fmla="*/ 957451 w 1010660"/>
              <a:gd name="connsiteY34" fmla="*/ 937970 h 1802203"/>
              <a:gd name="connsiteX35" fmla="*/ 957961 w 1010660"/>
              <a:gd name="connsiteY35" fmla="*/ 901281 h 1802203"/>
              <a:gd name="connsiteX36" fmla="*/ 957621 w 1010660"/>
              <a:gd name="connsiteY36" fmla="*/ 891259 h 1802203"/>
              <a:gd name="connsiteX37" fmla="*/ 957112 w 1010660"/>
              <a:gd name="connsiteY37" fmla="*/ 861364 h 1802203"/>
              <a:gd name="connsiteX38" fmla="*/ 959829 w 1010660"/>
              <a:gd name="connsiteY38" fmla="*/ 813804 h 1802203"/>
              <a:gd name="connsiteX39" fmla="*/ 962547 w 1010660"/>
              <a:gd name="connsiteY39" fmla="*/ 801064 h 1802203"/>
              <a:gd name="connsiteX40" fmla="*/ 953205 w 1010660"/>
              <a:gd name="connsiteY40" fmla="*/ 776435 h 1802203"/>
              <a:gd name="connsiteX41" fmla="*/ 944882 w 1010660"/>
              <a:gd name="connsiteY41" fmla="*/ 774566 h 1802203"/>
              <a:gd name="connsiteX42" fmla="*/ 930784 w 1010660"/>
              <a:gd name="connsiteY42" fmla="*/ 756561 h 1802203"/>
              <a:gd name="connsiteX43" fmla="*/ 931463 w 1010660"/>
              <a:gd name="connsiteY43" fmla="*/ 743822 h 1802203"/>
              <a:gd name="connsiteX44" fmla="*/ 939107 w 1010660"/>
              <a:gd name="connsiteY44" fmla="*/ 650059 h 1802203"/>
              <a:gd name="connsiteX45" fmla="*/ 916685 w 1010660"/>
              <a:gd name="connsiteY45" fmla="*/ 635112 h 1802203"/>
              <a:gd name="connsiteX46" fmla="*/ 902077 w 1010660"/>
              <a:gd name="connsiteY46" fmla="*/ 624581 h 1802203"/>
              <a:gd name="connsiteX47" fmla="*/ 902417 w 1010660"/>
              <a:gd name="connsiteY47" fmla="*/ 621183 h 1802203"/>
              <a:gd name="connsiteX48" fmla="*/ 907173 w 1010660"/>
              <a:gd name="connsiteY48" fmla="*/ 545087 h 1802203"/>
              <a:gd name="connsiteX49" fmla="*/ 896132 w 1010660"/>
              <a:gd name="connsiteY49" fmla="*/ 478162 h 1802203"/>
              <a:gd name="connsiteX50" fmla="*/ 888489 w 1010660"/>
              <a:gd name="connsiteY50" fmla="*/ 462195 h 1802203"/>
              <a:gd name="connsiteX51" fmla="*/ 887300 w 1010660"/>
              <a:gd name="connsiteY51" fmla="*/ 448267 h 1802203"/>
              <a:gd name="connsiteX52" fmla="*/ 891376 w 1010660"/>
              <a:gd name="connsiteY52" fmla="*/ 426355 h 1802203"/>
              <a:gd name="connsiteX53" fmla="*/ 908702 w 1010660"/>
              <a:gd name="connsiteY53" fmla="*/ 416333 h 1802203"/>
              <a:gd name="connsiteX54" fmla="*/ 919233 w 1010660"/>
              <a:gd name="connsiteY54" fmla="*/ 418881 h 1802203"/>
              <a:gd name="connsiteX55" fmla="*/ 913798 w 1010660"/>
              <a:gd name="connsiteY55" fmla="*/ 397819 h 1802203"/>
              <a:gd name="connsiteX56" fmla="*/ 915836 w 1010660"/>
              <a:gd name="connsiteY56" fmla="*/ 361129 h 1802203"/>
              <a:gd name="connsiteX57" fmla="*/ 915157 w 1010660"/>
              <a:gd name="connsiteY57" fmla="*/ 340067 h 1802203"/>
              <a:gd name="connsiteX58" fmla="*/ 933501 w 1010660"/>
              <a:gd name="connsiteY58" fmla="*/ 275520 h 1802203"/>
              <a:gd name="connsiteX59" fmla="*/ 941315 w 1010660"/>
              <a:gd name="connsiteY59" fmla="*/ 225922 h 1802203"/>
              <a:gd name="connsiteX60" fmla="*/ 940635 w 1010660"/>
              <a:gd name="connsiteY60" fmla="*/ 202141 h 1802203"/>
              <a:gd name="connsiteX61" fmla="*/ 934521 w 1010660"/>
              <a:gd name="connsiteY61" fmla="*/ 161205 h 1802203"/>
              <a:gd name="connsiteX62" fmla="*/ 920592 w 1010660"/>
              <a:gd name="connsiteY62" fmla="*/ 124006 h 1802203"/>
              <a:gd name="connsiteX63" fmla="*/ 914477 w 1010660"/>
              <a:gd name="connsiteY63" fmla="*/ 105661 h 1802203"/>
              <a:gd name="connsiteX64" fmla="*/ 893415 w 1010660"/>
              <a:gd name="connsiteY64" fmla="*/ 67783 h 1802203"/>
              <a:gd name="connsiteX65" fmla="*/ 792858 w 1010660"/>
              <a:gd name="connsiteY65" fmla="*/ 9 h 1802203"/>
              <a:gd name="connsiteX66" fmla="*/ 773834 w 1010660"/>
              <a:gd name="connsiteY66" fmla="*/ 8332 h 1802203"/>
              <a:gd name="connsiteX67" fmla="*/ 760415 w 1010660"/>
              <a:gd name="connsiteY67" fmla="*/ 28885 h 1802203"/>
              <a:gd name="connsiteX68" fmla="*/ 741221 w 1010660"/>
              <a:gd name="connsiteY68" fmla="*/ 35849 h 1802203"/>
              <a:gd name="connsiteX69" fmla="*/ 724235 w 1010660"/>
              <a:gd name="connsiteY69" fmla="*/ 30923 h 1802203"/>
              <a:gd name="connsiteX70" fmla="*/ 656801 w 1010660"/>
              <a:gd name="connsiteY70" fmla="*/ 30074 h 1802203"/>
              <a:gd name="connsiteX71" fmla="*/ 585630 w 1010660"/>
              <a:gd name="connsiteY71" fmla="*/ 72029 h 1802203"/>
              <a:gd name="connsiteX72" fmla="*/ 566946 w 1010660"/>
              <a:gd name="connsiteY72" fmla="*/ 104812 h 1802203"/>
              <a:gd name="connsiteX73" fmla="*/ 560491 w 1010660"/>
              <a:gd name="connsiteY73" fmla="*/ 189232 h 1802203"/>
              <a:gd name="connsiteX74" fmla="*/ 563209 w 1010660"/>
              <a:gd name="connsiteY74" fmla="*/ 206558 h 1802203"/>
              <a:gd name="connsiteX75" fmla="*/ 563379 w 1010660"/>
              <a:gd name="connsiteY75" fmla="*/ 259554 h 1802203"/>
              <a:gd name="connsiteX76" fmla="*/ 561340 w 1010660"/>
              <a:gd name="connsiteY76" fmla="*/ 276370 h 1802203"/>
              <a:gd name="connsiteX77" fmla="*/ 570853 w 1010660"/>
              <a:gd name="connsiteY77" fmla="*/ 288260 h 1802203"/>
              <a:gd name="connsiteX78" fmla="*/ 584781 w 1010660"/>
              <a:gd name="connsiteY78" fmla="*/ 303887 h 1802203"/>
              <a:gd name="connsiteX79" fmla="*/ 590386 w 1010660"/>
              <a:gd name="connsiteY79" fmla="*/ 312380 h 1802203"/>
              <a:gd name="connsiteX80" fmla="*/ 601937 w 1010660"/>
              <a:gd name="connsiteY80" fmla="*/ 335311 h 1802203"/>
              <a:gd name="connsiteX81" fmla="*/ 603635 w 1010660"/>
              <a:gd name="connsiteY81" fmla="*/ 341595 h 1802203"/>
              <a:gd name="connsiteX82" fmla="*/ 616205 w 1010660"/>
              <a:gd name="connsiteY82" fmla="*/ 359940 h 1802203"/>
              <a:gd name="connsiteX83" fmla="*/ 637947 w 1010660"/>
              <a:gd name="connsiteY83" fmla="*/ 374888 h 1802203"/>
              <a:gd name="connsiteX84" fmla="*/ 660708 w 1010660"/>
              <a:gd name="connsiteY84" fmla="*/ 372510 h 1802203"/>
              <a:gd name="connsiteX85" fmla="*/ 685168 w 1010660"/>
              <a:gd name="connsiteY85" fmla="*/ 382362 h 1802203"/>
              <a:gd name="connsiteX86" fmla="*/ 698247 w 1010660"/>
              <a:gd name="connsiteY86" fmla="*/ 402065 h 1802203"/>
              <a:gd name="connsiteX87" fmla="*/ 694680 w 1010660"/>
              <a:gd name="connsiteY87" fmla="*/ 422788 h 1802203"/>
              <a:gd name="connsiteX88" fmla="*/ 690603 w 1010660"/>
              <a:gd name="connsiteY88" fmla="*/ 425846 h 1802203"/>
              <a:gd name="connsiteX89" fmla="*/ 656971 w 1010660"/>
              <a:gd name="connsiteY89" fmla="*/ 466442 h 1802203"/>
              <a:gd name="connsiteX90" fmla="*/ 637607 w 1010660"/>
              <a:gd name="connsiteY90" fmla="*/ 500414 h 1802203"/>
              <a:gd name="connsiteX91" fmla="*/ 635229 w 1010660"/>
              <a:gd name="connsiteY91" fmla="*/ 507378 h 1802203"/>
              <a:gd name="connsiteX92" fmla="*/ 628605 w 1010660"/>
              <a:gd name="connsiteY92" fmla="*/ 536084 h 1802203"/>
              <a:gd name="connsiteX93" fmla="*/ 601597 w 1010660"/>
              <a:gd name="connsiteY93" fmla="*/ 588910 h 1802203"/>
              <a:gd name="connsiteX94" fmla="*/ 576118 w 1010660"/>
              <a:gd name="connsiteY94" fmla="*/ 666876 h 1802203"/>
              <a:gd name="connsiteX95" fmla="*/ 566776 w 1010660"/>
              <a:gd name="connsiteY95" fmla="*/ 710699 h 1802203"/>
              <a:gd name="connsiteX96" fmla="*/ 552847 w 1010660"/>
              <a:gd name="connsiteY96" fmla="*/ 799535 h 1802203"/>
              <a:gd name="connsiteX97" fmla="*/ 547582 w 1010660"/>
              <a:gd name="connsiteY97" fmla="*/ 812784 h 1802203"/>
              <a:gd name="connsiteX98" fmla="*/ 532804 w 1010660"/>
              <a:gd name="connsiteY98" fmla="*/ 815332 h 1802203"/>
              <a:gd name="connsiteX99" fmla="*/ 491189 w 1010660"/>
              <a:gd name="connsiteY99" fmla="*/ 818220 h 1802203"/>
              <a:gd name="connsiteX100" fmla="*/ 458406 w 1010660"/>
              <a:gd name="connsiteY100" fmla="*/ 835885 h 1802203"/>
              <a:gd name="connsiteX101" fmla="*/ 411015 w 1010660"/>
              <a:gd name="connsiteY101" fmla="*/ 853720 h 1802203"/>
              <a:gd name="connsiteX102" fmla="*/ 394199 w 1010660"/>
              <a:gd name="connsiteY102" fmla="*/ 854400 h 1802203"/>
              <a:gd name="connsiteX103" fmla="*/ 375345 w 1010660"/>
              <a:gd name="connsiteY103" fmla="*/ 856948 h 1802203"/>
              <a:gd name="connsiteX104" fmla="*/ 367361 w 1010660"/>
              <a:gd name="connsiteY104" fmla="*/ 858646 h 1802203"/>
              <a:gd name="connsiteX105" fmla="*/ 355471 w 1010660"/>
              <a:gd name="connsiteY105" fmla="*/ 859156 h 1802203"/>
              <a:gd name="connsiteX106" fmla="*/ 346469 w 1010660"/>
              <a:gd name="connsiteY106" fmla="*/ 866800 h 1802203"/>
              <a:gd name="connsiteX107" fmla="*/ 318102 w 1010660"/>
              <a:gd name="connsiteY107" fmla="*/ 884125 h 1802203"/>
              <a:gd name="connsiteX108" fmla="*/ 274788 w 1010660"/>
              <a:gd name="connsiteY108" fmla="*/ 891259 h 1802203"/>
              <a:gd name="connsiteX109" fmla="*/ 219754 w 1010660"/>
              <a:gd name="connsiteY109" fmla="*/ 894487 h 1802203"/>
              <a:gd name="connsiteX110" fmla="*/ 211771 w 1010660"/>
              <a:gd name="connsiteY110" fmla="*/ 889391 h 1802203"/>
              <a:gd name="connsiteX111" fmla="*/ 186801 w 1010660"/>
              <a:gd name="connsiteY111" fmla="*/ 833677 h 1802203"/>
              <a:gd name="connsiteX112" fmla="*/ 87094 w 1010660"/>
              <a:gd name="connsiteY112" fmla="*/ 610992 h 1802203"/>
              <a:gd name="connsiteX113" fmla="*/ 76393 w 1010660"/>
              <a:gd name="connsiteY113" fmla="*/ 607255 h 1802203"/>
              <a:gd name="connsiteX114" fmla="*/ 5222 w 1010660"/>
              <a:gd name="connsiteY114" fmla="*/ 643095 h 1802203"/>
              <a:gd name="connsiteX115" fmla="*/ 1655 w 1010660"/>
              <a:gd name="connsiteY115" fmla="*/ 654306 h 1802203"/>
              <a:gd name="connsiteX116" fmla="*/ 35117 w 1010660"/>
              <a:gd name="connsiteY116" fmla="*/ 727515 h 1802203"/>
              <a:gd name="connsiteX117" fmla="*/ 141789 w 1010660"/>
              <a:gd name="connsiteY117" fmla="*/ 969394 h 1802203"/>
              <a:gd name="connsiteX118" fmla="*/ 138561 w 1010660"/>
              <a:gd name="connsiteY118" fmla="*/ 994194 h 1802203"/>
              <a:gd name="connsiteX119" fmla="*/ 135334 w 1010660"/>
              <a:gd name="connsiteY119" fmla="*/ 999969 h 1802203"/>
              <a:gd name="connsiteX120" fmla="*/ 125143 w 1010660"/>
              <a:gd name="connsiteY120" fmla="*/ 1013897 h 1802203"/>
              <a:gd name="connsiteX121" fmla="*/ 96436 w 1010660"/>
              <a:gd name="connsiteY121" fmla="*/ 1073178 h 1802203"/>
              <a:gd name="connsiteX122" fmla="*/ 96946 w 1010660"/>
              <a:gd name="connsiteY122" fmla="*/ 1119040 h 1802203"/>
              <a:gd name="connsiteX123" fmla="*/ 98305 w 1010660"/>
              <a:gd name="connsiteY123" fmla="*/ 1129062 h 1802203"/>
              <a:gd name="connsiteX124" fmla="*/ 105779 w 1010660"/>
              <a:gd name="connsiteY124" fmla="*/ 1168979 h 1802203"/>
              <a:gd name="connsiteX125" fmla="*/ 120726 w 1010660"/>
              <a:gd name="connsiteY125" fmla="*/ 1260872 h 1802203"/>
              <a:gd name="connsiteX126" fmla="*/ 157076 w 1010660"/>
              <a:gd name="connsiteY126" fmla="*/ 1380793 h 1802203"/>
              <a:gd name="connsiteX127" fmla="*/ 171514 w 1010660"/>
              <a:gd name="connsiteY127" fmla="*/ 1439224 h 1802203"/>
              <a:gd name="connsiteX128" fmla="*/ 162512 w 1010660"/>
              <a:gd name="connsiteY128" fmla="*/ 1504110 h 1802203"/>
              <a:gd name="connsiteX129" fmla="*/ 140430 w 1010660"/>
              <a:gd name="connsiteY129" fmla="*/ 1544197 h 1802203"/>
              <a:gd name="connsiteX130" fmla="*/ 123274 w 1010660"/>
              <a:gd name="connsiteY130" fmla="*/ 1557786 h 1802203"/>
              <a:gd name="connsiteX131" fmla="*/ 94228 w 1010660"/>
              <a:gd name="connsiteY131" fmla="*/ 1563731 h 1802203"/>
              <a:gd name="connsiteX132" fmla="*/ 85226 w 1010660"/>
              <a:gd name="connsiteY132" fmla="*/ 1569167 h 1802203"/>
              <a:gd name="connsiteX133" fmla="*/ 59917 w 1010660"/>
              <a:gd name="connsiteY133" fmla="*/ 1597533 h 1802203"/>
              <a:gd name="connsiteX134" fmla="*/ 47347 w 1010660"/>
              <a:gd name="connsiteY134" fmla="*/ 1636940 h 1802203"/>
              <a:gd name="connsiteX135" fmla="*/ 82848 w 1010660"/>
              <a:gd name="connsiteY135" fmla="*/ 1670233 h 1802203"/>
              <a:gd name="connsiteX136" fmla="*/ 168626 w 1010660"/>
              <a:gd name="connsiteY136" fmla="*/ 1675668 h 1802203"/>
              <a:gd name="connsiteX137" fmla="*/ 225699 w 1010660"/>
              <a:gd name="connsiteY137" fmla="*/ 1626239 h 1802203"/>
              <a:gd name="connsiteX138" fmla="*/ 241496 w 1010660"/>
              <a:gd name="connsiteY138" fmla="*/ 1605007 h 1802203"/>
              <a:gd name="connsiteX139" fmla="*/ 272750 w 1010660"/>
              <a:gd name="connsiteY139" fmla="*/ 1588021 h 1802203"/>
              <a:gd name="connsiteX140" fmla="*/ 282092 w 1010660"/>
              <a:gd name="connsiteY140" fmla="*/ 1593966 h 1802203"/>
              <a:gd name="connsiteX141" fmla="*/ 279884 w 1010660"/>
              <a:gd name="connsiteY141" fmla="*/ 1643055 h 1802203"/>
              <a:gd name="connsiteX142" fmla="*/ 287698 w 1010660"/>
              <a:gd name="connsiteY142" fmla="*/ 1653417 h 1802203"/>
              <a:gd name="connsiteX143" fmla="*/ 291095 w 1010660"/>
              <a:gd name="connsiteY143" fmla="*/ 1645943 h 1802203"/>
              <a:gd name="connsiteX144" fmla="*/ 292963 w 1010660"/>
              <a:gd name="connsiteY144" fmla="*/ 1604327 h 1802203"/>
              <a:gd name="connsiteX145" fmla="*/ 295681 w 1010660"/>
              <a:gd name="connsiteY145" fmla="*/ 1579188 h 1802203"/>
              <a:gd name="connsiteX146" fmla="*/ 311648 w 1010660"/>
              <a:gd name="connsiteY146" fmla="*/ 1549633 h 1802203"/>
              <a:gd name="connsiteX147" fmla="*/ 316234 w 1010660"/>
              <a:gd name="connsiteY147" fmla="*/ 1517190 h 1802203"/>
              <a:gd name="connsiteX148" fmla="*/ 316743 w 1010660"/>
              <a:gd name="connsiteY148" fmla="*/ 1507338 h 1802203"/>
              <a:gd name="connsiteX149" fmla="*/ 313686 w 1010660"/>
              <a:gd name="connsiteY149" fmla="*/ 1474385 h 1802203"/>
              <a:gd name="connsiteX150" fmla="*/ 294662 w 1010660"/>
              <a:gd name="connsiteY150" fmla="*/ 1451794 h 1802203"/>
              <a:gd name="connsiteX151" fmla="*/ 281073 w 1010660"/>
              <a:gd name="connsiteY151" fmla="*/ 1446189 h 1802203"/>
              <a:gd name="connsiteX152" fmla="*/ 272071 w 1010660"/>
              <a:gd name="connsiteY152" fmla="*/ 1439734 h 1802203"/>
              <a:gd name="connsiteX153" fmla="*/ 270542 w 1010660"/>
              <a:gd name="connsiteY153" fmla="*/ 1428863 h 1802203"/>
              <a:gd name="connsiteX154" fmla="*/ 278355 w 1010660"/>
              <a:gd name="connsiteY154" fmla="*/ 1303677 h 1802203"/>
              <a:gd name="connsiteX155" fmla="*/ 285659 w 1010660"/>
              <a:gd name="connsiteY155" fmla="*/ 1212293 h 1802203"/>
              <a:gd name="connsiteX156" fmla="*/ 280564 w 1010660"/>
              <a:gd name="connsiteY156" fmla="*/ 1182398 h 1802203"/>
              <a:gd name="connsiteX157" fmla="*/ 269862 w 1010660"/>
              <a:gd name="connsiteY157" fmla="*/ 1148596 h 1802203"/>
              <a:gd name="connsiteX158" fmla="*/ 278016 w 1010660"/>
              <a:gd name="connsiteY158" fmla="*/ 1137725 h 1802203"/>
              <a:gd name="connsiteX159" fmla="*/ 313686 w 1010660"/>
              <a:gd name="connsiteY159" fmla="*/ 1138234 h 1802203"/>
              <a:gd name="connsiteX160" fmla="*/ 323708 w 1010660"/>
              <a:gd name="connsiteY160" fmla="*/ 1148596 h 1802203"/>
              <a:gd name="connsiteX161" fmla="*/ 337296 w 1010660"/>
              <a:gd name="connsiteY161" fmla="*/ 1174414 h 1802203"/>
              <a:gd name="connsiteX162" fmla="*/ 383668 w 1010660"/>
              <a:gd name="connsiteY162" fmla="*/ 1187663 h 1802203"/>
              <a:gd name="connsiteX163" fmla="*/ 507325 w 1010660"/>
              <a:gd name="connsiteY163" fmla="*/ 1194797 h 1802203"/>
              <a:gd name="connsiteX164" fmla="*/ 517007 w 1010660"/>
              <a:gd name="connsiteY164" fmla="*/ 1204309 h 1802203"/>
              <a:gd name="connsiteX165" fmla="*/ 509194 w 1010660"/>
              <a:gd name="connsiteY165" fmla="*/ 1295524 h 1802203"/>
              <a:gd name="connsiteX166" fmla="*/ 499851 w 1010660"/>
              <a:gd name="connsiteY166" fmla="*/ 1395910 h 1802203"/>
              <a:gd name="connsiteX167" fmla="*/ 506816 w 1010660"/>
              <a:gd name="connsiteY167" fmla="*/ 1404064 h 1802203"/>
              <a:gd name="connsiteX168" fmla="*/ 593104 w 1010660"/>
              <a:gd name="connsiteY168" fmla="*/ 1408140 h 1802203"/>
              <a:gd name="connsiteX169" fmla="*/ 606693 w 1010660"/>
              <a:gd name="connsiteY169" fmla="*/ 1407970 h 1802203"/>
              <a:gd name="connsiteX170" fmla="*/ 615016 w 1010660"/>
              <a:gd name="connsiteY170" fmla="*/ 1416293 h 1802203"/>
              <a:gd name="connsiteX171" fmla="*/ 614167 w 1010660"/>
              <a:gd name="connsiteY171" fmla="*/ 1485936 h 1802203"/>
              <a:gd name="connsiteX172" fmla="*/ 610430 w 1010660"/>
              <a:gd name="connsiteY172" fmla="*/ 1490861 h 1802203"/>
              <a:gd name="connsiteX173" fmla="*/ 560831 w 1010660"/>
              <a:gd name="connsiteY173" fmla="*/ 1486105 h 1802203"/>
              <a:gd name="connsiteX174" fmla="*/ 452801 w 1010660"/>
              <a:gd name="connsiteY174" fmla="*/ 1450945 h 1802203"/>
              <a:gd name="connsiteX175" fmla="*/ 429870 w 1010660"/>
              <a:gd name="connsiteY175" fmla="*/ 1458928 h 1802203"/>
              <a:gd name="connsiteX176" fmla="*/ 428341 w 1010660"/>
              <a:gd name="connsiteY176" fmla="*/ 1467081 h 1802203"/>
              <a:gd name="connsiteX177" fmla="*/ 428171 w 1010660"/>
              <a:gd name="connsiteY177" fmla="*/ 1505300 h 1802203"/>
              <a:gd name="connsiteX178" fmla="*/ 434626 w 1010660"/>
              <a:gd name="connsiteY178" fmla="*/ 1523474 h 1802203"/>
              <a:gd name="connsiteX179" fmla="*/ 438193 w 1010660"/>
              <a:gd name="connsiteY179" fmla="*/ 1531628 h 1802203"/>
              <a:gd name="connsiteX180" fmla="*/ 448214 w 1010660"/>
              <a:gd name="connsiteY180" fmla="*/ 1551671 h 1802203"/>
              <a:gd name="connsiteX181" fmla="*/ 451611 w 1010660"/>
              <a:gd name="connsiteY181" fmla="*/ 1557956 h 1802203"/>
              <a:gd name="connsiteX182" fmla="*/ 446346 w 1010660"/>
              <a:gd name="connsiteY182" fmla="*/ 1561523 h 1802203"/>
              <a:gd name="connsiteX183" fmla="*/ 350715 w 1010660"/>
              <a:gd name="connsiteY183" fmla="*/ 1584454 h 1802203"/>
              <a:gd name="connsiteX184" fmla="*/ 327954 w 1010660"/>
              <a:gd name="connsiteY184" fmla="*/ 1610782 h 1802203"/>
              <a:gd name="connsiteX185" fmla="*/ 327954 w 1010660"/>
              <a:gd name="connsiteY185" fmla="*/ 1649850 h 1802203"/>
              <a:gd name="connsiteX186" fmla="*/ 335428 w 1010660"/>
              <a:gd name="connsiteY186" fmla="*/ 1668194 h 1802203"/>
              <a:gd name="connsiteX187" fmla="*/ 346809 w 1010660"/>
              <a:gd name="connsiteY187" fmla="*/ 1688407 h 1802203"/>
              <a:gd name="connsiteX188" fmla="*/ 351904 w 1010660"/>
              <a:gd name="connsiteY188" fmla="*/ 1693673 h 1802203"/>
              <a:gd name="connsiteX189" fmla="*/ 395558 w 1010660"/>
              <a:gd name="connsiteY189" fmla="*/ 1687219 h 1802203"/>
              <a:gd name="connsiteX190" fmla="*/ 410166 w 1010660"/>
              <a:gd name="connsiteY190" fmla="*/ 1651888 h 1802203"/>
              <a:gd name="connsiteX191" fmla="*/ 398615 w 1010660"/>
              <a:gd name="connsiteY191" fmla="*/ 1632354 h 1802203"/>
              <a:gd name="connsiteX192" fmla="*/ 395388 w 1010660"/>
              <a:gd name="connsiteY192" fmla="*/ 1623182 h 1802203"/>
              <a:gd name="connsiteX193" fmla="*/ 403032 w 1010660"/>
              <a:gd name="connsiteY193" fmla="*/ 1619445 h 1802203"/>
              <a:gd name="connsiteX194" fmla="*/ 500701 w 1010660"/>
              <a:gd name="connsiteY194" fmla="*/ 1603478 h 1802203"/>
              <a:gd name="connsiteX195" fmla="*/ 566606 w 1010660"/>
              <a:gd name="connsiteY195" fmla="*/ 1591928 h 1802203"/>
              <a:gd name="connsiteX196" fmla="*/ 616205 w 1010660"/>
              <a:gd name="connsiteY196" fmla="*/ 1587341 h 1802203"/>
              <a:gd name="connsiteX197" fmla="*/ 638626 w 1010660"/>
              <a:gd name="connsiteY197" fmla="*/ 1604667 h 1802203"/>
              <a:gd name="connsiteX198" fmla="*/ 663935 w 1010660"/>
              <a:gd name="connsiteY198" fmla="*/ 1683312 h 1802203"/>
              <a:gd name="connsiteX199" fmla="*/ 667502 w 1010660"/>
              <a:gd name="connsiteY199" fmla="*/ 1731891 h 1802203"/>
              <a:gd name="connsiteX200" fmla="*/ 665634 w 1010660"/>
              <a:gd name="connsiteY200" fmla="*/ 1757200 h 1802203"/>
              <a:gd name="connsiteX201" fmla="*/ 712345 w 1010660"/>
              <a:gd name="connsiteY201" fmla="*/ 1803402 h 1802203"/>
              <a:gd name="connsiteX202" fmla="*/ 763642 w 1010660"/>
              <a:gd name="connsiteY202" fmla="*/ 1762976 h 1802203"/>
              <a:gd name="connsiteX203" fmla="*/ 760415 w 1010660"/>
              <a:gd name="connsiteY203" fmla="*/ 1742423 h 1802203"/>
              <a:gd name="connsiteX204" fmla="*/ 730860 w 1010660"/>
              <a:gd name="connsiteY204" fmla="*/ 1710319 h 1802203"/>
              <a:gd name="connsiteX205" fmla="*/ 725934 w 1010660"/>
              <a:gd name="connsiteY205" fmla="*/ 1704204 h 1802203"/>
              <a:gd name="connsiteX206" fmla="*/ 695189 w 1010660"/>
              <a:gd name="connsiteY206" fmla="*/ 1594985 h 1802203"/>
              <a:gd name="connsiteX207" fmla="*/ 705890 w 1010660"/>
              <a:gd name="connsiteY207" fmla="*/ 1581736 h 1802203"/>
              <a:gd name="connsiteX208" fmla="*/ 711835 w 1010660"/>
              <a:gd name="connsiteY208" fmla="*/ 1582246 h 1802203"/>
              <a:gd name="connsiteX209" fmla="*/ 783516 w 1010660"/>
              <a:gd name="connsiteY209" fmla="*/ 1589719 h 1802203"/>
              <a:gd name="connsiteX210" fmla="*/ 928236 w 1010660"/>
              <a:gd name="connsiteY210" fmla="*/ 1601270 h 1802203"/>
              <a:gd name="connsiteX211" fmla="*/ 942844 w 1010660"/>
              <a:gd name="connsiteY211" fmla="*/ 1623182 h 1802203"/>
              <a:gd name="connsiteX212" fmla="*/ 943353 w 1010660"/>
              <a:gd name="connsiteY212" fmla="*/ 1639488 h 1802203"/>
              <a:gd name="connsiteX213" fmla="*/ 951506 w 1010660"/>
              <a:gd name="connsiteY213" fmla="*/ 1656984 h 1802203"/>
              <a:gd name="connsiteX214" fmla="*/ 958980 w 1010660"/>
              <a:gd name="connsiteY214" fmla="*/ 1663778 h 1802203"/>
              <a:gd name="connsiteX215" fmla="*/ 989385 w 1010660"/>
              <a:gd name="connsiteY215" fmla="*/ 1666496 h 1802203"/>
              <a:gd name="connsiteX216" fmla="*/ 1002974 w 1010660"/>
              <a:gd name="connsiteY216" fmla="*/ 1659531 h 1802203"/>
              <a:gd name="connsiteX217" fmla="*/ 1010278 w 1010660"/>
              <a:gd name="connsiteY217" fmla="*/ 1613160 h 1802203"/>
              <a:gd name="connsiteX218" fmla="*/ 893245 w 1010660"/>
              <a:gd name="connsiteY218" fmla="*/ 959203 h 1802203"/>
              <a:gd name="connsiteX219" fmla="*/ 911929 w 1010660"/>
              <a:gd name="connsiteY219" fmla="*/ 957674 h 1802203"/>
              <a:gd name="connsiteX220" fmla="*/ 923310 w 1010660"/>
              <a:gd name="connsiteY220" fmla="*/ 963110 h 1802203"/>
              <a:gd name="connsiteX221" fmla="*/ 941655 w 1010660"/>
              <a:gd name="connsiteY221" fmla="*/ 1071989 h 1802203"/>
              <a:gd name="connsiteX222" fmla="*/ 943183 w 1010660"/>
              <a:gd name="connsiteY222" fmla="*/ 1086257 h 1802203"/>
              <a:gd name="connsiteX223" fmla="*/ 942504 w 1010660"/>
              <a:gd name="connsiteY223" fmla="*/ 1086257 h 1802203"/>
              <a:gd name="connsiteX224" fmla="*/ 942504 w 1010660"/>
              <a:gd name="connsiteY224" fmla="*/ 1098147 h 1802203"/>
              <a:gd name="connsiteX225" fmla="*/ 937748 w 1010660"/>
              <a:gd name="connsiteY225" fmla="*/ 1103073 h 1802203"/>
              <a:gd name="connsiteX226" fmla="*/ 932822 w 1010660"/>
              <a:gd name="connsiteY226" fmla="*/ 1098317 h 1802203"/>
              <a:gd name="connsiteX227" fmla="*/ 912269 w 1010660"/>
              <a:gd name="connsiteY227" fmla="*/ 1033261 h 1802203"/>
              <a:gd name="connsiteX228" fmla="*/ 893245 w 1010660"/>
              <a:gd name="connsiteY228" fmla="*/ 974830 h 1802203"/>
              <a:gd name="connsiteX229" fmla="*/ 888998 w 1010660"/>
              <a:gd name="connsiteY229" fmla="*/ 962940 h 1802203"/>
              <a:gd name="connsiteX230" fmla="*/ 893245 w 1010660"/>
              <a:gd name="connsiteY230" fmla="*/ 959203 h 180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010660" h="1802203">
                <a:moveTo>
                  <a:pt x="1010278" y="1613160"/>
                </a:moveTo>
                <a:cubicBezTo>
                  <a:pt x="1009089" y="1607894"/>
                  <a:pt x="1006031" y="1602459"/>
                  <a:pt x="998557" y="1603308"/>
                </a:cubicBezTo>
                <a:cubicBezTo>
                  <a:pt x="993801" y="1603818"/>
                  <a:pt x="991253" y="1600760"/>
                  <a:pt x="990404" y="1596344"/>
                </a:cubicBezTo>
                <a:cubicBezTo>
                  <a:pt x="989725" y="1592437"/>
                  <a:pt x="989215" y="1588530"/>
                  <a:pt x="988536" y="1584624"/>
                </a:cubicBezTo>
                <a:cubicBezTo>
                  <a:pt x="986328" y="1571545"/>
                  <a:pt x="981232" y="1566449"/>
                  <a:pt x="968322" y="1564241"/>
                </a:cubicBezTo>
                <a:cubicBezTo>
                  <a:pt x="935879" y="1558975"/>
                  <a:pt x="903606" y="1553540"/>
                  <a:pt x="871163" y="1548444"/>
                </a:cubicBezTo>
                <a:cubicBezTo>
                  <a:pt x="830737" y="1542159"/>
                  <a:pt x="790140" y="1536214"/>
                  <a:pt x="749714" y="1529589"/>
                </a:cubicBezTo>
                <a:cubicBezTo>
                  <a:pt x="738843" y="1527721"/>
                  <a:pt x="728821" y="1521606"/>
                  <a:pt x="717101" y="1522625"/>
                </a:cubicBezTo>
                <a:cubicBezTo>
                  <a:pt x="717271" y="1521946"/>
                  <a:pt x="717441" y="1521096"/>
                  <a:pt x="717441" y="1520417"/>
                </a:cubicBezTo>
                <a:cubicBezTo>
                  <a:pt x="724915" y="1519228"/>
                  <a:pt x="732558" y="1518039"/>
                  <a:pt x="740032" y="1517020"/>
                </a:cubicBezTo>
                <a:cubicBezTo>
                  <a:pt x="741391" y="1516850"/>
                  <a:pt x="743599" y="1515491"/>
                  <a:pt x="743769" y="1518379"/>
                </a:cubicBezTo>
                <a:cubicBezTo>
                  <a:pt x="744109" y="1522795"/>
                  <a:pt x="748015" y="1522455"/>
                  <a:pt x="750563" y="1523474"/>
                </a:cubicBezTo>
                <a:cubicBezTo>
                  <a:pt x="768568" y="1530099"/>
                  <a:pt x="786404" y="1525853"/>
                  <a:pt x="804069" y="1521946"/>
                </a:cubicBezTo>
                <a:cubicBezTo>
                  <a:pt x="810354" y="1520587"/>
                  <a:pt x="812562" y="1514981"/>
                  <a:pt x="813581" y="1509036"/>
                </a:cubicBezTo>
                <a:cubicBezTo>
                  <a:pt x="814600" y="1502922"/>
                  <a:pt x="815110" y="1496637"/>
                  <a:pt x="816129" y="1490522"/>
                </a:cubicBezTo>
                <a:cubicBezTo>
                  <a:pt x="817827" y="1479821"/>
                  <a:pt x="815789" y="1474895"/>
                  <a:pt x="806277" y="1469459"/>
                </a:cubicBezTo>
                <a:cubicBezTo>
                  <a:pt x="800672" y="1466402"/>
                  <a:pt x="798124" y="1462155"/>
                  <a:pt x="798124" y="1455871"/>
                </a:cubicBezTo>
                <a:cubicBezTo>
                  <a:pt x="798124" y="1452473"/>
                  <a:pt x="798124" y="1449076"/>
                  <a:pt x="797274" y="1445849"/>
                </a:cubicBezTo>
                <a:cubicBezTo>
                  <a:pt x="795576" y="1439394"/>
                  <a:pt x="791839" y="1438375"/>
                  <a:pt x="786064" y="1441772"/>
                </a:cubicBezTo>
                <a:cubicBezTo>
                  <a:pt x="776722" y="1447208"/>
                  <a:pt x="767549" y="1452643"/>
                  <a:pt x="758037" y="1457739"/>
                </a:cubicBezTo>
                <a:cubicBezTo>
                  <a:pt x="738164" y="1468440"/>
                  <a:pt x="719649" y="1481349"/>
                  <a:pt x="698586" y="1490012"/>
                </a:cubicBezTo>
                <a:cubicBezTo>
                  <a:pt x="689584" y="1493749"/>
                  <a:pt x="685847" y="1491201"/>
                  <a:pt x="685507" y="1481859"/>
                </a:cubicBezTo>
                <a:cubicBezTo>
                  <a:pt x="684828" y="1460287"/>
                  <a:pt x="683979" y="1438885"/>
                  <a:pt x="683299" y="1417313"/>
                </a:cubicBezTo>
                <a:cubicBezTo>
                  <a:pt x="683129" y="1410688"/>
                  <a:pt x="686526" y="1405932"/>
                  <a:pt x="692302" y="1403214"/>
                </a:cubicBezTo>
                <a:cubicBezTo>
                  <a:pt x="697397" y="1400836"/>
                  <a:pt x="703003" y="1399817"/>
                  <a:pt x="708608" y="1399138"/>
                </a:cubicBezTo>
                <a:cubicBezTo>
                  <a:pt x="734087" y="1395910"/>
                  <a:pt x="759736" y="1392853"/>
                  <a:pt x="784875" y="1387417"/>
                </a:cubicBezTo>
                <a:cubicBezTo>
                  <a:pt x="802710" y="1383681"/>
                  <a:pt x="820375" y="1378755"/>
                  <a:pt x="833794" y="1365675"/>
                </a:cubicBezTo>
                <a:cubicBezTo>
                  <a:pt x="864369" y="1335780"/>
                  <a:pt x="892565" y="1303507"/>
                  <a:pt x="910231" y="1264100"/>
                </a:cubicBezTo>
                <a:cubicBezTo>
                  <a:pt x="921441" y="1239300"/>
                  <a:pt x="934011" y="1214671"/>
                  <a:pt x="935540" y="1186474"/>
                </a:cubicBezTo>
                <a:cubicBezTo>
                  <a:pt x="935710" y="1183417"/>
                  <a:pt x="936219" y="1180020"/>
                  <a:pt x="939616" y="1178661"/>
                </a:cubicBezTo>
                <a:cubicBezTo>
                  <a:pt x="949468" y="1174584"/>
                  <a:pt x="955243" y="1165582"/>
                  <a:pt x="960679" y="1157768"/>
                </a:cubicBezTo>
                <a:cubicBezTo>
                  <a:pt x="971380" y="1142141"/>
                  <a:pt x="975626" y="1123966"/>
                  <a:pt x="976646" y="1104602"/>
                </a:cubicBezTo>
                <a:cubicBezTo>
                  <a:pt x="978684" y="1059590"/>
                  <a:pt x="967473" y="1016615"/>
                  <a:pt x="958301" y="973301"/>
                </a:cubicBezTo>
                <a:cubicBezTo>
                  <a:pt x="957451" y="969564"/>
                  <a:pt x="954904" y="965318"/>
                  <a:pt x="956942" y="961751"/>
                </a:cubicBezTo>
                <a:cubicBezTo>
                  <a:pt x="961698" y="953767"/>
                  <a:pt x="959150" y="945784"/>
                  <a:pt x="957451" y="937970"/>
                </a:cubicBezTo>
                <a:cubicBezTo>
                  <a:pt x="954904" y="925571"/>
                  <a:pt x="953545" y="913511"/>
                  <a:pt x="957961" y="901281"/>
                </a:cubicBezTo>
                <a:cubicBezTo>
                  <a:pt x="959150" y="897884"/>
                  <a:pt x="958980" y="894656"/>
                  <a:pt x="957621" y="891259"/>
                </a:cubicBezTo>
                <a:cubicBezTo>
                  <a:pt x="953884" y="881407"/>
                  <a:pt x="954054" y="871046"/>
                  <a:pt x="957112" y="861364"/>
                </a:cubicBezTo>
                <a:cubicBezTo>
                  <a:pt x="961868" y="845567"/>
                  <a:pt x="962547" y="829770"/>
                  <a:pt x="959829" y="813804"/>
                </a:cubicBezTo>
                <a:cubicBezTo>
                  <a:pt x="958980" y="809047"/>
                  <a:pt x="959660" y="804971"/>
                  <a:pt x="962547" y="801064"/>
                </a:cubicBezTo>
                <a:cubicBezTo>
                  <a:pt x="971210" y="789174"/>
                  <a:pt x="967813" y="780171"/>
                  <a:pt x="953205" y="776435"/>
                </a:cubicBezTo>
                <a:cubicBezTo>
                  <a:pt x="950487" y="775755"/>
                  <a:pt x="947600" y="775246"/>
                  <a:pt x="944882" y="774566"/>
                </a:cubicBezTo>
                <a:cubicBezTo>
                  <a:pt x="930953" y="770999"/>
                  <a:pt x="930614" y="770489"/>
                  <a:pt x="930784" y="756561"/>
                </a:cubicBezTo>
                <a:cubicBezTo>
                  <a:pt x="930784" y="752315"/>
                  <a:pt x="931293" y="748068"/>
                  <a:pt x="931463" y="743822"/>
                </a:cubicBezTo>
                <a:cubicBezTo>
                  <a:pt x="932992" y="712398"/>
                  <a:pt x="939786" y="681483"/>
                  <a:pt x="939107" y="650059"/>
                </a:cubicBezTo>
                <a:cubicBezTo>
                  <a:pt x="938767" y="637490"/>
                  <a:pt x="928406" y="630526"/>
                  <a:pt x="916685" y="635112"/>
                </a:cubicBezTo>
                <a:cubicBezTo>
                  <a:pt x="902587" y="640547"/>
                  <a:pt x="901228" y="639698"/>
                  <a:pt x="902077" y="624581"/>
                </a:cubicBezTo>
                <a:cubicBezTo>
                  <a:pt x="902077" y="623392"/>
                  <a:pt x="902247" y="622372"/>
                  <a:pt x="902417" y="621183"/>
                </a:cubicBezTo>
                <a:cubicBezTo>
                  <a:pt x="908702" y="596044"/>
                  <a:pt x="906154" y="570565"/>
                  <a:pt x="907173" y="545087"/>
                </a:cubicBezTo>
                <a:cubicBezTo>
                  <a:pt x="908022" y="521816"/>
                  <a:pt x="906324" y="499395"/>
                  <a:pt x="896132" y="478162"/>
                </a:cubicBezTo>
                <a:cubicBezTo>
                  <a:pt x="893584" y="472896"/>
                  <a:pt x="890697" y="467631"/>
                  <a:pt x="888489" y="462195"/>
                </a:cubicBezTo>
                <a:cubicBezTo>
                  <a:pt x="886620" y="457779"/>
                  <a:pt x="884412" y="452344"/>
                  <a:pt x="887300" y="448267"/>
                </a:cubicBezTo>
                <a:cubicBezTo>
                  <a:pt x="892396" y="441303"/>
                  <a:pt x="891376" y="433829"/>
                  <a:pt x="891376" y="426355"/>
                </a:cubicBezTo>
                <a:cubicBezTo>
                  <a:pt x="891376" y="415484"/>
                  <a:pt x="898850" y="411238"/>
                  <a:pt x="908702" y="416333"/>
                </a:cubicBezTo>
                <a:cubicBezTo>
                  <a:pt x="911759" y="417862"/>
                  <a:pt x="914817" y="420240"/>
                  <a:pt x="919233" y="418881"/>
                </a:cubicBezTo>
                <a:cubicBezTo>
                  <a:pt x="916515" y="411747"/>
                  <a:pt x="910401" y="405462"/>
                  <a:pt x="913798" y="397819"/>
                </a:cubicBezTo>
                <a:cubicBezTo>
                  <a:pt x="919233" y="385759"/>
                  <a:pt x="916855" y="373359"/>
                  <a:pt x="915836" y="361129"/>
                </a:cubicBezTo>
                <a:cubicBezTo>
                  <a:pt x="915326" y="354165"/>
                  <a:pt x="912779" y="346861"/>
                  <a:pt x="915157" y="340067"/>
                </a:cubicBezTo>
                <a:cubicBezTo>
                  <a:pt x="922460" y="318834"/>
                  <a:pt x="918724" y="294545"/>
                  <a:pt x="933501" y="275520"/>
                </a:cubicBezTo>
                <a:cubicBezTo>
                  <a:pt x="933841" y="258704"/>
                  <a:pt x="943693" y="243417"/>
                  <a:pt x="941315" y="225922"/>
                </a:cubicBezTo>
                <a:cubicBezTo>
                  <a:pt x="940296" y="218108"/>
                  <a:pt x="940805" y="210125"/>
                  <a:pt x="940635" y="202141"/>
                </a:cubicBezTo>
                <a:cubicBezTo>
                  <a:pt x="940466" y="188213"/>
                  <a:pt x="939616" y="173945"/>
                  <a:pt x="934521" y="161205"/>
                </a:cubicBezTo>
                <a:cubicBezTo>
                  <a:pt x="929765" y="148806"/>
                  <a:pt x="933162" y="133348"/>
                  <a:pt x="920592" y="124006"/>
                </a:cubicBezTo>
                <a:cubicBezTo>
                  <a:pt x="914307" y="119250"/>
                  <a:pt x="917704" y="111437"/>
                  <a:pt x="914477" y="105661"/>
                </a:cubicBezTo>
                <a:cubicBezTo>
                  <a:pt x="907683" y="93262"/>
                  <a:pt x="900379" y="80692"/>
                  <a:pt x="893415" y="67783"/>
                </a:cubicBezTo>
                <a:cubicBezTo>
                  <a:pt x="871673" y="27696"/>
                  <a:pt x="841098" y="1028"/>
                  <a:pt x="792858" y="9"/>
                </a:cubicBezTo>
                <a:cubicBezTo>
                  <a:pt x="784535" y="-161"/>
                  <a:pt x="778420" y="2047"/>
                  <a:pt x="773834" y="8332"/>
                </a:cubicBezTo>
                <a:cubicBezTo>
                  <a:pt x="769078" y="14957"/>
                  <a:pt x="764322" y="21751"/>
                  <a:pt x="760415" y="28885"/>
                </a:cubicBezTo>
                <a:cubicBezTo>
                  <a:pt x="755659" y="37718"/>
                  <a:pt x="750393" y="40266"/>
                  <a:pt x="741221" y="35849"/>
                </a:cubicBezTo>
                <a:cubicBezTo>
                  <a:pt x="735786" y="33132"/>
                  <a:pt x="730010" y="32112"/>
                  <a:pt x="724235" y="30923"/>
                </a:cubicBezTo>
                <a:cubicBezTo>
                  <a:pt x="701814" y="26677"/>
                  <a:pt x="679053" y="25828"/>
                  <a:pt x="656801" y="30074"/>
                </a:cubicBezTo>
                <a:cubicBezTo>
                  <a:pt x="628435" y="35510"/>
                  <a:pt x="605674" y="52156"/>
                  <a:pt x="585630" y="72029"/>
                </a:cubicBezTo>
                <a:cubicBezTo>
                  <a:pt x="576628" y="81032"/>
                  <a:pt x="569833" y="91903"/>
                  <a:pt x="566946" y="104812"/>
                </a:cubicBezTo>
                <a:cubicBezTo>
                  <a:pt x="560831" y="132669"/>
                  <a:pt x="561171" y="161035"/>
                  <a:pt x="560491" y="189232"/>
                </a:cubicBezTo>
                <a:cubicBezTo>
                  <a:pt x="560321" y="195347"/>
                  <a:pt x="560831" y="200952"/>
                  <a:pt x="563209" y="206558"/>
                </a:cubicBezTo>
                <a:cubicBezTo>
                  <a:pt x="570853" y="224223"/>
                  <a:pt x="569324" y="241888"/>
                  <a:pt x="563379" y="259554"/>
                </a:cubicBezTo>
                <a:cubicBezTo>
                  <a:pt x="561510" y="264989"/>
                  <a:pt x="561680" y="270764"/>
                  <a:pt x="561340" y="276370"/>
                </a:cubicBezTo>
                <a:cubicBezTo>
                  <a:pt x="560831" y="283334"/>
                  <a:pt x="563039" y="287750"/>
                  <a:pt x="570853" y="288260"/>
                </a:cubicBezTo>
                <a:cubicBezTo>
                  <a:pt x="580534" y="288939"/>
                  <a:pt x="584951" y="294205"/>
                  <a:pt x="584781" y="303887"/>
                </a:cubicBezTo>
                <a:cubicBezTo>
                  <a:pt x="584781" y="307624"/>
                  <a:pt x="585970" y="311021"/>
                  <a:pt x="590386" y="312380"/>
                </a:cubicBezTo>
                <a:cubicBezTo>
                  <a:pt x="604654" y="317136"/>
                  <a:pt x="606353" y="320533"/>
                  <a:pt x="601937" y="335311"/>
                </a:cubicBezTo>
                <a:cubicBezTo>
                  <a:pt x="601087" y="338198"/>
                  <a:pt x="600918" y="339897"/>
                  <a:pt x="603635" y="341595"/>
                </a:cubicBezTo>
                <a:cubicBezTo>
                  <a:pt x="610599" y="345842"/>
                  <a:pt x="613827" y="352466"/>
                  <a:pt x="616205" y="359940"/>
                </a:cubicBezTo>
                <a:cubicBezTo>
                  <a:pt x="619772" y="370981"/>
                  <a:pt x="626227" y="375397"/>
                  <a:pt x="637947" y="374888"/>
                </a:cubicBezTo>
                <a:cubicBezTo>
                  <a:pt x="645590" y="374548"/>
                  <a:pt x="653234" y="373869"/>
                  <a:pt x="660708" y="372510"/>
                </a:cubicBezTo>
                <a:cubicBezTo>
                  <a:pt x="671239" y="370641"/>
                  <a:pt x="679222" y="374208"/>
                  <a:pt x="685168" y="382362"/>
                </a:cubicBezTo>
                <a:cubicBezTo>
                  <a:pt x="689924" y="388646"/>
                  <a:pt x="694000" y="395441"/>
                  <a:pt x="698247" y="402065"/>
                </a:cubicBezTo>
                <a:cubicBezTo>
                  <a:pt x="705381" y="413106"/>
                  <a:pt x="705041" y="414975"/>
                  <a:pt x="694680" y="422788"/>
                </a:cubicBezTo>
                <a:cubicBezTo>
                  <a:pt x="693321" y="423807"/>
                  <a:pt x="691962" y="424826"/>
                  <a:pt x="690603" y="425846"/>
                </a:cubicBezTo>
                <a:cubicBezTo>
                  <a:pt x="675995" y="436547"/>
                  <a:pt x="664954" y="450305"/>
                  <a:pt x="656971" y="466442"/>
                </a:cubicBezTo>
                <a:cubicBezTo>
                  <a:pt x="651196" y="478162"/>
                  <a:pt x="649327" y="492091"/>
                  <a:pt x="637607" y="500414"/>
                </a:cubicBezTo>
                <a:cubicBezTo>
                  <a:pt x="635399" y="501942"/>
                  <a:pt x="635908" y="505000"/>
                  <a:pt x="635229" y="507378"/>
                </a:cubicBezTo>
                <a:cubicBezTo>
                  <a:pt x="632851" y="516890"/>
                  <a:pt x="633021" y="527251"/>
                  <a:pt x="628605" y="536084"/>
                </a:cubicBezTo>
                <a:cubicBezTo>
                  <a:pt x="619942" y="553919"/>
                  <a:pt x="611449" y="571754"/>
                  <a:pt x="601597" y="588910"/>
                </a:cubicBezTo>
                <a:cubicBezTo>
                  <a:pt x="587499" y="613200"/>
                  <a:pt x="576798" y="638169"/>
                  <a:pt x="576118" y="666876"/>
                </a:cubicBezTo>
                <a:cubicBezTo>
                  <a:pt x="575778" y="681993"/>
                  <a:pt x="568474" y="695752"/>
                  <a:pt x="566776" y="710699"/>
                </a:cubicBezTo>
                <a:cubicBezTo>
                  <a:pt x="563209" y="740424"/>
                  <a:pt x="558453" y="769980"/>
                  <a:pt x="552847" y="799535"/>
                </a:cubicBezTo>
                <a:cubicBezTo>
                  <a:pt x="551998" y="804291"/>
                  <a:pt x="550300" y="808878"/>
                  <a:pt x="547582" y="812784"/>
                </a:cubicBezTo>
                <a:cubicBezTo>
                  <a:pt x="543505" y="818390"/>
                  <a:pt x="539768" y="819579"/>
                  <a:pt x="532804" y="815332"/>
                </a:cubicBezTo>
                <a:cubicBezTo>
                  <a:pt x="517177" y="805990"/>
                  <a:pt x="505457" y="802253"/>
                  <a:pt x="491189" y="818220"/>
                </a:cubicBezTo>
                <a:cubicBezTo>
                  <a:pt x="482866" y="827392"/>
                  <a:pt x="472334" y="835545"/>
                  <a:pt x="458406" y="835885"/>
                </a:cubicBezTo>
                <a:cubicBezTo>
                  <a:pt x="440571" y="836395"/>
                  <a:pt x="425114" y="844038"/>
                  <a:pt x="411015" y="853720"/>
                </a:cubicBezTo>
                <a:cubicBezTo>
                  <a:pt x="404391" y="858307"/>
                  <a:pt x="400654" y="861024"/>
                  <a:pt x="394199" y="854400"/>
                </a:cubicBezTo>
                <a:cubicBezTo>
                  <a:pt x="388424" y="848625"/>
                  <a:pt x="379761" y="850153"/>
                  <a:pt x="375345" y="856948"/>
                </a:cubicBezTo>
                <a:cubicBezTo>
                  <a:pt x="372967" y="860854"/>
                  <a:pt x="370249" y="861874"/>
                  <a:pt x="367361" y="858646"/>
                </a:cubicBezTo>
                <a:cubicBezTo>
                  <a:pt x="362945" y="853550"/>
                  <a:pt x="359208" y="855759"/>
                  <a:pt x="355471" y="859156"/>
                </a:cubicBezTo>
                <a:cubicBezTo>
                  <a:pt x="352414" y="861704"/>
                  <a:pt x="349526" y="864421"/>
                  <a:pt x="346469" y="866800"/>
                </a:cubicBezTo>
                <a:cubicBezTo>
                  <a:pt x="337806" y="873934"/>
                  <a:pt x="329143" y="882427"/>
                  <a:pt x="318102" y="884125"/>
                </a:cubicBezTo>
                <a:cubicBezTo>
                  <a:pt x="303664" y="886333"/>
                  <a:pt x="289566" y="890240"/>
                  <a:pt x="274788" y="891259"/>
                </a:cubicBezTo>
                <a:cubicBezTo>
                  <a:pt x="256444" y="892618"/>
                  <a:pt x="237929" y="891599"/>
                  <a:pt x="219754" y="894487"/>
                </a:cubicBezTo>
                <a:cubicBezTo>
                  <a:pt x="214998" y="895166"/>
                  <a:pt x="213469" y="893128"/>
                  <a:pt x="211771" y="889391"/>
                </a:cubicBezTo>
                <a:cubicBezTo>
                  <a:pt x="203617" y="870706"/>
                  <a:pt x="195124" y="852192"/>
                  <a:pt x="186801" y="833677"/>
                </a:cubicBezTo>
                <a:cubicBezTo>
                  <a:pt x="153509" y="759449"/>
                  <a:pt x="120047" y="685220"/>
                  <a:pt x="87094" y="610992"/>
                </a:cubicBezTo>
                <a:cubicBezTo>
                  <a:pt x="84207" y="604707"/>
                  <a:pt x="81998" y="604367"/>
                  <a:pt x="76393" y="607255"/>
                </a:cubicBezTo>
                <a:cubicBezTo>
                  <a:pt x="52783" y="619485"/>
                  <a:pt x="29172" y="631545"/>
                  <a:pt x="5222" y="643095"/>
                </a:cubicBezTo>
                <a:cubicBezTo>
                  <a:pt x="-1063" y="646153"/>
                  <a:pt x="-893" y="648701"/>
                  <a:pt x="1655" y="654306"/>
                </a:cubicBezTo>
                <a:cubicBezTo>
                  <a:pt x="13036" y="678596"/>
                  <a:pt x="23907" y="703225"/>
                  <a:pt x="35117" y="727515"/>
                </a:cubicBezTo>
                <a:cubicBezTo>
                  <a:pt x="71807" y="807689"/>
                  <a:pt x="107477" y="888202"/>
                  <a:pt x="141789" y="969394"/>
                </a:cubicBezTo>
                <a:cubicBezTo>
                  <a:pt x="145696" y="978567"/>
                  <a:pt x="147904" y="986890"/>
                  <a:pt x="138561" y="994194"/>
                </a:cubicBezTo>
                <a:cubicBezTo>
                  <a:pt x="136863" y="995553"/>
                  <a:pt x="135674" y="997931"/>
                  <a:pt x="135334" y="999969"/>
                </a:cubicBezTo>
                <a:cubicBezTo>
                  <a:pt x="133975" y="1006254"/>
                  <a:pt x="129729" y="1009991"/>
                  <a:pt x="125143" y="1013897"/>
                </a:cubicBezTo>
                <a:cubicBezTo>
                  <a:pt x="107138" y="1029524"/>
                  <a:pt x="94568" y="1047529"/>
                  <a:pt x="96436" y="1073178"/>
                </a:cubicBezTo>
                <a:cubicBezTo>
                  <a:pt x="97456" y="1088466"/>
                  <a:pt x="96776" y="1103753"/>
                  <a:pt x="96946" y="1119040"/>
                </a:cubicBezTo>
                <a:cubicBezTo>
                  <a:pt x="96946" y="1122437"/>
                  <a:pt x="97286" y="1125835"/>
                  <a:pt x="98305" y="1129062"/>
                </a:cubicBezTo>
                <a:cubicBezTo>
                  <a:pt x="102381" y="1142141"/>
                  <a:pt x="104760" y="1155390"/>
                  <a:pt x="105779" y="1168979"/>
                </a:cubicBezTo>
                <a:cubicBezTo>
                  <a:pt x="108157" y="1200063"/>
                  <a:pt x="112063" y="1230977"/>
                  <a:pt x="120726" y="1260872"/>
                </a:cubicBezTo>
                <a:cubicBezTo>
                  <a:pt x="132277" y="1300959"/>
                  <a:pt x="144676" y="1340876"/>
                  <a:pt x="157076" y="1380793"/>
                </a:cubicBezTo>
                <a:cubicBezTo>
                  <a:pt x="163021" y="1399987"/>
                  <a:pt x="167268" y="1419521"/>
                  <a:pt x="171514" y="1439224"/>
                </a:cubicBezTo>
                <a:cubicBezTo>
                  <a:pt x="176610" y="1461985"/>
                  <a:pt x="176270" y="1483727"/>
                  <a:pt x="162512" y="1504110"/>
                </a:cubicBezTo>
                <a:cubicBezTo>
                  <a:pt x="154019" y="1516680"/>
                  <a:pt x="147394" y="1530609"/>
                  <a:pt x="140430" y="1544197"/>
                </a:cubicBezTo>
                <a:cubicBezTo>
                  <a:pt x="136693" y="1551501"/>
                  <a:pt x="131597" y="1556257"/>
                  <a:pt x="123274" y="1557786"/>
                </a:cubicBezTo>
                <a:cubicBezTo>
                  <a:pt x="113592" y="1559485"/>
                  <a:pt x="103910" y="1561693"/>
                  <a:pt x="94228" y="1563731"/>
                </a:cubicBezTo>
                <a:cubicBezTo>
                  <a:pt x="90661" y="1564580"/>
                  <a:pt x="87604" y="1565599"/>
                  <a:pt x="85226" y="1569167"/>
                </a:cubicBezTo>
                <a:cubicBezTo>
                  <a:pt x="78092" y="1579698"/>
                  <a:pt x="70108" y="1589550"/>
                  <a:pt x="59917" y="1597533"/>
                </a:cubicBezTo>
                <a:cubicBezTo>
                  <a:pt x="47007" y="1607724"/>
                  <a:pt x="44120" y="1620974"/>
                  <a:pt x="47347" y="1636940"/>
                </a:cubicBezTo>
                <a:cubicBezTo>
                  <a:pt x="51424" y="1656984"/>
                  <a:pt x="66202" y="1666156"/>
                  <a:pt x="82848" y="1670233"/>
                </a:cubicBezTo>
                <a:cubicBezTo>
                  <a:pt x="110874" y="1677197"/>
                  <a:pt x="139750" y="1680764"/>
                  <a:pt x="168626" y="1675668"/>
                </a:cubicBezTo>
                <a:cubicBezTo>
                  <a:pt x="197333" y="1670572"/>
                  <a:pt x="219754" y="1658003"/>
                  <a:pt x="225699" y="1626239"/>
                </a:cubicBezTo>
                <a:cubicBezTo>
                  <a:pt x="227398" y="1616897"/>
                  <a:pt x="233343" y="1609763"/>
                  <a:pt x="241496" y="1605007"/>
                </a:cubicBezTo>
                <a:cubicBezTo>
                  <a:pt x="251687" y="1599062"/>
                  <a:pt x="262389" y="1593626"/>
                  <a:pt x="272750" y="1588021"/>
                </a:cubicBezTo>
                <a:cubicBezTo>
                  <a:pt x="280733" y="1583774"/>
                  <a:pt x="282092" y="1584284"/>
                  <a:pt x="282092" y="1593966"/>
                </a:cubicBezTo>
                <a:cubicBezTo>
                  <a:pt x="282262" y="1610272"/>
                  <a:pt x="283621" y="1626749"/>
                  <a:pt x="279884" y="1643055"/>
                </a:cubicBezTo>
                <a:cubicBezTo>
                  <a:pt x="278355" y="1649340"/>
                  <a:pt x="284300" y="1652397"/>
                  <a:pt x="287698" y="1653417"/>
                </a:cubicBezTo>
                <a:cubicBezTo>
                  <a:pt x="292114" y="1654606"/>
                  <a:pt x="290925" y="1648830"/>
                  <a:pt x="291095" y="1645943"/>
                </a:cubicBezTo>
                <a:cubicBezTo>
                  <a:pt x="291944" y="1632184"/>
                  <a:pt x="292284" y="1618256"/>
                  <a:pt x="292963" y="1604327"/>
                </a:cubicBezTo>
                <a:cubicBezTo>
                  <a:pt x="293473" y="1595834"/>
                  <a:pt x="293813" y="1587511"/>
                  <a:pt x="295681" y="1579188"/>
                </a:cubicBezTo>
                <a:cubicBezTo>
                  <a:pt x="298229" y="1567638"/>
                  <a:pt x="305363" y="1558805"/>
                  <a:pt x="311648" y="1549633"/>
                </a:cubicBezTo>
                <a:cubicBezTo>
                  <a:pt x="318612" y="1539441"/>
                  <a:pt x="322349" y="1529250"/>
                  <a:pt x="316234" y="1517190"/>
                </a:cubicBezTo>
                <a:cubicBezTo>
                  <a:pt x="314535" y="1513962"/>
                  <a:pt x="315045" y="1510395"/>
                  <a:pt x="316743" y="1507338"/>
                </a:cubicBezTo>
                <a:cubicBezTo>
                  <a:pt x="323028" y="1495618"/>
                  <a:pt x="319631" y="1484916"/>
                  <a:pt x="313686" y="1474385"/>
                </a:cubicBezTo>
                <a:cubicBezTo>
                  <a:pt x="308760" y="1465553"/>
                  <a:pt x="300947" y="1459268"/>
                  <a:pt x="294662" y="1451794"/>
                </a:cubicBezTo>
                <a:cubicBezTo>
                  <a:pt x="290755" y="1447378"/>
                  <a:pt x="287528" y="1444490"/>
                  <a:pt x="281073" y="1446189"/>
                </a:cubicBezTo>
                <a:cubicBezTo>
                  <a:pt x="276317" y="1447378"/>
                  <a:pt x="272920" y="1444830"/>
                  <a:pt x="272071" y="1439734"/>
                </a:cubicBezTo>
                <a:cubicBezTo>
                  <a:pt x="271391" y="1436167"/>
                  <a:pt x="270882" y="1432430"/>
                  <a:pt x="270542" y="1428863"/>
                </a:cubicBezTo>
                <a:cubicBezTo>
                  <a:pt x="266975" y="1386738"/>
                  <a:pt x="275298" y="1345292"/>
                  <a:pt x="278355" y="1303677"/>
                </a:cubicBezTo>
                <a:cubicBezTo>
                  <a:pt x="280564" y="1273272"/>
                  <a:pt x="285829" y="1243037"/>
                  <a:pt x="285659" y="1212293"/>
                </a:cubicBezTo>
                <a:cubicBezTo>
                  <a:pt x="285659" y="1202101"/>
                  <a:pt x="285150" y="1191230"/>
                  <a:pt x="280564" y="1182398"/>
                </a:cubicBezTo>
                <a:cubicBezTo>
                  <a:pt x="274958" y="1171527"/>
                  <a:pt x="273769" y="1159806"/>
                  <a:pt x="269862" y="1148596"/>
                </a:cubicBezTo>
                <a:cubicBezTo>
                  <a:pt x="267315" y="1141292"/>
                  <a:pt x="270372" y="1137725"/>
                  <a:pt x="278016" y="1137725"/>
                </a:cubicBezTo>
                <a:cubicBezTo>
                  <a:pt x="289906" y="1137555"/>
                  <a:pt x="301796" y="1138404"/>
                  <a:pt x="313686" y="1138234"/>
                </a:cubicBezTo>
                <a:cubicBezTo>
                  <a:pt x="321160" y="1138064"/>
                  <a:pt x="324217" y="1140952"/>
                  <a:pt x="323708" y="1148596"/>
                </a:cubicBezTo>
                <a:cubicBezTo>
                  <a:pt x="323198" y="1159636"/>
                  <a:pt x="328803" y="1167280"/>
                  <a:pt x="337296" y="1174414"/>
                </a:cubicBezTo>
                <a:cubicBezTo>
                  <a:pt x="351055" y="1185625"/>
                  <a:pt x="368041" y="1187154"/>
                  <a:pt x="383668" y="1187663"/>
                </a:cubicBezTo>
                <a:cubicBezTo>
                  <a:pt x="424944" y="1189362"/>
                  <a:pt x="466049" y="1193269"/>
                  <a:pt x="507325" y="1194797"/>
                </a:cubicBezTo>
                <a:cubicBezTo>
                  <a:pt x="514120" y="1194967"/>
                  <a:pt x="517007" y="1197345"/>
                  <a:pt x="517007" y="1204309"/>
                </a:cubicBezTo>
                <a:cubicBezTo>
                  <a:pt x="516837" y="1234884"/>
                  <a:pt x="513100" y="1265289"/>
                  <a:pt x="509194" y="1295524"/>
                </a:cubicBezTo>
                <a:cubicBezTo>
                  <a:pt x="504947" y="1328986"/>
                  <a:pt x="502229" y="1362448"/>
                  <a:pt x="499851" y="1395910"/>
                </a:cubicBezTo>
                <a:cubicBezTo>
                  <a:pt x="499512" y="1401176"/>
                  <a:pt x="501210" y="1403724"/>
                  <a:pt x="506816" y="1404064"/>
                </a:cubicBezTo>
                <a:cubicBezTo>
                  <a:pt x="535522" y="1405592"/>
                  <a:pt x="564228" y="1410688"/>
                  <a:pt x="593104" y="1408140"/>
                </a:cubicBezTo>
                <a:cubicBezTo>
                  <a:pt x="597520" y="1407801"/>
                  <a:pt x="602107" y="1407970"/>
                  <a:pt x="606693" y="1407970"/>
                </a:cubicBezTo>
                <a:cubicBezTo>
                  <a:pt x="612128" y="1407970"/>
                  <a:pt x="615016" y="1410348"/>
                  <a:pt x="615016" y="1416293"/>
                </a:cubicBezTo>
                <a:cubicBezTo>
                  <a:pt x="614676" y="1439564"/>
                  <a:pt x="614506" y="1462665"/>
                  <a:pt x="614167" y="1485936"/>
                </a:cubicBezTo>
                <a:cubicBezTo>
                  <a:pt x="614167" y="1488484"/>
                  <a:pt x="614336" y="1491201"/>
                  <a:pt x="610430" y="1490861"/>
                </a:cubicBezTo>
                <a:cubicBezTo>
                  <a:pt x="593953" y="1489672"/>
                  <a:pt x="577137" y="1491541"/>
                  <a:pt x="560831" y="1486105"/>
                </a:cubicBezTo>
                <a:cubicBezTo>
                  <a:pt x="524991" y="1474046"/>
                  <a:pt x="488980" y="1462325"/>
                  <a:pt x="452801" y="1450945"/>
                </a:cubicBezTo>
                <a:cubicBezTo>
                  <a:pt x="438363" y="1446358"/>
                  <a:pt x="436154" y="1447717"/>
                  <a:pt x="429870" y="1458928"/>
                </a:cubicBezTo>
                <a:cubicBezTo>
                  <a:pt x="428341" y="1461646"/>
                  <a:pt x="428341" y="1464194"/>
                  <a:pt x="428341" y="1467081"/>
                </a:cubicBezTo>
                <a:cubicBezTo>
                  <a:pt x="428341" y="1479821"/>
                  <a:pt x="428511" y="1492560"/>
                  <a:pt x="428171" y="1505300"/>
                </a:cubicBezTo>
                <a:cubicBezTo>
                  <a:pt x="428001" y="1512264"/>
                  <a:pt x="428341" y="1518718"/>
                  <a:pt x="434626" y="1523474"/>
                </a:cubicBezTo>
                <a:cubicBezTo>
                  <a:pt x="437004" y="1525343"/>
                  <a:pt x="439042" y="1528570"/>
                  <a:pt x="438193" y="1531628"/>
                </a:cubicBezTo>
                <a:cubicBezTo>
                  <a:pt x="435645" y="1541479"/>
                  <a:pt x="440571" y="1547085"/>
                  <a:pt x="448214" y="1551671"/>
                </a:cubicBezTo>
                <a:cubicBezTo>
                  <a:pt x="450592" y="1553030"/>
                  <a:pt x="451951" y="1555238"/>
                  <a:pt x="451611" y="1557956"/>
                </a:cubicBezTo>
                <a:cubicBezTo>
                  <a:pt x="451272" y="1560843"/>
                  <a:pt x="448554" y="1560843"/>
                  <a:pt x="446346" y="1561523"/>
                </a:cubicBezTo>
                <a:cubicBezTo>
                  <a:pt x="414582" y="1569846"/>
                  <a:pt x="382988" y="1578679"/>
                  <a:pt x="350715" y="1584454"/>
                </a:cubicBezTo>
                <a:cubicBezTo>
                  <a:pt x="336277" y="1587002"/>
                  <a:pt x="327954" y="1598722"/>
                  <a:pt x="327954" y="1610782"/>
                </a:cubicBezTo>
                <a:cubicBezTo>
                  <a:pt x="327954" y="1623861"/>
                  <a:pt x="327784" y="1636770"/>
                  <a:pt x="327954" y="1649850"/>
                </a:cubicBezTo>
                <a:cubicBezTo>
                  <a:pt x="327954" y="1656984"/>
                  <a:pt x="330332" y="1662929"/>
                  <a:pt x="335428" y="1668194"/>
                </a:cubicBezTo>
                <a:cubicBezTo>
                  <a:pt x="340863" y="1673800"/>
                  <a:pt x="346639" y="1679575"/>
                  <a:pt x="346809" y="1688407"/>
                </a:cubicBezTo>
                <a:cubicBezTo>
                  <a:pt x="346809" y="1691125"/>
                  <a:pt x="349866" y="1692314"/>
                  <a:pt x="351904" y="1693673"/>
                </a:cubicBezTo>
                <a:cubicBezTo>
                  <a:pt x="363285" y="1701317"/>
                  <a:pt x="383498" y="1698259"/>
                  <a:pt x="395558" y="1687219"/>
                </a:cubicBezTo>
                <a:cubicBezTo>
                  <a:pt x="405919" y="1677706"/>
                  <a:pt x="408637" y="1664627"/>
                  <a:pt x="410166" y="1651888"/>
                </a:cubicBezTo>
                <a:cubicBezTo>
                  <a:pt x="411015" y="1643905"/>
                  <a:pt x="405070" y="1637450"/>
                  <a:pt x="398615" y="1632354"/>
                </a:cubicBezTo>
                <a:cubicBezTo>
                  <a:pt x="395728" y="1630146"/>
                  <a:pt x="394539" y="1626919"/>
                  <a:pt x="395388" y="1623182"/>
                </a:cubicBezTo>
                <a:cubicBezTo>
                  <a:pt x="396407" y="1619105"/>
                  <a:pt x="400314" y="1619785"/>
                  <a:pt x="403032" y="1619445"/>
                </a:cubicBezTo>
                <a:cubicBezTo>
                  <a:pt x="435645" y="1614349"/>
                  <a:pt x="468597" y="1611971"/>
                  <a:pt x="500701" y="1603478"/>
                </a:cubicBezTo>
                <a:cubicBezTo>
                  <a:pt x="522103" y="1597703"/>
                  <a:pt x="544694" y="1595665"/>
                  <a:pt x="566606" y="1591928"/>
                </a:cubicBezTo>
                <a:cubicBezTo>
                  <a:pt x="583082" y="1589210"/>
                  <a:pt x="599389" y="1584963"/>
                  <a:pt x="616205" y="1587341"/>
                </a:cubicBezTo>
                <a:cubicBezTo>
                  <a:pt x="626736" y="1588870"/>
                  <a:pt x="634719" y="1592947"/>
                  <a:pt x="638626" y="1604667"/>
                </a:cubicBezTo>
                <a:cubicBezTo>
                  <a:pt x="647629" y="1630655"/>
                  <a:pt x="655952" y="1656984"/>
                  <a:pt x="663935" y="1683312"/>
                </a:cubicBezTo>
                <a:cubicBezTo>
                  <a:pt x="668861" y="1699448"/>
                  <a:pt x="672938" y="1715075"/>
                  <a:pt x="667502" y="1731891"/>
                </a:cubicBezTo>
                <a:cubicBezTo>
                  <a:pt x="664954" y="1739875"/>
                  <a:pt x="665124" y="1748707"/>
                  <a:pt x="665634" y="1757200"/>
                </a:cubicBezTo>
                <a:cubicBezTo>
                  <a:pt x="666993" y="1780471"/>
                  <a:pt x="688735" y="1802043"/>
                  <a:pt x="712345" y="1803402"/>
                </a:cubicBezTo>
                <a:cubicBezTo>
                  <a:pt x="734257" y="1804591"/>
                  <a:pt x="759905" y="1784378"/>
                  <a:pt x="763642" y="1762976"/>
                </a:cubicBezTo>
                <a:cubicBezTo>
                  <a:pt x="765001" y="1755842"/>
                  <a:pt x="763642" y="1748877"/>
                  <a:pt x="760415" y="1742423"/>
                </a:cubicBezTo>
                <a:cubicBezTo>
                  <a:pt x="753791" y="1728664"/>
                  <a:pt x="742580" y="1719152"/>
                  <a:pt x="730860" y="1710319"/>
                </a:cubicBezTo>
                <a:cubicBezTo>
                  <a:pt x="728482" y="1708451"/>
                  <a:pt x="726783" y="1707092"/>
                  <a:pt x="725934" y="1704204"/>
                </a:cubicBezTo>
                <a:cubicBezTo>
                  <a:pt x="714553" y="1668024"/>
                  <a:pt x="702663" y="1632184"/>
                  <a:pt x="695189" y="1594985"/>
                </a:cubicBezTo>
                <a:cubicBezTo>
                  <a:pt x="692811" y="1583435"/>
                  <a:pt x="694000" y="1581906"/>
                  <a:pt x="705890" y="1581736"/>
                </a:cubicBezTo>
                <a:cubicBezTo>
                  <a:pt x="707929" y="1581736"/>
                  <a:pt x="709797" y="1582076"/>
                  <a:pt x="711835" y="1582246"/>
                </a:cubicBezTo>
                <a:cubicBezTo>
                  <a:pt x="735786" y="1584793"/>
                  <a:pt x="759566" y="1587681"/>
                  <a:pt x="783516" y="1589719"/>
                </a:cubicBezTo>
                <a:cubicBezTo>
                  <a:pt x="831756" y="1593626"/>
                  <a:pt x="879996" y="1596514"/>
                  <a:pt x="928236" y="1601270"/>
                </a:cubicBezTo>
                <a:cubicBezTo>
                  <a:pt x="948449" y="1603308"/>
                  <a:pt x="948449" y="1603138"/>
                  <a:pt x="942844" y="1623182"/>
                </a:cubicBezTo>
                <a:cubicBezTo>
                  <a:pt x="941315" y="1628617"/>
                  <a:pt x="939446" y="1634732"/>
                  <a:pt x="943353" y="1639488"/>
                </a:cubicBezTo>
                <a:cubicBezTo>
                  <a:pt x="947600" y="1644754"/>
                  <a:pt x="950148" y="1650529"/>
                  <a:pt x="951506" y="1656984"/>
                </a:cubicBezTo>
                <a:cubicBezTo>
                  <a:pt x="952356" y="1661060"/>
                  <a:pt x="954734" y="1662759"/>
                  <a:pt x="958980" y="1663778"/>
                </a:cubicBezTo>
                <a:cubicBezTo>
                  <a:pt x="969002" y="1665986"/>
                  <a:pt x="979193" y="1665816"/>
                  <a:pt x="989385" y="1666496"/>
                </a:cubicBezTo>
                <a:cubicBezTo>
                  <a:pt x="996179" y="1667005"/>
                  <a:pt x="999916" y="1664118"/>
                  <a:pt x="1002974" y="1659531"/>
                </a:cubicBezTo>
                <a:cubicBezTo>
                  <a:pt x="1012656" y="1645263"/>
                  <a:pt x="1014015" y="1629297"/>
                  <a:pt x="1010278" y="1613160"/>
                </a:cubicBezTo>
                <a:close/>
                <a:moveTo>
                  <a:pt x="893245" y="959203"/>
                </a:moveTo>
                <a:cubicBezTo>
                  <a:pt x="900379" y="964808"/>
                  <a:pt x="906154" y="960732"/>
                  <a:pt x="911929" y="957674"/>
                </a:cubicBezTo>
                <a:cubicBezTo>
                  <a:pt x="921611" y="952748"/>
                  <a:pt x="921611" y="952578"/>
                  <a:pt x="923310" y="963110"/>
                </a:cubicBezTo>
                <a:cubicBezTo>
                  <a:pt x="929425" y="999459"/>
                  <a:pt x="935540" y="1035639"/>
                  <a:pt x="941655" y="1071989"/>
                </a:cubicBezTo>
                <a:cubicBezTo>
                  <a:pt x="942504" y="1076745"/>
                  <a:pt x="942674" y="1081501"/>
                  <a:pt x="943183" y="1086257"/>
                </a:cubicBezTo>
                <a:cubicBezTo>
                  <a:pt x="943013" y="1086257"/>
                  <a:pt x="942844" y="1086257"/>
                  <a:pt x="942504" y="1086257"/>
                </a:cubicBezTo>
                <a:cubicBezTo>
                  <a:pt x="942504" y="1090164"/>
                  <a:pt x="942674" y="1094241"/>
                  <a:pt x="942504" y="1098147"/>
                </a:cubicBezTo>
                <a:cubicBezTo>
                  <a:pt x="942334" y="1100865"/>
                  <a:pt x="940805" y="1103073"/>
                  <a:pt x="937748" y="1103073"/>
                </a:cubicBezTo>
                <a:cubicBezTo>
                  <a:pt x="934690" y="1103243"/>
                  <a:pt x="933501" y="1101205"/>
                  <a:pt x="932822" y="1098317"/>
                </a:cubicBezTo>
                <a:cubicBezTo>
                  <a:pt x="928066" y="1076066"/>
                  <a:pt x="919573" y="1054833"/>
                  <a:pt x="912269" y="1033261"/>
                </a:cubicBezTo>
                <a:cubicBezTo>
                  <a:pt x="905645" y="1013897"/>
                  <a:pt x="897152" y="995213"/>
                  <a:pt x="893245" y="974830"/>
                </a:cubicBezTo>
                <a:cubicBezTo>
                  <a:pt x="892565" y="970753"/>
                  <a:pt x="888828" y="967526"/>
                  <a:pt x="888998" y="962940"/>
                </a:cubicBezTo>
                <a:cubicBezTo>
                  <a:pt x="888998" y="960562"/>
                  <a:pt x="889508" y="956145"/>
                  <a:pt x="893245" y="959203"/>
                </a:cubicBezTo>
                <a:close/>
              </a:path>
            </a:pathLst>
          </a:custGeom>
          <a:solidFill>
            <a:schemeClr val="accent2"/>
          </a:solidFill>
          <a:ln w="16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463A3-1F32-4EB2-8136-D0598DCA0FAD}"/>
              </a:ext>
            </a:extLst>
          </p:cNvPr>
          <p:cNvSpPr/>
          <p:nvPr/>
        </p:nvSpPr>
        <p:spPr>
          <a:xfrm>
            <a:off x="1419977" y="3939016"/>
            <a:ext cx="2959745" cy="14207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24597-C722-4526-8D97-F39B9353AC90}"/>
              </a:ext>
            </a:extLst>
          </p:cNvPr>
          <p:cNvSpPr txBox="1"/>
          <p:nvPr/>
        </p:nvSpPr>
        <p:spPr>
          <a:xfrm>
            <a:off x="10028732" y="1852943"/>
            <a:ext cx="37398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系統回應時間偶有延遲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完全依賴網路連接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缺乏學習進度追踪功能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語音識別對非標準發音準確率待改善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88FE8-5A0D-4921-AC45-767455FCEF21}"/>
              </a:ext>
            </a:extLst>
          </p:cNvPr>
          <p:cNvSpPr txBox="1"/>
          <p:nvPr/>
        </p:nvSpPr>
        <p:spPr>
          <a:xfrm>
            <a:off x="468535" y="1836577"/>
            <a:ext cx="4364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易用性：</a:t>
            </a: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平台熟悉、界面直覺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互動性：回應自然、理解上下文、即時反饋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學習效果：發音改善、詞彙應用提升、信心增強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功能偏好：初學者愛跟讀、中級愛對話、高級愛造句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B6AE5A-CC86-46F8-8C39-C9F0C669EB04}"/>
              </a:ext>
            </a:extLst>
          </p:cNvPr>
          <p:cNvSpPr txBox="1"/>
          <p:nvPr/>
        </p:nvSpPr>
        <p:spPr>
          <a:xfrm>
            <a:off x="1948650" y="4242191"/>
            <a:ext cx="1889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正面回饋</a:t>
            </a:r>
            <a:endParaRPr lang="ko-KR" altLang="en-US" sz="32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D3162-02B8-4186-BBB3-0602A066E194}"/>
              </a:ext>
            </a:extLst>
          </p:cNvPr>
          <p:cNvSpPr/>
          <p:nvPr/>
        </p:nvSpPr>
        <p:spPr>
          <a:xfrm>
            <a:off x="10358006" y="3939016"/>
            <a:ext cx="2956920" cy="1420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9FE46F-8FC2-4E43-8CF3-56971CF3D05C}"/>
              </a:ext>
            </a:extLst>
          </p:cNvPr>
          <p:cNvSpPr txBox="1"/>
          <p:nvPr/>
        </p:nvSpPr>
        <p:spPr>
          <a:xfrm>
            <a:off x="10885269" y="4140846"/>
            <a:ext cx="2137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使用挑戰與限制</a:t>
            </a:r>
            <a:endParaRPr lang="ko-KR" altLang="en-US" sz="32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7FA5DE0-0BF3-BF01-2FE6-76BA571BA3D7}"/>
              </a:ext>
            </a:extLst>
          </p:cNvPr>
          <p:cNvSpPr/>
          <p:nvPr/>
        </p:nvSpPr>
        <p:spPr>
          <a:xfrm>
            <a:off x="4172607" y="6041999"/>
            <a:ext cx="5749159" cy="14726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50266B4-2942-131A-CDFA-5774CF9E5CC7}"/>
              </a:ext>
            </a:extLst>
          </p:cNvPr>
          <p:cNvSpPr txBox="1"/>
          <p:nvPr/>
        </p:nvSpPr>
        <p:spPr>
          <a:xfrm>
            <a:off x="4379722" y="6205427"/>
            <a:ext cx="55420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改進建議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技術優化：提升語音識別、縮短回應時間、部分離線功能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功能擴充：學習數據分析、個人化路徑、更多主題內容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體驗提升：遊戲化元素、社群功能、界面優化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9B34827C-7661-3CF2-E35B-D6834D9F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B45B48AA-4AAF-69EE-F1C5-B8983D557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文獻探討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1B7B22A2-CB48-1165-E688-6E990058DF0A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64601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6" y="273588"/>
            <a:ext cx="3011666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英語學習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121945-B17B-4449-B075-F20629E6658C}"/>
              </a:ext>
            </a:extLst>
          </p:cNvPr>
          <p:cNvGrpSpPr/>
          <p:nvPr/>
        </p:nvGrpSpPr>
        <p:grpSpPr>
          <a:xfrm>
            <a:off x="2353792" y="1234396"/>
            <a:ext cx="10128195" cy="2146314"/>
            <a:chOff x="771524" y="1743075"/>
            <a:chExt cx="8440163" cy="18669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7159E7B-A972-40C0-ABC4-E0353D2D86E1}"/>
                </a:ext>
              </a:extLst>
            </p:cNvPr>
            <p:cNvSpPr/>
            <p:nvPr/>
          </p:nvSpPr>
          <p:spPr>
            <a:xfrm>
              <a:off x="4219575" y="1743075"/>
              <a:ext cx="4992112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C9F0B5BD-7930-4C41-8412-1CEED675C2CD}"/>
                </a:ext>
              </a:extLst>
            </p:cNvPr>
            <p:cNvSpPr/>
            <p:nvPr/>
          </p:nvSpPr>
          <p:spPr>
            <a:xfrm>
              <a:off x="781050" y="2013852"/>
              <a:ext cx="2991863" cy="1455887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D6229AAA-C758-48D7-9782-B75E9681B44B}"/>
                </a:ext>
              </a:extLst>
            </p:cNvPr>
            <p:cNvGrpSpPr/>
            <p:nvPr/>
          </p:nvGrpSpPr>
          <p:grpSpPr>
            <a:xfrm>
              <a:off x="4252337" y="1871145"/>
              <a:ext cx="2479673" cy="1588037"/>
              <a:chOff x="1590665" y="3313839"/>
              <a:chExt cx="4341762" cy="158803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4A8FCD-B336-42B8-A057-4BA5D9C6FD5D}"/>
                  </a:ext>
                </a:extLst>
              </p:cNvPr>
              <p:cNvSpPr txBox="1"/>
              <p:nvPr/>
            </p:nvSpPr>
            <p:spPr>
              <a:xfrm>
                <a:off x="1631351" y="3568178"/>
                <a:ext cx="4301076" cy="1333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學習環境與互動品質深刻影響學習成效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有效學習不僅依賴語法詞彙記憶，更需實際應用的互動情境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語言習得根植於與他人互動，特別是與熟練語者交流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(Vygotsky, 1978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81EE5A-84A6-453A-8444-E38F06DF29BD}"/>
                  </a:ext>
                </a:extLst>
              </p:cNvPr>
              <p:cNvSpPr txBox="1"/>
              <p:nvPr/>
            </p:nvSpPr>
            <p:spPr>
              <a:xfrm>
                <a:off x="1590665" y="3313839"/>
                <a:ext cx="4285407" cy="270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學習成效關鍵因素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72125B5A-DEE9-47CD-AF0E-E41869E3ED5B}"/>
                </a:ext>
              </a:extLst>
            </p:cNvPr>
            <p:cNvGrpSpPr/>
            <p:nvPr/>
          </p:nvGrpSpPr>
          <p:grpSpPr>
            <a:xfrm>
              <a:off x="6788009" y="1887208"/>
              <a:ext cx="2391491" cy="1258884"/>
              <a:chOff x="1688712" y="3329902"/>
              <a:chExt cx="4187361" cy="125888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FACFFA-1020-4217-9255-525F30A20211}"/>
                  </a:ext>
                </a:extLst>
              </p:cNvPr>
              <p:cNvSpPr txBox="1"/>
              <p:nvPr/>
            </p:nvSpPr>
            <p:spPr>
              <a:xfrm>
                <a:off x="1730106" y="3575863"/>
                <a:ext cx="4145967" cy="1012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「可理解輸入」在語言學習中扮演關鍵角色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輸入內容須具挑戰性但仍在可理解範圍內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有效促進語言習得的重要條件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(Krashen, 1982)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F25B3B-487B-4CC2-B3EF-C7A373A074A8}"/>
                  </a:ext>
                </a:extLst>
              </p:cNvPr>
              <p:cNvSpPr txBox="1"/>
              <p:nvPr/>
            </p:nvSpPr>
            <p:spPr>
              <a:xfrm>
                <a:off x="1688712" y="3329902"/>
                <a:ext cx="4187361" cy="270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可理解輸入的核心作用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7C1C9D-2EED-40FA-A138-F92DA6EEAF99}"/>
                </a:ext>
              </a:extLst>
            </p:cNvPr>
            <p:cNvSpPr txBox="1"/>
            <p:nvPr/>
          </p:nvSpPr>
          <p:spPr>
            <a:xfrm>
              <a:off x="771524" y="2275314"/>
              <a:ext cx="2584232" cy="722815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語言學習環境與</a:t>
              </a:r>
              <a:endParaRPr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互動的重要性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D9E026E-5171-4B29-9190-1341A910C001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36BC8E9-C3BB-41C3-8F65-6AACB0B2D036}"/>
                </a:ext>
              </a:extLst>
            </p:cNvPr>
            <p:cNvCxnSpPr>
              <a:cxnSpLocks/>
            </p:cNvCxnSpPr>
            <p:nvPr/>
          </p:nvCxnSpPr>
          <p:spPr>
            <a:xfrm>
              <a:off x="9211687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6151EC4-A950-4FC7-9AFC-D0C5EF225DD7}"/>
              </a:ext>
            </a:extLst>
          </p:cNvPr>
          <p:cNvGrpSpPr/>
          <p:nvPr/>
        </p:nvGrpSpPr>
        <p:grpSpPr>
          <a:xfrm flipH="1">
            <a:off x="2239749" y="3634980"/>
            <a:ext cx="10253671" cy="2005638"/>
            <a:chOff x="3149133" y="1706890"/>
            <a:chExt cx="8544726" cy="1903085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039D2950-8B12-4748-A61E-8E69141935A6}"/>
                </a:ext>
              </a:extLst>
            </p:cNvPr>
            <p:cNvSpPr/>
            <p:nvPr/>
          </p:nvSpPr>
          <p:spPr>
            <a:xfrm>
              <a:off x="6638769" y="1743075"/>
              <a:ext cx="5055090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C6E39D26-A8E5-4ADF-9A2F-8CEC233EB690}"/>
                </a:ext>
              </a:extLst>
            </p:cNvPr>
            <p:cNvSpPr/>
            <p:nvPr/>
          </p:nvSpPr>
          <p:spPr>
            <a:xfrm>
              <a:off x="3234772" y="1706890"/>
              <a:ext cx="3001389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AB99D039-FEE3-4C4F-B16D-9FD7B8D81DFF}"/>
                </a:ext>
              </a:extLst>
            </p:cNvPr>
            <p:cNvGrpSpPr/>
            <p:nvPr/>
          </p:nvGrpSpPr>
          <p:grpSpPr>
            <a:xfrm>
              <a:off x="6788016" y="1871145"/>
              <a:ext cx="2423671" cy="1435927"/>
              <a:chOff x="1688724" y="3313839"/>
              <a:chExt cx="4243707" cy="143592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A7B1AC-2669-4AEC-B7C8-C650C91CF634}"/>
                  </a:ext>
                </a:extLst>
              </p:cNvPr>
              <p:cNvSpPr txBox="1"/>
              <p:nvPr/>
            </p:nvSpPr>
            <p:spPr>
              <a:xfrm>
                <a:off x="1688725" y="3588123"/>
                <a:ext cx="4243706" cy="116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數位工具普及大幅提升學習資源可近性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語言學習從傳統教室擴展至日常生活場域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為建構情境式、日常化語言實踐提供可行途徑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(Godwin-Jones, 2018)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EE1EBF-C9F6-4719-A2ED-7BE01F35FB70}"/>
                  </a:ext>
                </a:extLst>
              </p:cNvPr>
              <p:cNvSpPr txBox="1"/>
              <p:nvPr/>
            </p:nvSpPr>
            <p:spPr>
              <a:xfrm>
                <a:off x="1688724" y="3313839"/>
                <a:ext cx="4243707" cy="268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數位工具擴展學習場域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0BFEC09C-967E-4AD2-99E4-37535A025136}"/>
                </a:ext>
              </a:extLst>
            </p:cNvPr>
            <p:cNvGrpSpPr/>
            <p:nvPr/>
          </p:nvGrpSpPr>
          <p:grpSpPr>
            <a:xfrm>
              <a:off x="9244454" y="1871145"/>
              <a:ext cx="2414148" cy="1309470"/>
              <a:chOff x="1648037" y="3313839"/>
              <a:chExt cx="4227031" cy="130947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745B43-F114-4955-A5BD-857CAD3C78BA}"/>
                  </a:ext>
                </a:extLst>
              </p:cNvPr>
              <p:cNvSpPr txBox="1"/>
              <p:nvPr/>
            </p:nvSpPr>
            <p:spPr>
              <a:xfrm>
                <a:off x="1648037" y="3618041"/>
                <a:ext cx="4227031" cy="100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主動參與學習對語言發展具顯著正面影響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透過說、寫等表達活動積極內化語言知識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在產出過程中發現並修正錯誤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(Swain, 1985)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AE3BC1-E2FF-4A9F-A508-DB2A09440A8C}"/>
                  </a:ext>
                </a:extLst>
              </p:cNvPr>
              <p:cNvSpPr txBox="1"/>
              <p:nvPr/>
            </p:nvSpPr>
            <p:spPr>
              <a:xfrm>
                <a:off x="2081649" y="3313839"/>
                <a:ext cx="3359796" cy="268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語言產出的關鍵作用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C2E0F4-AF1B-4C8D-B3EF-F91333485FC0}"/>
                </a:ext>
              </a:extLst>
            </p:cNvPr>
            <p:cNvSpPr txBox="1"/>
            <p:nvPr/>
          </p:nvSpPr>
          <p:spPr>
            <a:xfrm>
              <a:off x="3149133" y="2283115"/>
              <a:ext cx="2928098" cy="335089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主動學習與語言產出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2E4EC45-77AC-49FE-9EF8-B6CE1E090CA8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CD9698D-BAD8-4351-A5E4-EFE1565F6EA9}"/>
                </a:ext>
              </a:extLst>
            </p:cNvPr>
            <p:cNvCxnSpPr>
              <a:cxnSpLocks/>
            </p:cNvCxnSpPr>
            <p:nvPr/>
          </p:nvCxnSpPr>
          <p:spPr>
            <a:xfrm>
              <a:off x="9211687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2">
            <a:extLst>
              <a:ext uri="{FF2B5EF4-FFF2-40B4-BE49-F238E27FC236}">
                <a16:creationId xmlns:a16="http://schemas.microsoft.com/office/drawing/2014/main" id="{3EC87223-DE7F-1820-0AAE-9B96E35FB37B}"/>
              </a:ext>
            </a:extLst>
          </p:cNvPr>
          <p:cNvGrpSpPr/>
          <p:nvPr/>
        </p:nvGrpSpPr>
        <p:grpSpPr>
          <a:xfrm>
            <a:off x="2365223" y="5810095"/>
            <a:ext cx="9784727" cy="2146314"/>
            <a:chOff x="771523" y="1743075"/>
            <a:chExt cx="8153940" cy="1866900"/>
          </a:xfrm>
        </p:grpSpPr>
        <p:sp>
          <p:nvSpPr>
            <p:cNvPr id="58" name="사각형: 둥근 모서리 3">
              <a:extLst>
                <a:ext uri="{FF2B5EF4-FFF2-40B4-BE49-F238E27FC236}">
                  <a16:creationId xmlns:a16="http://schemas.microsoft.com/office/drawing/2014/main" id="{4BBB5B5A-E268-3978-81B0-0AD89F356466}"/>
                </a:ext>
              </a:extLst>
            </p:cNvPr>
            <p:cNvSpPr/>
            <p:nvPr/>
          </p:nvSpPr>
          <p:spPr>
            <a:xfrm>
              <a:off x="4438535" y="1743075"/>
              <a:ext cx="4486928" cy="1866900"/>
            </a:xfrm>
            <a:prstGeom prst="roundRect">
              <a:avLst>
                <a:gd name="adj" fmla="val 595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9" name="화살표: 오각형 4">
              <a:extLst>
                <a:ext uri="{FF2B5EF4-FFF2-40B4-BE49-F238E27FC236}">
                  <a16:creationId xmlns:a16="http://schemas.microsoft.com/office/drawing/2014/main" id="{14AB7E22-6905-435E-DFF9-751115BE0FD7}"/>
                </a:ext>
              </a:extLst>
            </p:cNvPr>
            <p:cNvSpPr/>
            <p:nvPr/>
          </p:nvSpPr>
          <p:spPr>
            <a:xfrm>
              <a:off x="781050" y="1911885"/>
              <a:ext cx="3190875" cy="1557855"/>
            </a:xfrm>
            <a:prstGeom prst="homePlate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0" name="Group 3">
              <a:extLst>
                <a:ext uri="{FF2B5EF4-FFF2-40B4-BE49-F238E27FC236}">
                  <a16:creationId xmlns:a16="http://schemas.microsoft.com/office/drawing/2014/main" id="{CC9A51D6-BD4F-3EFE-49CE-E971905F4AAF}"/>
                </a:ext>
              </a:extLst>
            </p:cNvPr>
            <p:cNvGrpSpPr/>
            <p:nvPr/>
          </p:nvGrpSpPr>
          <p:grpSpPr>
            <a:xfrm>
              <a:off x="4252337" y="1871145"/>
              <a:ext cx="4673126" cy="1133799"/>
              <a:chOff x="1590664" y="3313839"/>
              <a:chExt cx="8182369" cy="1133799"/>
            </a:xfrm>
          </p:grpSpPr>
          <p:sp>
            <p:nvSpPr>
              <p:cNvPr id="67" name="TextBox 15">
                <a:extLst>
                  <a:ext uri="{FF2B5EF4-FFF2-40B4-BE49-F238E27FC236}">
                    <a16:creationId xmlns:a16="http://schemas.microsoft.com/office/drawing/2014/main" id="{EDD479F8-AB5B-27EF-4465-DCC671D7C5A8}"/>
                  </a:ext>
                </a:extLst>
              </p:cNvPr>
              <p:cNvSpPr txBox="1"/>
              <p:nvPr/>
            </p:nvSpPr>
            <p:spPr>
              <a:xfrm>
                <a:off x="2074458" y="3805136"/>
                <a:ext cx="7698575" cy="642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大規模語言模型已應用於語言教學、翻譯、問答、寫作輔助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透過個別化對話提供針對性學習支援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為智慧型語言學習環境奠定技術基礎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(Liu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68" name="TextBox 16">
                <a:extLst>
                  <a:ext uri="{FF2B5EF4-FFF2-40B4-BE49-F238E27FC236}">
                    <a16:creationId xmlns:a16="http://schemas.microsoft.com/office/drawing/2014/main" id="{1E13F606-F181-E0A1-102D-0E9D026A6AD9}"/>
                  </a:ext>
                </a:extLst>
              </p:cNvPr>
              <p:cNvSpPr txBox="1"/>
              <p:nvPr/>
            </p:nvSpPr>
            <p:spPr>
              <a:xfrm>
                <a:off x="1590664" y="3313839"/>
                <a:ext cx="7262232" cy="32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LLM</a:t>
                </a:r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與</a:t>
                </a:r>
                <a:r>
                  <a:rPr lang="en-US" altLang="zh-TW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NLP</a:t>
                </a:r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技術廣泛應用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62" name="TextBox 8">
              <a:extLst>
                <a:ext uri="{FF2B5EF4-FFF2-40B4-BE49-F238E27FC236}">
                  <a16:creationId xmlns:a16="http://schemas.microsoft.com/office/drawing/2014/main" id="{D2E0A97C-373E-88CC-A794-D14696CA70D0}"/>
                </a:ext>
              </a:extLst>
            </p:cNvPr>
            <p:cNvSpPr txBox="1"/>
            <p:nvPr/>
          </p:nvSpPr>
          <p:spPr>
            <a:xfrm>
              <a:off x="771523" y="2275314"/>
              <a:ext cx="2947149" cy="722815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AI</a:t>
              </a:r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技術</a:t>
              </a:r>
              <a:endParaRPr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改變語言教育樣貌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64" name="직선 연결선 10">
              <a:extLst>
                <a:ext uri="{FF2B5EF4-FFF2-40B4-BE49-F238E27FC236}">
                  <a16:creationId xmlns:a16="http://schemas.microsoft.com/office/drawing/2014/main" id="{3F262353-A9DB-B11E-35EE-50634B1705E4}"/>
                </a:ext>
              </a:extLst>
            </p:cNvPr>
            <p:cNvCxnSpPr>
              <a:cxnSpLocks/>
            </p:cNvCxnSpPr>
            <p:nvPr/>
          </p:nvCxnSpPr>
          <p:spPr>
            <a:xfrm>
              <a:off x="8925463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0310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6" y="281607"/>
            <a:ext cx="7116150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語音轉文字 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A121945-B17B-4449-B075-F20629E6658C}"/>
              </a:ext>
            </a:extLst>
          </p:cNvPr>
          <p:cNvGrpSpPr/>
          <p:nvPr/>
        </p:nvGrpSpPr>
        <p:grpSpPr>
          <a:xfrm>
            <a:off x="2294547" y="2247266"/>
            <a:ext cx="10337448" cy="2240280"/>
            <a:chOff x="781050" y="1743075"/>
            <a:chExt cx="8614540" cy="18669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7159E7B-A972-40C0-ABC4-E0353D2D86E1}"/>
                </a:ext>
              </a:extLst>
            </p:cNvPr>
            <p:cNvSpPr/>
            <p:nvPr/>
          </p:nvSpPr>
          <p:spPr>
            <a:xfrm>
              <a:off x="4219575" y="1743075"/>
              <a:ext cx="5176015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C9F0B5BD-7930-4C41-8412-1CEED675C2CD}"/>
                </a:ext>
              </a:extLst>
            </p:cNvPr>
            <p:cNvSpPr/>
            <p:nvPr/>
          </p:nvSpPr>
          <p:spPr>
            <a:xfrm>
              <a:off x="781050" y="1911885"/>
              <a:ext cx="3190875" cy="1557855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D6229AAA-C758-48D7-9782-B75E9681B44B}"/>
                </a:ext>
              </a:extLst>
            </p:cNvPr>
            <p:cNvGrpSpPr/>
            <p:nvPr/>
          </p:nvGrpSpPr>
          <p:grpSpPr>
            <a:xfrm>
              <a:off x="4252337" y="1820617"/>
              <a:ext cx="2479674" cy="1638565"/>
              <a:chOff x="1590665" y="3263311"/>
              <a:chExt cx="4341766" cy="163856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4A8FCD-B336-42B8-A057-4BA5D9C6FD5D}"/>
                  </a:ext>
                </a:extLst>
              </p:cNvPr>
              <p:cNvSpPr txBox="1"/>
              <p:nvPr/>
            </p:nvSpPr>
            <p:spPr>
              <a:xfrm>
                <a:off x="1631353" y="3568178"/>
                <a:ext cx="4301074" cy="1333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基於編碼器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-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解碼器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Transformer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架構設計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使用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68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萬小時多語言資料進行弱監督訓練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支援語音辨識、自動語言識別與語音翻譯任務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(Radford et al., 2022)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81EE5A-84A6-453A-8444-E38F06DF29BD}"/>
                  </a:ext>
                </a:extLst>
              </p:cNvPr>
              <p:cNvSpPr txBox="1"/>
              <p:nvPr/>
            </p:nvSpPr>
            <p:spPr>
              <a:xfrm>
                <a:off x="1590665" y="3263311"/>
                <a:ext cx="4341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技術架構與訓練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72125B5A-DEE9-47CD-AF0E-E41869E3ED5B}"/>
                </a:ext>
              </a:extLst>
            </p:cNvPr>
            <p:cNvGrpSpPr/>
            <p:nvPr/>
          </p:nvGrpSpPr>
          <p:grpSpPr>
            <a:xfrm>
              <a:off x="6865402" y="1871145"/>
              <a:ext cx="2189648" cy="1292693"/>
              <a:chOff x="1824221" y="3313839"/>
              <a:chExt cx="3833945" cy="129269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FACFFA-1020-4217-9255-525F30A20211}"/>
                  </a:ext>
                </a:extLst>
              </p:cNvPr>
              <p:cNvSpPr txBox="1"/>
              <p:nvPr/>
            </p:nvSpPr>
            <p:spPr>
              <a:xfrm>
                <a:off x="1824221" y="3631906"/>
                <a:ext cx="3833945" cy="974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在噪音干擾、不同口音環境下維持高辨識準確率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具備良好跨語言與跨方言適應能力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展現零樣本遷移學習能力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F25B3B-487B-4CC2-B3EF-C7A373A074A8}"/>
                  </a:ext>
                </a:extLst>
              </p:cNvPr>
              <p:cNvSpPr txBox="1"/>
              <p:nvPr/>
            </p:nvSpPr>
            <p:spPr>
              <a:xfrm>
                <a:off x="2081649" y="3313839"/>
                <a:ext cx="33597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跨語言魯棒性表現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7C1C9D-2EED-40FA-A138-F92DA6EEAF99}"/>
                </a:ext>
              </a:extLst>
            </p:cNvPr>
            <p:cNvSpPr txBox="1"/>
            <p:nvPr/>
          </p:nvSpPr>
          <p:spPr>
            <a:xfrm>
              <a:off x="955893" y="2275314"/>
              <a:ext cx="2281595" cy="692498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語音轉文字 </a:t>
              </a:r>
              <a:r>
                <a:rPr lang="en-US" altLang="zh-TW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(Whisper)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D9E026E-5171-4B29-9190-1341A910C001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36BC8E9-C3BB-41C3-8F65-6AACB0B2D036}"/>
                </a:ext>
              </a:extLst>
            </p:cNvPr>
            <p:cNvCxnSpPr>
              <a:cxnSpLocks/>
            </p:cNvCxnSpPr>
            <p:nvPr/>
          </p:nvCxnSpPr>
          <p:spPr>
            <a:xfrm>
              <a:off x="9211687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6151EC4-A950-4FC7-9AFC-D0C5EF225DD7}"/>
              </a:ext>
            </a:extLst>
          </p:cNvPr>
          <p:cNvGrpSpPr/>
          <p:nvPr/>
        </p:nvGrpSpPr>
        <p:grpSpPr>
          <a:xfrm flipH="1">
            <a:off x="2155019" y="5074921"/>
            <a:ext cx="10476976" cy="2240280"/>
            <a:chOff x="1798688" y="1743075"/>
            <a:chExt cx="8730820" cy="186690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039D2950-8B12-4748-A61E-8E69141935A6}"/>
                </a:ext>
              </a:extLst>
            </p:cNvPr>
            <p:cNvSpPr/>
            <p:nvPr/>
          </p:nvSpPr>
          <p:spPr>
            <a:xfrm>
              <a:off x="5353492" y="1743075"/>
              <a:ext cx="5176016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C6E39D26-A8E5-4ADF-9A2F-8CEC233EB690}"/>
                </a:ext>
              </a:extLst>
            </p:cNvPr>
            <p:cNvSpPr/>
            <p:nvPr/>
          </p:nvSpPr>
          <p:spPr>
            <a:xfrm>
              <a:off x="1798688" y="1942662"/>
              <a:ext cx="3190875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AB99D039-FEE3-4C4F-B16D-9FD7B8D81DFF}"/>
                </a:ext>
              </a:extLst>
            </p:cNvPr>
            <p:cNvGrpSpPr/>
            <p:nvPr/>
          </p:nvGrpSpPr>
          <p:grpSpPr>
            <a:xfrm>
              <a:off x="5649415" y="1871145"/>
              <a:ext cx="2292567" cy="1408502"/>
              <a:chOff x="-304905" y="3313839"/>
              <a:chExt cx="4014150" cy="140850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A7B1AC-2669-4AEC-B7C8-C650C91CF634}"/>
                  </a:ext>
                </a:extLst>
              </p:cNvPr>
              <p:cNvSpPr txBox="1"/>
              <p:nvPr/>
            </p:nvSpPr>
            <p:spPr>
              <a:xfrm>
                <a:off x="-304905" y="3568178"/>
                <a:ext cx="4014150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針對中英混合語音進行微調實驗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少量語料訓練即可顯著提升辨識表現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驗證跨語言適應性與實用價值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(Zhao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EE1EBF-C9F6-4719-A2ED-7BE01F35FB70}"/>
                  </a:ext>
                </a:extLst>
              </p:cNvPr>
              <p:cNvSpPr txBox="1"/>
              <p:nvPr/>
            </p:nvSpPr>
            <p:spPr>
              <a:xfrm>
                <a:off x="88012" y="3313839"/>
                <a:ext cx="33597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多語言混合語音處理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0BFEC09C-967E-4AD2-99E4-37535A025136}"/>
                </a:ext>
              </a:extLst>
            </p:cNvPr>
            <p:cNvGrpSpPr/>
            <p:nvPr/>
          </p:nvGrpSpPr>
          <p:grpSpPr>
            <a:xfrm>
              <a:off x="8105848" y="1871145"/>
              <a:ext cx="2338218" cy="1478187"/>
              <a:chOff x="-345601" y="3313839"/>
              <a:chExt cx="4094083" cy="147818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745B43-F114-4955-A5BD-857CAD3C78BA}"/>
                  </a:ext>
                </a:extLst>
              </p:cNvPr>
              <p:cNvSpPr txBox="1"/>
              <p:nvPr/>
            </p:nvSpPr>
            <p:spPr>
              <a:xfrm>
                <a:off x="-345601" y="3637863"/>
                <a:ext cx="4094083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Whisper-Streaming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系統實現平均延遲僅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3.3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秒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成功應用於多語會議與互動系統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證實在互動式語音應用的實用潛力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(Macháček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AE3BC1-E2FF-4A9F-A508-DB2A09440A8C}"/>
                  </a:ext>
                </a:extLst>
              </p:cNvPr>
              <p:cNvSpPr txBox="1"/>
              <p:nvPr/>
            </p:nvSpPr>
            <p:spPr>
              <a:xfrm>
                <a:off x="88018" y="3313839"/>
                <a:ext cx="33597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即時語音辨識可行性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C2E0F4-AF1B-4C8D-B3EF-F91333485FC0}"/>
                </a:ext>
              </a:extLst>
            </p:cNvPr>
            <p:cNvSpPr txBox="1"/>
            <p:nvPr/>
          </p:nvSpPr>
          <p:spPr>
            <a:xfrm>
              <a:off x="1895302" y="2453387"/>
              <a:ext cx="2684372" cy="446276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r"/>
              <a:r>
                <a:rPr lang="zh-TW" altLang="en-US" sz="28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即時互動應用潛力</a:t>
              </a:r>
              <a:endParaRPr lang="ko-KR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2E4EC45-77AC-49FE-9EF8-B6CE1E090CA8}"/>
                </a:ext>
              </a:extLst>
            </p:cNvPr>
            <p:cNvCxnSpPr>
              <a:cxnSpLocks/>
            </p:cNvCxnSpPr>
            <p:nvPr/>
          </p:nvCxnSpPr>
          <p:spPr>
            <a:xfrm>
              <a:off x="5593395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CD9698D-BAD8-4351-A5E4-EFE1565F6EA9}"/>
                </a:ext>
              </a:extLst>
            </p:cNvPr>
            <p:cNvCxnSpPr>
              <a:cxnSpLocks/>
            </p:cNvCxnSpPr>
            <p:nvPr/>
          </p:nvCxnSpPr>
          <p:spPr>
            <a:xfrm>
              <a:off x="8073083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1199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3300-B4A1-5260-D9FF-A742B9A5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92A449-3426-3C55-425C-781796B24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5" y="281607"/>
            <a:ext cx="10038027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 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(Prompt Engineering)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BF718E9-8D76-C438-1FAD-44CFAFD5F94E}"/>
              </a:ext>
            </a:extLst>
          </p:cNvPr>
          <p:cNvGrpSpPr/>
          <p:nvPr/>
        </p:nvGrpSpPr>
        <p:grpSpPr>
          <a:xfrm>
            <a:off x="2294547" y="2247266"/>
            <a:ext cx="10675218" cy="2240280"/>
            <a:chOff x="781050" y="1743075"/>
            <a:chExt cx="8896015" cy="18669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6B17145-8A53-5473-63C0-F245A8C47DF4}"/>
                </a:ext>
              </a:extLst>
            </p:cNvPr>
            <p:cNvSpPr/>
            <p:nvPr/>
          </p:nvSpPr>
          <p:spPr>
            <a:xfrm>
              <a:off x="4219574" y="1743075"/>
              <a:ext cx="5457491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715CB42B-E088-6492-7F08-4DF76BE2993B}"/>
                </a:ext>
              </a:extLst>
            </p:cNvPr>
            <p:cNvSpPr/>
            <p:nvPr/>
          </p:nvSpPr>
          <p:spPr>
            <a:xfrm>
              <a:off x="781050" y="1911885"/>
              <a:ext cx="3190875" cy="1557855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C29FCBC3-B4C0-7C3F-5F2F-9A916E22290D}"/>
                </a:ext>
              </a:extLst>
            </p:cNvPr>
            <p:cNvGrpSpPr/>
            <p:nvPr/>
          </p:nvGrpSpPr>
          <p:grpSpPr>
            <a:xfrm>
              <a:off x="4252337" y="1820617"/>
              <a:ext cx="2479674" cy="1279493"/>
              <a:chOff x="1590664" y="3263311"/>
              <a:chExt cx="4341767" cy="127949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56D980-AE2E-9F76-4358-C6735F9BAD32}"/>
                  </a:ext>
                </a:extLst>
              </p:cNvPr>
              <p:cNvSpPr txBox="1"/>
              <p:nvPr/>
            </p:nvSpPr>
            <p:spPr>
              <a:xfrm>
                <a:off x="1590664" y="3568178"/>
                <a:ext cx="4341761" cy="974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設計恰當輸入提示引導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LLM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生成所需輸出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已成為影響模型性能的關鍵因素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與模型學習能力密切相關，特別在語言學習場景中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E0D6D08-C6E0-C657-4B82-A38682A0FAD8}"/>
                  </a:ext>
                </a:extLst>
              </p:cNvPr>
              <p:cNvSpPr txBox="1"/>
              <p:nvPr/>
            </p:nvSpPr>
            <p:spPr>
              <a:xfrm>
                <a:off x="1590665" y="3263311"/>
                <a:ext cx="4341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引導模型生成的關鍵技術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64228549-F80F-4138-236E-6AB0C7EC4DF6}"/>
                </a:ext>
              </a:extLst>
            </p:cNvPr>
            <p:cNvGrpSpPr/>
            <p:nvPr/>
          </p:nvGrpSpPr>
          <p:grpSpPr>
            <a:xfrm>
              <a:off x="6865398" y="1871145"/>
              <a:ext cx="2530191" cy="1651766"/>
              <a:chOff x="1824214" y="3313839"/>
              <a:chExt cx="4430218" cy="16517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9484E5-482B-F9E5-E030-341F6B6564DF}"/>
                  </a:ext>
                </a:extLst>
              </p:cNvPr>
              <p:cNvSpPr txBox="1"/>
              <p:nvPr/>
            </p:nvSpPr>
            <p:spPr>
              <a:xfrm>
                <a:off x="1824220" y="3631906"/>
                <a:ext cx="4430212" cy="1333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零樣本學習允許模型無需大量範例即可執行任務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少樣本學習依賴精心設計提示理解並生成正確輸出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提示鏈技術串聯多個提示處理複雜推理任務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(Wei et al., 2022; </a:t>
                </a:r>
                <a:r>
                  <a:rPr lang="en-US" altLang="zh-TW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Sutskever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et al., 2024)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89D47D-D6AF-77EE-1E7A-F877735535C5}"/>
                  </a:ext>
                </a:extLst>
              </p:cNvPr>
              <p:cNvSpPr txBox="1"/>
              <p:nvPr/>
            </p:nvSpPr>
            <p:spPr>
              <a:xfrm>
                <a:off x="1824214" y="3313839"/>
                <a:ext cx="41082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零樣本與少樣本學習發展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11C7DA-55D6-8793-A9CE-3A101AF65BD2}"/>
                </a:ext>
              </a:extLst>
            </p:cNvPr>
            <p:cNvSpPr txBox="1"/>
            <p:nvPr/>
          </p:nvSpPr>
          <p:spPr>
            <a:xfrm>
              <a:off x="955893" y="2275314"/>
              <a:ext cx="2281595" cy="692498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提示設計的</a:t>
              </a:r>
              <a:endParaRPr lang="en-US" altLang="zh-TW" sz="24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endParaRPr>
            </a:p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核心價值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9BEFFEE-5AB7-57A6-0321-9094705826AF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FF24CE6-ED6E-72BE-4079-FDFFDF936839}"/>
                </a:ext>
              </a:extLst>
            </p:cNvPr>
            <p:cNvCxnSpPr>
              <a:cxnSpLocks/>
            </p:cNvCxnSpPr>
            <p:nvPr/>
          </p:nvCxnSpPr>
          <p:spPr>
            <a:xfrm>
              <a:off x="9500721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63C7EE8-6279-FC6F-EEC7-1DC52077CE18}"/>
              </a:ext>
            </a:extLst>
          </p:cNvPr>
          <p:cNvGrpSpPr/>
          <p:nvPr/>
        </p:nvGrpSpPr>
        <p:grpSpPr>
          <a:xfrm flipH="1">
            <a:off x="2155019" y="5074921"/>
            <a:ext cx="10476976" cy="2240280"/>
            <a:chOff x="1798688" y="1743075"/>
            <a:chExt cx="8730820" cy="186690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5A4E253-F79B-1C4B-4D50-E296D3B03B53}"/>
                </a:ext>
              </a:extLst>
            </p:cNvPr>
            <p:cNvSpPr/>
            <p:nvPr/>
          </p:nvSpPr>
          <p:spPr>
            <a:xfrm>
              <a:off x="5353492" y="1743075"/>
              <a:ext cx="5176016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3448B6D5-9DFD-3DC5-270E-4FE88CC02DA3}"/>
                </a:ext>
              </a:extLst>
            </p:cNvPr>
            <p:cNvSpPr/>
            <p:nvPr/>
          </p:nvSpPr>
          <p:spPr>
            <a:xfrm>
              <a:off x="1798688" y="1942662"/>
              <a:ext cx="3190875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E55F30F2-B89A-337E-AC56-3ECB29FB1627}"/>
                </a:ext>
              </a:extLst>
            </p:cNvPr>
            <p:cNvGrpSpPr/>
            <p:nvPr/>
          </p:nvGrpSpPr>
          <p:grpSpPr>
            <a:xfrm>
              <a:off x="5649415" y="1871145"/>
              <a:ext cx="2292567" cy="1588038"/>
              <a:chOff x="-304905" y="3313839"/>
              <a:chExt cx="4014150" cy="158803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9B2099-FAE1-149C-3583-BC6C63CD9A1A}"/>
                  </a:ext>
                </a:extLst>
              </p:cNvPr>
              <p:cNvSpPr txBox="1"/>
              <p:nvPr/>
            </p:nvSpPr>
            <p:spPr>
              <a:xfrm>
                <a:off x="-304905" y="3568178"/>
                <a:ext cx="4014150" cy="1333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提示設計不僅是操作技巧，更是促進學習的策略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引導學習者進行正確語法結構練習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在即時回饋中提供改進建議，加速語言習得過程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(Liu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4CEF79-0870-063E-F5DC-CA0ABEF1C884}"/>
                  </a:ext>
                </a:extLst>
              </p:cNvPr>
              <p:cNvSpPr txBox="1"/>
              <p:nvPr/>
            </p:nvSpPr>
            <p:spPr>
              <a:xfrm>
                <a:off x="88012" y="3313839"/>
                <a:ext cx="33597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語言學習策略應用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51C7D94F-7A29-F1B2-369E-231CFB9AF28E}"/>
                </a:ext>
              </a:extLst>
            </p:cNvPr>
            <p:cNvGrpSpPr/>
            <p:nvPr/>
          </p:nvGrpSpPr>
          <p:grpSpPr>
            <a:xfrm>
              <a:off x="8105848" y="1871145"/>
              <a:ext cx="2338218" cy="1657723"/>
              <a:chOff x="-345601" y="3313839"/>
              <a:chExt cx="4094083" cy="165772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634F29-4DA4-7CBC-7850-26723F2C906D}"/>
                  </a:ext>
                </a:extLst>
              </p:cNvPr>
              <p:cNvSpPr txBox="1"/>
              <p:nvPr/>
            </p:nvSpPr>
            <p:spPr>
              <a:xfrm>
                <a:off x="-345601" y="3637863"/>
                <a:ext cx="4094083" cy="1333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提示設計已成為教育領域不可或缺技能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學習者提示素養直接影響與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AI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互動效果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提升問題解決、批判思維與創意思維能力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(Chiles &amp; Adams, 2024)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98519E-BF6D-EAF5-C7D9-CA7A60494E1B}"/>
                  </a:ext>
                </a:extLst>
              </p:cNvPr>
              <p:cNvSpPr txBox="1"/>
              <p:nvPr/>
            </p:nvSpPr>
            <p:spPr>
              <a:xfrm>
                <a:off x="88019" y="3313839"/>
                <a:ext cx="33597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21</a:t>
                </a:r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世紀重要技能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F9805A-76CB-A39C-E48A-8C6ACBD74ADE}"/>
                </a:ext>
              </a:extLst>
            </p:cNvPr>
            <p:cNvSpPr txBox="1"/>
            <p:nvPr/>
          </p:nvSpPr>
          <p:spPr>
            <a:xfrm>
              <a:off x="1895302" y="2453387"/>
              <a:ext cx="2684372" cy="436017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r"/>
              <a:r>
                <a:rPr lang="zh-TW" altLang="en-US" sz="28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教育領域提示素養</a:t>
              </a:r>
              <a:endParaRPr lang="ko-KR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EC67CA1-F645-B8AF-1892-69E28CDAD06C}"/>
                </a:ext>
              </a:extLst>
            </p:cNvPr>
            <p:cNvCxnSpPr>
              <a:cxnSpLocks/>
            </p:cNvCxnSpPr>
            <p:nvPr/>
          </p:nvCxnSpPr>
          <p:spPr>
            <a:xfrm>
              <a:off x="5593395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9F9F63C-863D-D3A9-59DB-2CB9C45CA25E}"/>
                </a:ext>
              </a:extLst>
            </p:cNvPr>
            <p:cNvCxnSpPr>
              <a:cxnSpLocks/>
            </p:cNvCxnSpPr>
            <p:nvPr/>
          </p:nvCxnSpPr>
          <p:spPr>
            <a:xfrm>
              <a:off x="8073083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7008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7132-1196-D928-74F6-416A5A92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9AD969-B7B1-4242-6FCB-8C452AE3C0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5" y="281607"/>
            <a:ext cx="3574165" cy="869096"/>
          </a:xfrm>
        </p:spPr>
        <p:txBody>
          <a:bodyPr/>
          <a:lstStyle/>
          <a:p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Flask</a:t>
            </a: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2E43DDC-59AD-8D12-F8F3-1A23A63ECD53}"/>
              </a:ext>
            </a:extLst>
          </p:cNvPr>
          <p:cNvGrpSpPr/>
          <p:nvPr/>
        </p:nvGrpSpPr>
        <p:grpSpPr>
          <a:xfrm>
            <a:off x="2294547" y="2247266"/>
            <a:ext cx="11001038" cy="2256653"/>
            <a:chOff x="781050" y="1743075"/>
            <a:chExt cx="9167532" cy="1880547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16AA1DF-31C4-480E-B15F-D20AE764A0B0}"/>
                </a:ext>
              </a:extLst>
            </p:cNvPr>
            <p:cNvSpPr/>
            <p:nvPr/>
          </p:nvSpPr>
          <p:spPr>
            <a:xfrm>
              <a:off x="4045273" y="1743075"/>
              <a:ext cx="5903309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9AB809C2-71B8-F549-87A2-F4AE6D177087}"/>
                </a:ext>
              </a:extLst>
            </p:cNvPr>
            <p:cNvSpPr/>
            <p:nvPr/>
          </p:nvSpPr>
          <p:spPr>
            <a:xfrm>
              <a:off x="781050" y="1911885"/>
              <a:ext cx="3190875" cy="1557855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BDBE7151-AF01-9893-E42D-F5A7EAFD9F02}"/>
                </a:ext>
              </a:extLst>
            </p:cNvPr>
            <p:cNvGrpSpPr/>
            <p:nvPr/>
          </p:nvGrpSpPr>
          <p:grpSpPr>
            <a:xfrm>
              <a:off x="4104246" y="1829491"/>
              <a:ext cx="2479675" cy="1638565"/>
              <a:chOff x="1331365" y="3272185"/>
              <a:chExt cx="4341769" cy="163856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5F7EF3-7C7B-0C83-1F7D-2D1871712CA5}"/>
                  </a:ext>
                </a:extLst>
              </p:cNvPr>
              <p:cNvSpPr txBox="1"/>
              <p:nvPr/>
            </p:nvSpPr>
            <p:spPr>
              <a:xfrm>
                <a:off x="1331365" y="3577052"/>
                <a:ext cx="4341761" cy="1333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輕量級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Python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網頁應用框架設計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提供核心功能同時保持極高擴展性與靈活性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「顯式優於隱式」設計理念，開發者可明確控制應用行為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(Grinberg, 2018)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2A3CE0-83EF-7062-8151-0BFEE3A5C071}"/>
                  </a:ext>
                </a:extLst>
              </p:cNvPr>
              <p:cNvSpPr txBox="1"/>
              <p:nvPr/>
            </p:nvSpPr>
            <p:spPr>
              <a:xfrm>
                <a:off x="1331368" y="3272185"/>
                <a:ext cx="4341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靈活性與簡潔性並重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D72C0AA4-ADDE-274D-2B93-DD5475FD5638}"/>
                </a:ext>
              </a:extLst>
            </p:cNvPr>
            <p:cNvGrpSpPr/>
            <p:nvPr/>
          </p:nvGrpSpPr>
          <p:grpSpPr>
            <a:xfrm>
              <a:off x="6764770" y="1792323"/>
              <a:ext cx="2982359" cy="1831299"/>
              <a:chOff x="1648022" y="3235017"/>
              <a:chExt cx="5221939" cy="1831299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85E679-7900-A67A-CCB1-2790747E67B7}"/>
                  </a:ext>
                </a:extLst>
              </p:cNvPr>
              <p:cNvSpPr txBox="1"/>
              <p:nvPr/>
            </p:nvSpPr>
            <p:spPr>
              <a:xfrm>
                <a:off x="1824218" y="3553081"/>
                <a:ext cx="5045743" cy="1513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路由系統：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URL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路徑映射至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Python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函數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Jinja2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模板引擎：動態生成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HTML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內容能力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WSGI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相容性：確保多種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Web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伺服器兼容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擴展系統：輕鬆整合資料庫、表單驗證、用戶認證功能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(Baker et al., 2020)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4D08CC-FE84-C730-1D53-F126AB18991C}"/>
                  </a:ext>
                </a:extLst>
              </p:cNvPr>
              <p:cNvSpPr txBox="1"/>
              <p:nvPr/>
            </p:nvSpPr>
            <p:spPr>
              <a:xfrm>
                <a:off x="1648022" y="3235017"/>
                <a:ext cx="47904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核心功能模組整合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4548AB-3042-B727-374B-D7AC786983C2}"/>
                </a:ext>
              </a:extLst>
            </p:cNvPr>
            <p:cNvSpPr txBox="1"/>
            <p:nvPr/>
          </p:nvSpPr>
          <p:spPr>
            <a:xfrm>
              <a:off x="970706" y="2416485"/>
              <a:ext cx="2281595" cy="384721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微框架設計哲學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DBD8544-6B51-6373-50C0-C139D70DBE34}"/>
                </a:ext>
              </a:extLst>
            </p:cNvPr>
            <p:cNvCxnSpPr>
              <a:cxnSpLocks/>
            </p:cNvCxnSpPr>
            <p:nvPr/>
          </p:nvCxnSpPr>
          <p:spPr>
            <a:xfrm>
              <a:off x="6609394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26547B2-0D33-37C1-8716-507C0C647865}"/>
                </a:ext>
              </a:extLst>
            </p:cNvPr>
            <p:cNvCxnSpPr>
              <a:cxnSpLocks/>
            </p:cNvCxnSpPr>
            <p:nvPr/>
          </p:nvCxnSpPr>
          <p:spPr>
            <a:xfrm>
              <a:off x="9938651" y="195262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5162C5B-C401-09C9-168E-ED3BBBB4B069}"/>
              </a:ext>
            </a:extLst>
          </p:cNvPr>
          <p:cNvGrpSpPr/>
          <p:nvPr/>
        </p:nvGrpSpPr>
        <p:grpSpPr>
          <a:xfrm flipH="1">
            <a:off x="2155019" y="5074921"/>
            <a:ext cx="10476976" cy="2240280"/>
            <a:chOff x="1798688" y="1743075"/>
            <a:chExt cx="8730820" cy="186690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6BD9D4B-CAF9-FAC4-D7A9-CAAC3E76DA2D}"/>
                </a:ext>
              </a:extLst>
            </p:cNvPr>
            <p:cNvSpPr/>
            <p:nvPr/>
          </p:nvSpPr>
          <p:spPr>
            <a:xfrm>
              <a:off x="5353492" y="1743075"/>
              <a:ext cx="5176016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A9F32EED-39E2-78F4-D4BE-8A7765C15EAB}"/>
                </a:ext>
              </a:extLst>
            </p:cNvPr>
            <p:cNvSpPr/>
            <p:nvPr/>
          </p:nvSpPr>
          <p:spPr>
            <a:xfrm>
              <a:off x="1798688" y="1942662"/>
              <a:ext cx="3190875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8FEA002A-2C1B-6347-C597-79C06A217070}"/>
                </a:ext>
              </a:extLst>
            </p:cNvPr>
            <p:cNvGrpSpPr/>
            <p:nvPr/>
          </p:nvGrpSpPr>
          <p:grpSpPr>
            <a:xfrm>
              <a:off x="5649415" y="1871145"/>
              <a:ext cx="2292567" cy="1408502"/>
              <a:chOff x="-304905" y="3313839"/>
              <a:chExt cx="4014150" cy="140850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BD29B5-FBBD-B667-6510-DBB7621A94A0}"/>
                  </a:ext>
                </a:extLst>
              </p:cNvPr>
              <p:cNvSpPr txBox="1"/>
              <p:nvPr/>
            </p:nvSpPr>
            <p:spPr>
              <a:xfrm>
                <a:off x="-304905" y="3568178"/>
                <a:ext cx="4014150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特別適用於需要外部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API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整合的智能學習系統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在教育科技領域應用顯著增加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AI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輔助教育平台提供理想技術基礎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(Zhou et al., 2021)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EDBCCD-8A8F-C106-7C88-776A90963631}"/>
                  </a:ext>
                </a:extLst>
              </p:cNvPr>
              <p:cNvSpPr txBox="1"/>
              <p:nvPr/>
            </p:nvSpPr>
            <p:spPr>
              <a:xfrm>
                <a:off x="88012" y="3313839"/>
                <a:ext cx="33597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AI</a:t>
                </a:r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服務整合優勢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78729A2F-936B-D8C8-B363-8446DFDCBC99}"/>
                </a:ext>
              </a:extLst>
            </p:cNvPr>
            <p:cNvGrpSpPr/>
            <p:nvPr/>
          </p:nvGrpSpPr>
          <p:grpSpPr>
            <a:xfrm>
              <a:off x="8105848" y="1871145"/>
              <a:ext cx="2338218" cy="1478187"/>
              <a:chOff x="-345601" y="3313839"/>
              <a:chExt cx="4094083" cy="147818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A3CF0D-49C4-6A44-77A9-4AE9F05E864A}"/>
                  </a:ext>
                </a:extLst>
              </p:cNvPr>
              <p:cNvSpPr txBox="1"/>
              <p:nvPr/>
            </p:nvSpPr>
            <p:spPr>
              <a:xfrm>
                <a:off x="-345601" y="3637863"/>
                <a:ext cx="4094083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學習曲線平緩，適合快速開發原型並迭代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在教育應用中滿足靈活性需求的關鍵特質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模塊化特性支持複雜應用漸進式開發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(Jiang et al., 2022)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D7C5D6-CDF6-3B40-6E33-997489EF3A7A}"/>
                  </a:ext>
                </a:extLst>
              </p:cNvPr>
              <p:cNvSpPr txBox="1"/>
              <p:nvPr/>
            </p:nvSpPr>
            <p:spPr>
              <a:xfrm>
                <a:off x="88019" y="3313839"/>
                <a:ext cx="33597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快速原型開發特性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249BFF0-F1E2-B946-1E6C-3A1A52C4654A}"/>
                </a:ext>
              </a:extLst>
            </p:cNvPr>
            <p:cNvSpPr txBox="1"/>
            <p:nvPr/>
          </p:nvSpPr>
          <p:spPr>
            <a:xfrm>
              <a:off x="1895302" y="2453387"/>
              <a:ext cx="2684372" cy="436017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r"/>
              <a:r>
                <a:rPr lang="zh-TW" altLang="en-US" sz="28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教育科技應用優勢</a:t>
              </a:r>
              <a:endParaRPr lang="ko-KR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048AF2E-5149-833B-880A-AE8A23049FD5}"/>
                </a:ext>
              </a:extLst>
            </p:cNvPr>
            <p:cNvCxnSpPr>
              <a:cxnSpLocks/>
            </p:cNvCxnSpPr>
            <p:nvPr/>
          </p:nvCxnSpPr>
          <p:spPr>
            <a:xfrm>
              <a:off x="5593395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E0A74BA-A27C-2BB8-F911-7F15A11E3035}"/>
                </a:ext>
              </a:extLst>
            </p:cNvPr>
            <p:cNvCxnSpPr>
              <a:cxnSpLocks/>
            </p:cNvCxnSpPr>
            <p:nvPr/>
          </p:nvCxnSpPr>
          <p:spPr>
            <a:xfrm>
              <a:off x="8073083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4461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29DD-05C0-7C1F-EE11-D39A17F1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27E8E-CF2F-292E-FE8A-F0CB7D8BED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5" y="281607"/>
            <a:ext cx="5644703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文字轉語音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-US" altLang="zh-TW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gTTS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CC98E44-4A66-4414-372C-8A81796D84EA}"/>
              </a:ext>
            </a:extLst>
          </p:cNvPr>
          <p:cNvGrpSpPr/>
          <p:nvPr/>
        </p:nvGrpSpPr>
        <p:grpSpPr>
          <a:xfrm>
            <a:off x="2294547" y="2247266"/>
            <a:ext cx="11001038" cy="2240277"/>
            <a:chOff x="781050" y="1743075"/>
            <a:chExt cx="9167532" cy="18669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55E1C4C-46C2-01DC-6462-06BDC79AECC4}"/>
                </a:ext>
              </a:extLst>
            </p:cNvPr>
            <p:cNvSpPr/>
            <p:nvPr/>
          </p:nvSpPr>
          <p:spPr>
            <a:xfrm>
              <a:off x="4045273" y="1743075"/>
              <a:ext cx="5903309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A29ED086-1A80-8341-D7AD-053950F705C2}"/>
                </a:ext>
              </a:extLst>
            </p:cNvPr>
            <p:cNvSpPr/>
            <p:nvPr/>
          </p:nvSpPr>
          <p:spPr>
            <a:xfrm>
              <a:off x="781050" y="1911885"/>
              <a:ext cx="3190875" cy="1557855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924FB93B-AB20-FD6B-385E-B6F8A397245A}"/>
                </a:ext>
              </a:extLst>
            </p:cNvPr>
            <p:cNvGrpSpPr/>
            <p:nvPr/>
          </p:nvGrpSpPr>
          <p:grpSpPr>
            <a:xfrm>
              <a:off x="4104246" y="1829491"/>
              <a:ext cx="2479675" cy="1459032"/>
              <a:chOff x="1331365" y="3272185"/>
              <a:chExt cx="4341769" cy="145903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F59255-260E-05E1-D50E-5B8565907291}"/>
                  </a:ext>
                </a:extLst>
              </p:cNvPr>
              <p:cNvSpPr txBox="1"/>
              <p:nvPr/>
            </p:nvSpPr>
            <p:spPr>
              <a:xfrm>
                <a:off x="1331365" y="3577052"/>
                <a:ext cx="4341762" cy="1154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將文字轉換為接近自然人聲的語音輸出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支持超過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100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種語言和多種語音變體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為跨語言應用提供強大技術基礎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(Choudhury &amp; Kumar, 2019)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D5F30E-5C95-7648-09EE-135C1D42A796}"/>
                  </a:ext>
                </a:extLst>
              </p:cNvPr>
              <p:cNvSpPr txBox="1"/>
              <p:nvPr/>
            </p:nvSpPr>
            <p:spPr>
              <a:xfrm>
                <a:off x="1331368" y="3272185"/>
                <a:ext cx="4341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Google</a:t>
                </a:r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語音合成技術基礎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89C0FA36-B964-65BA-9FF5-7334D101F056}"/>
                </a:ext>
              </a:extLst>
            </p:cNvPr>
            <p:cNvGrpSpPr/>
            <p:nvPr/>
          </p:nvGrpSpPr>
          <p:grpSpPr>
            <a:xfrm>
              <a:off x="6764770" y="1792323"/>
              <a:ext cx="2982359" cy="1292691"/>
              <a:chOff x="1648022" y="3235017"/>
              <a:chExt cx="5221939" cy="129269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6F488F-3346-0130-AB4B-88C28DEF4531}"/>
                  </a:ext>
                </a:extLst>
              </p:cNvPr>
              <p:cNvSpPr txBox="1"/>
              <p:nvPr/>
            </p:nvSpPr>
            <p:spPr>
              <a:xfrm>
                <a:off x="1824218" y="3553081"/>
                <a:ext cx="5045743" cy="974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採用參數合成和深度學習技術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文本→音素序列→波形圖→語音的完整流程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在語音自然度和流暢性上優於傳統拼接式方法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(Tsai, 2021)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C19CCF-3EDF-CE0E-029D-8E750D5D4FBA}"/>
                  </a:ext>
                </a:extLst>
              </p:cNvPr>
              <p:cNvSpPr txBox="1"/>
              <p:nvPr/>
            </p:nvSpPr>
            <p:spPr>
              <a:xfrm>
                <a:off x="1648022" y="3235017"/>
                <a:ext cx="47904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深度學習技術實現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0DD33B-642C-DDF3-E8ED-570E4DBFBDF6}"/>
                </a:ext>
              </a:extLst>
            </p:cNvPr>
            <p:cNvSpPr txBox="1"/>
            <p:nvPr/>
          </p:nvSpPr>
          <p:spPr>
            <a:xfrm>
              <a:off x="970705" y="2416485"/>
              <a:ext cx="2430908" cy="384721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</a:t>
              </a:r>
              <a:r>
                <a:rPr lang="en-US" altLang="zh-TW" sz="2400" b="1" dirty="0" err="1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gTTS</a:t>
              </a:r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自然語音生成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8B7CFF6-4B1C-828D-F405-1401B9D21BED}"/>
                </a:ext>
              </a:extLst>
            </p:cNvPr>
            <p:cNvCxnSpPr>
              <a:cxnSpLocks/>
            </p:cNvCxnSpPr>
            <p:nvPr/>
          </p:nvCxnSpPr>
          <p:spPr>
            <a:xfrm>
              <a:off x="6609394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C38FFEB-74FF-FFF3-42D2-A5BC42E9E4FF}"/>
                </a:ext>
              </a:extLst>
            </p:cNvPr>
            <p:cNvCxnSpPr>
              <a:cxnSpLocks/>
            </p:cNvCxnSpPr>
            <p:nvPr/>
          </p:nvCxnSpPr>
          <p:spPr>
            <a:xfrm>
              <a:off x="9938651" y="195262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4CDDCAF-F316-174B-C75D-987A17D06EFB}"/>
              </a:ext>
            </a:extLst>
          </p:cNvPr>
          <p:cNvGrpSpPr/>
          <p:nvPr/>
        </p:nvGrpSpPr>
        <p:grpSpPr>
          <a:xfrm flipH="1">
            <a:off x="2155019" y="5074921"/>
            <a:ext cx="10476976" cy="2240280"/>
            <a:chOff x="1798688" y="1743075"/>
            <a:chExt cx="8730820" cy="186690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963341E-DC6D-85FA-58C9-472057D97C0B}"/>
                </a:ext>
              </a:extLst>
            </p:cNvPr>
            <p:cNvSpPr/>
            <p:nvPr/>
          </p:nvSpPr>
          <p:spPr>
            <a:xfrm>
              <a:off x="5353492" y="1743075"/>
              <a:ext cx="5176016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4B5E9CCE-9006-46FC-CD02-04DCFE08156E}"/>
                </a:ext>
              </a:extLst>
            </p:cNvPr>
            <p:cNvSpPr/>
            <p:nvPr/>
          </p:nvSpPr>
          <p:spPr>
            <a:xfrm>
              <a:off x="1798688" y="1942662"/>
              <a:ext cx="3190875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1F6484A6-5CFD-44AD-0E3C-84A30637BBAF}"/>
                </a:ext>
              </a:extLst>
            </p:cNvPr>
            <p:cNvGrpSpPr/>
            <p:nvPr/>
          </p:nvGrpSpPr>
          <p:grpSpPr>
            <a:xfrm>
              <a:off x="5649415" y="1871145"/>
              <a:ext cx="2292567" cy="1408502"/>
              <a:chOff x="-304905" y="3313839"/>
              <a:chExt cx="4014150" cy="140850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864183-035D-60F6-91B0-62EB3B278B93}"/>
                  </a:ext>
                </a:extLst>
              </p:cNvPr>
              <p:cNvSpPr txBox="1"/>
              <p:nvPr/>
            </p:nvSpPr>
            <p:spPr>
              <a:xfrm>
                <a:off x="-304905" y="3568178"/>
                <a:ext cx="4014150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相較傳統預錄音頻具有即時生成優勢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高度客製化能力根據學習需求調整語音內容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實現更加個性化的學習體驗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(Chen et al., 2022)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400AD6-EF00-4D00-5B03-2B26656F34E7}"/>
                  </a:ext>
                </a:extLst>
              </p:cNvPr>
              <p:cNvSpPr txBox="1"/>
              <p:nvPr/>
            </p:nvSpPr>
            <p:spPr>
              <a:xfrm>
                <a:off x="88012" y="3313839"/>
                <a:ext cx="33597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個性化學習體驗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D7AC777F-410F-A3A7-5480-BF1B39FF2C21}"/>
                </a:ext>
              </a:extLst>
            </p:cNvPr>
            <p:cNvGrpSpPr/>
            <p:nvPr/>
          </p:nvGrpSpPr>
          <p:grpSpPr>
            <a:xfrm>
              <a:off x="8105848" y="1871145"/>
              <a:ext cx="2338218" cy="1478187"/>
              <a:chOff x="-345601" y="3313839"/>
              <a:chExt cx="4094083" cy="147818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0BD0B3A-B5A8-BBED-5DB3-1F0D8EE56E8B}"/>
                  </a:ext>
                </a:extLst>
              </p:cNvPr>
              <p:cNvSpPr txBox="1"/>
              <p:nvPr/>
            </p:nvSpPr>
            <p:spPr>
              <a:xfrm>
                <a:off x="-345601" y="3637863"/>
                <a:ext cx="4094083" cy="1154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顯著提升學習者聽力理解能力和發音模仿能力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在缺乏專業教師資源環境下提供標準化語音模型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確保學習者接觸正確發音和語調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(Liao &amp; Lee, 2020)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6BE901-FE52-15FD-A279-DF82E12C66AD}"/>
                  </a:ext>
                </a:extLst>
              </p:cNvPr>
              <p:cNvSpPr txBox="1"/>
              <p:nvPr/>
            </p:nvSpPr>
            <p:spPr>
              <a:xfrm>
                <a:off x="88019" y="3313839"/>
                <a:ext cx="33597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聽力與發音能力提升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527B24-E885-ADDC-5FBB-6F9CAE3C92E9}"/>
                </a:ext>
              </a:extLst>
            </p:cNvPr>
            <p:cNvSpPr txBox="1"/>
            <p:nvPr/>
          </p:nvSpPr>
          <p:spPr>
            <a:xfrm>
              <a:off x="1895302" y="2453387"/>
              <a:ext cx="2684372" cy="436017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教育應用獨特價值</a:t>
              </a:r>
              <a:endParaRPr lang="ko-KR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0DB8778-DBD4-14E7-E1A3-751B5AC5589B}"/>
                </a:ext>
              </a:extLst>
            </p:cNvPr>
            <p:cNvCxnSpPr>
              <a:cxnSpLocks/>
            </p:cNvCxnSpPr>
            <p:nvPr/>
          </p:nvCxnSpPr>
          <p:spPr>
            <a:xfrm>
              <a:off x="5593395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8C5A5B3-7C9B-60CA-8E90-1DE390E5038A}"/>
                </a:ext>
              </a:extLst>
            </p:cNvPr>
            <p:cNvCxnSpPr>
              <a:cxnSpLocks/>
            </p:cNvCxnSpPr>
            <p:nvPr/>
          </p:nvCxnSpPr>
          <p:spPr>
            <a:xfrm>
              <a:off x="8073083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3767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4609D-707E-4D04-008E-6EE61DAA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B3DD35-883A-081F-7823-1344E1B5F1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236" y="273588"/>
            <a:ext cx="5949502" cy="869096"/>
          </a:xfrm>
        </p:spPr>
        <p:txBody>
          <a:bodyPr/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(LLM)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A3CB77-EBC9-AC78-C3E2-3A746A22B37D}"/>
              </a:ext>
            </a:extLst>
          </p:cNvPr>
          <p:cNvGrpSpPr/>
          <p:nvPr/>
        </p:nvGrpSpPr>
        <p:grpSpPr>
          <a:xfrm>
            <a:off x="2365223" y="1234396"/>
            <a:ext cx="10116764" cy="2146314"/>
            <a:chOff x="781050" y="1743075"/>
            <a:chExt cx="8430637" cy="18669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A762775-955D-34AB-38DC-E8C75044C15D}"/>
                </a:ext>
              </a:extLst>
            </p:cNvPr>
            <p:cNvSpPr/>
            <p:nvPr/>
          </p:nvSpPr>
          <p:spPr>
            <a:xfrm>
              <a:off x="4219575" y="1743075"/>
              <a:ext cx="4992112" cy="1866900"/>
            </a:xfrm>
            <a:prstGeom prst="roundRect">
              <a:avLst>
                <a:gd name="adj" fmla="val 595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sp>
          <p:nvSpPr>
            <p:cNvPr id="5" name="화살표: 오각형 4">
              <a:extLst>
                <a:ext uri="{FF2B5EF4-FFF2-40B4-BE49-F238E27FC236}">
                  <a16:creationId xmlns:a16="http://schemas.microsoft.com/office/drawing/2014/main" id="{51B32F1C-A4DD-4BC6-B8A8-7D9A5FAE5D79}"/>
                </a:ext>
              </a:extLst>
            </p:cNvPr>
            <p:cNvSpPr/>
            <p:nvPr/>
          </p:nvSpPr>
          <p:spPr>
            <a:xfrm>
              <a:off x="781050" y="2013852"/>
              <a:ext cx="2991863" cy="1455887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05E03DD7-6FA6-86EB-3D2D-5E4A315362A0}"/>
                </a:ext>
              </a:extLst>
            </p:cNvPr>
            <p:cNvGrpSpPr/>
            <p:nvPr/>
          </p:nvGrpSpPr>
          <p:grpSpPr>
            <a:xfrm>
              <a:off x="4252337" y="1773654"/>
              <a:ext cx="2479673" cy="1715966"/>
              <a:chOff x="1590665" y="3216348"/>
              <a:chExt cx="4341762" cy="1715966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57FA95-CA1B-359E-5D94-D59516D6B5CF}"/>
                  </a:ext>
                </a:extLst>
              </p:cNvPr>
              <p:cNvSpPr txBox="1"/>
              <p:nvPr/>
            </p:nvSpPr>
            <p:spPr>
              <a:xfrm>
                <a:off x="1631351" y="3540226"/>
                <a:ext cx="4301076" cy="1392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能夠理解和生成自然語言，展現推理、解釋、創造能力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基於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Transformer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架構通過自監督學習處理大量文本數據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習得語言語法規則、語義關係及跨領域知識體系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(Brown et al., 2020)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0191A4-1092-B1FC-7322-E06CE58242DD}"/>
                  </a:ext>
                </a:extLst>
              </p:cNvPr>
              <p:cNvSpPr txBox="1"/>
              <p:nvPr/>
            </p:nvSpPr>
            <p:spPr>
              <a:xfrm>
                <a:off x="1590665" y="3216348"/>
                <a:ext cx="4285406" cy="32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自然語言處理重大突破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A68EF294-66CC-756B-9E34-19F835B34AC9}"/>
                </a:ext>
              </a:extLst>
            </p:cNvPr>
            <p:cNvGrpSpPr/>
            <p:nvPr/>
          </p:nvGrpSpPr>
          <p:grpSpPr>
            <a:xfrm>
              <a:off x="6788009" y="1887208"/>
              <a:ext cx="2391491" cy="1450653"/>
              <a:chOff x="1688712" y="3329902"/>
              <a:chExt cx="4187361" cy="145065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D46072-E433-DF1E-3172-407B181D62CD}"/>
                  </a:ext>
                </a:extLst>
              </p:cNvPr>
              <p:cNvSpPr txBox="1"/>
              <p:nvPr/>
            </p:nvSpPr>
            <p:spPr>
              <a:xfrm>
                <a:off x="1730106" y="3575863"/>
                <a:ext cx="4145967" cy="1204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數十億至數千億參數捕捉語言細微差異和複雜模式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預訓練獲得跨領域知識，減少特定任務訓練需求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自然語言互動能力使非技術用戶直接交互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(Wei et al., 2022)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0269DD-0F94-92E7-0D95-6155F5751F2D}"/>
                  </a:ext>
                </a:extLst>
              </p:cNvPr>
              <p:cNvSpPr txBox="1"/>
              <p:nvPr/>
            </p:nvSpPr>
            <p:spPr>
              <a:xfrm>
                <a:off x="1688712" y="3329902"/>
                <a:ext cx="4187361" cy="32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三大關鍵技術優勢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83758F-89F6-4903-7E41-C5DE4BB8B65F}"/>
                </a:ext>
              </a:extLst>
            </p:cNvPr>
            <p:cNvSpPr txBox="1"/>
            <p:nvPr/>
          </p:nvSpPr>
          <p:spPr>
            <a:xfrm>
              <a:off x="790577" y="2516085"/>
              <a:ext cx="2584232" cy="401564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en-US" altLang="zh-TW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LLM</a:t>
              </a:r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技術突破與特性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96DF6C9-5EEC-199C-5D46-6418C1E18384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A18E146-7887-B9B8-CC0F-2899DCE6DC12}"/>
                </a:ext>
              </a:extLst>
            </p:cNvPr>
            <p:cNvCxnSpPr>
              <a:cxnSpLocks/>
            </p:cNvCxnSpPr>
            <p:nvPr/>
          </p:nvCxnSpPr>
          <p:spPr>
            <a:xfrm>
              <a:off x="9211687" y="1932255"/>
              <a:ext cx="0" cy="1517115"/>
            </a:xfrm>
            <a:prstGeom prst="line">
              <a:avLst/>
            </a:prstGeom>
            <a:ln w="19050" cap="sq"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3DBF83E-CC53-3566-CCF2-F0D2A2BEFD8E}"/>
              </a:ext>
            </a:extLst>
          </p:cNvPr>
          <p:cNvGrpSpPr/>
          <p:nvPr/>
        </p:nvGrpSpPr>
        <p:grpSpPr>
          <a:xfrm flipH="1">
            <a:off x="2239749" y="3634980"/>
            <a:ext cx="10253671" cy="2005638"/>
            <a:chOff x="3149133" y="1706890"/>
            <a:chExt cx="8544726" cy="1903085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16807DF-59C0-3419-BC01-FEAC4B173747}"/>
                </a:ext>
              </a:extLst>
            </p:cNvPr>
            <p:cNvSpPr/>
            <p:nvPr/>
          </p:nvSpPr>
          <p:spPr>
            <a:xfrm>
              <a:off x="6638769" y="1743075"/>
              <a:ext cx="5055090" cy="1866900"/>
            </a:xfrm>
            <a:prstGeom prst="roundRect">
              <a:avLst>
                <a:gd name="adj" fmla="val 595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/>
            </a:p>
          </p:txBody>
        </p:sp>
        <p:sp>
          <p:nvSpPr>
            <p:cNvPr id="20" name="화살표: 오각형 19">
              <a:extLst>
                <a:ext uri="{FF2B5EF4-FFF2-40B4-BE49-F238E27FC236}">
                  <a16:creationId xmlns:a16="http://schemas.microsoft.com/office/drawing/2014/main" id="{DDC8B5AD-90DB-D1EC-04BB-11A6AFD87A1C}"/>
                </a:ext>
              </a:extLst>
            </p:cNvPr>
            <p:cNvSpPr/>
            <p:nvPr/>
          </p:nvSpPr>
          <p:spPr>
            <a:xfrm>
              <a:off x="3234772" y="1706890"/>
              <a:ext cx="3001389" cy="1557855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667E0DB1-1492-9655-59E8-329F15B595B5}"/>
                </a:ext>
              </a:extLst>
            </p:cNvPr>
            <p:cNvGrpSpPr/>
            <p:nvPr/>
          </p:nvGrpSpPr>
          <p:grpSpPr>
            <a:xfrm>
              <a:off x="6788016" y="1871145"/>
              <a:ext cx="2423671" cy="1588461"/>
              <a:chOff x="1688724" y="3313839"/>
              <a:chExt cx="4243707" cy="158846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101444-41D3-D00C-AC4E-81DD6C4A1323}"/>
                  </a:ext>
                </a:extLst>
              </p:cNvPr>
              <p:cNvSpPr txBox="1"/>
              <p:nvPr/>
            </p:nvSpPr>
            <p:spPr>
              <a:xfrm>
                <a:off x="1688725" y="3588123"/>
                <a:ext cx="4243706" cy="1314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創造符合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Vygotsky</a:t>
                </a: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「最近發展區」理論的學習體驗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透過提示工程技術精確引導生成符合教學目標內容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增強教師輔助工具功能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(Liu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0EA0F5-15CB-2E12-5C40-E343DE325E96}"/>
                  </a:ext>
                </a:extLst>
              </p:cNvPr>
              <p:cNvSpPr txBox="1"/>
              <p:nvPr/>
            </p:nvSpPr>
            <p:spPr>
              <a:xfrm>
                <a:off x="1688724" y="3313839"/>
                <a:ext cx="4243707" cy="350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最近發展區理論實現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8E7709FF-419C-D980-8C02-0F241746878A}"/>
                </a:ext>
              </a:extLst>
            </p:cNvPr>
            <p:cNvGrpSpPr/>
            <p:nvPr/>
          </p:nvGrpSpPr>
          <p:grpSpPr>
            <a:xfrm>
              <a:off x="9211689" y="1871145"/>
              <a:ext cx="2482169" cy="1413951"/>
              <a:chOff x="1590667" y="3313839"/>
              <a:chExt cx="4346133" cy="141395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A1DBAE-174B-2F59-23D8-55A3E873EC76}"/>
                  </a:ext>
                </a:extLst>
              </p:cNvPr>
              <p:cNvSpPr txBox="1"/>
              <p:nvPr/>
            </p:nvSpPr>
            <p:spPr>
              <a:xfrm>
                <a:off x="1648037" y="3618041"/>
                <a:ext cx="4227031" cy="1109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提供個性化學習內容、即時反饋及情境化語言練習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有效模擬真實語言交流環境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根據學習者表現動態調整內容和難度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(Zhao &amp; Zhang,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C311D2A-DD43-7973-6991-2CCB241DEFE7}"/>
                  </a:ext>
                </a:extLst>
              </p:cNvPr>
              <p:cNvSpPr txBox="1"/>
              <p:nvPr/>
            </p:nvSpPr>
            <p:spPr>
              <a:xfrm>
                <a:off x="1590667" y="3313839"/>
                <a:ext cx="4346133" cy="350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個性化學習內容與即時反饋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60411C4-7C6D-4B0C-4A3D-70EBADAC5111}"/>
                </a:ext>
              </a:extLst>
            </p:cNvPr>
            <p:cNvSpPr txBox="1"/>
            <p:nvPr/>
          </p:nvSpPr>
          <p:spPr>
            <a:xfrm>
              <a:off x="3149133" y="2283115"/>
              <a:ext cx="2928098" cy="438059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 語言教育革命性改變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64CE986-AFB2-8E09-F8DB-8630DE4F8D6B}"/>
                </a:ext>
              </a:extLst>
            </p:cNvPr>
            <p:cNvCxnSpPr>
              <a:cxnSpLocks/>
            </p:cNvCxnSpPr>
            <p:nvPr/>
          </p:nvCxnSpPr>
          <p:spPr>
            <a:xfrm>
              <a:off x="6732012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80FAA8F1-ECB9-F391-F531-05034E9AA7F5}"/>
                </a:ext>
              </a:extLst>
            </p:cNvPr>
            <p:cNvCxnSpPr>
              <a:cxnSpLocks/>
            </p:cNvCxnSpPr>
            <p:nvPr/>
          </p:nvCxnSpPr>
          <p:spPr>
            <a:xfrm>
              <a:off x="9211687" y="1932255"/>
              <a:ext cx="0" cy="1517115"/>
            </a:xfrm>
            <a:prstGeom prst="line">
              <a:avLst/>
            </a:prstGeom>
            <a:ln w="19050" cap="sq">
              <a:solidFill>
                <a:schemeClr val="accent4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2">
            <a:extLst>
              <a:ext uri="{FF2B5EF4-FFF2-40B4-BE49-F238E27FC236}">
                <a16:creationId xmlns:a16="http://schemas.microsoft.com/office/drawing/2014/main" id="{04F889B9-B9D9-0B7E-3852-09EBD440E539}"/>
              </a:ext>
            </a:extLst>
          </p:cNvPr>
          <p:cNvGrpSpPr/>
          <p:nvPr/>
        </p:nvGrpSpPr>
        <p:grpSpPr>
          <a:xfrm>
            <a:off x="2158760" y="5810095"/>
            <a:ext cx="10539089" cy="2146314"/>
            <a:chOff x="609790" y="1743075"/>
            <a:chExt cx="8315673" cy="1866900"/>
          </a:xfrm>
        </p:grpSpPr>
        <p:sp>
          <p:nvSpPr>
            <p:cNvPr id="58" name="사각형: 둥근 모서리 3">
              <a:extLst>
                <a:ext uri="{FF2B5EF4-FFF2-40B4-BE49-F238E27FC236}">
                  <a16:creationId xmlns:a16="http://schemas.microsoft.com/office/drawing/2014/main" id="{596BAE64-22CD-31D8-E952-395D181E74E2}"/>
                </a:ext>
              </a:extLst>
            </p:cNvPr>
            <p:cNvSpPr/>
            <p:nvPr/>
          </p:nvSpPr>
          <p:spPr>
            <a:xfrm>
              <a:off x="4024914" y="1743075"/>
              <a:ext cx="4900549" cy="1866900"/>
            </a:xfrm>
            <a:prstGeom prst="roundRect">
              <a:avLst>
                <a:gd name="adj" fmla="val 595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/>
            </a:p>
          </p:txBody>
        </p:sp>
        <p:sp>
          <p:nvSpPr>
            <p:cNvPr id="59" name="화살표: 오각형 4">
              <a:extLst>
                <a:ext uri="{FF2B5EF4-FFF2-40B4-BE49-F238E27FC236}">
                  <a16:creationId xmlns:a16="http://schemas.microsoft.com/office/drawing/2014/main" id="{D92884D9-53A6-0F52-2186-748FAC995E55}"/>
                </a:ext>
              </a:extLst>
            </p:cNvPr>
            <p:cNvSpPr/>
            <p:nvPr/>
          </p:nvSpPr>
          <p:spPr>
            <a:xfrm>
              <a:off x="702620" y="1911885"/>
              <a:ext cx="2854318" cy="1557855"/>
            </a:xfrm>
            <a:prstGeom prst="homePlate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grpSp>
          <p:nvGrpSpPr>
            <p:cNvPr id="60" name="Group 3">
              <a:extLst>
                <a:ext uri="{FF2B5EF4-FFF2-40B4-BE49-F238E27FC236}">
                  <a16:creationId xmlns:a16="http://schemas.microsoft.com/office/drawing/2014/main" id="{AB6EFE0F-FDF9-0971-EF22-1022A7FC4DEA}"/>
                </a:ext>
              </a:extLst>
            </p:cNvPr>
            <p:cNvGrpSpPr/>
            <p:nvPr/>
          </p:nvGrpSpPr>
          <p:grpSpPr>
            <a:xfrm>
              <a:off x="4091109" y="1871145"/>
              <a:ext cx="2687374" cy="1574908"/>
              <a:chOff x="1308366" y="3313839"/>
              <a:chExt cx="4705437" cy="1574908"/>
            </a:xfrm>
          </p:grpSpPr>
          <p:sp>
            <p:nvSpPr>
              <p:cNvPr id="67" name="TextBox 15">
                <a:extLst>
                  <a:ext uri="{FF2B5EF4-FFF2-40B4-BE49-F238E27FC236}">
                    <a16:creationId xmlns:a16="http://schemas.microsoft.com/office/drawing/2014/main" id="{18693C22-211E-6ABE-2403-7DC78923EFEA}"/>
                  </a:ext>
                </a:extLst>
              </p:cNvPr>
              <p:cNvSpPr txBox="1"/>
              <p:nvPr/>
            </p:nvSpPr>
            <p:spPr>
              <a:xfrm>
                <a:off x="1371514" y="3684055"/>
                <a:ext cx="4156013" cy="1204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大規模語言模型已應用於語言教學、翻譯、問答、寫作輔助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透過個別化對話提供針對性學習支援</a:t>
                </a:r>
                <a:endParaRPr lang="en-US" altLang="zh-TW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為智慧型語言學習環境奠定技術基礎 </a:t>
                </a:r>
                <a:r>
                  <a:rPr lang="en-US" altLang="zh-TW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(Liu et al., 2023)</a:t>
                </a:r>
                <a:endPara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68" name="TextBox 16">
                <a:extLst>
                  <a:ext uri="{FF2B5EF4-FFF2-40B4-BE49-F238E27FC236}">
                    <a16:creationId xmlns:a16="http://schemas.microsoft.com/office/drawing/2014/main" id="{7AC7F109-1614-9A6B-2CFE-40D99794B626}"/>
                  </a:ext>
                </a:extLst>
              </p:cNvPr>
              <p:cNvSpPr txBox="1"/>
              <p:nvPr/>
            </p:nvSpPr>
            <p:spPr>
              <a:xfrm>
                <a:off x="1308366" y="3313839"/>
                <a:ext cx="4705437" cy="32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自然互動與高參與度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62" name="TextBox 8">
              <a:extLst>
                <a:ext uri="{FF2B5EF4-FFF2-40B4-BE49-F238E27FC236}">
                  <a16:creationId xmlns:a16="http://schemas.microsoft.com/office/drawing/2014/main" id="{F933690A-CB83-D5BE-A461-9F5239158C0E}"/>
                </a:ext>
              </a:extLst>
            </p:cNvPr>
            <p:cNvSpPr txBox="1"/>
            <p:nvPr/>
          </p:nvSpPr>
          <p:spPr>
            <a:xfrm>
              <a:off x="609790" y="2442142"/>
              <a:ext cx="2947149" cy="401564"/>
            </a:xfrm>
            <a:prstGeom prst="rect">
              <a:avLst/>
            </a:prstGeom>
            <a:noFill/>
          </p:spPr>
          <p:txBody>
            <a:bodyPr wrap="square" lIns="129600" rIns="129600" rtlCol="0">
              <a:spAutoFit/>
            </a:bodyPr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相較傳統方法顯著優勢</a:t>
              </a:r>
              <a:endParaRPr lang="ko-KR" altLang="en-US" sz="2400" b="1" dirty="0">
                <a:solidFill>
                  <a:schemeClr val="bg1"/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cxnSp>
          <p:nvCxnSpPr>
            <p:cNvPr id="64" name="직선 연결선 10">
              <a:extLst>
                <a:ext uri="{FF2B5EF4-FFF2-40B4-BE49-F238E27FC236}">
                  <a16:creationId xmlns:a16="http://schemas.microsoft.com/office/drawing/2014/main" id="{B6F6FAC7-E5C6-634C-8393-25F5AA89F828}"/>
                </a:ext>
              </a:extLst>
            </p:cNvPr>
            <p:cNvCxnSpPr>
              <a:cxnSpLocks/>
            </p:cNvCxnSpPr>
            <p:nvPr/>
          </p:nvCxnSpPr>
          <p:spPr>
            <a:xfrm>
              <a:off x="6778483" y="1962537"/>
              <a:ext cx="0" cy="1517115"/>
            </a:xfrm>
            <a:prstGeom prst="line">
              <a:avLst/>
            </a:prstGeom>
            <a:ln w="19050" cap="sq">
              <a:solidFill>
                <a:schemeClr val="accent3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85024831-390B-DD84-7F06-D598ED0DAF38}"/>
              </a:ext>
            </a:extLst>
          </p:cNvPr>
          <p:cNvSpPr txBox="1"/>
          <p:nvPr/>
        </p:nvSpPr>
        <p:spPr>
          <a:xfrm>
            <a:off x="10024417" y="6382958"/>
            <a:ext cx="26892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生成豐富多樣語言示例，展示不同情境中的應用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超越傳統教材有限例句和練習的束縛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為語言教育開創自然、有效且個性化的新範式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B8B4BF4B-5E1B-AC41-3BB2-01013DFE9D15}"/>
              </a:ext>
            </a:extLst>
          </p:cNvPr>
          <p:cNvSpPr txBox="1"/>
          <p:nvPr/>
        </p:nvSpPr>
        <p:spPr>
          <a:xfrm>
            <a:off x="10060711" y="5944055"/>
            <a:ext cx="2546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豐富多樣的語言示例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9424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FBFCCFBD-7954-E072-428D-4DB2A4FE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>
            <a:extLst>
              <a:ext uri="{FF2B5EF4-FFF2-40B4-BE49-F238E27FC236}">
                <a16:creationId xmlns:a16="http://schemas.microsoft.com/office/drawing/2014/main" id="{9A0B7400-BA1E-E5CB-24EA-D04DB88CB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159" y="2097760"/>
            <a:ext cx="8108703" cy="1885920"/>
          </a:xfrm>
          <a:prstGeom prst="rect">
            <a:avLst/>
          </a:prstGeom>
        </p:spPr>
        <p:txBody>
          <a:bodyPr spcFirstLastPara="1" wrap="square" lIns="146280" tIns="146280" rIns="146280" bIns="146280" anchor="b" anchorCtr="0">
            <a:noAutofit/>
          </a:bodyPr>
          <a:lstStyle/>
          <a:p>
            <a:pPr algn="l"/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</a:p>
        </p:txBody>
      </p:sp>
      <p:cxnSp>
        <p:nvCxnSpPr>
          <p:cNvPr id="661" name="Google Shape;661;p46">
            <a:extLst>
              <a:ext uri="{FF2B5EF4-FFF2-40B4-BE49-F238E27FC236}">
                <a16:creationId xmlns:a16="http://schemas.microsoft.com/office/drawing/2014/main" id="{ACAF6C6C-2D95-F910-7882-53797249E001}"/>
              </a:ext>
            </a:extLst>
          </p:cNvPr>
          <p:cNvCxnSpPr/>
          <p:nvPr/>
        </p:nvCxnSpPr>
        <p:spPr>
          <a:xfrm>
            <a:off x="4182677" y="4267262"/>
            <a:ext cx="546288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4984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FD31AFE-7880-4095-AA76-2BED6B69FAA8}"/>
              </a:ext>
            </a:extLst>
          </p:cNvPr>
          <p:cNvGrpSpPr/>
          <p:nvPr/>
        </p:nvGrpSpPr>
        <p:grpSpPr>
          <a:xfrm flipH="1">
            <a:off x="11285621" y="2907573"/>
            <a:ext cx="1967054" cy="1928970"/>
            <a:chOff x="837241" y="2338238"/>
            <a:chExt cx="4340280" cy="398247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991483-56A2-44DA-B419-8815AA6055BD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6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4A83A3-590E-4507-87C4-1C9DCFFBED6D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B4A1985-8821-45E2-AA41-E44DF08E797B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59DD21-5F09-4F49-8480-B1EF47A739AF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ADCBB2C-20E2-42BC-AF38-FAB607ED5C4D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09B874C-F7C9-4225-995C-624812CF026D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</p:grpSp>
      <p:sp>
        <p:nvSpPr>
          <p:cNvPr id="3" name="Freeform 10">
            <a:extLst>
              <a:ext uri="{FF2B5EF4-FFF2-40B4-BE49-F238E27FC236}">
                <a16:creationId xmlns:a16="http://schemas.microsoft.com/office/drawing/2014/main" id="{FF1EE9CA-FAF3-4082-9A3B-C14C34E5E508}"/>
              </a:ext>
            </a:extLst>
          </p:cNvPr>
          <p:cNvSpPr/>
          <p:nvPr/>
        </p:nvSpPr>
        <p:spPr>
          <a:xfrm>
            <a:off x="1" y="3697140"/>
            <a:ext cx="15207914" cy="2175635"/>
          </a:xfrm>
          <a:custGeom>
            <a:avLst/>
            <a:gdLst>
              <a:gd name="connsiteX0" fmla="*/ 0 w 7344461"/>
              <a:gd name="connsiteY0" fmla="*/ 1843430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2472538 w 7344461"/>
              <a:gd name="connsiteY9" fmla="*/ 409651 h 3489350"/>
              <a:gd name="connsiteX10" fmla="*/ 3160166 w 7344461"/>
              <a:gd name="connsiteY10" fmla="*/ 14630 h 3489350"/>
              <a:gd name="connsiteX11" fmla="*/ 3803904 w 7344461"/>
              <a:gd name="connsiteY11" fmla="*/ 387705 h 3489350"/>
              <a:gd name="connsiteX12" fmla="*/ 4462272 w 7344461"/>
              <a:gd name="connsiteY12" fmla="*/ 0 h 3489350"/>
              <a:gd name="connsiteX13" fmla="*/ 5113325 w 7344461"/>
              <a:gd name="connsiteY13" fmla="*/ 475488 h 3489350"/>
              <a:gd name="connsiteX14" fmla="*/ 4096512 w 7344461"/>
              <a:gd name="connsiteY14" fmla="*/ 1821485 h 3489350"/>
              <a:gd name="connsiteX15" fmla="*/ 5479085 w 7344461"/>
              <a:gd name="connsiteY15" fmla="*/ 1836115 h 3489350"/>
              <a:gd name="connsiteX16" fmla="*/ 5698541 w 7344461"/>
              <a:gd name="connsiteY16" fmla="*/ 2179929 h 3489350"/>
              <a:gd name="connsiteX17" fmla="*/ 5888736 w 7344461"/>
              <a:gd name="connsiteY17" fmla="*/ 29261 h 3489350"/>
              <a:gd name="connsiteX18" fmla="*/ 6166714 w 7344461"/>
              <a:gd name="connsiteY18" fmla="*/ 3489350 h 3489350"/>
              <a:gd name="connsiteX19" fmla="*/ 6510528 w 7344461"/>
              <a:gd name="connsiteY19" fmla="*/ 1331366 h 3489350"/>
              <a:gd name="connsiteX20" fmla="*/ 6620256 w 7344461"/>
              <a:gd name="connsiteY20" fmla="*/ 1916582 h 3489350"/>
              <a:gd name="connsiteX21" fmla="*/ 7344461 w 7344461"/>
              <a:gd name="connsiteY21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96512 w 7344461"/>
              <a:gd name="connsiteY15" fmla="*/ 1821485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916582 h 3489350"/>
              <a:gd name="connsiteX23" fmla="*/ 7344461 w 7344461"/>
              <a:gd name="connsiteY23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880006 h 3489350"/>
              <a:gd name="connsiteX23" fmla="*/ 7344461 w 7344461"/>
              <a:gd name="connsiteY23" fmla="*/ 1865376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994867 w 7366407"/>
              <a:gd name="connsiteY2" fmla="*/ 1316736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1009498 w 7366407"/>
              <a:gd name="connsiteY2" fmla="*/ 1228954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609344 w 7366407"/>
              <a:gd name="connsiteY4" fmla="*/ 43891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698541 w 7366407"/>
              <a:gd name="connsiteY17" fmla="*/ 2179929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793639 w 7366407"/>
              <a:gd name="connsiteY17" fmla="*/ 2238451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5976519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61734 w 7366407"/>
              <a:gd name="connsiteY20" fmla="*/ 126552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50745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1770 w 7366407"/>
              <a:gd name="connsiteY15" fmla="*/ 1880006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140402 w 7366407"/>
              <a:gd name="connsiteY14" fmla="*/ 1880007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01871 w 7366407"/>
              <a:gd name="connsiteY7" fmla="*/ 1853012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9690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60857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462272 w 7454190"/>
              <a:gd name="connsiteY11" fmla="*/ 872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9049317"/>
              <a:gd name="connsiteY0" fmla="*/ 1873451 h 3563263"/>
              <a:gd name="connsiteX1" fmla="*/ 907085 w 9049317"/>
              <a:gd name="connsiteY1" fmla="*/ 1866137 h 3563263"/>
              <a:gd name="connsiteX2" fmla="*/ 1009498 w 9049317"/>
              <a:gd name="connsiteY2" fmla="*/ 1237030 h 3563263"/>
              <a:gd name="connsiteX3" fmla="*/ 1294790 w 9049317"/>
              <a:gd name="connsiteY3" fmla="*/ 3563263 h 3563263"/>
              <a:gd name="connsiteX4" fmla="*/ 1587398 w 9049317"/>
              <a:gd name="connsiteY4" fmla="*/ 15391 h 3563263"/>
              <a:gd name="connsiteX5" fmla="*/ 1865376 w 9049317"/>
              <a:gd name="connsiteY5" fmla="*/ 2239211 h 3563263"/>
              <a:gd name="connsiteX6" fmla="*/ 2038831 w 9049317"/>
              <a:gd name="connsiteY6" fmla="*/ 1875718 h 3563263"/>
              <a:gd name="connsiteX7" fmla="*/ 3457980 w 9049317"/>
              <a:gd name="connsiteY7" fmla="*/ 1890349 h 3563263"/>
              <a:gd name="connsiteX8" fmla="*/ 2443277 w 9049317"/>
              <a:gd name="connsiteY8" fmla="*/ 490879 h 3563263"/>
              <a:gd name="connsiteX9" fmla="*/ 3043123 w 9049317"/>
              <a:gd name="connsiteY9" fmla="*/ 761 h 3563263"/>
              <a:gd name="connsiteX10" fmla="*/ 3803904 w 9049317"/>
              <a:gd name="connsiteY10" fmla="*/ 395781 h 3563263"/>
              <a:gd name="connsiteX11" fmla="*/ 4586631 w 9049317"/>
              <a:gd name="connsiteY11" fmla="*/ 22706 h 3563263"/>
              <a:gd name="connsiteX12" fmla="*/ 5171847 w 9049317"/>
              <a:gd name="connsiteY12" fmla="*/ 483564 h 3563263"/>
              <a:gd name="connsiteX13" fmla="*/ 4140402 w 9049317"/>
              <a:gd name="connsiteY13" fmla="*/ 1880768 h 3563263"/>
              <a:gd name="connsiteX14" fmla="*/ 5498920 w 9049317"/>
              <a:gd name="connsiteY14" fmla="*/ 1897663 h 3563263"/>
              <a:gd name="connsiteX15" fmla="*/ 5720487 w 9049317"/>
              <a:gd name="connsiteY15" fmla="*/ 2239211 h 3563263"/>
              <a:gd name="connsiteX16" fmla="*/ 6005780 w 9049317"/>
              <a:gd name="connsiteY16" fmla="*/ 761 h 3563263"/>
              <a:gd name="connsiteX17" fmla="*/ 6269127 w 9049317"/>
              <a:gd name="connsiteY17" fmla="*/ 3534002 h 3563263"/>
              <a:gd name="connsiteX18" fmla="*/ 6590995 w 9049317"/>
              <a:gd name="connsiteY18" fmla="*/ 1251660 h 3563263"/>
              <a:gd name="connsiteX19" fmla="*/ 6686093 w 9049317"/>
              <a:gd name="connsiteY19" fmla="*/ 1895397 h 3563263"/>
              <a:gd name="connsiteX20" fmla="*/ 9049317 w 9049317"/>
              <a:gd name="connsiteY20" fmla="*/ 1903256 h 3563263"/>
              <a:gd name="connsiteX0" fmla="*/ 0 w 9151469"/>
              <a:gd name="connsiteY0" fmla="*/ 1873451 h 3563263"/>
              <a:gd name="connsiteX1" fmla="*/ 907085 w 9151469"/>
              <a:gd name="connsiteY1" fmla="*/ 1866137 h 3563263"/>
              <a:gd name="connsiteX2" fmla="*/ 1009498 w 9151469"/>
              <a:gd name="connsiteY2" fmla="*/ 1237030 h 3563263"/>
              <a:gd name="connsiteX3" fmla="*/ 1294790 w 9151469"/>
              <a:gd name="connsiteY3" fmla="*/ 3563263 h 3563263"/>
              <a:gd name="connsiteX4" fmla="*/ 1587398 w 9151469"/>
              <a:gd name="connsiteY4" fmla="*/ 15391 h 3563263"/>
              <a:gd name="connsiteX5" fmla="*/ 1865376 w 9151469"/>
              <a:gd name="connsiteY5" fmla="*/ 2239211 h 3563263"/>
              <a:gd name="connsiteX6" fmla="*/ 2038831 w 9151469"/>
              <a:gd name="connsiteY6" fmla="*/ 1875718 h 3563263"/>
              <a:gd name="connsiteX7" fmla="*/ 3457980 w 9151469"/>
              <a:gd name="connsiteY7" fmla="*/ 1890349 h 3563263"/>
              <a:gd name="connsiteX8" fmla="*/ 2443277 w 9151469"/>
              <a:gd name="connsiteY8" fmla="*/ 490879 h 3563263"/>
              <a:gd name="connsiteX9" fmla="*/ 3043123 w 9151469"/>
              <a:gd name="connsiteY9" fmla="*/ 761 h 3563263"/>
              <a:gd name="connsiteX10" fmla="*/ 3803904 w 9151469"/>
              <a:gd name="connsiteY10" fmla="*/ 395781 h 3563263"/>
              <a:gd name="connsiteX11" fmla="*/ 4586631 w 9151469"/>
              <a:gd name="connsiteY11" fmla="*/ 22706 h 3563263"/>
              <a:gd name="connsiteX12" fmla="*/ 5171847 w 9151469"/>
              <a:gd name="connsiteY12" fmla="*/ 483564 h 3563263"/>
              <a:gd name="connsiteX13" fmla="*/ 4140402 w 9151469"/>
              <a:gd name="connsiteY13" fmla="*/ 1880768 h 3563263"/>
              <a:gd name="connsiteX14" fmla="*/ 5498920 w 9151469"/>
              <a:gd name="connsiteY14" fmla="*/ 1897663 h 3563263"/>
              <a:gd name="connsiteX15" fmla="*/ 5720487 w 9151469"/>
              <a:gd name="connsiteY15" fmla="*/ 2239211 h 3563263"/>
              <a:gd name="connsiteX16" fmla="*/ 6005780 w 9151469"/>
              <a:gd name="connsiteY16" fmla="*/ 761 h 3563263"/>
              <a:gd name="connsiteX17" fmla="*/ 6269127 w 9151469"/>
              <a:gd name="connsiteY17" fmla="*/ 3534002 h 3563263"/>
              <a:gd name="connsiteX18" fmla="*/ 6590995 w 9151469"/>
              <a:gd name="connsiteY18" fmla="*/ 1251660 h 3563263"/>
              <a:gd name="connsiteX19" fmla="*/ 6686093 w 9151469"/>
              <a:gd name="connsiteY19" fmla="*/ 1895397 h 3563263"/>
              <a:gd name="connsiteX20" fmla="*/ 9151469 w 9151469"/>
              <a:gd name="connsiteY20" fmla="*/ 1903256 h 3563263"/>
              <a:gd name="connsiteX0" fmla="*/ 0 w 9088607"/>
              <a:gd name="connsiteY0" fmla="*/ 1873451 h 3563263"/>
              <a:gd name="connsiteX1" fmla="*/ 907085 w 9088607"/>
              <a:gd name="connsiteY1" fmla="*/ 1866137 h 3563263"/>
              <a:gd name="connsiteX2" fmla="*/ 1009498 w 9088607"/>
              <a:gd name="connsiteY2" fmla="*/ 1237030 h 3563263"/>
              <a:gd name="connsiteX3" fmla="*/ 1294790 w 9088607"/>
              <a:gd name="connsiteY3" fmla="*/ 3563263 h 3563263"/>
              <a:gd name="connsiteX4" fmla="*/ 1587398 w 9088607"/>
              <a:gd name="connsiteY4" fmla="*/ 15391 h 3563263"/>
              <a:gd name="connsiteX5" fmla="*/ 1865376 w 9088607"/>
              <a:gd name="connsiteY5" fmla="*/ 2239211 h 3563263"/>
              <a:gd name="connsiteX6" fmla="*/ 2038831 w 9088607"/>
              <a:gd name="connsiteY6" fmla="*/ 1875718 h 3563263"/>
              <a:gd name="connsiteX7" fmla="*/ 3457980 w 9088607"/>
              <a:gd name="connsiteY7" fmla="*/ 1890349 h 3563263"/>
              <a:gd name="connsiteX8" fmla="*/ 2443277 w 9088607"/>
              <a:gd name="connsiteY8" fmla="*/ 490879 h 3563263"/>
              <a:gd name="connsiteX9" fmla="*/ 3043123 w 9088607"/>
              <a:gd name="connsiteY9" fmla="*/ 761 h 3563263"/>
              <a:gd name="connsiteX10" fmla="*/ 3803904 w 9088607"/>
              <a:gd name="connsiteY10" fmla="*/ 395781 h 3563263"/>
              <a:gd name="connsiteX11" fmla="*/ 4586631 w 9088607"/>
              <a:gd name="connsiteY11" fmla="*/ 22706 h 3563263"/>
              <a:gd name="connsiteX12" fmla="*/ 5171847 w 9088607"/>
              <a:gd name="connsiteY12" fmla="*/ 483564 h 3563263"/>
              <a:gd name="connsiteX13" fmla="*/ 4140402 w 9088607"/>
              <a:gd name="connsiteY13" fmla="*/ 1880768 h 3563263"/>
              <a:gd name="connsiteX14" fmla="*/ 5498920 w 9088607"/>
              <a:gd name="connsiteY14" fmla="*/ 1897663 h 3563263"/>
              <a:gd name="connsiteX15" fmla="*/ 5720487 w 9088607"/>
              <a:gd name="connsiteY15" fmla="*/ 2239211 h 3563263"/>
              <a:gd name="connsiteX16" fmla="*/ 6005780 w 9088607"/>
              <a:gd name="connsiteY16" fmla="*/ 761 h 3563263"/>
              <a:gd name="connsiteX17" fmla="*/ 6269127 w 9088607"/>
              <a:gd name="connsiteY17" fmla="*/ 3534002 h 3563263"/>
              <a:gd name="connsiteX18" fmla="*/ 6590995 w 9088607"/>
              <a:gd name="connsiteY18" fmla="*/ 1251660 h 3563263"/>
              <a:gd name="connsiteX19" fmla="*/ 6686093 w 9088607"/>
              <a:gd name="connsiteY19" fmla="*/ 1895397 h 3563263"/>
              <a:gd name="connsiteX20" fmla="*/ 9088607 w 9088607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1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930018 h 3611972"/>
              <a:gd name="connsiteX1" fmla="*/ 2345056 w 10526578"/>
              <a:gd name="connsiteY1" fmla="*/ 1914846 h 3611972"/>
              <a:gd name="connsiteX2" fmla="*/ 2447469 w 10526578"/>
              <a:gd name="connsiteY2" fmla="*/ 1285739 h 3611972"/>
              <a:gd name="connsiteX3" fmla="*/ 2732761 w 10526578"/>
              <a:gd name="connsiteY3" fmla="*/ 3611972 h 3611972"/>
              <a:gd name="connsiteX4" fmla="*/ 3025369 w 10526578"/>
              <a:gd name="connsiteY4" fmla="*/ 64100 h 3611972"/>
              <a:gd name="connsiteX5" fmla="*/ 3303347 w 10526578"/>
              <a:gd name="connsiteY5" fmla="*/ 2287920 h 3611972"/>
              <a:gd name="connsiteX6" fmla="*/ 3476802 w 10526578"/>
              <a:gd name="connsiteY6" fmla="*/ 1924427 h 3611972"/>
              <a:gd name="connsiteX7" fmla="*/ 4895951 w 10526578"/>
              <a:gd name="connsiteY7" fmla="*/ 1939058 h 3611972"/>
              <a:gd name="connsiteX8" fmla="*/ 3881248 w 10526578"/>
              <a:gd name="connsiteY8" fmla="*/ 539588 h 3611972"/>
              <a:gd name="connsiteX9" fmla="*/ 4481094 w 10526578"/>
              <a:gd name="connsiteY9" fmla="*/ 49470 h 3611972"/>
              <a:gd name="connsiteX10" fmla="*/ 6024602 w 10526578"/>
              <a:gd name="connsiteY10" fmla="*/ 71415 h 3611972"/>
              <a:gd name="connsiteX11" fmla="*/ 6609818 w 10526578"/>
              <a:gd name="connsiteY11" fmla="*/ 532273 h 3611972"/>
              <a:gd name="connsiteX12" fmla="*/ 5578373 w 10526578"/>
              <a:gd name="connsiteY12" fmla="*/ 1929477 h 3611972"/>
              <a:gd name="connsiteX13" fmla="*/ 6936891 w 10526578"/>
              <a:gd name="connsiteY13" fmla="*/ 1946372 h 3611972"/>
              <a:gd name="connsiteX14" fmla="*/ 7158458 w 10526578"/>
              <a:gd name="connsiteY14" fmla="*/ 2287920 h 3611972"/>
              <a:gd name="connsiteX15" fmla="*/ 7443751 w 10526578"/>
              <a:gd name="connsiteY15" fmla="*/ 49470 h 3611972"/>
              <a:gd name="connsiteX16" fmla="*/ 7707098 w 10526578"/>
              <a:gd name="connsiteY16" fmla="*/ 3582711 h 3611972"/>
              <a:gd name="connsiteX17" fmla="*/ 8028966 w 10526578"/>
              <a:gd name="connsiteY17" fmla="*/ 1300369 h 3611972"/>
              <a:gd name="connsiteX18" fmla="*/ 8124064 w 10526578"/>
              <a:gd name="connsiteY18" fmla="*/ 1944106 h 3611972"/>
              <a:gd name="connsiteX19" fmla="*/ 10526578 w 10526578"/>
              <a:gd name="connsiteY19" fmla="*/ 1951965 h 3611972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3881248 w 10526578"/>
              <a:gd name="connsiteY8" fmla="*/ 490119 h 3562503"/>
              <a:gd name="connsiteX9" fmla="*/ 6024602 w 10526578"/>
              <a:gd name="connsiteY9" fmla="*/ 21946 h 3562503"/>
              <a:gd name="connsiteX10" fmla="*/ 6609818 w 10526578"/>
              <a:gd name="connsiteY10" fmla="*/ 482804 h 3562503"/>
              <a:gd name="connsiteX11" fmla="*/ 5578373 w 10526578"/>
              <a:gd name="connsiteY11" fmla="*/ 1880008 h 3562503"/>
              <a:gd name="connsiteX12" fmla="*/ 6936891 w 10526578"/>
              <a:gd name="connsiteY12" fmla="*/ 1896903 h 3562503"/>
              <a:gd name="connsiteX13" fmla="*/ 7158458 w 10526578"/>
              <a:gd name="connsiteY13" fmla="*/ 2238451 h 3562503"/>
              <a:gd name="connsiteX14" fmla="*/ 7443751 w 10526578"/>
              <a:gd name="connsiteY14" fmla="*/ 1 h 3562503"/>
              <a:gd name="connsiteX15" fmla="*/ 7707098 w 10526578"/>
              <a:gd name="connsiteY15" fmla="*/ 3533242 h 3562503"/>
              <a:gd name="connsiteX16" fmla="*/ 8028966 w 10526578"/>
              <a:gd name="connsiteY16" fmla="*/ 1250900 h 3562503"/>
              <a:gd name="connsiteX17" fmla="*/ 8124064 w 10526578"/>
              <a:gd name="connsiteY17" fmla="*/ 1894637 h 3562503"/>
              <a:gd name="connsiteX18" fmla="*/ 10526578 w 10526578"/>
              <a:gd name="connsiteY18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024602 w 10526578"/>
              <a:gd name="connsiteY8" fmla="*/ 21946 h 3562503"/>
              <a:gd name="connsiteX9" fmla="*/ 6609818 w 10526578"/>
              <a:gd name="connsiteY9" fmla="*/ 482804 h 3562503"/>
              <a:gd name="connsiteX10" fmla="*/ 5578373 w 10526578"/>
              <a:gd name="connsiteY10" fmla="*/ 1880008 h 3562503"/>
              <a:gd name="connsiteX11" fmla="*/ 6936891 w 10526578"/>
              <a:gd name="connsiteY11" fmla="*/ 1896903 h 3562503"/>
              <a:gd name="connsiteX12" fmla="*/ 7158458 w 10526578"/>
              <a:gd name="connsiteY12" fmla="*/ 2238451 h 3562503"/>
              <a:gd name="connsiteX13" fmla="*/ 7443751 w 10526578"/>
              <a:gd name="connsiteY13" fmla="*/ 1 h 3562503"/>
              <a:gd name="connsiteX14" fmla="*/ 7707098 w 10526578"/>
              <a:gd name="connsiteY14" fmla="*/ 3533242 h 3562503"/>
              <a:gd name="connsiteX15" fmla="*/ 8028966 w 10526578"/>
              <a:gd name="connsiteY15" fmla="*/ 1250900 h 3562503"/>
              <a:gd name="connsiteX16" fmla="*/ 8124064 w 10526578"/>
              <a:gd name="connsiteY16" fmla="*/ 1894637 h 3562503"/>
              <a:gd name="connsiteX17" fmla="*/ 10526578 w 10526578"/>
              <a:gd name="connsiteY17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609818 w 10526578"/>
              <a:gd name="connsiteY8" fmla="*/ 482804 h 3562503"/>
              <a:gd name="connsiteX9" fmla="*/ 5578373 w 10526578"/>
              <a:gd name="connsiteY9" fmla="*/ 1880008 h 3562503"/>
              <a:gd name="connsiteX10" fmla="*/ 6936891 w 10526578"/>
              <a:gd name="connsiteY10" fmla="*/ 1896903 h 3562503"/>
              <a:gd name="connsiteX11" fmla="*/ 7158458 w 10526578"/>
              <a:gd name="connsiteY11" fmla="*/ 2238451 h 3562503"/>
              <a:gd name="connsiteX12" fmla="*/ 7443751 w 10526578"/>
              <a:gd name="connsiteY12" fmla="*/ 1 h 3562503"/>
              <a:gd name="connsiteX13" fmla="*/ 7707098 w 10526578"/>
              <a:gd name="connsiteY13" fmla="*/ 3533242 h 3562503"/>
              <a:gd name="connsiteX14" fmla="*/ 8028966 w 10526578"/>
              <a:gd name="connsiteY14" fmla="*/ 1250900 h 3562503"/>
              <a:gd name="connsiteX15" fmla="*/ 8124064 w 10526578"/>
              <a:gd name="connsiteY15" fmla="*/ 1894637 h 3562503"/>
              <a:gd name="connsiteX16" fmla="*/ 10526578 w 10526578"/>
              <a:gd name="connsiteY16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224844 w 10526578"/>
              <a:gd name="connsiteY10" fmla="*/ 3305198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91650 w 10526578"/>
              <a:gd name="connsiteY10" fmla="*/ 2848025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2662007"/>
              <a:gd name="connsiteY0" fmla="*/ 1880551 h 3562503"/>
              <a:gd name="connsiteX1" fmla="*/ 4480485 w 12662007"/>
              <a:gd name="connsiteY1" fmla="*/ 1865377 h 3562503"/>
              <a:gd name="connsiteX2" fmla="*/ 4582898 w 12662007"/>
              <a:gd name="connsiteY2" fmla="*/ 1236270 h 3562503"/>
              <a:gd name="connsiteX3" fmla="*/ 4868190 w 12662007"/>
              <a:gd name="connsiteY3" fmla="*/ 3562503 h 3562503"/>
              <a:gd name="connsiteX4" fmla="*/ 5160798 w 12662007"/>
              <a:gd name="connsiteY4" fmla="*/ 14631 h 3562503"/>
              <a:gd name="connsiteX5" fmla="*/ 5471971 w 12662007"/>
              <a:gd name="connsiteY5" fmla="*/ 3076606 h 3562503"/>
              <a:gd name="connsiteX6" fmla="*/ 5612231 w 12662007"/>
              <a:gd name="connsiteY6" fmla="*/ 1874958 h 3562503"/>
              <a:gd name="connsiteX7" fmla="*/ 7031380 w 12662007"/>
              <a:gd name="connsiteY7" fmla="*/ 1889589 h 3562503"/>
              <a:gd name="connsiteX8" fmla="*/ 7713802 w 12662007"/>
              <a:gd name="connsiteY8" fmla="*/ 1880008 h 3562503"/>
              <a:gd name="connsiteX9" fmla="*/ 9072320 w 12662007"/>
              <a:gd name="connsiteY9" fmla="*/ 1896903 h 3562503"/>
              <a:gd name="connsiteX10" fmla="*/ 9327079 w 12662007"/>
              <a:gd name="connsiteY10" fmla="*/ 2848025 h 3562503"/>
              <a:gd name="connsiteX11" fmla="*/ 9579180 w 12662007"/>
              <a:gd name="connsiteY11" fmla="*/ 1 h 3562503"/>
              <a:gd name="connsiteX12" fmla="*/ 9842527 w 12662007"/>
              <a:gd name="connsiteY12" fmla="*/ 3533242 h 3562503"/>
              <a:gd name="connsiteX13" fmla="*/ 10164395 w 12662007"/>
              <a:gd name="connsiteY13" fmla="*/ 1250900 h 3562503"/>
              <a:gd name="connsiteX14" fmla="*/ 10259493 w 12662007"/>
              <a:gd name="connsiteY14" fmla="*/ 1894637 h 3562503"/>
              <a:gd name="connsiteX15" fmla="*/ 12662007 w 12662007"/>
              <a:gd name="connsiteY15" fmla="*/ 1902496 h 3562503"/>
              <a:gd name="connsiteX0" fmla="*/ 0 w 14808500"/>
              <a:gd name="connsiteY0" fmla="*/ 1880551 h 3562503"/>
              <a:gd name="connsiteX1" fmla="*/ 4480485 w 14808500"/>
              <a:gd name="connsiteY1" fmla="*/ 1865377 h 3562503"/>
              <a:gd name="connsiteX2" fmla="*/ 4582898 w 14808500"/>
              <a:gd name="connsiteY2" fmla="*/ 1236270 h 3562503"/>
              <a:gd name="connsiteX3" fmla="*/ 4868190 w 14808500"/>
              <a:gd name="connsiteY3" fmla="*/ 3562503 h 3562503"/>
              <a:gd name="connsiteX4" fmla="*/ 5160798 w 14808500"/>
              <a:gd name="connsiteY4" fmla="*/ 14631 h 3562503"/>
              <a:gd name="connsiteX5" fmla="*/ 5471971 w 14808500"/>
              <a:gd name="connsiteY5" fmla="*/ 3076606 h 3562503"/>
              <a:gd name="connsiteX6" fmla="*/ 5612231 w 14808500"/>
              <a:gd name="connsiteY6" fmla="*/ 1874958 h 3562503"/>
              <a:gd name="connsiteX7" fmla="*/ 7031380 w 14808500"/>
              <a:gd name="connsiteY7" fmla="*/ 1889589 h 3562503"/>
              <a:gd name="connsiteX8" fmla="*/ 7713802 w 14808500"/>
              <a:gd name="connsiteY8" fmla="*/ 1880008 h 3562503"/>
              <a:gd name="connsiteX9" fmla="*/ 9072320 w 14808500"/>
              <a:gd name="connsiteY9" fmla="*/ 1896903 h 3562503"/>
              <a:gd name="connsiteX10" fmla="*/ 9327079 w 14808500"/>
              <a:gd name="connsiteY10" fmla="*/ 2848025 h 3562503"/>
              <a:gd name="connsiteX11" fmla="*/ 9579180 w 14808500"/>
              <a:gd name="connsiteY11" fmla="*/ 1 h 3562503"/>
              <a:gd name="connsiteX12" fmla="*/ 9842527 w 14808500"/>
              <a:gd name="connsiteY12" fmla="*/ 3533242 h 3562503"/>
              <a:gd name="connsiteX13" fmla="*/ 10164395 w 14808500"/>
              <a:gd name="connsiteY13" fmla="*/ 1250900 h 3562503"/>
              <a:gd name="connsiteX14" fmla="*/ 10259493 w 14808500"/>
              <a:gd name="connsiteY14" fmla="*/ 1894637 h 3562503"/>
              <a:gd name="connsiteX15" fmla="*/ 14808500 w 14808500"/>
              <a:gd name="connsiteY15" fmla="*/ 1940591 h 3562503"/>
              <a:gd name="connsiteX0" fmla="*/ 0 w 18482842"/>
              <a:gd name="connsiteY0" fmla="*/ 1904392 h 3562502"/>
              <a:gd name="connsiteX1" fmla="*/ 8154827 w 18482842"/>
              <a:gd name="connsiteY1" fmla="*/ 1865376 h 3562502"/>
              <a:gd name="connsiteX2" fmla="*/ 8257240 w 18482842"/>
              <a:gd name="connsiteY2" fmla="*/ 1236269 h 3562502"/>
              <a:gd name="connsiteX3" fmla="*/ 8542532 w 18482842"/>
              <a:gd name="connsiteY3" fmla="*/ 3562502 h 3562502"/>
              <a:gd name="connsiteX4" fmla="*/ 8835140 w 18482842"/>
              <a:gd name="connsiteY4" fmla="*/ 14630 h 3562502"/>
              <a:gd name="connsiteX5" fmla="*/ 9146313 w 18482842"/>
              <a:gd name="connsiteY5" fmla="*/ 3076605 h 3562502"/>
              <a:gd name="connsiteX6" fmla="*/ 9286573 w 18482842"/>
              <a:gd name="connsiteY6" fmla="*/ 1874957 h 3562502"/>
              <a:gd name="connsiteX7" fmla="*/ 10705722 w 18482842"/>
              <a:gd name="connsiteY7" fmla="*/ 1889588 h 3562502"/>
              <a:gd name="connsiteX8" fmla="*/ 11388144 w 18482842"/>
              <a:gd name="connsiteY8" fmla="*/ 1880007 h 3562502"/>
              <a:gd name="connsiteX9" fmla="*/ 12746662 w 18482842"/>
              <a:gd name="connsiteY9" fmla="*/ 1896902 h 3562502"/>
              <a:gd name="connsiteX10" fmla="*/ 13001421 w 18482842"/>
              <a:gd name="connsiteY10" fmla="*/ 2848024 h 3562502"/>
              <a:gd name="connsiteX11" fmla="*/ 13253522 w 18482842"/>
              <a:gd name="connsiteY11" fmla="*/ 0 h 3562502"/>
              <a:gd name="connsiteX12" fmla="*/ 13516869 w 18482842"/>
              <a:gd name="connsiteY12" fmla="*/ 3533241 h 3562502"/>
              <a:gd name="connsiteX13" fmla="*/ 13838737 w 18482842"/>
              <a:gd name="connsiteY13" fmla="*/ 1250899 h 3562502"/>
              <a:gd name="connsiteX14" fmla="*/ 13933835 w 18482842"/>
              <a:gd name="connsiteY14" fmla="*/ 1894636 h 3562502"/>
              <a:gd name="connsiteX15" fmla="*/ 18482842 w 18482842"/>
              <a:gd name="connsiteY15" fmla="*/ 1940590 h 3562502"/>
              <a:gd name="connsiteX0" fmla="*/ 0 w 14744037"/>
              <a:gd name="connsiteY0" fmla="*/ 1904392 h 3562502"/>
              <a:gd name="connsiteX1" fmla="*/ 8154827 w 14744037"/>
              <a:gd name="connsiteY1" fmla="*/ 1865376 h 3562502"/>
              <a:gd name="connsiteX2" fmla="*/ 8257240 w 14744037"/>
              <a:gd name="connsiteY2" fmla="*/ 1236269 h 3562502"/>
              <a:gd name="connsiteX3" fmla="*/ 8542532 w 14744037"/>
              <a:gd name="connsiteY3" fmla="*/ 3562502 h 3562502"/>
              <a:gd name="connsiteX4" fmla="*/ 8835140 w 14744037"/>
              <a:gd name="connsiteY4" fmla="*/ 14630 h 3562502"/>
              <a:gd name="connsiteX5" fmla="*/ 9146313 w 14744037"/>
              <a:gd name="connsiteY5" fmla="*/ 3076605 h 3562502"/>
              <a:gd name="connsiteX6" fmla="*/ 9286573 w 14744037"/>
              <a:gd name="connsiteY6" fmla="*/ 1874957 h 3562502"/>
              <a:gd name="connsiteX7" fmla="*/ 10705722 w 14744037"/>
              <a:gd name="connsiteY7" fmla="*/ 1889588 h 3562502"/>
              <a:gd name="connsiteX8" fmla="*/ 11388144 w 14744037"/>
              <a:gd name="connsiteY8" fmla="*/ 1880007 h 3562502"/>
              <a:gd name="connsiteX9" fmla="*/ 12746662 w 14744037"/>
              <a:gd name="connsiteY9" fmla="*/ 1896902 h 3562502"/>
              <a:gd name="connsiteX10" fmla="*/ 13001421 w 14744037"/>
              <a:gd name="connsiteY10" fmla="*/ 2848024 h 3562502"/>
              <a:gd name="connsiteX11" fmla="*/ 13253522 w 14744037"/>
              <a:gd name="connsiteY11" fmla="*/ 0 h 3562502"/>
              <a:gd name="connsiteX12" fmla="*/ 13516869 w 14744037"/>
              <a:gd name="connsiteY12" fmla="*/ 3533241 h 3562502"/>
              <a:gd name="connsiteX13" fmla="*/ 13838737 w 14744037"/>
              <a:gd name="connsiteY13" fmla="*/ 1250899 h 3562502"/>
              <a:gd name="connsiteX14" fmla="*/ 13933835 w 14744037"/>
              <a:gd name="connsiteY14" fmla="*/ 1894636 h 3562502"/>
              <a:gd name="connsiteX15" fmla="*/ 14744037 w 14744037"/>
              <a:gd name="connsiteY15" fmla="*/ 1892908 h 3562502"/>
              <a:gd name="connsiteX0" fmla="*/ 0 w 14782714"/>
              <a:gd name="connsiteY0" fmla="*/ 1904392 h 3562502"/>
              <a:gd name="connsiteX1" fmla="*/ 8154827 w 14782714"/>
              <a:gd name="connsiteY1" fmla="*/ 1865376 h 3562502"/>
              <a:gd name="connsiteX2" fmla="*/ 8257240 w 14782714"/>
              <a:gd name="connsiteY2" fmla="*/ 1236269 h 3562502"/>
              <a:gd name="connsiteX3" fmla="*/ 8542532 w 14782714"/>
              <a:gd name="connsiteY3" fmla="*/ 3562502 h 3562502"/>
              <a:gd name="connsiteX4" fmla="*/ 8835140 w 14782714"/>
              <a:gd name="connsiteY4" fmla="*/ 14630 h 3562502"/>
              <a:gd name="connsiteX5" fmla="*/ 9146313 w 14782714"/>
              <a:gd name="connsiteY5" fmla="*/ 3076605 h 3562502"/>
              <a:gd name="connsiteX6" fmla="*/ 9286573 w 14782714"/>
              <a:gd name="connsiteY6" fmla="*/ 1874957 h 3562502"/>
              <a:gd name="connsiteX7" fmla="*/ 10705722 w 14782714"/>
              <a:gd name="connsiteY7" fmla="*/ 1889588 h 3562502"/>
              <a:gd name="connsiteX8" fmla="*/ 11388144 w 14782714"/>
              <a:gd name="connsiteY8" fmla="*/ 1880007 h 3562502"/>
              <a:gd name="connsiteX9" fmla="*/ 12746662 w 14782714"/>
              <a:gd name="connsiteY9" fmla="*/ 1896902 h 3562502"/>
              <a:gd name="connsiteX10" fmla="*/ 13001421 w 14782714"/>
              <a:gd name="connsiteY10" fmla="*/ 2848024 h 3562502"/>
              <a:gd name="connsiteX11" fmla="*/ 13253522 w 14782714"/>
              <a:gd name="connsiteY11" fmla="*/ 0 h 3562502"/>
              <a:gd name="connsiteX12" fmla="*/ 13516869 w 14782714"/>
              <a:gd name="connsiteY12" fmla="*/ 3533241 h 3562502"/>
              <a:gd name="connsiteX13" fmla="*/ 13838737 w 14782714"/>
              <a:gd name="connsiteY13" fmla="*/ 1250899 h 3562502"/>
              <a:gd name="connsiteX14" fmla="*/ 13933835 w 14782714"/>
              <a:gd name="connsiteY14" fmla="*/ 1894636 h 3562502"/>
              <a:gd name="connsiteX15" fmla="*/ 14782714 w 14782714"/>
              <a:gd name="connsiteY15" fmla="*/ 1904828 h 3562502"/>
              <a:gd name="connsiteX0" fmla="*/ 0 w 14821391"/>
              <a:gd name="connsiteY0" fmla="*/ 1904392 h 3562502"/>
              <a:gd name="connsiteX1" fmla="*/ 8154827 w 14821391"/>
              <a:gd name="connsiteY1" fmla="*/ 1865376 h 3562502"/>
              <a:gd name="connsiteX2" fmla="*/ 8257240 w 14821391"/>
              <a:gd name="connsiteY2" fmla="*/ 1236269 h 3562502"/>
              <a:gd name="connsiteX3" fmla="*/ 8542532 w 14821391"/>
              <a:gd name="connsiteY3" fmla="*/ 3562502 h 3562502"/>
              <a:gd name="connsiteX4" fmla="*/ 8835140 w 14821391"/>
              <a:gd name="connsiteY4" fmla="*/ 14630 h 3562502"/>
              <a:gd name="connsiteX5" fmla="*/ 9146313 w 14821391"/>
              <a:gd name="connsiteY5" fmla="*/ 3076605 h 3562502"/>
              <a:gd name="connsiteX6" fmla="*/ 9286573 w 14821391"/>
              <a:gd name="connsiteY6" fmla="*/ 1874957 h 3562502"/>
              <a:gd name="connsiteX7" fmla="*/ 10705722 w 14821391"/>
              <a:gd name="connsiteY7" fmla="*/ 1889588 h 3562502"/>
              <a:gd name="connsiteX8" fmla="*/ 11388144 w 14821391"/>
              <a:gd name="connsiteY8" fmla="*/ 1880007 h 3562502"/>
              <a:gd name="connsiteX9" fmla="*/ 12746662 w 14821391"/>
              <a:gd name="connsiteY9" fmla="*/ 1896902 h 3562502"/>
              <a:gd name="connsiteX10" fmla="*/ 13001421 w 14821391"/>
              <a:gd name="connsiteY10" fmla="*/ 2848024 h 3562502"/>
              <a:gd name="connsiteX11" fmla="*/ 13253522 w 14821391"/>
              <a:gd name="connsiteY11" fmla="*/ 0 h 3562502"/>
              <a:gd name="connsiteX12" fmla="*/ 13516869 w 14821391"/>
              <a:gd name="connsiteY12" fmla="*/ 3533241 h 3562502"/>
              <a:gd name="connsiteX13" fmla="*/ 13838737 w 14821391"/>
              <a:gd name="connsiteY13" fmla="*/ 1250899 h 3562502"/>
              <a:gd name="connsiteX14" fmla="*/ 13933835 w 14821391"/>
              <a:gd name="connsiteY14" fmla="*/ 1894636 h 3562502"/>
              <a:gd name="connsiteX15" fmla="*/ 14821391 w 14821391"/>
              <a:gd name="connsiteY15" fmla="*/ 1916748 h 3562502"/>
              <a:gd name="connsiteX0" fmla="*/ 0 w 17332784"/>
              <a:gd name="connsiteY0" fmla="*/ 1904392 h 3562502"/>
              <a:gd name="connsiteX1" fmla="*/ 8154827 w 17332784"/>
              <a:gd name="connsiteY1" fmla="*/ 1865376 h 3562502"/>
              <a:gd name="connsiteX2" fmla="*/ 8257240 w 17332784"/>
              <a:gd name="connsiteY2" fmla="*/ 1236269 h 3562502"/>
              <a:gd name="connsiteX3" fmla="*/ 8542532 w 17332784"/>
              <a:gd name="connsiteY3" fmla="*/ 3562502 h 3562502"/>
              <a:gd name="connsiteX4" fmla="*/ 8835140 w 17332784"/>
              <a:gd name="connsiteY4" fmla="*/ 14630 h 3562502"/>
              <a:gd name="connsiteX5" fmla="*/ 9146313 w 17332784"/>
              <a:gd name="connsiteY5" fmla="*/ 3076605 h 3562502"/>
              <a:gd name="connsiteX6" fmla="*/ 9286573 w 17332784"/>
              <a:gd name="connsiteY6" fmla="*/ 1874957 h 3562502"/>
              <a:gd name="connsiteX7" fmla="*/ 10705722 w 17332784"/>
              <a:gd name="connsiteY7" fmla="*/ 1889588 h 3562502"/>
              <a:gd name="connsiteX8" fmla="*/ 11388144 w 17332784"/>
              <a:gd name="connsiteY8" fmla="*/ 1880007 h 3562502"/>
              <a:gd name="connsiteX9" fmla="*/ 12746662 w 17332784"/>
              <a:gd name="connsiteY9" fmla="*/ 1896902 h 3562502"/>
              <a:gd name="connsiteX10" fmla="*/ 13001421 w 17332784"/>
              <a:gd name="connsiteY10" fmla="*/ 2848024 h 3562502"/>
              <a:gd name="connsiteX11" fmla="*/ 13253522 w 17332784"/>
              <a:gd name="connsiteY11" fmla="*/ 0 h 3562502"/>
              <a:gd name="connsiteX12" fmla="*/ 13516869 w 17332784"/>
              <a:gd name="connsiteY12" fmla="*/ 3533241 h 3562502"/>
              <a:gd name="connsiteX13" fmla="*/ 13838737 w 17332784"/>
              <a:gd name="connsiteY13" fmla="*/ 1250899 h 3562502"/>
              <a:gd name="connsiteX14" fmla="*/ 13933835 w 17332784"/>
              <a:gd name="connsiteY14" fmla="*/ 1894636 h 3562502"/>
              <a:gd name="connsiteX15" fmla="*/ 17332784 w 17332784"/>
              <a:gd name="connsiteY15" fmla="*/ 1860793 h 3562502"/>
              <a:gd name="connsiteX0" fmla="*/ 0 w 17255964"/>
              <a:gd name="connsiteY0" fmla="*/ 1904392 h 3562502"/>
              <a:gd name="connsiteX1" fmla="*/ 8154827 w 17255964"/>
              <a:gd name="connsiteY1" fmla="*/ 1865376 h 3562502"/>
              <a:gd name="connsiteX2" fmla="*/ 8257240 w 17255964"/>
              <a:gd name="connsiteY2" fmla="*/ 1236269 h 3562502"/>
              <a:gd name="connsiteX3" fmla="*/ 8542532 w 17255964"/>
              <a:gd name="connsiteY3" fmla="*/ 3562502 h 3562502"/>
              <a:gd name="connsiteX4" fmla="*/ 8835140 w 17255964"/>
              <a:gd name="connsiteY4" fmla="*/ 14630 h 3562502"/>
              <a:gd name="connsiteX5" fmla="*/ 9146313 w 17255964"/>
              <a:gd name="connsiteY5" fmla="*/ 3076605 h 3562502"/>
              <a:gd name="connsiteX6" fmla="*/ 9286573 w 17255964"/>
              <a:gd name="connsiteY6" fmla="*/ 1874957 h 3562502"/>
              <a:gd name="connsiteX7" fmla="*/ 10705722 w 17255964"/>
              <a:gd name="connsiteY7" fmla="*/ 1889588 h 3562502"/>
              <a:gd name="connsiteX8" fmla="*/ 11388144 w 17255964"/>
              <a:gd name="connsiteY8" fmla="*/ 1880007 h 3562502"/>
              <a:gd name="connsiteX9" fmla="*/ 12746662 w 17255964"/>
              <a:gd name="connsiteY9" fmla="*/ 1896902 h 3562502"/>
              <a:gd name="connsiteX10" fmla="*/ 13001421 w 17255964"/>
              <a:gd name="connsiteY10" fmla="*/ 2848024 h 3562502"/>
              <a:gd name="connsiteX11" fmla="*/ 13253522 w 17255964"/>
              <a:gd name="connsiteY11" fmla="*/ 0 h 3562502"/>
              <a:gd name="connsiteX12" fmla="*/ 13516869 w 17255964"/>
              <a:gd name="connsiteY12" fmla="*/ 3533241 h 3562502"/>
              <a:gd name="connsiteX13" fmla="*/ 13838737 w 17255964"/>
              <a:gd name="connsiteY13" fmla="*/ 1250899 h 3562502"/>
              <a:gd name="connsiteX14" fmla="*/ 13933835 w 17255964"/>
              <a:gd name="connsiteY14" fmla="*/ 1894636 h 3562502"/>
              <a:gd name="connsiteX15" fmla="*/ 17255964 w 17255964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5 w 17279011"/>
              <a:gd name="connsiteY14" fmla="*/ 1894636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2746662 w 17279011"/>
              <a:gd name="connsiteY8" fmla="*/ 1882695 h 3562502"/>
              <a:gd name="connsiteX9" fmla="*/ 13001421 w 17279011"/>
              <a:gd name="connsiteY9" fmla="*/ 2848024 h 3562502"/>
              <a:gd name="connsiteX10" fmla="*/ 13253522 w 17279011"/>
              <a:gd name="connsiteY10" fmla="*/ 0 h 3562502"/>
              <a:gd name="connsiteX11" fmla="*/ 13516869 w 17279011"/>
              <a:gd name="connsiteY11" fmla="*/ 3533241 h 3562502"/>
              <a:gd name="connsiteX12" fmla="*/ 13838737 w 17279011"/>
              <a:gd name="connsiteY12" fmla="*/ 1250899 h 3562502"/>
              <a:gd name="connsiteX13" fmla="*/ 13933836 w 17279011"/>
              <a:gd name="connsiteY13" fmla="*/ 1873328 h 3562502"/>
              <a:gd name="connsiteX14" fmla="*/ 17279011 w 17279011"/>
              <a:gd name="connsiteY14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82695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68490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9775667"/>
              <a:gd name="connsiteY0" fmla="*/ 1861774 h 3562502"/>
              <a:gd name="connsiteX1" fmla="*/ 10651483 w 19775667"/>
              <a:gd name="connsiteY1" fmla="*/ 1865376 h 3562502"/>
              <a:gd name="connsiteX2" fmla="*/ 10753896 w 19775667"/>
              <a:gd name="connsiteY2" fmla="*/ 1236269 h 3562502"/>
              <a:gd name="connsiteX3" fmla="*/ 11039188 w 19775667"/>
              <a:gd name="connsiteY3" fmla="*/ 3562502 h 3562502"/>
              <a:gd name="connsiteX4" fmla="*/ 11331796 w 19775667"/>
              <a:gd name="connsiteY4" fmla="*/ 14630 h 3562502"/>
              <a:gd name="connsiteX5" fmla="*/ 11642969 w 19775667"/>
              <a:gd name="connsiteY5" fmla="*/ 3076605 h 3562502"/>
              <a:gd name="connsiteX6" fmla="*/ 11783229 w 19775667"/>
              <a:gd name="connsiteY6" fmla="*/ 1867853 h 3562502"/>
              <a:gd name="connsiteX7" fmla="*/ 15243318 w 19775667"/>
              <a:gd name="connsiteY7" fmla="*/ 1868490 h 3562502"/>
              <a:gd name="connsiteX8" fmla="*/ 15498077 w 19775667"/>
              <a:gd name="connsiteY8" fmla="*/ 2848024 h 3562502"/>
              <a:gd name="connsiteX9" fmla="*/ 15750178 w 19775667"/>
              <a:gd name="connsiteY9" fmla="*/ 0 h 3562502"/>
              <a:gd name="connsiteX10" fmla="*/ 16013525 w 19775667"/>
              <a:gd name="connsiteY10" fmla="*/ 3533241 h 3562502"/>
              <a:gd name="connsiteX11" fmla="*/ 16335393 w 19775667"/>
              <a:gd name="connsiteY11" fmla="*/ 1250899 h 3562502"/>
              <a:gd name="connsiteX12" fmla="*/ 16430492 w 19775667"/>
              <a:gd name="connsiteY12" fmla="*/ 1873328 h 3562502"/>
              <a:gd name="connsiteX13" fmla="*/ 19775667 w 19775667"/>
              <a:gd name="connsiteY13" fmla="*/ 1867897 h 3562502"/>
              <a:gd name="connsiteX0" fmla="*/ 0 w 19075538"/>
              <a:gd name="connsiteY0" fmla="*/ 1861774 h 3562502"/>
              <a:gd name="connsiteX1" fmla="*/ 10651483 w 19075538"/>
              <a:gd name="connsiteY1" fmla="*/ 1865376 h 3562502"/>
              <a:gd name="connsiteX2" fmla="*/ 10753896 w 19075538"/>
              <a:gd name="connsiteY2" fmla="*/ 1236269 h 3562502"/>
              <a:gd name="connsiteX3" fmla="*/ 11039188 w 19075538"/>
              <a:gd name="connsiteY3" fmla="*/ 3562502 h 3562502"/>
              <a:gd name="connsiteX4" fmla="*/ 11331796 w 19075538"/>
              <a:gd name="connsiteY4" fmla="*/ 14630 h 3562502"/>
              <a:gd name="connsiteX5" fmla="*/ 11642969 w 19075538"/>
              <a:gd name="connsiteY5" fmla="*/ 3076605 h 3562502"/>
              <a:gd name="connsiteX6" fmla="*/ 11783229 w 19075538"/>
              <a:gd name="connsiteY6" fmla="*/ 1867853 h 3562502"/>
              <a:gd name="connsiteX7" fmla="*/ 15243318 w 19075538"/>
              <a:gd name="connsiteY7" fmla="*/ 1868490 h 3562502"/>
              <a:gd name="connsiteX8" fmla="*/ 15498077 w 19075538"/>
              <a:gd name="connsiteY8" fmla="*/ 2848024 h 3562502"/>
              <a:gd name="connsiteX9" fmla="*/ 15750178 w 19075538"/>
              <a:gd name="connsiteY9" fmla="*/ 0 h 3562502"/>
              <a:gd name="connsiteX10" fmla="*/ 16013525 w 19075538"/>
              <a:gd name="connsiteY10" fmla="*/ 3533241 h 3562502"/>
              <a:gd name="connsiteX11" fmla="*/ 16335393 w 19075538"/>
              <a:gd name="connsiteY11" fmla="*/ 1250899 h 3562502"/>
              <a:gd name="connsiteX12" fmla="*/ 16430492 w 19075538"/>
              <a:gd name="connsiteY12" fmla="*/ 1873328 h 3562502"/>
              <a:gd name="connsiteX13" fmla="*/ 19075538 w 19075538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1 w 19096130"/>
              <a:gd name="connsiteY12" fmla="*/ 1860635 h 3562502"/>
              <a:gd name="connsiteX13" fmla="*/ 19096130 w 19096130"/>
              <a:gd name="connsiteY13" fmla="*/ 1867897 h 3562502"/>
              <a:gd name="connsiteX0" fmla="*/ 0 w 19748213"/>
              <a:gd name="connsiteY0" fmla="*/ 1868122 h 3562502"/>
              <a:gd name="connsiteX1" fmla="*/ 11303566 w 19748213"/>
              <a:gd name="connsiteY1" fmla="*/ 1865376 h 3562502"/>
              <a:gd name="connsiteX2" fmla="*/ 11405979 w 19748213"/>
              <a:gd name="connsiteY2" fmla="*/ 1236269 h 3562502"/>
              <a:gd name="connsiteX3" fmla="*/ 11691271 w 19748213"/>
              <a:gd name="connsiteY3" fmla="*/ 3562502 h 3562502"/>
              <a:gd name="connsiteX4" fmla="*/ 11983879 w 19748213"/>
              <a:gd name="connsiteY4" fmla="*/ 14630 h 3562502"/>
              <a:gd name="connsiteX5" fmla="*/ 12295052 w 19748213"/>
              <a:gd name="connsiteY5" fmla="*/ 3076605 h 3562502"/>
              <a:gd name="connsiteX6" fmla="*/ 12435312 w 19748213"/>
              <a:gd name="connsiteY6" fmla="*/ 1867853 h 3562502"/>
              <a:gd name="connsiteX7" fmla="*/ 15895401 w 19748213"/>
              <a:gd name="connsiteY7" fmla="*/ 1868490 h 3562502"/>
              <a:gd name="connsiteX8" fmla="*/ 16150160 w 19748213"/>
              <a:gd name="connsiteY8" fmla="*/ 2848024 h 3562502"/>
              <a:gd name="connsiteX9" fmla="*/ 16402261 w 19748213"/>
              <a:gd name="connsiteY9" fmla="*/ 0 h 3562502"/>
              <a:gd name="connsiteX10" fmla="*/ 16665608 w 19748213"/>
              <a:gd name="connsiteY10" fmla="*/ 3533241 h 3562502"/>
              <a:gd name="connsiteX11" fmla="*/ 16987476 w 19748213"/>
              <a:gd name="connsiteY11" fmla="*/ 1250899 h 3562502"/>
              <a:gd name="connsiteX12" fmla="*/ 17082574 w 19748213"/>
              <a:gd name="connsiteY12" fmla="*/ 1860635 h 3562502"/>
              <a:gd name="connsiteX13" fmla="*/ 19748213 w 19748213"/>
              <a:gd name="connsiteY13" fmla="*/ 1867897 h 3562502"/>
              <a:gd name="connsiteX0" fmla="*/ 0 w 19782534"/>
              <a:gd name="connsiteY0" fmla="*/ 1868122 h 3562502"/>
              <a:gd name="connsiteX1" fmla="*/ 11337887 w 19782534"/>
              <a:gd name="connsiteY1" fmla="*/ 1865376 h 3562502"/>
              <a:gd name="connsiteX2" fmla="*/ 11440300 w 19782534"/>
              <a:gd name="connsiteY2" fmla="*/ 1236269 h 3562502"/>
              <a:gd name="connsiteX3" fmla="*/ 11725592 w 19782534"/>
              <a:gd name="connsiteY3" fmla="*/ 3562502 h 3562502"/>
              <a:gd name="connsiteX4" fmla="*/ 12018200 w 19782534"/>
              <a:gd name="connsiteY4" fmla="*/ 14630 h 3562502"/>
              <a:gd name="connsiteX5" fmla="*/ 12329373 w 19782534"/>
              <a:gd name="connsiteY5" fmla="*/ 3076605 h 3562502"/>
              <a:gd name="connsiteX6" fmla="*/ 12469633 w 19782534"/>
              <a:gd name="connsiteY6" fmla="*/ 1867853 h 3562502"/>
              <a:gd name="connsiteX7" fmla="*/ 15929722 w 19782534"/>
              <a:gd name="connsiteY7" fmla="*/ 1868490 h 3562502"/>
              <a:gd name="connsiteX8" fmla="*/ 16184481 w 19782534"/>
              <a:gd name="connsiteY8" fmla="*/ 2848024 h 3562502"/>
              <a:gd name="connsiteX9" fmla="*/ 16436582 w 19782534"/>
              <a:gd name="connsiteY9" fmla="*/ 0 h 3562502"/>
              <a:gd name="connsiteX10" fmla="*/ 16699929 w 19782534"/>
              <a:gd name="connsiteY10" fmla="*/ 3533241 h 3562502"/>
              <a:gd name="connsiteX11" fmla="*/ 17021797 w 19782534"/>
              <a:gd name="connsiteY11" fmla="*/ 1250899 h 3562502"/>
              <a:gd name="connsiteX12" fmla="*/ 17116895 w 19782534"/>
              <a:gd name="connsiteY12" fmla="*/ 1860635 h 3562502"/>
              <a:gd name="connsiteX13" fmla="*/ 19782534 w 19782534"/>
              <a:gd name="connsiteY13" fmla="*/ 1867897 h 3562502"/>
              <a:gd name="connsiteX0" fmla="*/ 0 w 17116895"/>
              <a:gd name="connsiteY0" fmla="*/ 1868122 h 3562502"/>
              <a:gd name="connsiteX1" fmla="*/ 11337887 w 17116895"/>
              <a:gd name="connsiteY1" fmla="*/ 1865376 h 3562502"/>
              <a:gd name="connsiteX2" fmla="*/ 11440300 w 17116895"/>
              <a:gd name="connsiteY2" fmla="*/ 1236269 h 3562502"/>
              <a:gd name="connsiteX3" fmla="*/ 11725592 w 17116895"/>
              <a:gd name="connsiteY3" fmla="*/ 3562502 h 3562502"/>
              <a:gd name="connsiteX4" fmla="*/ 12018200 w 17116895"/>
              <a:gd name="connsiteY4" fmla="*/ 14630 h 3562502"/>
              <a:gd name="connsiteX5" fmla="*/ 12329373 w 17116895"/>
              <a:gd name="connsiteY5" fmla="*/ 3076605 h 3562502"/>
              <a:gd name="connsiteX6" fmla="*/ 12469633 w 17116895"/>
              <a:gd name="connsiteY6" fmla="*/ 1867853 h 3562502"/>
              <a:gd name="connsiteX7" fmla="*/ 15929722 w 17116895"/>
              <a:gd name="connsiteY7" fmla="*/ 1868490 h 3562502"/>
              <a:gd name="connsiteX8" fmla="*/ 16184481 w 17116895"/>
              <a:gd name="connsiteY8" fmla="*/ 2848024 h 3562502"/>
              <a:gd name="connsiteX9" fmla="*/ 16436582 w 17116895"/>
              <a:gd name="connsiteY9" fmla="*/ 0 h 3562502"/>
              <a:gd name="connsiteX10" fmla="*/ 16699929 w 17116895"/>
              <a:gd name="connsiteY10" fmla="*/ 3533241 h 3562502"/>
              <a:gd name="connsiteX11" fmla="*/ 17021797 w 17116895"/>
              <a:gd name="connsiteY11" fmla="*/ 1250899 h 3562502"/>
              <a:gd name="connsiteX12" fmla="*/ 17116895 w 17116895"/>
              <a:gd name="connsiteY12" fmla="*/ 1860635 h 3562502"/>
              <a:gd name="connsiteX0" fmla="*/ 0 w 17021797"/>
              <a:gd name="connsiteY0" fmla="*/ 1868122 h 3562502"/>
              <a:gd name="connsiteX1" fmla="*/ 11337887 w 17021797"/>
              <a:gd name="connsiteY1" fmla="*/ 1865376 h 3562502"/>
              <a:gd name="connsiteX2" fmla="*/ 11440300 w 17021797"/>
              <a:gd name="connsiteY2" fmla="*/ 1236269 h 3562502"/>
              <a:gd name="connsiteX3" fmla="*/ 11725592 w 17021797"/>
              <a:gd name="connsiteY3" fmla="*/ 3562502 h 3562502"/>
              <a:gd name="connsiteX4" fmla="*/ 12018200 w 17021797"/>
              <a:gd name="connsiteY4" fmla="*/ 14630 h 3562502"/>
              <a:gd name="connsiteX5" fmla="*/ 12329373 w 17021797"/>
              <a:gd name="connsiteY5" fmla="*/ 3076605 h 3562502"/>
              <a:gd name="connsiteX6" fmla="*/ 12469633 w 17021797"/>
              <a:gd name="connsiteY6" fmla="*/ 1867853 h 3562502"/>
              <a:gd name="connsiteX7" fmla="*/ 15929722 w 17021797"/>
              <a:gd name="connsiteY7" fmla="*/ 1868490 h 3562502"/>
              <a:gd name="connsiteX8" fmla="*/ 16184481 w 17021797"/>
              <a:gd name="connsiteY8" fmla="*/ 2848024 h 3562502"/>
              <a:gd name="connsiteX9" fmla="*/ 16436582 w 17021797"/>
              <a:gd name="connsiteY9" fmla="*/ 0 h 3562502"/>
              <a:gd name="connsiteX10" fmla="*/ 16699929 w 17021797"/>
              <a:gd name="connsiteY10" fmla="*/ 3533241 h 3562502"/>
              <a:gd name="connsiteX11" fmla="*/ 17021797 w 17021797"/>
              <a:gd name="connsiteY11" fmla="*/ 1250899 h 3562502"/>
              <a:gd name="connsiteX0" fmla="*/ 0 w 16699928"/>
              <a:gd name="connsiteY0" fmla="*/ 1868122 h 3562502"/>
              <a:gd name="connsiteX1" fmla="*/ 11337887 w 16699928"/>
              <a:gd name="connsiteY1" fmla="*/ 1865376 h 3562502"/>
              <a:gd name="connsiteX2" fmla="*/ 11440300 w 16699928"/>
              <a:gd name="connsiteY2" fmla="*/ 1236269 h 3562502"/>
              <a:gd name="connsiteX3" fmla="*/ 11725592 w 16699928"/>
              <a:gd name="connsiteY3" fmla="*/ 3562502 h 3562502"/>
              <a:gd name="connsiteX4" fmla="*/ 12018200 w 16699928"/>
              <a:gd name="connsiteY4" fmla="*/ 14630 h 3562502"/>
              <a:gd name="connsiteX5" fmla="*/ 12329373 w 16699928"/>
              <a:gd name="connsiteY5" fmla="*/ 3076605 h 3562502"/>
              <a:gd name="connsiteX6" fmla="*/ 12469633 w 16699928"/>
              <a:gd name="connsiteY6" fmla="*/ 1867853 h 3562502"/>
              <a:gd name="connsiteX7" fmla="*/ 15929722 w 16699928"/>
              <a:gd name="connsiteY7" fmla="*/ 1868490 h 3562502"/>
              <a:gd name="connsiteX8" fmla="*/ 16184481 w 16699928"/>
              <a:gd name="connsiteY8" fmla="*/ 2848024 h 3562502"/>
              <a:gd name="connsiteX9" fmla="*/ 16436582 w 16699928"/>
              <a:gd name="connsiteY9" fmla="*/ 0 h 3562502"/>
              <a:gd name="connsiteX10" fmla="*/ 16699929 w 16699928"/>
              <a:gd name="connsiteY10" fmla="*/ 3533241 h 3562502"/>
              <a:gd name="connsiteX0" fmla="*/ 0 w 16436581"/>
              <a:gd name="connsiteY0" fmla="*/ 1868122 h 3562502"/>
              <a:gd name="connsiteX1" fmla="*/ 11337887 w 16436581"/>
              <a:gd name="connsiteY1" fmla="*/ 1865376 h 3562502"/>
              <a:gd name="connsiteX2" fmla="*/ 11440300 w 16436581"/>
              <a:gd name="connsiteY2" fmla="*/ 1236269 h 3562502"/>
              <a:gd name="connsiteX3" fmla="*/ 11725592 w 16436581"/>
              <a:gd name="connsiteY3" fmla="*/ 3562502 h 3562502"/>
              <a:gd name="connsiteX4" fmla="*/ 12018200 w 16436581"/>
              <a:gd name="connsiteY4" fmla="*/ 14630 h 3562502"/>
              <a:gd name="connsiteX5" fmla="*/ 12329373 w 16436581"/>
              <a:gd name="connsiteY5" fmla="*/ 3076605 h 3562502"/>
              <a:gd name="connsiteX6" fmla="*/ 12469633 w 16436581"/>
              <a:gd name="connsiteY6" fmla="*/ 1867853 h 3562502"/>
              <a:gd name="connsiteX7" fmla="*/ 15929722 w 16436581"/>
              <a:gd name="connsiteY7" fmla="*/ 1868490 h 3562502"/>
              <a:gd name="connsiteX8" fmla="*/ 16184481 w 16436581"/>
              <a:gd name="connsiteY8" fmla="*/ 2848024 h 3562502"/>
              <a:gd name="connsiteX9" fmla="*/ 16436582 w 16436581"/>
              <a:gd name="connsiteY9" fmla="*/ 0 h 3562502"/>
              <a:gd name="connsiteX0" fmla="*/ 0 w 16184481"/>
              <a:gd name="connsiteY0" fmla="*/ 1853491 h 3547871"/>
              <a:gd name="connsiteX1" fmla="*/ 11337887 w 16184481"/>
              <a:gd name="connsiteY1" fmla="*/ 1850745 h 3547871"/>
              <a:gd name="connsiteX2" fmla="*/ 11440300 w 16184481"/>
              <a:gd name="connsiteY2" fmla="*/ 1221638 h 3547871"/>
              <a:gd name="connsiteX3" fmla="*/ 11725592 w 16184481"/>
              <a:gd name="connsiteY3" fmla="*/ 3547871 h 3547871"/>
              <a:gd name="connsiteX4" fmla="*/ 12018200 w 16184481"/>
              <a:gd name="connsiteY4" fmla="*/ -1 h 3547871"/>
              <a:gd name="connsiteX5" fmla="*/ 12329373 w 16184481"/>
              <a:gd name="connsiteY5" fmla="*/ 3061974 h 3547871"/>
              <a:gd name="connsiteX6" fmla="*/ 12469633 w 16184481"/>
              <a:gd name="connsiteY6" fmla="*/ 1853222 h 3547871"/>
              <a:gd name="connsiteX7" fmla="*/ 15929722 w 16184481"/>
              <a:gd name="connsiteY7" fmla="*/ 1853859 h 3547871"/>
              <a:gd name="connsiteX8" fmla="*/ 16184481 w 16184481"/>
              <a:gd name="connsiteY8" fmla="*/ 2833393 h 3547871"/>
              <a:gd name="connsiteX0" fmla="*/ 0 w 15929721"/>
              <a:gd name="connsiteY0" fmla="*/ 1853492 h 3547872"/>
              <a:gd name="connsiteX1" fmla="*/ 11337887 w 15929721"/>
              <a:gd name="connsiteY1" fmla="*/ 1850746 h 3547872"/>
              <a:gd name="connsiteX2" fmla="*/ 11440300 w 15929721"/>
              <a:gd name="connsiteY2" fmla="*/ 1221639 h 3547872"/>
              <a:gd name="connsiteX3" fmla="*/ 11725592 w 15929721"/>
              <a:gd name="connsiteY3" fmla="*/ 3547872 h 3547872"/>
              <a:gd name="connsiteX4" fmla="*/ 12018200 w 15929721"/>
              <a:gd name="connsiteY4" fmla="*/ 0 h 3547872"/>
              <a:gd name="connsiteX5" fmla="*/ 12329373 w 15929721"/>
              <a:gd name="connsiteY5" fmla="*/ 3061975 h 3547872"/>
              <a:gd name="connsiteX6" fmla="*/ 12469633 w 15929721"/>
              <a:gd name="connsiteY6" fmla="*/ 1853223 h 3547872"/>
              <a:gd name="connsiteX7" fmla="*/ 15929722 w 15929721"/>
              <a:gd name="connsiteY7" fmla="*/ 1853860 h 3547872"/>
              <a:gd name="connsiteX0" fmla="*/ 0 w 17764659"/>
              <a:gd name="connsiteY0" fmla="*/ 1853492 h 3547872"/>
              <a:gd name="connsiteX1" fmla="*/ 11337887 w 17764659"/>
              <a:gd name="connsiteY1" fmla="*/ 1850746 h 3547872"/>
              <a:gd name="connsiteX2" fmla="*/ 11440300 w 17764659"/>
              <a:gd name="connsiteY2" fmla="*/ 1221639 h 3547872"/>
              <a:gd name="connsiteX3" fmla="*/ 11725592 w 17764659"/>
              <a:gd name="connsiteY3" fmla="*/ 3547872 h 3547872"/>
              <a:gd name="connsiteX4" fmla="*/ 12018200 w 17764659"/>
              <a:gd name="connsiteY4" fmla="*/ 0 h 3547872"/>
              <a:gd name="connsiteX5" fmla="*/ 12329373 w 17764659"/>
              <a:gd name="connsiteY5" fmla="*/ 3061975 h 3547872"/>
              <a:gd name="connsiteX6" fmla="*/ 12469633 w 17764659"/>
              <a:gd name="connsiteY6" fmla="*/ 1853223 h 3547872"/>
              <a:gd name="connsiteX7" fmla="*/ 17764659 w 17764659"/>
              <a:gd name="connsiteY7" fmla="*/ 1853861 h 354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4659" h="3547872">
                <a:moveTo>
                  <a:pt x="0" y="1853492"/>
                </a:moveTo>
                <a:lnTo>
                  <a:pt x="11337887" y="1850746"/>
                </a:lnTo>
                <a:lnTo>
                  <a:pt x="11440300" y="1221639"/>
                </a:lnTo>
                <a:lnTo>
                  <a:pt x="11725592" y="3547872"/>
                </a:lnTo>
                <a:lnTo>
                  <a:pt x="12018200" y="0"/>
                </a:lnTo>
                <a:lnTo>
                  <a:pt x="12329373" y="3061975"/>
                </a:lnTo>
                <a:lnTo>
                  <a:pt x="12469633" y="1853223"/>
                </a:lnTo>
                <a:lnTo>
                  <a:pt x="17764659" y="1853861"/>
                </a:lnTo>
              </a:path>
            </a:pathLst>
          </a:cu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FA59D1-F528-49A2-B7ED-368EDCBA10AA}"/>
              </a:ext>
            </a:extLst>
          </p:cNvPr>
          <p:cNvSpPr/>
          <p:nvPr/>
        </p:nvSpPr>
        <p:spPr>
          <a:xfrm>
            <a:off x="142022" y="290070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研究成果總結</a:t>
            </a:r>
            <a:endParaRPr lang="ko-KR" altLang="en-US" sz="5400" b="1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DD5F7-A217-4F1A-9801-1370F040694C}"/>
              </a:ext>
            </a:extLst>
          </p:cNvPr>
          <p:cNvSpPr txBox="1"/>
          <p:nvPr/>
        </p:nvSpPr>
        <p:spPr>
          <a:xfrm>
            <a:off x="638984" y="1550310"/>
            <a:ext cx="4129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系統成功實現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基於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 Bot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的英語學習系統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整合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、語音轉文字及文字轉語音技術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5150D-7E7C-491C-916D-B48770E7A9D3}"/>
              </a:ext>
            </a:extLst>
          </p:cNvPr>
          <p:cNvSpPr txBox="1"/>
          <p:nvPr/>
        </p:nvSpPr>
        <p:spPr>
          <a:xfrm>
            <a:off x="74897" y="4123083"/>
            <a:ext cx="37371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研究成果概述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A2785-B9B3-4499-9668-474405C9ABCD}"/>
              </a:ext>
            </a:extLst>
          </p:cNvPr>
          <p:cNvSpPr txBox="1"/>
          <p:nvPr/>
        </p:nvSpPr>
        <p:spPr>
          <a:xfrm>
            <a:off x="0" y="4946474"/>
            <a:ext cx="37371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 研究成果總結</a:t>
            </a:r>
            <a:endParaRPr lang="ko-KR" altLang="en-US" sz="3200" b="1" dirty="0">
              <a:solidFill>
                <a:schemeClr val="accent2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10" name="Graphic 25">
            <a:extLst>
              <a:ext uri="{FF2B5EF4-FFF2-40B4-BE49-F238E27FC236}">
                <a16:creationId xmlns:a16="http://schemas.microsoft.com/office/drawing/2014/main" id="{2A195617-8C33-4516-AA94-DEABA42B6273}"/>
              </a:ext>
            </a:extLst>
          </p:cNvPr>
          <p:cNvGrpSpPr/>
          <p:nvPr/>
        </p:nvGrpSpPr>
        <p:grpSpPr>
          <a:xfrm flipH="1">
            <a:off x="13079560" y="4349885"/>
            <a:ext cx="1552374" cy="1031582"/>
            <a:chOff x="342288" y="5278574"/>
            <a:chExt cx="1920177" cy="127599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300C03-56F7-4199-896D-9561814F75B8}"/>
                </a:ext>
              </a:extLst>
            </p:cNvPr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07775 w 1920177"/>
                <a:gd name="connsiteY17" fmla="*/ 927069 h 1274796"/>
                <a:gd name="connsiteX18" fmla="*/ 1784879 w 1920177"/>
                <a:gd name="connsiteY18" fmla="*/ 918301 h 1274796"/>
                <a:gd name="connsiteX19" fmla="*/ 1836029 w 1920177"/>
                <a:gd name="connsiteY19" fmla="*/ 859600 h 1274796"/>
                <a:gd name="connsiteX20" fmla="*/ 1910805 w 1920177"/>
                <a:gd name="connsiteY20" fmla="*/ 735136 h 1274796"/>
                <a:gd name="connsiteX21" fmla="*/ 1895460 w 1920177"/>
                <a:gd name="connsiteY21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784879 w 1920177"/>
                <a:gd name="connsiteY17" fmla="*/ 918301 h 1274796"/>
                <a:gd name="connsiteX18" fmla="*/ 1836029 w 1920177"/>
                <a:gd name="connsiteY18" fmla="*/ 859600 h 1274796"/>
                <a:gd name="connsiteX19" fmla="*/ 1910805 w 1920177"/>
                <a:gd name="connsiteY19" fmla="*/ 735136 h 1274796"/>
                <a:gd name="connsiteX20" fmla="*/ 1895460 w 1920177"/>
                <a:gd name="connsiteY20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6419"/>
                <a:gd name="connsiteX1" fmla="*/ 1829939 w 1920177"/>
                <a:gd name="connsiteY1" fmla="*/ 539306 h 1276419"/>
                <a:gd name="connsiteX2" fmla="*/ 1633135 w 1920177"/>
                <a:gd name="connsiteY2" fmla="*/ 367101 h 1276419"/>
                <a:gd name="connsiteX3" fmla="*/ 1431946 w 1920177"/>
                <a:gd name="connsiteY3" fmla="*/ 220229 h 1276419"/>
                <a:gd name="connsiteX4" fmla="*/ 1122124 w 1920177"/>
                <a:gd name="connsiteY4" fmla="*/ 73112 h 1276419"/>
                <a:gd name="connsiteX5" fmla="*/ 816931 w 1920177"/>
                <a:gd name="connsiteY5" fmla="*/ 2964 h 1276419"/>
                <a:gd name="connsiteX6" fmla="*/ 573360 w 1920177"/>
                <a:gd name="connsiteY6" fmla="*/ 15630 h 1276419"/>
                <a:gd name="connsiteX7" fmla="*/ 289114 w 1920177"/>
                <a:gd name="connsiteY7" fmla="*/ 113058 h 1276419"/>
                <a:gd name="connsiteX8" fmla="*/ 102052 w 1920177"/>
                <a:gd name="connsiteY8" fmla="*/ 262123 h 1276419"/>
                <a:gd name="connsiteX9" fmla="*/ 56991 w 1920177"/>
                <a:gd name="connsiteY9" fmla="*/ 711266 h 1276419"/>
                <a:gd name="connsiteX10" fmla="*/ 258180 w 1920177"/>
                <a:gd name="connsiteY10" fmla="*/ 899302 h 1276419"/>
                <a:gd name="connsiteX11" fmla="*/ 549977 w 1920177"/>
                <a:gd name="connsiteY11" fmla="*/ 1050316 h 1276419"/>
                <a:gd name="connsiteX12" fmla="*/ 879772 w 1920177"/>
                <a:gd name="connsiteY12" fmla="*/ 1181844 h 1276419"/>
                <a:gd name="connsiteX13" fmla="*/ 1159634 w 1920177"/>
                <a:gd name="connsiteY13" fmla="*/ 1270503 h 1276419"/>
                <a:gd name="connsiteX14" fmla="*/ 1272163 w 1920177"/>
                <a:gd name="connsiteY14" fmla="*/ 1270503 h 1276419"/>
                <a:gd name="connsiteX15" fmla="*/ 1414234 w 1920177"/>
                <a:gd name="connsiteY15" fmla="*/ 1211160 h 1276419"/>
                <a:gd name="connsiteX16" fmla="*/ 1738844 w 1920177"/>
                <a:gd name="connsiteY16" fmla="*/ 964579 h 1276419"/>
                <a:gd name="connsiteX17" fmla="*/ 1836029 w 1920177"/>
                <a:gd name="connsiteY17" fmla="*/ 859600 h 1276419"/>
                <a:gd name="connsiteX18" fmla="*/ 1910805 w 1920177"/>
                <a:gd name="connsiteY18" fmla="*/ 735136 h 1276419"/>
                <a:gd name="connsiteX19" fmla="*/ 1895460 w 1920177"/>
                <a:gd name="connsiteY19" fmla="*/ 616030 h 1276419"/>
                <a:gd name="connsiteX0" fmla="*/ 1895460 w 1920177"/>
                <a:gd name="connsiteY0" fmla="*/ 616030 h 1275785"/>
                <a:gd name="connsiteX1" fmla="*/ 1829939 w 1920177"/>
                <a:gd name="connsiteY1" fmla="*/ 539306 h 1275785"/>
                <a:gd name="connsiteX2" fmla="*/ 1633135 w 1920177"/>
                <a:gd name="connsiteY2" fmla="*/ 367101 h 1275785"/>
                <a:gd name="connsiteX3" fmla="*/ 1431946 w 1920177"/>
                <a:gd name="connsiteY3" fmla="*/ 220229 h 1275785"/>
                <a:gd name="connsiteX4" fmla="*/ 1122124 w 1920177"/>
                <a:gd name="connsiteY4" fmla="*/ 73112 h 1275785"/>
                <a:gd name="connsiteX5" fmla="*/ 816931 w 1920177"/>
                <a:gd name="connsiteY5" fmla="*/ 2964 h 1275785"/>
                <a:gd name="connsiteX6" fmla="*/ 573360 w 1920177"/>
                <a:gd name="connsiteY6" fmla="*/ 15630 h 1275785"/>
                <a:gd name="connsiteX7" fmla="*/ 289114 w 1920177"/>
                <a:gd name="connsiteY7" fmla="*/ 113058 h 1275785"/>
                <a:gd name="connsiteX8" fmla="*/ 102052 w 1920177"/>
                <a:gd name="connsiteY8" fmla="*/ 262123 h 1275785"/>
                <a:gd name="connsiteX9" fmla="*/ 56991 w 1920177"/>
                <a:gd name="connsiteY9" fmla="*/ 711266 h 1275785"/>
                <a:gd name="connsiteX10" fmla="*/ 258180 w 1920177"/>
                <a:gd name="connsiteY10" fmla="*/ 899302 h 1275785"/>
                <a:gd name="connsiteX11" fmla="*/ 549977 w 1920177"/>
                <a:gd name="connsiteY11" fmla="*/ 1050316 h 1275785"/>
                <a:gd name="connsiteX12" fmla="*/ 879772 w 1920177"/>
                <a:gd name="connsiteY12" fmla="*/ 1181844 h 1275785"/>
                <a:gd name="connsiteX13" fmla="*/ 1159634 w 1920177"/>
                <a:gd name="connsiteY13" fmla="*/ 1270503 h 1275785"/>
                <a:gd name="connsiteX14" fmla="*/ 1272163 w 1920177"/>
                <a:gd name="connsiteY14" fmla="*/ 1270503 h 1275785"/>
                <a:gd name="connsiteX15" fmla="*/ 1420392 w 1920177"/>
                <a:gd name="connsiteY15" fmla="*/ 1220396 h 1275785"/>
                <a:gd name="connsiteX16" fmla="*/ 1738844 w 1920177"/>
                <a:gd name="connsiteY16" fmla="*/ 964579 h 1275785"/>
                <a:gd name="connsiteX17" fmla="*/ 1836029 w 1920177"/>
                <a:gd name="connsiteY17" fmla="*/ 859600 h 1275785"/>
                <a:gd name="connsiteX18" fmla="*/ 1910805 w 1920177"/>
                <a:gd name="connsiteY18" fmla="*/ 735136 h 1275785"/>
                <a:gd name="connsiteX19" fmla="*/ 1895460 w 1920177"/>
                <a:gd name="connsiteY19" fmla="*/ 616030 h 1275785"/>
                <a:gd name="connsiteX0" fmla="*/ 1895460 w 1920177"/>
                <a:gd name="connsiteY0" fmla="*/ 616030 h 1275995"/>
                <a:gd name="connsiteX1" fmla="*/ 1829939 w 1920177"/>
                <a:gd name="connsiteY1" fmla="*/ 539306 h 1275995"/>
                <a:gd name="connsiteX2" fmla="*/ 1633135 w 1920177"/>
                <a:gd name="connsiteY2" fmla="*/ 367101 h 1275995"/>
                <a:gd name="connsiteX3" fmla="*/ 1431946 w 1920177"/>
                <a:gd name="connsiteY3" fmla="*/ 220229 h 1275995"/>
                <a:gd name="connsiteX4" fmla="*/ 1122124 w 1920177"/>
                <a:gd name="connsiteY4" fmla="*/ 73112 h 1275995"/>
                <a:gd name="connsiteX5" fmla="*/ 816931 w 1920177"/>
                <a:gd name="connsiteY5" fmla="*/ 2964 h 1275995"/>
                <a:gd name="connsiteX6" fmla="*/ 573360 w 1920177"/>
                <a:gd name="connsiteY6" fmla="*/ 15630 h 1275995"/>
                <a:gd name="connsiteX7" fmla="*/ 289114 w 1920177"/>
                <a:gd name="connsiteY7" fmla="*/ 113058 h 1275995"/>
                <a:gd name="connsiteX8" fmla="*/ 102052 w 1920177"/>
                <a:gd name="connsiteY8" fmla="*/ 262123 h 1275995"/>
                <a:gd name="connsiteX9" fmla="*/ 56991 w 1920177"/>
                <a:gd name="connsiteY9" fmla="*/ 711266 h 1275995"/>
                <a:gd name="connsiteX10" fmla="*/ 258180 w 1920177"/>
                <a:gd name="connsiteY10" fmla="*/ 899302 h 1275995"/>
                <a:gd name="connsiteX11" fmla="*/ 549977 w 1920177"/>
                <a:gd name="connsiteY11" fmla="*/ 1050316 h 1275995"/>
                <a:gd name="connsiteX12" fmla="*/ 879772 w 1920177"/>
                <a:gd name="connsiteY12" fmla="*/ 1181844 h 1275995"/>
                <a:gd name="connsiteX13" fmla="*/ 1159634 w 1920177"/>
                <a:gd name="connsiteY13" fmla="*/ 1270503 h 1275995"/>
                <a:gd name="connsiteX14" fmla="*/ 1272163 w 1920177"/>
                <a:gd name="connsiteY14" fmla="*/ 1270503 h 1275995"/>
                <a:gd name="connsiteX15" fmla="*/ 1417313 w 1920177"/>
                <a:gd name="connsiteY15" fmla="*/ 1217317 h 1275995"/>
                <a:gd name="connsiteX16" fmla="*/ 1738844 w 1920177"/>
                <a:gd name="connsiteY16" fmla="*/ 964579 h 1275995"/>
                <a:gd name="connsiteX17" fmla="*/ 1836029 w 1920177"/>
                <a:gd name="connsiteY17" fmla="*/ 859600 h 1275995"/>
                <a:gd name="connsiteX18" fmla="*/ 1910805 w 1920177"/>
                <a:gd name="connsiteY18" fmla="*/ 735136 h 1275995"/>
                <a:gd name="connsiteX19" fmla="*/ 1895460 w 1920177"/>
                <a:gd name="connsiteY19" fmla="*/ 616030 h 1275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4A809B-1731-4412-8C04-9FA8D03C1462}"/>
                </a:ext>
              </a:extLst>
            </p:cNvPr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1E9AB0D-7577-4DA7-A6B0-686C2988B69F}"/>
                </a:ext>
              </a:extLst>
            </p:cNvPr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" fmla="*/ 1791460 w 1833764"/>
                <a:gd name="connsiteY0" fmla="*/ 766733 h 1104823"/>
                <a:gd name="connsiteX1" fmla="*/ 1831162 w 1833764"/>
                <a:gd name="connsiteY1" fmla="*/ 653716 h 1104823"/>
                <a:gd name="connsiteX2" fmla="*/ 1824098 w 1833764"/>
                <a:gd name="connsiteY2" fmla="*/ 635692 h 1104823"/>
                <a:gd name="connsiteX3" fmla="*/ 1747617 w 1833764"/>
                <a:gd name="connsiteY3" fmla="*/ 538507 h 1104823"/>
                <a:gd name="connsiteX4" fmla="*/ 1524994 w 1833764"/>
                <a:gd name="connsiteY4" fmla="*/ 346087 h 1104823"/>
                <a:gd name="connsiteX5" fmla="*/ 1378121 w 1833764"/>
                <a:gd name="connsiteY5" fmla="*/ 237942 h 1104823"/>
                <a:gd name="connsiteX6" fmla="*/ 945053 w 1833764"/>
                <a:gd name="connsiteY6" fmla="*/ 43086 h 1104823"/>
                <a:gd name="connsiteX7" fmla="*/ 720481 w 1833764"/>
                <a:gd name="connsiteY7" fmla="*/ 3384 h 1104823"/>
                <a:gd name="connsiteX8" fmla="*/ 583594 w 1833764"/>
                <a:gd name="connsiteY8" fmla="*/ 5576 h 1104823"/>
                <a:gd name="connsiteX9" fmla="*/ 245519 w 1833764"/>
                <a:gd name="connsiteY9" fmla="*/ 96428 h 1104823"/>
                <a:gd name="connsiteX10" fmla="*/ 26549 w 1833764"/>
                <a:gd name="connsiteY10" fmla="*/ 262786 h 1104823"/>
                <a:gd name="connsiteX11" fmla="*/ 0 w 1833764"/>
                <a:gd name="connsiteY11" fmla="*/ 301757 h 1104823"/>
                <a:gd name="connsiteX12" fmla="*/ 104492 w 1833764"/>
                <a:gd name="connsiteY12" fmla="*/ 282759 h 1104823"/>
                <a:gd name="connsiteX13" fmla="*/ 252826 w 1833764"/>
                <a:gd name="connsiteY13" fmla="*/ 318807 h 1104823"/>
                <a:gd name="connsiteX14" fmla="*/ 388982 w 1833764"/>
                <a:gd name="connsiteY14" fmla="*/ 386276 h 1104823"/>
                <a:gd name="connsiteX15" fmla="*/ 549738 w 1833764"/>
                <a:gd name="connsiteY15" fmla="*/ 495639 h 1104823"/>
                <a:gd name="connsiteX16" fmla="*/ 739236 w 1833764"/>
                <a:gd name="connsiteY16" fmla="*/ 655421 h 1104823"/>
                <a:gd name="connsiteX17" fmla="*/ 739236 w 1833764"/>
                <a:gd name="connsiteY17" fmla="*/ 655421 h 1104823"/>
                <a:gd name="connsiteX18" fmla="*/ 968192 w 1833764"/>
                <a:gd name="connsiteY18" fmla="*/ 833471 h 1104823"/>
                <a:gd name="connsiteX19" fmla="*/ 968192 w 1833764"/>
                <a:gd name="connsiteY19" fmla="*/ 833471 h 1104823"/>
                <a:gd name="connsiteX20" fmla="*/ 1216390 w 1833764"/>
                <a:gd name="connsiteY20" fmla="*/ 1002996 h 1104823"/>
                <a:gd name="connsiteX21" fmla="*/ 1343047 w 1833764"/>
                <a:gd name="connsiteY21" fmla="*/ 1085810 h 1104823"/>
                <a:gd name="connsiteX22" fmla="*/ 1386646 w 1833764"/>
                <a:gd name="connsiteY22" fmla="*/ 1104808 h 1104823"/>
                <a:gd name="connsiteX23" fmla="*/ 1441449 w 1833764"/>
                <a:gd name="connsiteY23" fmla="*/ 1076310 h 1104823"/>
                <a:gd name="connsiteX24" fmla="*/ 1791460 w 1833764"/>
                <a:gd name="connsiteY24" fmla="*/ 766733 h 1104823"/>
                <a:gd name="connsiteX25" fmla="*/ 840318 w 1833764"/>
                <a:gd name="connsiteY25" fmla="*/ 736286 h 1104823"/>
                <a:gd name="connsiteX26" fmla="*/ 841779 w 1833764"/>
                <a:gd name="connsiteY26" fmla="*/ 738235 h 1104823"/>
                <a:gd name="connsiteX27" fmla="*/ 840318 w 1833764"/>
                <a:gd name="connsiteY27" fmla="*/ 736286 h 1104823"/>
                <a:gd name="connsiteX28" fmla="*/ 1254631 w 1833764"/>
                <a:gd name="connsiteY28" fmla="*/ 1026135 h 1104823"/>
                <a:gd name="connsiteX29" fmla="*/ 1254631 w 1833764"/>
                <a:gd name="connsiteY29" fmla="*/ 1026135 h 1104823"/>
                <a:gd name="connsiteX30" fmla="*/ 1256092 w 1833764"/>
                <a:gd name="connsiteY30" fmla="*/ 1028083 h 1104823"/>
                <a:gd name="connsiteX31" fmla="*/ 1254631 w 1833764"/>
                <a:gd name="connsiteY31" fmla="*/ 1026135 h 1104823"/>
                <a:gd name="connsiteX0" fmla="*/ 1791460 w 1834540"/>
                <a:gd name="connsiteY0" fmla="*/ 766733 h 1104823"/>
                <a:gd name="connsiteX1" fmla="*/ 1824098 w 1834540"/>
                <a:gd name="connsiteY1" fmla="*/ 635692 h 1104823"/>
                <a:gd name="connsiteX2" fmla="*/ 1747617 w 1834540"/>
                <a:gd name="connsiteY2" fmla="*/ 538507 h 1104823"/>
                <a:gd name="connsiteX3" fmla="*/ 1524994 w 1834540"/>
                <a:gd name="connsiteY3" fmla="*/ 346087 h 1104823"/>
                <a:gd name="connsiteX4" fmla="*/ 1378121 w 1834540"/>
                <a:gd name="connsiteY4" fmla="*/ 237942 h 1104823"/>
                <a:gd name="connsiteX5" fmla="*/ 945053 w 1834540"/>
                <a:gd name="connsiteY5" fmla="*/ 43086 h 1104823"/>
                <a:gd name="connsiteX6" fmla="*/ 720481 w 1834540"/>
                <a:gd name="connsiteY6" fmla="*/ 3384 h 1104823"/>
                <a:gd name="connsiteX7" fmla="*/ 583594 w 1834540"/>
                <a:gd name="connsiteY7" fmla="*/ 5576 h 1104823"/>
                <a:gd name="connsiteX8" fmla="*/ 245519 w 1834540"/>
                <a:gd name="connsiteY8" fmla="*/ 96428 h 1104823"/>
                <a:gd name="connsiteX9" fmla="*/ 26549 w 1834540"/>
                <a:gd name="connsiteY9" fmla="*/ 262786 h 1104823"/>
                <a:gd name="connsiteX10" fmla="*/ 0 w 1834540"/>
                <a:gd name="connsiteY10" fmla="*/ 301757 h 1104823"/>
                <a:gd name="connsiteX11" fmla="*/ 104492 w 1834540"/>
                <a:gd name="connsiteY11" fmla="*/ 282759 h 1104823"/>
                <a:gd name="connsiteX12" fmla="*/ 252826 w 1834540"/>
                <a:gd name="connsiteY12" fmla="*/ 318807 h 1104823"/>
                <a:gd name="connsiteX13" fmla="*/ 388982 w 1834540"/>
                <a:gd name="connsiteY13" fmla="*/ 386276 h 1104823"/>
                <a:gd name="connsiteX14" fmla="*/ 549738 w 1834540"/>
                <a:gd name="connsiteY14" fmla="*/ 495639 h 1104823"/>
                <a:gd name="connsiteX15" fmla="*/ 739236 w 1834540"/>
                <a:gd name="connsiteY15" fmla="*/ 655421 h 1104823"/>
                <a:gd name="connsiteX16" fmla="*/ 739236 w 1834540"/>
                <a:gd name="connsiteY16" fmla="*/ 655421 h 1104823"/>
                <a:gd name="connsiteX17" fmla="*/ 968192 w 1834540"/>
                <a:gd name="connsiteY17" fmla="*/ 833471 h 1104823"/>
                <a:gd name="connsiteX18" fmla="*/ 968192 w 1834540"/>
                <a:gd name="connsiteY18" fmla="*/ 833471 h 1104823"/>
                <a:gd name="connsiteX19" fmla="*/ 1216390 w 1834540"/>
                <a:gd name="connsiteY19" fmla="*/ 1002996 h 1104823"/>
                <a:gd name="connsiteX20" fmla="*/ 1343047 w 1834540"/>
                <a:gd name="connsiteY20" fmla="*/ 1085810 h 1104823"/>
                <a:gd name="connsiteX21" fmla="*/ 1386646 w 1834540"/>
                <a:gd name="connsiteY21" fmla="*/ 1104808 h 1104823"/>
                <a:gd name="connsiteX22" fmla="*/ 1441449 w 1834540"/>
                <a:gd name="connsiteY22" fmla="*/ 1076310 h 1104823"/>
                <a:gd name="connsiteX23" fmla="*/ 1791460 w 1834540"/>
                <a:gd name="connsiteY23" fmla="*/ 766733 h 1104823"/>
                <a:gd name="connsiteX24" fmla="*/ 840318 w 1834540"/>
                <a:gd name="connsiteY24" fmla="*/ 736286 h 1104823"/>
                <a:gd name="connsiteX25" fmla="*/ 841779 w 1834540"/>
                <a:gd name="connsiteY25" fmla="*/ 738235 h 1104823"/>
                <a:gd name="connsiteX26" fmla="*/ 840318 w 1834540"/>
                <a:gd name="connsiteY26" fmla="*/ 736286 h 1104823"/>
                <a:gd name="connsiteX27" fmla="*/ 1254631 w 1834540"/>
                <a:gd name="connsiteY27" fmla="*/ 1026135 h 1104823"/>
                <a:gd name="connsiteX28" fmla="*/ 1254631 w 1834540"/>
                <a:gd name="connsiteY28" fmla="*/ 1026135 h 1104823"/>
                <a:gd name="connsiteX29" fmla="*/ 1256092 w 1834540"/>
                <a:gd name="connsiteY29" fmla="*/ 1028083 h 1104823"/>
                <a:gd name="connsiteX30" fmla="*/ 1254631 w 1834540"/>
                <a:gd name="connsiteY30" fmla="*/ 1026135 h 1104823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26625"/>
                <a:gd name="connsiteY0" fmla="*/ 754418 h 1109932"/>
                <a:gd name="connsiteX1" fmla="*/ 1824098 w 1826625"/>
                <a:gd name="connsiteY1" fmla="*/ 635692 h 1109932"/>
                <a:gd name="connsiteX2" fmla="*/ 1747617 w 1826625"/>
                <a:gd name="connsiteY2" fmla="*/ 538507 h 1109932"/>
                <a:gd name="connsiteX3" fmla="*/ 1524994 w 1826625"/>
                <a:gd name="connsiteY3" fmla="*/ 346087 h 1109932"/>
                <a:gd name="connsiteX4" fmla="*/ 1378121 w 1826625"/>
                <a:gd name="connsiteY4" fmla="*/ 237942 h 1109932"/>
                <a:gd name="connsiteX5" fmla="*/ 945053 w 1826625"/>
                <a:gd name="connsiteY5" fmla="*/ 43086 h 1109932"/>
                <a:gd name="connsiteX6" fmla="*/ 720481 w 1826625"/>
                <a:gd name="connsiteY6" fmla="*/ 3384 h 1109932"/>
                <a:gd name="connsiteX7" fmla="*/ 583594 w 1826625"/>
                <a:gd name="connsiteY7" fmla="*/ 5576 h 1109932"/>
                <a:gd name="connsiteX8" fmla="*/ 245519 w 1826625"/>
                <a:gd name="connsiteY8" fmla="*/ 96428 h 1109932"/>
                <a:gd name="connsiteX9" fmla="*/ 26549 w 1826625"/>
                <a:gd name="connsiteY9" fmla="*/ 262786 h 1109932"/>
                <a:gd name="connsiteX10" fmla="*/ 0 w 1826625"/>
                <a:gd name="connsiteY10" fmla="*/ 301757 h 1109932"/>
                <a:gd name="connsiteX11" fmla="*/ 104492 w 1826625"/>
                <a:gd name="connsiteY11" fmla="*/ 282759 h 1109932"/>
                <a:gd name="connsiteX12" fmla="*/ 252826 w 1826625"/>
                <a:gd name="connsiteY12" fmla="*/ 318807 h 1109932"/>
                <a:gd name="connsiteX13" fmla="*/ 388982 w 1826625"/>
                <a:gd name="connsiteY13" fmla="*/ 386276 h 1109932"/>
                <a:gd name="connsiteX14" fmla="*/ 549738 w 1826625"/>
                <a:gd name="connsiteY14" fmla="*/ 495639 h 1109932"/>
                <a:gd name="connsiteX15" fmla="*/ 739236 w 1826625"/>
                <a:gd name="connsiteY15" fmla="*/ 655421 h 1109932"/>
                <a:gd name="connsiteX16" fmla="*/ 739236 w 1826625"/>
                <a:gd name="connsiteY16" fmla="*/ 655421 h 1109932"/>
                <a:gd name="connsiteX17" fmla="*/ 968192 w 1826625"/>
                <a:gd name="connsiteY17" fmla="*/ 833471 h 1109932"/>
                <a:gd name="connsiteX18" fmla="*/ 968192 w 1826625"/>
                <a:gd name="connsiteY18" fmla="*/ 833471 h 1109932"/>
                <a:gd name="connsiteX19" fmla="*/ 1216390 w 1826625"/>
                <a:gd name="connsiteY19" fmla="*/ 1002996 h 1109932"/>
                <a:gd name="connsiteX20" fmla="*/ 1343047 w 1826625"/>
                <a:gd name="connsiteY20" fmla="*/ 1085810 h 1109932"/>
                <a:gd name="connsiteX21" fmla="*/ 1386646 w 1826625"/>
                <a:gd name="connsiteY21" fmla="*/ 1104808 h 1109932"/>
                <a:gd name="connsiteX22" fmla="*/ 1441449 w 1826625"/>
                <a:gd name="connsiteY22" fmla="*/ 1076310 h 1109932"/>
                <a:gd name="connsiteX23" fmla="*/ 1782224 w 1826625"/>
                <a:gd name="connsiteY23" fmla="*/ 754418 h 1109932"/>
                <a:gd name="connsiteX24" fmla="*/ 840318 w 1826625"/>
                <a:gd name="connsiteY24" fmla="*/ 736286 h 1109932"/>
                <a:gd name="connsiteX25" fmla="*/ 841779 w 1826625"/>
                <a:gd name="connsiteY25" fmla="*/ 738235 h 1109932"/>
                <a:gd name="connsiteX26" fmla="*/ 840318 w 1826625"/>
                <a:gd name="connsiteY26" fmla="*/ 736286 h 1109932"/>
                <a:gd name="connsiteX27" fmla="*/ 1254631 w 1826625"/>
                <a:gd name="connsiteY27" fmla="*/ 1026135 h 1109932"/>
                <a:gd name="connsiteX28" fmla="*/ 1254631 w 1826625"/>
                <a:gd name="connsiteY28" fmla="*/ 1026135 h 1109932"/>
                <a:gd name="connsiteX29" fmla="*/ 1256092 w 1826625"/>
                <a:gd name="connsiteY29" fmla="*/ 1028083 h 1109932"/>
                <a:gd name="connsiteX30" fmla="*/ 1254631 w 1826625"/>
                <a:gd name="connsiteY30" fmla="*/ 1026135 h 1109932"/>
                <a:gd name="connsiteX0" fmla="*/ 1782224 w 1825422"/>
                <a:gd name="connsiteY0" fmla="*/ 754418 h 1109932"/>
                <a:gd name="connsiteX1" fmla="*/ 1824098 w 1825422"/>
                <a:gd name="connsiteY1" fmla="*/ 635692 h 1109932"/>
                <a:gd name="connsiteX2" fmla="*/ 1747617 w 1825422"/>
                <a:gd name="connsiteY2" fmla="*/ 538507 h 1109932"/>
                <a:gd name="connsiteX3" fmla="*/ 1524994 w 1825422"/>
                <a:gd name="connsiteY3" fmla="*/ 346087 h 1109932"/>
                <a:gd name="connsiteX4" fmla="*/ 1378121 w 1825422"/>
                <a:gd name="connsiteY4" fmla="*/ 237942 h 1109932"/>
                <a:gd name="connsiteX5" fmla="*/ 945053 w 1825422"/>
                <a:gd name="connsiteY5" fmla="*/ 43086 h 1109932"/>
                <a:gd name="connsiteX6" fmla="*/ 720481 w 1825422"/>
                <a:gd name="connsiteY6" fmla="*/ 3384 h 1109932"/>
                <a:gd name="connsiteX7" fmla="*/ 583594 w 1825422"/>
                <a:gd name="connsiteY7" fmla="*/ 5576 h 1109932"/>
                <a:gd name="connsiteX8" fmla="*/ 245519 w 1825422"/>
                <a:gd name="connsiteY8" fmla="*/ 96428 h 1109932"/>
                <a:gd name="connsiteX9" fmla="*/ 26549 w 1825422"/>
                <a:gd name="connsiteY9" fmla="*/ 262786 h 1109932"/>
                <a:gd name="connsiteX10" fmla="*/ 0 w 1825422"/>
                <a:gd name="connsiteY10" fmla="*/ 301757 h 1109932"/>
                <a:gd name="connsiteX11" fmla="*/ 104492 w 1825422"/>
                <a:gd name="connsiteY11" fmla="*/ 282759 h 1109932"/>
                <a:gd name="connsiteX12" fmla="*/ 252826 w 1825422"/>
                <a:gd name="connsiteY12" fmla="*/ 318807 h 1109932"/>
                <a:gd name="connsiteX13" fmla="*/ 388982 w 1825422"/>
                <a:gd name="connsiteY13" fmla="*/ 386276 h 1109932"/>
                <a:gd name="connsiteX14" fmla="*/ 549738 w 1825422"/>
                <a:gd name="connsiteY14" fmla="*/ 495639 h 1109932"/>
                <a:gd name="connsiteX15" fmla="*/ 739236 w 1825422"/>
                <a:gd name="connsiteY15" fmla="*/ 655421 h 1109932"/>
                <a:gd name="connsiteX16" fmla="*/ 739236 w 1825422"/>
                <a:gd name="connsiteY16" fmla="*/ 655421 h 1109932"/>
                <a:gd name="connsiteX17" fmla="*/ 968192 w 1825422"/>
                <a:gd name="connsiteY17" fmla="*/ 833471 h 1109932"/>
                <a:gd name="connsiteX18" fmla="*/ 968192 w 1825422"/>
                <a:gd name="connsiteY18" fmla="*/ 833471 h 1109932"/>
                <a:gd name="connsiteX19" fmla="*/ 1216390 w 1825422"/>
                <a:gd name="connsiteY19" fmla="*/ 1002996 h 1109932"/>
                <a:gd name="connsiteX20" fmla="*/ 1343047 w 1825422"/>
                <a:gd name="connsiteY20" fmla="*/ 1085810 h 1109932"/>
                <a:gd name="connsiteX21" fmla="*/ 1386646 w 1825422"/>
                <a:gd name="connsiteY21" fmla="*/ 1104808 h 1109932"/>
                <a:gd name="connsiteX22" fmla="*/ 1441449 w 1825422"/>
                <a:gd name="connsiteY22" fmla="*/ 1076310 h 1109932"/>
                <a:gd name="connsiteX23" fmla="*/ 1782224 w 1825422"/>
                <a:gd name="connsiteY23" fmla="*/ 754418 h 1109932"/>
                <a:gd name="connsiteX24" fmla="*/ 840318 w 1825422"/>
                <a:gd name="connsiteY24" fmla="*/ 736286 h 1109932"/>
                <a:gd name="connsiteX25" fmla="*/ 841779 w 1825422"/>
                <a:gd name="connsiteY25" fmla="*/ 738235 h 1109932"/>
                <a:gd name="connsiteX26" fmla="*/ 840318 w 1825422"/>
                <a:gd name="connsiteY26" fmla="*/ 736286 h 1109932"/>
                <a:gd name="connsiteX27" fmla="*/ 1254631 w 1825422"/>
                <a:gd name="connsiteY27" fmla="*/ 1026135 h 1109932"/>
                <a:gd name="connsiteX28" fmla="*/ 1254631 w 1825422"/>
                <a:gd name="connsiteY28" fmla="*/ 1026135 h 1109932"/>
                <a:gd name="connsiteX29" fmla="*/ 1256092 w 1825422"/>
                <a:gd name="connsiteY29" fmla="*/ 1028083 h 1109932"/>
                <a:gd name="connsiteX30" fmla="*/ 1254631 w 1825422"/>
                <a:gd name="connsiteY30" fmla="*/ 1026135 h 110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D4692C2-AC80-49DD-BEC0-C32C001A2158}"/>
                </a:ext>
              </a:extLst>
            </p:cNvPr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810160-F85C-4AEB-95B0-26D1CD53DF84}"/>
                </a:ext>
              </a:extLst>
            </p:cNvPr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13CA08F-845A-421F-BF37-FA351150F82E}"/>
                </a:ext>
              </a:extLst>
            </p:cNvPr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CF61E43-FACB-44FE-939A-3F5B6644F6A8}"/>
                </a:ext>
              </a:extLst>
            </p:cNvPr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" fmla="*/ 0 w 325671"/>
                <a:gd name="connsiteY0" fmla="*/ 51248 h 271192"/>
                <a:gd name="connsiteX1" fmla="*/ 165871 w 325671"/>
                <a:gd name="connsiteY1" fmla="*/ 105320 h 271192"/>
                <a:gd name="connsiteX2" fmla="*/ 275965 w 325671"/>
                <a:gd name="connsiteY2" fmla="*/ 271192 h 271192"/>
                <a:gd name="connsiteX3" fmla="*/ 324923 w 325671"/>
                <a:gd name="connsiteY3" fmla="*/ 220773 h 271192"/>
                <a:gd name="connsiteX4" fmla="*/ 239166 w 325671"/>
                <a:gd name="connsiteY4" fmla="*/ 55476 h 271192"/>
                <a:gd name="connsiteX5" fmla="*/ 66008 w 325671"/>
                <a:gd name="connsiteY5" fmla="*/ 829 h 271192"/>
                <a:gd name="connsiteX6" fmla="*/ 0 w 325671"/>
                <a:gd name="connsiteY6" fmla="*/ 51248 h 271192"/>
                <a:gd name="connsiteX0" fmla="*/ 3757 w 329428"/>
                <a:gd name="connsiteY0" fmla="*/ 51248 h 271192"/>
                <a:gd name="connsiteX1" fmla="*/ 185022 w 329428"/>
                <a:gd name="connsiteY1" fmla="*/ 102241 h 271192"/>
                <a:gd name="connsiteX2" fmla="*/ 279722 w 329428"/>
                <a:gd name="connsiteY2" fmla="*/ 271192 h 271192"/>
                <a:gd name="connsiteX3" fmla="*/ 328680 w 329428"/>
                <a:gd name="connsiteY3" fmla="*/ 220773 h 271192"/>
                <a:gd name="connsiteX4" fmla="*/ 242923 w 329428"/>
                <a:gd name="connsiteY4" fmla="*/ 55476 h 271192"/>
                <a:gd name="connsiteX5" fmla="*/ 69765 w 329428"/>
                <a:gd name="connsiteY5" fmla="*/ 829 h 271192"/>
                <a:gd name="connsiteX6" fmla="*/ 3757 w 329428"/>
                <a:gd name="connsiteY6" fmla="*/ 51248 h 271192"/>
                <a:gd name="connsiteX0" fmla="*/ 3757 w 329827"/>
                <a:gd name="connsiteY0" fmla="*/ 51248 h 283507"/>
                <a:gd name="connsiteX1" fmla="*/ 185022 w 329827"/>
                <a:gd name="connsiteY1" fmla="*/ 102241 h 283507"/>
                <a:gd name="connsiteX2" fmla="*/ 285880 w 329827"/>
                <a:gd name="connsiteY2" fmla="*/ 283507 h 283507"/>
                <a:gd name="connsiteX3" fmla="*/ 328680 w 329827"/>
                <a:gd name="connsiteY3" fmla="*/ 220773 h 283507"/>
                <a:gd name="connsiteX4" fmla="*/ 242923 w 329827"/>
                <a:gd name="connsiteY4" fmla="*/ 55476 h 283507"/>
                <a:gd name="connsiteX5" fmla="*/ 69765 w 329827"/>
                <a:gd name="connsiteY5" fmla="*/ 829 h 283507"/>
                <a:gd name="connsiteX6" fmla="*/ 3757 w 329827"/>
                <a:gd name="connsiteY6" fmla="*/ 51248 h 283507"/>
                <a:gd name="connsiteX0" fmla="*/ 3757 w 328680"/>
                <a:gd name="connsiteY0" fmla="*/ 51248 h 283507"/>
                <a:gd name="connsiteX1" fmla="*/ 185022 w 328680"/>
                <a:gd name="connsiteY1" fmla="*/ 102241 h 283507"/>
                <a:gd name="connsiteX2" fmla="*/ 285880 w 328680"/>
                <a:gd name="connsiteY2" fmla="*/ 283507 h 283507"/>
                <a:gd name="connsiteX3" fmla="*/ 328680 w 328680"/>
                <a:gd name="connsiteY3" fmla="*/ 220773 h 283507"/>
                <a:gd name="connsiteX4" fmla="*/ 242923 w 328680"/>
                <a:gd name="connsiteY4" fmla="*/ 55476 h 283507"/>
                <a:gd name="connsiteX5" fmla="*/ 69765 w 328680"/>
                <a:gd name="connsiteY5" fmla="*/ 829 h 283507"/>
                <a:gd name="connsiteX6" fmla="*/ 3757 w 328680"/>
                <a:gd name="connsiteY6" fmla="*/ 51248 h 283507"/>
                <a:gd name="connsiteX0" fmla="*/ 3757 w 334838"/>
                <a:gd name="connsiteY0" fmla="*/ 51248 h 283507"/>
                <a:gd name="connsiteX1" fmla="*/ 185022 w 334838"/>
                <a:gd name="connsiteY1" fmla="*/ 102241 h 283507"/>
                <a:gd name="connsiteX2" fmla="*/ 285880 w 334838"/>
                <a:gd name="connsiteY2" fmla="*/ 283507 h 283507"/>
                <a:gd name="connsiteX3" fmla="*/ 334838 w 334838"/>
                <a:gd name="connsiteY3" fmla="*/ 226931 h 283507"/>
                <a:gd name="connsiteX4" fmla="*/ 242923 w 334838"/>
                <a:gd name="connsiteY4" fmla="*/ 55476 h 283507"/>
                <a:gd name="connsiteX5" fmla="*/ 69765 w 334838"/>
                <a:gd name="connsiteY5" fmla="*/ 829 h 283507"/>
                <a:gd name="connsiteX6" fmla="*/ 3757 w 334838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6008 w 331081"/>
                <a:gd name="connsiteY5" fmla="*/ 829 h 283507"/>
                <a:gd name="connsiteX6" fmla="*/ 0 w 331081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2929 w 331081"/>
                <a:gd name="connsiteY5" fmla="*/ 829 h 283507"/>
                <a:gd name="connsiteX6" fmla="*/ 0 w 331081"/>
                <a:gd name="connsiteY6" fmla="*/ 51248 h 2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F843CEC-BEE7-4157-8831-3DB462E3F5C9}"/>
                </a:ext>
              </a:extLst>
            </p:cNvPr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EDE5F8D-A2B4-8220-7592-97450CC76450}"/>
              </a:ext>
            </a:extLst>
          </p:cNvPr>
          <p:cNvSpPr txBox="1"/>
          <p:nvPr/>
        </p:nvSpPr>
        <p:spPr>
          <a:xfrm>
            <a:off x="5447379" y="1501437"/>
            <a:ext cx="4024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四大核心功能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英語對話練習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單字造句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跟讀練習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聽力練習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C1B4EF1-58DE-6C08-DBD9-26AB6FEA0E5B}"/>
              </a:ext>
            </a:extLst>
          </p:cNvPr>
          <p:cNvSpPr txBox="1"/>
          <p:nvPr/>
        </p:nvSpPr>
        <p:spPr>
          <a:xfrm>
            <a:off x="9727804" y="1596477"/>
            <a:ext cx="40241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全面語言培養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覆蓋聽、說、讀、寫四種語言能力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創造低門檻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高互動學習平台</a:t>
            </a:r>
            <a:endParaRPr lang="en-US" altLang="ko-KR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9FD1A5F0-A676-E3D8-67B0-DFDE781A004F}"/>
              </a:ext>
            </a:extLst>
          </p:cNvPr>
          <p:cNvSpPr txBox="1"/>
          <p:nvPr/>
        </p:nvSpPr>
        <p:spPr>
          <a:xfrm>
            <a:off x="638984" y="5657198"/>
            <a:ext cx="45877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三項主要系統優勢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易用性與便利性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平台，免除額外安裝，降低使用門檻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互動式學習體驗：即時反饋和自然對話，解決缺乏練習機會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多元化學習功能：創造模擬真實語境的學習環境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8AE46CE-C2FA-8D85-8B3F-B1AF0F469E50}"/>
              </a:ext>
            </a:extLst>
          </p:cNvPr>
          <p:cNvSpPr txBox="1"/>
          <p:nvPr/>
        </p:nvSpPr>
        <p:spPr>
          <a:xfrm>
            <a:off x="5447379" y="5353619"/>
            <a:ext cx="4024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技術實現成功整合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多種先進技術整合：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GPT-3.5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、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Whisper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、</a:t>
            </a:r>
            <a:r>
              <a:rPr lang="en-US" altLang="zh-TW" sz="2000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gTTS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Flask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後端架構：確保系統結構靈活性和可擴展性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提示工程技術突破：引導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生成符合教育目的內容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66DF38F-E7AC-4E1C-26C0-8D08E8878CF7}"/>
              </a:ext>
            </a:extLst>
          </p:cNvPr>
          <p:cNvSpPr txBox="1"/>
          <p:nvPr/>
        </p:nvSpPr>
        <p:spPr>
          <a:xfrm>
            <a:off x="10136509" y="6005452"/>
            <a:ext cx="40241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使用者訪談重要發現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個性化學習驗證：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系統能適應不同學習階段需求，證實多功能整合設計價值</a:t>
            </a:r>
            <a:endParaRPr lang="en-US" altLang="ko-KR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D0BE4-1C83-2302-063B-6C457773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0AA1BFF-4ADE-370D-0031-ED79928D2332}"/>
              </a:ext>
            </a:extLst>
          </p:cNvPr>
          <p:cNvGrpSpPr/>
          <p:nvPr/>
        </p:nvGrpSpPr>
        <p:grpSpPr>
          <a:xfrm flipH="1">
            <a:off x="11285621" y="2907573"/>
            <a:ext cx="1967054" cy="1928970"/>
            <a:chOff x="837241" y="2338238"/>
            <a:chExt cx="4340280" cy="398247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309E6D-A80A-FD61-ED86-51721241BCEA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6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425EE3A-A826-6815-9E7C-3C687BB705B8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2E0C60D-07EA-E71D-FC09-3CBB01918780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08AA9D5-1D09-1CEB-EC80-C7F0ED20D820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34B111-971B-890C-367A-E069CB0EF835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A4FAC84-BE3F-7C71-FC4A-4CACA10C90F3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</p:grpSp>
      <p:sp>
        <p:nvSpPr>
          <p:cNvPr id="3" name="Freeform 10">
            <a:extLst>
              <a:ext uri="{FF2B5EF4-FFF2-40B4-BE49-F238E27FC236}">
                <a16:creationId xmlns:a16="http://schemas.microsoft.com/office/drawing/2014/main" id="{69A81B58-124D-B604-43BD-5138525F3E4B}"/>
              </a:ext>
            </a:extLst>
          </p:cNvPr>
          <p:cNvSpPr/>
          <p:nvPr/>
        </p:nvSpPr>
        <p:spPr>
          <a:xfrm>
            <a:off x="1" y="4363759"/>
            <a:ext cx="15207914" cy="989860"/>
          </a:xfrm>
          <a:custGeom>
            <a:avLst/>
            <a:gdLst>
              <a:gd name="connsiteX0" fmla="*/ 0 w 7344461"/>
              <a:gd name="connsiteY0" fmla="*/ 1843430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2472538 w 7344461"/>
              <a:gd name="connsiteY9" fmla="*/ 409651 h 3489350"/>
              <a:gd name="connsiteX10" fmla="*/ 3160166 w 7344461"/>
              <a:gd name="connsiteY10" fmla="*/ 14630 h 3489350"/>
              <a:gd name="connsiteX11" fmla="*/ 3803904 w 7344461"/>
              <a:gd name="connsiteY11" fmla="*/ 387705 h 3489350"/>
              <a:gd name="connsiteX12" fmla="*/ 4462272 w 7344461"/>
              <a:gd name="connsiteY12" fmla="*/ 0 h 3489350"/>
              <a:gd name="connsiteX13" fmla="*/ 5113325 w 7344461"/>
              <a:gd name="connsiteY13" fmla="*/ 475488 h 3489350"/>
              <a:gd name="connsiteX14" fmla="*/ 4096512 w 7344461"/>
              <a:gd name="connsiteY14" fmla="*/ 1821485 h 3489350"/>
              <a:gd name="connsiteX15" fmla="*/ 5479085 w 7344461"/>
              <a:gd name="connsiteY15" fmla="*/ 1836115 h 3489350"/>
              <a:gd name="connsiteX16" fmla="*/ 5698541 w 7344461"/>
              <a:gd name="connsiteY16" fmla="*/ 2179929 h 3489350"/>
              <a:gd name="connsiteX17" fmla="*/ 5888736 w 7344461"/>
              <a:gd name="connsiteY17" fmla="*/ 29261 h 3489350"/>
              <a:gd name="connsiteX18" fmla="*/ 6166714 w 7344461"/>
              <a:gd name="connsiteY18" fmla="*/ 3489350 h 3489350"/>
              <a:gd name="connsiteX19" fmla="*/ 6510528 w 7344461"/>
              <a:gd name="connsiteY19" fmla="*/ 1331366 h 3489350"/>
              <a:gd name="connsiteX20" fmla="*/ 6620256 w 7344461"/>
              <a:gd name="connsiteY20" fmla="*/ 1916582 h 3489350"/>
              <a:gd name="connsiteX21" fmla="*/ 7344461 w 7344461"/>
              <a:gd name="connsiteY21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96512 w 7344461"/>
              <a:gd name="connsiteY15" fmla="*/ 1821485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916582 h 3489350"/>
              <a:gd name="connsiteX23" fmla="*/ 7344461 w 7344461"/>
              <a:gd name="connsiteY23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880006 h 3489350"/>
              <a:gd name="connsiteX23" fmla="*/ 7344461 w 7344461"/>
              <a:gd name="connsiteY23" fmla="*/ 1865376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994867 w 7366407"/>
              <a:gd name="connsiteY2" fmla="*/ 1316736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1009498 w 7366407"/>
              <a:gd name="connsiteY2" fmla="*/ 1228954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609344 w 7366407"/>
              <a:gd name="connsiteY4" fmla="*/ 43891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698541 w 7366407"/>
              <a:gd name="connsiteY17" fmla="*/ 2179929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793639 w 7366407"/>
              <a:gd name="connsiteY17" fmla="*/ 2238451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5976519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61734 w 7366407"/>
              <a:gd name="connsiteY20" fmla="*/ 126552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50745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1770 w 7366407"/>
              <a:gd name="connsiteY15" fmla="*/ 1880006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140402 w 7366407"/>
              <a:gd name="connsiteY14" fmla="*/ 1880007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01871 w 7366407"/>
              <a:gd name="connsiteY7" fmla="*/ 1853012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9690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60857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462272 w 7454190"/>
              <a:gd name="connsiteY11" fmla="*/ 872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9049317"/>
              <a:gd name="connsiteY0" fmla="*/ 1873451 h 3563263"/>
              <a:gd name="connsiteX1" fmla="*/ 907085 w 9049317"/>
              <a:gd name="connsiteY1" fmla="*/ 1866137 h 3563263"/>
              <a:gd name="connsiteX2" fmla="*/ 1009498 w 9049317"/>
              <a:gd name="connsiteY2" fmla="*/ 1237030 h 3563263"/>
              <a:gd name="connsiteX3" fmla="*/ 1294790 w 9049317"/>
              <a:gd name="connsiteY3" fmla="*/ 3563263 h 3563263"/>
              <a:gd name="connsiteX4" fmla="*/ 1587398 w 9049317"/>
              <a:gd name="connsiteY4" fmla="*/ 15391 h 3563263"/>
              <a:gd name="connsiteX5" fmla="*/ 1865376 w 9049317"/>
              <a:gd name="connsiteY5" fmla="*/ 2239211 h 3563263"/>
              <a:gd name="connsiteX6" fmla="*/ 2038831 w 9049317"/>
              <a:gd name="connsiteY6" fmla="*/ 1875718 h 3563263"/>
              <a:gd name="connsiteX7" fmla="*/ 3457980 w 9049317"/>
              <a:gd name="connsiteY7" fmla="*/ 1890349 h 3563263"/>
              <a:gd name="connsiteX8" fmla="*/ 2443277 w 9049317"/>
              <a:gd name="connsiteY8" fmla="*/ 490879 h 3563263"/>
              <a:gd name="connsiteX9" fmla="*/ 3043123 w 9049317"/>
              <a:gd name="connsiteY9" fmla="*/ 761 h 3563263"/>
              <a:gd name="connsiteX10" fmla="*/ 3803904 w 9049317"/>
              <a:gd name="connsiteY10" fmla="*/ 395781 h 3563263"/>
              <a:gd name="connsiteX11" fmla="*/ 4586631 w 9049317"/>
              <a:gd name="connsiteY11" fmla="*/ 22706 h 3563263"/>
              <a:gd name="connsiteX12" fmla="*/ 5171847 w 9049317"/>
              <a:gd name="connsiteY12" fmla="*/ 483564 h 3563263"/>
              <a:gd name="connsiteX13" fmla="*/ 4140402 w 9049317"/>
              <a:gd name="connsiteY13" fmla="*/ 1880768 h 3563263"/>
              <a:gd name="connsiteX14" fmla="*/ 5498920 w 9049317"/>
              <a:gd name="connsiteY14" fmla="*/ 1897663 h 3563263"/>
              <a:gd name="connsiteX15" fmla="*/ 5720487 w 9049317"/>
              <a:gd name="connsiteY15" fmla="*/ 2239211 h 3563263"/>
              <a:gd name="connsiteX16" fmla="*/ 6005780 w 9049317"/>
              <a:gd name="connsiteY16" fmla="*/ 761 h 3563263"/>
              <a:gd name="connsiteX17" fmla="*/ 6269127 w 9049317"/>
              <a:gd name="connsiteY17" fmla="*/ 3534002 h 3563263"/>
              <a:gd name="connsiteX18" fmla="*/ 6590995 w 9049317"/>
              <a:gd name="connsiteY18" fmla="*/ 1251660 h 3563263"/>
              <a:gd name="connsiteX19" fmla="*/ 6686093 w 9049317"/>
              <a:gd name="connsiteY19" fmla="*/ 1895397 h 3563263"/>
              <a:gd name="connsiteX20" fmla="*/ 9049317 w 9049317"/>
              <a:gd name="connsiteY20" fmla="*/ 1903256 h 3563263"/>
              <a:gd name="connsiteX0" fmla="*/ 0 w 9151469"/>
              <a:gd name="connsiteY0" fmla="*/ 1873451 h 3563263"/>
              <a:gd name="connsiteX1" fmla="*/ 907085 w 9151469"/>
              <a:gd name="connsiteY1" fmla="*/ 1866137 h 3563263"/>
              <a:gd name="connsiteX2" fmla="*/ 1009498 w 9151469"/>
              <a:gd name="connsiteY2" fmla="*/ 1237030 h 3563263"/>
              <a:gd name="connsiteX3" fmla="*/ 1294790 w 9151469"/>
              <a:gd name="connsiteY3" fmla="*/ 3563263 h 3563263"/>
              <a:gd name="connsiteX4" fmla="*/ 1587398 w 9151469"/>
              <a:gd name="connsiteY4" fmla="*/ 15391 h 3563263"/>
              <a:gd name="connsiteX5" fmla="*/ 1865376 w 9151469"/>
              <a:gd name="connsiteY5" fmla="*/ 2239211 h 3563263"/>
              <a:gd name="connsiteX6" fmla="*/ 2038831 w 9151469"/>
              <a:gd name="connsiteY6" fmla="*/ 1875718 h 3563263"/>
              <a:gd name="connsiteX7" fmla="*/ 3457980 w 9151469"/>
              <a:gd name="connsiteY7" fmla="*/ 1890349 h 3563263"/>
              <a:gd name="connsiteX8" fmla="*/ 2443277 w 9151469"/>
              <a:gd name="connsiteY8" fmla="*/ 490879 h 3563263"/>
              <a:gd name="connsiteX9" fmla="*/ 3043123 w 9151469"/>
              <a:gd name="connsiteY9" fmla="*/ 761 h 3563263"/>
              <a:gd name="connsiteX10" fmla="*/ 3803904 w 9151469"/>
              <a:gd name="connsiteY10" fmla="*/ 395781 h 3563263"/>
              <a:gd name="connsiteX11" fmla="*/ 4586631 w 9151469"/>
              <a:gd name="connsiteY11" fmla="*/ 22706 h 3563263"/>
              <a:gd name="connsiteX12" fmla="*/ 5171847 w 9151469"/>
              <a:gd name="connsiteY12" fmla="*/ 483564 h 3563263"/>
              <a:gd name="connsiteX13" fmla="*/ 4140402 w 9151469"/>
              <a:gd name="connsiteY13" fmla="*/ 1880768 h 3563263"/>
              <a:gd name="connsiteX14" fmla="*/ 5498920 w 9151469"/>
              <a:gd name="connsiteY14" fmla="*/ 1897663 h 3563263"/>
              <a:gd name="connsiteX15" fmla="*/ 5720487 w 9151469"/>
              <a:gd name="connsiteY15" fmla="*/ 2239211 h 3563263"/>
              <a:gd name="connsiteX16" fmla="*/ 6005780 w 9151469"/>
              <a:gd name="connsiteY16" fmla="*/ 761 h 3563263"/>
              <a:gd name="connsiteX17" fmla="*/ 6269127 w 9151469"/>
              <a:gd name="connsiteY17" fmla="*/ 3534002 h 3563263"/>
              <a:gd name="connsiteX18" fmla="*/ 6590995 w 9151469"/>
              <a:gd name="connsiteY18" fmla="*/ 1251660 h 3563263"/>
              <a:gd name="connsiteX19" fmla="*/ 6686093 w 9151469"/>
              <a:gd name="connsiteY19" fmla="*/ 1895397 h 3563263"/>
              <a:gd name="connsiteX20" fmla="*/ 9151469 w 9151469"/>
              <a:gd name="connsiteY20" fmla="*/ 1903256 h 3563263"/>
              <a:gd name="connsiteX0" fmla="*/ 0 w 9088607"/>
              <a:gd name="connsiteY0" fmla="*/ 1873451 h 3563263"/>
              <a:gd name="connsiteX1" fmla="*/ 907085 w 9088607"/>
              <a:gd name="connsiteY1" fmla="*/ 1866137 h 3563263"/>
              <a:gd name="connsiteX2" fmla="*/ 1009498 w 9088607"/>
              <a:gd name="connsiteY2" fmla="*/ 1237030 h 3563263"/>
              <a:gd name="connsiteX3" fmla="*/ 1294790 w 9088607"/>
              <a:gd name="connsiteY3" fmla="*/ 3563263 h 3563263"/>
              <a:gd name="connsiteX4" fmla="*/ 1587398 w 9088607"/>
              <a:gd name="connsiteY4" fmla="*/ 15391 h 3563263"/>
              <a:gd name="connsiteX5" fmla="*/ 1865376 w 9088607"/>
              <a:gd name="connsiteY5" fmla="*/ 2239211 h 3563263"/>
              <a:gd name="connsiteX6" fmla="*/ 2038831 w 9088607"/>
              <a:gd name="connsiteY6" fmla="*/ 1875718 h 3563263"/>
              <a:gd name="connsiteX7" fmla="*/ 3457980 w 9088607"/>
              <a:gd name="connsiteY7" fmla="*/ 1890349 h 3563263"/>
              <a:gd name="connsiteX8" fmla="*/ 2443277 w 9088607"/>
              <a:gd name="connsiteY8" fmla="*/ 490879 h 3563263"/>
              <a:gd name="connsiteX9" fmla="*/ 3043123 w 9088607"/>
              <a:gd name="connsiteY9" fmla="*/ 761 h 3563263"/>
              <a:gd name="connsiteX10" fmla="*/ 3803904 w 9088607"/>
              <a:gd name="connsiteY10" fmla="*/ 395781 h 3563263"/>
              <a:gd name="connsiteX11" fmla="*/ 4586631 w 9088607"/>
              <a:gd name="connsiteY11" fmla="*/ 22706 h 3563263"/>
              <a:gd name="connsiteX12" fmla="*/ 5171847 w 9088607"/>
              <a:gd name="connsiteY12" fmla="*/ 483564 h 3563263"/>
              <a:gd name="connsiteX13" fmla="*/ 4140402 w 9088607"/>
              <a:gd name="connsiteY13" fmla="*/ 1880768 h 3563263"/>
              <a:gd name="connsiteX14" fmla="*/ 5498920 w 9088607"/>
              <a:gd name="connsiteY14" fmla="*/ 1897663 h 3563263"/>
              <a:gd name="connsiteX15" fmla="*/ 5720487 w 9088607"/>
              <a:gd name="connsiteY15" fmla="*/ 2239211 h 3563263"/>
              <a:gd name="connsiteX16" fmla="*/ 6005780 w 9088607"/>
              <a:gd name="connsiteY16" fmla="*/ 761 h 3563263"/>
              <a:gd name="connsiteX17" fmla="*/ 6269127 w 9088607"/>
              <a:gd name="connsiteY17" fmla="*/ 3534002 h 3563263"/>
              <a:gd name="connsiteX18" fmla="*/ 6590995 w 9088607"/>
              <a:gd name="connsiteY18" fmla="*/ 1251660 h 3563263"/>
              <a:gd name="connsiteX19" fmla="*/ 6686093 w 9088607"/>
              <a:gd name="connsiteY19" fmla="*/ 1895397 h 3563263"/>
              <a:gd name="connsiteX20" fmla="*/ 9088607 w 9088607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1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930018 h 3611972"/>
              <a:gd name="connsiteX1" fmla="*/ 2345056 w 10526578"/>
              <a:gd name="connsiteY1" fmla="*/ 1914846 h 3611972"/>
              <a:gd name="connsiteX2" fmla="*/ 2447469 w 10526578"/>
              <a:gd name="connsiteY2" fmla="*/ 1285739 h 3611972"/>
              <a:gd name="connsiteX3" fmla="*/ 2732761 w 10526578"/>
              <a:gd name="connsiteY3" fmla="*/ 3611972 h 3611972"/>
              <a:gd name="connsiteX4" fmla="*/ 3025369 w 10526578"/>
              <a:gd name="connsiteY4" fmla="*/ 64100 h 3611972"/>
              <a:gd name="connsiteX5" fmla="*/ 3303347 w 10526578"/>
              <a:gd name="connsiteY5" fmla="*/ 2287920 h 3611972"/>
              <a:gd name="connsiteX6" fmla="*/ 3476802 w 10526578"/>
              <a:gd name="connsiteY6" fmla="*/ 1924427 h 3611972"/>
              <a:gd name="connsiteX7" fmla="*/ 4895951 w 10526578"/>
              <a:gd name="connsiteY7" fmla="*/ 1939058 h 3611972"/>
              <a:gd name="connsiteX8" fmla="*/ 3881248 w 10526578"/>
              <a:gd name="connsiteY8" fmla="*/ 539588 h 3611972"/>
              <a:gd name="connsiteX9" fmla="*/ 4481094 w 10526578"/>
              <a:gd name="connsiteY9" fmla="*/ 49470 h 3611972"/>
              <a:gd name="connsiteX10" fmla="*/ 6024602 w 10526578"/>
              <a:gd name="connsiteY10" fmla="*/ 71415 h 3611972"/>
              <a:gd name="connsiteX11" fmla="*/ 6609818 w 10526578"/>
              <a:gd name="connsiteY11" fmla="*/ 532273 h 3611972"/>
              <a:gd name="connsiteX12" fmla="*/ 5578373 w 10526578"/>
              <a:gd name="connsiteY12" fmla="*/ 1929477 h 3611972"/>
              <a:gd name="connsiteX13" fmla="*/ 6936891 w 10526578"/>
              <a:gd name="connsiteY13" fmla="*/ 1946372 h 3611972"/>
              <a:gd name="connsiteX14" fmla="*/ 7158458 w 10526578"/>
              <a:gd name="connsiteY14" fmla="*/ 2287920 h 3611972"/>
              <a:gd name="connsiteX15" fmla="*/ 7443751 w 10526578"/>
              <a:gd name="connsiteY15" fmla="*/ 49470 h 3611972"/>
              <a:gd name="connsiteX16" fmla="*/ 7707098 w 10526578"/>
              <a:gd name="connsiteY16" fmla="*/ 3582711 h 3611972"/>
              <a:gd name="connsiteX17" fmla="*/ 8028966 w 10526578"/>
              <a:gd name="connsiteY17" fmla="*/ 1300369 h 3611972"/>
              <a:gd name="connsiteX18" fmla="*/ 8124064 w 10526578"/>
              <a:gd name="connsiteY18" fmla="*/ 1944106 h 3611972"/>
              <a:gd name="connsiteX19" fmla="*/ 10526578 w 10526578"/>
              <a:gd name="connsiteY19" fmla="*/ 1951965 h 3611972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3881248 w 10526578"/>
              <a:gd name="connsiteY8" fmla="*/ 490119 h 3562503"/>
              <a:gd name="connsiteX9" fmla="*/ 6024602 w 10526578"/>
              <a:gd name="connsiteY9" fmla="*/ 21946 h 3562503"/>
              <a:gd name="connsiteX10" fmla="*/ 6609818 w 10526578"/>
              <a:gd name="connsiteY10" fmla="*/ 482804 h 3562503"/>
              <a:gd name="connsiteX11" fmla="*/ 5578373 w 10526578"/>
              <a:gd name="connsiteY11" fmla="*/ 1880008 h 3562503"/>
              <a:gd name="connsiteX12" fmla="*/ 6936891 w 10526578"/>
              <a:gd name="connsiteY12" fmla="*/ 1896903 h 3562503"/>
              <a:gd name="connsiteX13" fmla="*/ 7158458 w 10526578"/>
              <a:gd name="connsiteY13" fmla="*/ 2238451 h 3562503"/>
              <a:gd name="connsiteX14" fmla="*/ 7443751 w 10526578"/>
              <a:gd name="connsiteY14" fmla="*/ 1 h 3562503"/>
              <a:gd name="connsiteX15" fmla="*/ 7707098 w 10526578"/>
              <a:gd name="connsiteY15" fmla="*/ 3533242 h 3562503"/>
              <a:gd name="connsiteX16" fmla="*/ 8028966 w 10526578"/>
              <a:gd name="connsiteY16" fmla="*/ 1250900 h 3562503"/>
              <a:gd name="connsiteX17" fmla="*/ 8124064 w 10526578"/>
              <a:gd name="connsiteY17" fmla="*/ 1894637 h 3562503"/>
              <a:gd name="connsiteX18" fmla="*/ 10526578 w 10526578"/>
              <a:gd name="connsiteY18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024602 w 10526578"/>
              <a:gd name="connsiteY8" fmla="*/ 21946 h 3562503"/>
              <a:gd name="connsiteX9" fmla="*/ 6609818 w 10526578"/>
              <a:gd name="connsiteY9" fmla="*/ 482804 h 3562503"/>
              <a:gd name="connsiteX10" fmla="*/ 5578373 w 10526578"/>
              <a:gd name="connsiteY10" fmla="*/ 1880008 h 3562503"/>
              <a:gd name="connsiteX11" fmla="*/ 6936891 w 10526578"/>
              <a:gd name="connsiteY11" fmla="*/ 1896903 h 3562503"/>
              <a:gd name="connsiteX12" fmla="*/ 7158458 w 10526578"/>
              <a:gd name="connsiteY12" fmla="*/ 2238451 h 3562503"/>
              <a:gd name="connsiteX13" fmla="*/ 7443751 w 10526578"/>
              <a:gd name="connsiteY13" fmla="*/ 1 h 3562503"/>
              <a:gd name="connsiteX14" fmla="*/ 7707098 w 10526578"/>
              <a:gd name="connsiteY14" fmla="*/ 3533242 h 3562503"/>
              <a:gd name="connsiteX15" fmla="*/ 8028966 w 10526578"/>
              <a:gd name="connsiteY15" fmla="*/ 1250900 h 3562503"/>
              <a:gd name="connsiteX16" fmla="*/ 8124064 w 10526578"/>
              <a:gd name="connsiteY16" fmla="*/ 1894637 h 3562503"/>
              <a:gd name="connsiteX17" fmla="*/ 10526578 w 10526578"/>
              <a:gd name="connsiteY17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609818 w 10526578"/>
              <a:gd name="connsiteY8" fmla="*/ 482804 h 3562503"/>
              <a:gd name="connsiteX9" fmla="*/ 5578373 w 10526578"/>
              <a:gd name="connsiteY9" fmla="*/ 1880008 h 3562503"/>
              <a:gd name="connsiteX10" fmla="*/ 6936891 w 10526578"/>
              <a:gd name="connsiteY10" fmla="*/ 1896903 h 3562503"/>
              <a:gd name="connsiteX11" fmla="*/ 7158458 w 10526578"/>
              <a:gd name="connsiteY11" fmla="*/ 2238451 h 3562503"/>
              <a:gd name="connsiteX12" fmla="*/ 7443751 w 10526578"/>
              <a:gd name="connsiteY12" fmla="*/ 1 h 3562503"/>
              <a:gd name="connsiteX13" fmla="*/ 7707098 w 10526578"/>
              <a:gd name="connsiteY13" fmla="*/ 3533242 h 3562503"/>
              <a:gd name="connsiteX14" fmla="*/ 8028966 w 10526578"/>
              <a:gd name="connsiteY14" fmla="*/ 1250900 h 3562503"/>
              <a:gd name="connsiteX15" fmla="*/ 8124064 w 10526578"/>
              <a:gd name="connsiteY15" fmla="*/ 1894637 h 3562503"/>
              <a:gd name="connsiteX16" fmla="*/ 10526578 w 10526578"/>
              <a:gd name="connsiteY16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224844 w 10526578"/>
              <a:gd name="connsiteY10" fmla="*/ 3305198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91650 w 10526578"/>
              <a:gd name="connsiteY10" fmla="*/ 2848025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2662007"/>
              <a:gd name="connsiteY0" fmla="*/ 1880551 h 3562503"/>
              <a:gd name="connsiteX1" fmla="*/ 4480485 w 12662007"/>
              <a:gd name="connsiteY1" fmla="*/ 1865377 h 3562503"/>
              <a:gd name="connsiteX2" fmla="*/ 4582898 w 12662007"/>
              <a:gd name="connsiteY2" fmla="*/ 1236270 h 3562503"/>
              <a:gd name="connsiteX3" fmla="*/ 4868190 w 12662007"/>
              <a:gd name="connsiteY3" fmla="*/ 3562503 h 3562503"/>
              <a:gd name="connsiteX4" fmla="*/ 5160798 w 12662007"/>
              <a:gd name="connsiteY4" fmla="*/ 14631 h 3562503"/>
              <a:gd name="connsiteX5" fmla="*/ 5471971 w 12662007"/>
              <a:gd name="connsiteY5" fmla="*/ 3076606 h 3562503"/>
              <a:gd name="connsiteX6" fmla="*/ 5612231 w 12662007"/>
              <a:gd name="connsiteY6" fmla="*/ 1874958 h 3562503"/>
              <a:gd name="connsiteX7" fmla="*/ 7031380 w 12662007"/>
              <a:gd name="connsiteY7" fmla="*/ 1889589 h 3562503"/>
              <a:gd name="connsiteX8" fmla="*/ 7713802 w 12662007"/>
              <a:gd name="connsiteY8" fmla="*/ 1880008 h 3562503"/>
              <a:gd name="connsiteX9" fmla="*/ 9072320 w 12662007"/>
              <a:gd name="connsiteY9" fmla="*/ 1896903 h 3562503"/>
              <a:gd name="connsiteX10" fmla="*/ 9327079 w 12662007"/>
              <a:gd name="connsiteY10" fmla="*/ 2848025 h 3562503"/>
              <a:gd name="connsiteX11" fmla="*/ 9579180 w 12662007"/>
              <a:gd name="connsiteY11" fmla="*/ 1 h 3562503"/>
              <a:gd name="connsiteX12" fmla="*/ 9842527 w 12662007"/>
              <a:gd name="connsiteY12" fmla="*/ 3533242 h 3562503"/>
              <a:gd name="connsiteX13" fmla="*/ 10164395 w 12662007"/>
              <a:gd name="connsiteY13" fmla="*/ 1250900 h 3562503"/>
              <a:gd name="connsiteX14" fmla="*/ 10259493 w 12662007"/>
              <a:gd name="connsiteY14" fmla="*/ 1894637 h 3562503"/>
              <a:gd name="connsiteX15" fmla="*/ 12662007 w 12662007"/>
              <a:gd name="connsiteY15" fmla="*/ 1902496 h 3562503"/>
              <a:gd name="connsiteX0" fmla="*/ 0 w 14808500"/>
              <a:gd name="connsiteY0" fmla="*/ 1880551 h 3562503"/>
              <a:gd name="connsiteX1" fmla="*/ 4480485 w 14808500"/>
              <a:gd name="connsiteY1" fmla="*/ 1865377 h 3562503"/>
              <a:gd name="connsiteX2" fmla="*/ 4582898 w 14808500"/>
              <a:gd name="connsiteY2" fmla="*/ 1236270 h 3562503"/>
              <a:gd name="connsiteX3" fmla="*/ 4868190 w 14808500"/>
              <a:gd name="connsiteY3" fmla="*/ 3562503 h 3562503"/>
              <a:gd name="connsiteX4" fmla="*/ 5160798 w 14808500"/>
              <a:gd name="connsiteY4" fmla="*/ 14631 h 3562503"/>
              <a:gd name="connsiteX5" fmla="*/ 5471971 w 14808500"/>
              <a:gd name="connsiteY5" fmla="*/ 3076606 h 3562503"/>
              <a:gd name="connsiteX6" fmla="*/ 5612231 w 14808500"/>
              <a:gd name="connsiteY6" fmla="*/ 1874958 h 3562503"/>
              <a:gd name="connsiteX7" fmla="*/ 7031380 w 14808500"/>
              <a:gd name="connsiteY7" fmla="*/ 1889589 h 3562503"/>
              <a:gd name="connsiteX8" fmla="*/ 7713802 w 14808500"/>
              <a:gd name="connsiteY8" fmla="*/ 1880008 h 3562503"/>
              <a:gd name="connsiteX9" fmla="*/ 9072320 w 14808500"/>
              <a:gd name="connsiteY9" fmla="*/ 1896903 h 3562503"/>
              <a:gd name="connsiteX10" fmla="*/ 9327079 w 14808500"/>
              <a:gd name="connsiteY10" fmla="*/ 2848025 h 3562503"/>
              <a:gd name="connsiteX11" fmla="*/ 9579180 w 14808500"/>
              <a:gd name="connsiteY11" fmla="*/ 1 h 3562503"/>
              <a:gd name="connsiteX12" fmla="*/ 9842527 w 14808500"/>
              <a:gd name="connsiteY12" fmla="*/ 3533242 h 3562503"/>
              <a:gd name="connsiteX13" fmla="*/ 10164395 w 14808500"/>
              <a:gd name="connsiteY13" fmla="*/ 1250900 h 3562503"/>
              <a:gd name="connsiteX14" fmla="*/ 10259493 w 14808500"/>
              <a:gd name="connsiteY14" fmla="*/ 1894637 h 3562503"/>
              <a:gd name="connsiteX15" fmla="*/ 14808500 w 14808500"/>
              <a:gd name="connsiteY15" fmla="*/ 1940591 h 3562503"/>
              <a:gd name="connsiteX0" fmla="*/ 0 w 18482842"/>
              <a:gd name="connsiteY0" fmla="*/ 1904392 h 3562502"/>
              <a:gd name="connsiteX1" fmla="*/ 8154827 w 18482842"/>
              <a:gd name="connsiteY1" fmla="*/ 1865376 h 3562502"/>
              <a:gd name="connsiteX2" fmla="*/ 8257240 w 18482842"/>
              <a:gd name="connsiteY2" fmla="*/ 1236269 h 3562502"/>
              <a:gd name="connsiteX3" fmla="*/ 8542532 w 18482842"/>
              <a:gd name="connsiteY3" fmla="*/ 3562502 h 3562502"/>
              <a:gd name="connsiteX4" fmla="*/ 8835140 w 18482842"/>
              <a:gd name="connsiteY4" fmla="*/ 14630 h 3562502"/>
              <a:gd name="connsiteX5" fmla="*/ 9146313 w 18482842"/>
              <a:gd name="connsiteY5" fmla="*/ 3076605 h 3562502"/>
              <a:gd name="connsiteX6" fmla="*/ 9286573 w 18482842"/>
              <a:gd name="connsiteY6" fmla="*/ 1874957 h 3562502"/>
              <a:gd name="connsiteX7" fmla="*/ 10705722 w 18482842"/>
              <a:gd name="connsiteY7" fmla="*/ 1889588 h 3562502"/>
              <a:gd name="connsiteX8" fmla="*/ 11388144 w 18482842"/>
              <a:gd name="connsiteY8" fmla="*/ 1880007 h 3562502"/>
              <a:gd name="connsiteX9" fmla="*/ 12746662 w 18482842"/>
              <a:gd name="connsiteY9" fmla="*/ 1896902 h 3562502"/>
              <a:gd name="connsiteX10" fmla="*/ 13001421 w 18482842"/>
              <a:gd name="connsiteY10" fmla="*/ 2848024 h 3562502"/>
              <a:gd name="connsiteX11" fmla="*/ 13253522 w 18482842"/>
              <a:gd name="connsiteY11" fmla="*/ 0 h 3562502"/>
              <a:gd name="connsiteX12" fmla="*/ 13516869 w 18482842"/>
              <a:gd name="connsiteY12" fmla="*/ 3533241 h 3562502"/>
              <a:gd name="connsiteX13" fmla="*/ 13838737 w 18482842"/>
              <a:gd name="connsiteY13" fmla="*/ 1250899 h 3562502"/>
              <a:gd name="connsiteX14" fmla="*/ 13933835 w 18482842"/>
              <a:gd name="connsiteY14" fmla="*/ 1894636 h 3562502"/>
              <a:gd name="connsiteX15" fmla="*/ 18482842 w 18482842"/>
              <a:gd name="connsiteY15" fmla="*/ 1940590 h 3562502"/>
              <a:gd name="connsiteX0" fmla="*/ 0 w 14744037"/>
              <a:gd name="connsiteY0" fmla="*/ 1904392 h 3562502"/>
              <a:gd name="connsiteX1" fmla="*/ 8154827 w 14744037"/>
              <a:gd name="connsiteY1" fmla="*/ 1865376 h 3562502"/>
              <a:gd name="connsiteX2" fmla="*/ 8257240 w 14744037"/>
              <a:gd name="connsiteY2" fmla="*/ 1236269 h 3562502"/>
              <a:gd name="connsiteX3" fmla="*/ 8542532 w 14744037"/>
              <a:gd name="connsiteY3" fmla="*/ 3562502 h 3562502"/>
              <a:gd name="connsiteX4" fmla="*/ 8835140 w 14744037"/>
              <a:gd name="connsiteY4" fmla="*/ 14630 h 3562502"/>
              <a:gd name="connsiteX5" fmla="*/ 9146313 w 14744037"/>
              <a:gd name="connsiteY5" fmla="*/ 3076605 h 3562502"/>
              <a:gd name="connsiteX6" fmla="*/ 9286573 w 14744037"/>
              <a:gd name="connsiteY6" fmla="*/ 1874957 h 3562502"/>
              <a:gd name="connsiteX7" fmla="*/ 10705722 w 14744037"/>
              <a:gd name="connsiteY7" fmla="*/ 1889588 h 3562502"/>
              <a:gd name="connsiteX8" fmla="*/ 11388144 w 14744037"/>
              <a:gd name="connsiteY8" fmla="*/ 1880007 h 3562502"/>
              <a:gd name="connsiteX9" fmla="*/ 12746662 w 14744037"/>
              <a:gd name="connsiteY9" fmla="*/ 1896902 h 3562502"/>
              <a:gd name="connsiteX10" fmla="*/ 13001421 w 14744037"/>
              <a:gd name="connsiteY10" fmla="*/ 2848024 h 3562502"/>
              <a:gd name="connsiteX11" fmla="*/ 13253522 w 14744037"/>
              <a:gd name="connsiteY11" fmla="*/ 0 h 3562502"/>
              <a:gd name="connsiteX12" fmla="*/ 13516869 w 14744037"/>
              <a:gd name="connsiteY12" fmla="*/ 3533241 h 3562502"/>
              <a:gd name="connsiteX13" fmla="*/ 13838737 w 14744037"/>
              <a:gd name="connsiteY13" fmla="*/ 1250899 h 3562502"/>
              <a:gd name="connsiteX14" fmla="*/ 13933835 w 14744037"/>
              <a:gd name="connsiteY14" fmla="*/ 1894636 h 3562502"/>
              <a:gd name="connsiteX15" fmla="*/ 14744037 w 14744037"/>
              <a:gd name="connsiteY15" fmla="*/ 1892908 h 3562502"/>
              <a:gd name="connsiteX0" fmla="*/ 0 w 14782714"/>
              <a:gd name="connsiteY0" fmla="*/ 1904392 h 3562502"/>
              <a:gd name="connsiteX1" fmla="*/ 8154827 w 14782714"/>
              <a:gd name="connsiteY1" fmla="*/ 1865376 h 3562502"/>
              <a:gd name="connsiteX2" fmla="*/ 8257240 w 14782714"/>
              <a:gd name="connsiteY2" fmla="*/ 1236269 h 3562502"/>
              <a:gd name="connsiteX3" fmla="*/ 8542532 w 14782714"/>
              <a:gd name="connsiteY3" fmla="*/ 3562502 h 3562502"/>
              <a:gd name="connsiteX4" fmla="*/ 8835140 w 14782714"/>
              <a:gd name="connsiteY4" fmla="*/ 14630 h 3562502"/>
              <a:gd name="connsiteX5" fmla="*/ 9146313 w 14782714"/>
              <a:gd name="connsiteY5" fmla="*/ 3076605 h 3562502"/>
              <a:gd name="connsiteX6" fmla="*/ 9286573 w 14782714"/>
              <a:gd name="connsiteY6" fmla="*/ 1874957 h 3562502"/>
              <a:gd name="connsiteX7" fmla="*/ 10705722 w 14782714"/>
              <a:gd name="connsiteY7" fmla="*/ 1889588 h 3562502"/>
              <a:gd name="connsiteX8" fmla="*/ 11388144 w 14782714"/>
              <a:gd name="connsiteY8" fmla="*/ 1880007 h 3562502"/>
              <a:gd name="connsiteX9" fmla="*/ 12746662 w 14782714"/>
              <a:gd name="connsiteY9" fmla="*/ 1896902 h 3562502"/>
              <a:gd name="connsiteX10" fmla="*/ 13001421 w 14782714"/>
              <a:gd name="connsiteY10" fmla="*/ 2848024 h 3562502"/>
              <a:gd name="connsiteX11" fmla="*/ 13253522 w 14782714"/>
              <a:gd name="connsiteY11" fmla="*/ 0 h 3562502"/>
              <a:gd name="connsiteX12" fmla="*/ 13516869 w 14782714"/>
              <a:gd name="connsiteY12" fmla="*/ 3533241 h 3562502"/>
              <a:gd name="connsiteX13" fmla="*/ 13838737 w 14782714"/>
              <a:gd name="connsiteY13" fmla="*/ 1250899 h 3562502"/>
              <a:gd name="connsiteX14" fmla="*/ 13933835 w 14782714"/>
              <a:gd name="connsiteY14" fmla="*/ 1894636 h 3562502"/>
              <a:gd name="connsiteX15" fmla="*/ 14782714 w 14782714"/>
              <a:gd name="connsiteY15" fmla="*/ 1904828 h 3562502"/>
              <a:gd name="connsiteX0" fmla="*/ 0 w 14821391"/>
              <a:gd name="connsiteY0" fmla="*/ 1904392 h 3562502"/>
              <a:gd name="connsiteX1" fmla="*/ 8154827 w 14821391"/>
              <a:gd name="connsiteY1" fmla="*/ 1865376 h 3562502"/>
              <a:gd name="connsiteX2" fmla="*/ 8257240 w 14821391"/>
              <a:gd name="connsiteY2" fmla="*/ 1236269 h 3562502"/>
              <a:gd name="connsiteX3" fmla="*/ 8542532 w 14821391"/>
              <a:gd name="connsiteY3" fmla="*/ 3562502 h 3562502"/>
              <a:gd name="connsiteX4" fmla="*/ 8835140 w 14821391"/>
              <a:gd name="connsiteY4" fmla="*/ 14630 h 3562502"/>
              <a:gd name="connsiteX5" fmla="*/ 9146313 w 14821391"/>
              <a:gd name="connsiteY5" fmla="*/ 3076605 h 3562502"/>
              <a:gd name="connsiteX6" fmla="*/ 9286573 w 14821391"/>
              <a:gd name="connsiteY6" fmla="*/ 1874957 h 3562502"/>
              <a:gd name="connsiteX7" fmla="*/ 10705722 w 14821391"/>
              <a:gd name="connsiteY7" fmla="*/ 1889588 h 3562502"/>
              <a:gd name="connsiteX8" fmla="*/ 11388144 w 14821391"/>
              <a:gd name="connsiteY8" fmla="*/ 1880007 h 3562502"/>
              <a:gd name="connsiteX9" fmla="*/ 12746662 w 14821391"/>
              <a:gd name="connsiteY9" fmla="*/ 1896902 h 3562502"/>
              <a:gd name="connsiteX10" fmla="*/ 13001421 w 14821391"/>
              <a:gd name="connsiteY10" fmla="*/ 2848024 h 3562502"/>
              <a:gd name="connsiteX11" fmla="*/ 13253522 w 14821391"/>
              <a:gd name="connsiteY11" fmla="*/ 0 h 3562502"/>
              <a:gd name="connsiteX12" fmla="*/ 13516869 w 14821391"/>
              <a:gd name="connsiteY12" fmla="*/ 3533241 h 3562502"/>
              <a:gd name="connsiteX13" fmla="*/ 13838737 w 14821391"/>
              <a:gd name="connsiteY13" fmla="*/ 1250899 h 3562502"/>
              <a:gd name="connsiteX14" fmla="*/ 13933835 w 14821391"/>
              <a:gd name="connsiteY14" fmla="*/ 1894636 h 3562502"/>
              <a:gd name="connsiteX15" fmla="*/ 14821391 w 14821391"/>
              <a:gd name="connsiteY15" fmla="*/ 1916748 h 3562502"/>
              <a:gd name="connsiteX0" fmla="*/ 0 w 17332784"/>
              <a:gd name="connsiteY0" fmla="*/ 1904392 h 3562502"/>
              <a:gd name="connsiteX1" fmla="*/ 8154827 w 17332784"/>
              <a:gd name="connsiteY1" fmla="*/ 1865376 h 3562502"/>
              <a:gd name="connsiteX2" fmla="*/ 8257240 w 17332784"/>
              <a:gd name="connsiteY2" fmla="*/ 1236269 h 3562502"/>
              <a:gd name="connsiteX3" fmla="*/ 8542532 w 17332784"/>
              <a:gd name="connsiteY3" fmla="*/ 3562502 h 3562502"/>
              <a:gd name="connsiteX4" fmla="*/ 8835140 w 17332784"/>
              <a:gd name="connsiteY4" fmla="*/ 14630 h 3562502"/>
              <a:gd name="connsiteX5" fmla="*/ 9146313 w 17332784"/>
              <a:gd name="connsiteY5" fmla="*/ 3076605 h 3562502"/>
              <a:gd name="connsiteX6" fmla="*/ 9286573 w 17332784"/>
              <a:gd name="connsiteY6" fmla="*/ 1874957 h 3562502"/>
              <a:gd name="connsiteX7" fmla="*/ 10705722 w 17332784"/>
              <a:gd name="connsiteY7" fmla="*/ 1889588 h 3562502"/>
              <a:gd name="connsiteX8" fmla="*/ 11388144 w 17332784"/>
              <a:gd name="connsiteY8" fmla="*/ 1880007 h 3562502"/>
              <a:gd name="connsiteX9" fmla="*/ 12746662 w 17332784"/>
              <a:gd name="connsiteY9" fmla="*/ 1896902 h 3562502"/>
              <a:gd name="connsiteX10" fmla="*/ 13001421 w 17332784"/>
              <a:gd name="connsiteY10" fmla="*/ 2848024 h 3562502"/>
              <a:gd name="connsiteX11" fmla="*/ 13253522 w 17332784"/>
              <a:gd name="connsiteY11" fmla="*/ 0 h 3562502"/>
              <a:gd name="connsiteX12" fmla="*/ 13516869 w 17332784"/>
              <a:gd name="connsiteY12" fmla="*/ 3533241 h 3562502"/>
              <a:gd name="connsiteX13" fmla="*/ 13838737 w 17332784"/>
              <a:gd name="connsiteY13" fmla="*/ 1250899 h 3562502"/>
              <a:gd name="connsiteX14" fmla="*/ 13933835 w 17332784"/>
              <a:gd name="connsiteY14" fmla="*/ 1894636 h 3562502"/>
              <a:gd name="connsiteX15" fmla="*/ 17332784 w 17332784"/>
              <a:gd name="connsiteY15" fmla="*/ 1860793 h 3562502"/>
              <a:gd name="connsiteX0" fmla="*/ 0 w 17255964"/>
              <a:gd name="connsiteY0" fmla="*/ 1904392 h 3562502"/>
              <a:gd name="connsiteX1" fmla="*/ 8154827 w 17255964"/>
              <a:gd name="connsiteY1" fmla="*/ 1865376 h 3562502"/>
              <a:gd name="connsiteX2" fmla="*/ 8257240 w 17255964"/>
              <a:gd name="connsiteY2" fmla="*/ 1236269 h 3562502"/>
              <a:gd name="connsiteX3" fmla="*/ 8542532 w 17255964"/>
              <a:gd name="connsiteY3" fmla="*/ 3562502 h 3562502"/>
              <a:gd name="connsiteX4" fmla="*/ 8835140 w 17255964"/>
              <a:gd name="connsiteY4" fmla="*/ 14630 h 3562502"/>
              <a:gd name="connsiteX5" fmla="*/ 9146313 w 17255964"/>
              <a:gd name="connsiteY5" fmla="*/ 3076605 h 3562502"/>
              <a:gd name="connsiteX6" fmla="*/ 9286573 w 17255964"/>
              <a:gd name="connsiteY6" fmla="*/ 1874957 h 3562502"/>
              <a:gd name="connsiteX7" fmla="*/ 10705722 w 17255964"/>
              <a:gd name="connsiteY7" fmla="*/ 1889588 h 3562502"/>
              <a:gd name="connsiteX8" fmla="*/ 11388144 w 17255964"/>
              <a:gd name="connsiteY8" fmla="*/ 1880007 h 3562502"/>
              <a:gd name="connsiteX9" fmla="*/ 12746662 w 17255964"/>
              <a:gd name="connsiteY9" fmla="*/ 1896902 h 3562502"/>
              <a:gd name="connsiteX10" fmla="*/ 13001421 w 17255964"/>
              <a:gd name="connsiteY10" fmla="*/ 2848024 h 3562502"/>
              <a:gd name="connsiteX11" fmla="*/ 13253522 w 17255964"/>
              <a:gd name="connsiteY11" fmla="*/ 0 h 3562502"/>
              <a:gd name="connsiteX12" fmla="*/ 13516869 w 17255964"/>
              <a:gd name="connsiteY12" fmla="*/ 3533241 h 3562502"/>
              <a:gd name="connsiteX13" fmla="*/ 13838737 w 17255964"/>
              <a:gd name="connsiteY13" fmla="*/ 1250899 h 3562502"/>
              <a:gd name="connsiteX14" fmla="*/ 13933835 w 17255964"/>
              <a:gd name="connsiteY14" fmla="*/ 1894636 h 3562502"/>
              <a:gd name="connsiteX15" fmla="*/ 17255964 w 17255964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5 w 17279011"/>
              <a:gd name="connsiteY14" fmla="*/ 1894636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2746662 w 17279011"/>
              <a:gd name="connsiteY8" fmla="*/ 1882695 h 3562502"/>
              <a:gd name="connsiteX9" fmla="*/ 13001421 w 17279011"/>
              <a:gd name="connsiteY9" fmla="*/ 2848024 h 3562502"/>
              <a:gd name="connsiteX10" fmla="*/ 13253522 w 17279011"/>
              <a:gd name="connsiteY10" fmla="*/ 0 h 3562502"/>
              <a:gd name="connsiteX11" fmla="*/ 13516869 w 17279011"/>
              <a:gd name="connsiteY11" fmla="*/ 3533241 h 3562502"/>
              <a:gd name="connsiteX12" fmla="*/ 13838737 w 17279011"/>
              <a:gd name="connsiteY12" fmla="*/ 1250899 h 3562502"/>
              <a:gd name="connsiteX13" fmla="*/ 13933836 w 17279011"/>
              <a:gd name="connsiteY13" fmla="*/ 1873328 h 3562502"/>
              <a:gd name="connsiteX14" fmla="*/ 17279011 w 17279011"/>
              <a:gd name="connsiteY14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82695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68490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9775667"/>
              <a:gd name="connsiteY0" fmla="*/ 1861774 h 3562502"/>
              <a:gd name="connsiteX1" fmla="*/ 10651483 w 19775667"/>
              <a:gd name="connsiteY1" fmla="*/ 1865376 h 3562502"/>
              <a:gd name="connsiteX2" fmla="*/ 10753896 w 19775667"/>
              <a:gd name="connsiteY2" fmla="*/ 1236269 h 3562502"/>
              <a:gd name="connsiteX3" fmla="*/ 11039188 w 19775667"/>
              <a:gd name="connsiteY3" fmla="*/ 3562502 h 3562502"/>
              <a:gd name="connsiteX4" fmla="*/ 11331796 w 19775667"/>
              <a:gd name="connsiteY4" fmla="*/ 14630 h 3562502"/>
              <a:gd name="connsiteX5" fmla="*/ 11642969 w 19775667"/>
              <a:gd name="connsiteY5" fmla="*/ 3076605 h 3562502"/>
              <a:gd name="connsiteX6" fmla="*/ 11783229 w 19775667"/>
              <a:gd name="connsiteY6" fmla="*/ 1867853 h 3562502"/>
              <a:gd name="connsiteX7" fmla="*/ 15243318 w 19775667"/>
              <a:gd name="connsiteY7" fmla="*/ 1868490 h 3562502"/>
              <a:gd name="connsiteX8" fmla="*/ 15498077 w 19775667"/>
              <a:gd name="connsiteY8" fmla="*/ 2848024 h 3562502"/>
              <a:gd name="connsiteX9" fmla="*/ 15750178 w 19775667"/>
              <a:gd name="connsiteY9" fmla="*/ 0 h 3562502"/>
              <a:gd name="connsiteX10" fmla="*/ 16013525 w 19775667"/>
              <a:gd name="connsiteY10" fmla="*/ 3533241 h 3562502"/>
              <a:gd name="connsiteX11" fmla="*/ 16335393 w 19775667"/>
              <a:gd name="connsiteY11" fmla="*/ 1250899 h 3562502"/>
              <a:gd name="connsiteX12" fmla="*/ 16430492 w 19775667"/>
              <a:gd name="connsiteY12" fmla="*/ 1873328 h 3562502"/>
              <a:gd name="connsiteX13" fmla="*/ 19775667 w 19775667"/>
              <a:gd name="connsiteY13" fmla="*/ 1867897 h 3562502"/>
              <a:gd name="connsiteX0" fmla="*/ 0 w 19075538"/>
              <a:gd name="connsiteY0" fmla="*/ 1861774 h 3562502"/>
              <a:gd name="connsiteX1" fmla="*/ 10651483 w 19075538"/>
              <a:gd name="connsiteY1" fmla="*/ 1865376 h 3562502"/>
              <a:gd name="connsiteX2" fmla="*/ 10753896 w 19075538"/>
              <a:gd name="connsiteY2" fmla="*/ 1236269 h 3562502"/>
              <a:gd name="connsiteX3" fmla="*/ 11039188 w 19075538"/>
              <a:gd name="connsiteY3" fmla="*/ 3562502 h 3562502"/>
              <a:gd name="connsiteX4" fmla="*/ 11331796 w 19075538"/>
              <a:gd name="connsiteY4" fmla="*/ 14630 h 3562502"/>
              <a:gd name="connsiteX5" fmla="*/ 11642969 w 19075538"/>
              <a:gd name="connsiteY5" fmla="*/ 3076605 h 3562502"/>
              <a:gd name="connsiteX6" fmla="*/ 11783229 w 19075538"/>
              <a:gd name="connsiteY6" fmla="*/ 1867853 h 3562502"/>
              <a:gd name="connsiteX7" fmla="*/ 15243318 w 19075538"/>
              <a:gd name="connsiteY7" fmla="*/ 1868490 h 3562502"/>
              <a:gd name="connsiteX8" fmla="*/ 15498077 w 19075538"/>
              <a:gd name="connsiteY8" fmla="*/ 2848024 h 3562502"/>
              <a:gd name="connsiteX9" fmla="*/ 15750178 w 19075538"/>
              <a:gd name="connsiteY9" fmla="*/ 0 h 3562502"/>
              <a:gd name="connsiteX10" fmla="*/ 16013525 w 19075538"/>
              <a:gd name="connsiteY10" fmla="*/ 3533241 h 3562502"/>
              <a:gd name="connsiteX11" fmla="*/ 16335393 w 19075538"/>
              <a:gd name="connsiteY11" fmla="*/ 1250899 h 3562502"/>
              <a:gd name="connsiteX12" fmla="*/ 16430492 w 19075538"/>
              <a:gd name="connsiteY12" fmla="*/ 1873328 h 3562502"/>
              <a:gd name="connsiteX13" fmla="*/ 19075538 w 19075538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1 w 19096130"/>
              <a:gd name="connsiteY12" fmla="*/ 1860635 h 3562502"/>
              <a:gd name="connsiteX13" fmla="*/ 19096130 w 19096130"/>
              <a:gd name="connsiteY13" fmla="*/ 1867897 h 3562502"/>
              <a:gd name="connsiteX0" fmla="*/ 0 w 19748213"/>
              <a:gd name="connsiteY0" fmla="*/ 1868122 h 3562502"/>
              <a:gd name="connsiteX1" fmla="*/ 11303566 w 19748213"/>
              <a:gd name="connsiteY1" fmla="*/ 1865376 h 3562502"/>
              <a:gd name="connsiteX2" fmla="*/ 11405979 w 19748213"/>
              <a:gd name="connsiteY2" fmla="*/ 1236269 h 3562502"/>
              <a:gd name="connsiteX3" fmla="*/ 11691271 w 19748213"/>
              <a:gd name="connsiteY3" fmla="*/ 3562502 h 3562502"/>
              <a:gd name="connsiteX4" fmla="*/ 11983879 w 19748213"/>
              <a:gd name="connsiteY4" fmla="*/ 14630 h 3562502"/>
              <a:gd name="connsiteX5" fmla="*/ 12295052 w 19748213"/>
              <a:gd name="connsiteY5" fmla="*/ 3076605 h 3562502"/>
              <a:gd name="connsiteX6" fmla="*/ 12435312 w 19748213"/>
              <a:gd name="connsiteY6" fmla="*/ 1867853 h 3562502"/>
              <a:gd name="connsiteX7" fmla="*/ 15895401 w 19748213"/>
              <a:gd name="connsiteY7" fmla="*/ 1868490 h 3562502"/>
              <a:gd name="connsiteX8" fmla="*/ 16150160 w 19748213"/>
              <a:gd name="connsiteY8" fmla="*/ 2848024 h 3562502"/>
              <a:gd name="connsiteX9" fmla="*/ 16402261 w 19748213"/>
              <a:gd name="connsiteY9" fmla="*/ 0 h 3562502"/>
              <a:gd name="connsiteX10" fmla="*/ 16665608 w 19748213"/>
              <a:gd name="connsiteY10" fmla="*/ 3533241 h 3562502"/>
              <a:gd name="connsiteX11" fmla="*/ 16987476 w 19748213"/>
              <a:gd name="connsiteY11" fmla="*/ 1250899 h 3562502"/>
              <a:gd name="connsiteX12" fmla="*/ 17082574 w 19748213"/>
              <a:gd name="connsiteY12" fmla="*/ 1860635 h 3562502"/>
              <a:gd name="connsiteX13" fmla="*/ 19748213 w 19748213"/>
              <a:gd name="connsiteY13" fmla="*/ 1867897 h 3562502"/>
              <a:gd name="connsiteX0" fmla="*/ 0 w 19782534"/>
              <a:gd name="connsiteY0" fmla="*/ 1868122 h 3562502"/>
              <a:gd name="connsiteX1" fmla="*/ 11337887 w 19782534"/>
              <a:gd name="connsiteY1" fmla="*/ 1865376 h 3562502"/>
              <a:gd name="connsiteX2" fmla="*/ 11440300 w 19782534"/>
              <a:gd name="connsiteY2" fmla="*/ 1236269 h 3562502"/>
              <a:gd name="connsiteX3" fmla="*/ 11725592 w 19782534"/>
              <a:gd name="connsiteY3" fmla="*/ 3562502 h 3562502"/>
              <a:gd name="connsiteX4" fmla="*/ 12018200 w 19782534"/>
              <a:gd name="connsiteY4" fmla="*/ 14630 h 3562502"/>
              <a:gd name="connsiteX5" fmla="*/ 12329373 w 19782534"/>
              <a:gd name="connsiteY5" fmla="*/ 3076605 h 3562502"/>
              <a:gd name="connsiteX6" fmla="*/ 12469633 w 19782534"/>
              <a:gd name="connsiteY6" fmla="*/ 1867853 h 3562502"/>
              <a:gd name="connsiteX7" fmla="*/ 15929722 w 19782534"/>
              <a:gd name="connsiteY7" fmla="*/ 1868490 h 3562502"/>
              <a:gd name="connsiteX8" fmla="*/ 16184481 w 19782534"/>
              <a:gd name="connsiteY8" fmla="*/ 2848024 h 3562502"/>
              <a:gd name="connsiteX9" fmla="*/ 16436582 w 19782534"/>
              <a:gd name="connsiteY9" fmla="*/ 0 h 3562502"/>
              <a:gd name="connsiteX10" fmla="*/ 16699929 w 19782534"/>
              <a:gd name="connsiteY10" fmla="*/ 3533241 h 3562502"/>
              <a:gd name="connsiteX11" fmla="*/ 17021797 w 19782534"/>
              <a:gd name="connsiteY11" fmla="*/ 1250899 h 3562502"/>
              <a:gd name="connsiteX12" fmla="*/ 17116895 w 19782534"/>
              <a:gd name="connsiteY12" fmla="*/ 1860635 h 3562502"/>
              <a:gd name="connsiteX13" fmla="*/ 19782534 w 19782534"/>
              <a:gd name="connsiteY13" fmla="*/ 1867897 h 3562502"/>
              <a:gd name="connsiteX0" fmla="*/ 0 w 17116895"/>
              <a:gd name="connsiteY0" fmla="*/ 1868122 h 3562502"/>
              <a:gd name="connsiteX1" fmla="*/ 11337887 w 17116895"/>
              <a:gd name="connsiteY1" fmla="*/ 1865376 h 3562502"/>
              <a:gd name="connsiteX2" fmla="*/ 11440300 w 17116895"/>
              <a:gd name="connsiteY2" fmla="*/ 1236269 h 3562502"/>
              <a:gd name="connsiteX3" fmla="*/ 11725592 w 17116895"/>
              <a:gd name="connsiteY3" fmla="*/ 3562502 h 3562502"/>
              <a:gd name="connsiteX4" fmla="*/ 12018200 w 17116895"/>
              <a:gd name="connsiteY4" fmla="*/ 14630 h 3562502"/>
              <a:gd name="connsiteX5" fmla="*/ 12329373 w 17116895"/>
              <a:gd name="connsiteY5" fmla="*/ 3076605 h 3562502"/>
              <a:gd name="connsiteX6" fmla="*/ 12469633 w 17116895"/>
              <a:gd name="connsiteY6" fmla="*/ 1867853 h 3562502"/>
              <a:gd name="connsiteX7" fmla="*/ 15929722 w 17116895"/>
              <a:gd name="connsiteY7" fmla="*/ 1868490 h 3562502"/>
              <a:gd name="connsiteX8" fmla="*/ 16184481 w 17116895"/>
              <a:gd name="connsiteY8" fmla="*/ 2848024 h 3562502"/>
              <a:gd name="connsiteX9" fmla="*/ 16436582 w 17116895"/>
              <a:gd name="connsiteY9" fmla="*/ 0 h 3562502"/>
              <a:gd name="connsiteX10" fmla="*/ 16699929 w 17116895"/>
              <a:gd name="connsiteY10" fmla="*/ 3533241 h 3562502"/>
              <a:gd name="connsiteX11" fmla="*/ 17021797 w 17116895"/>
              <a:gd name="connsiteY11" fmla="*/ 1250899 h 3562502"/>
              <a:gd name="connsiteX12" fmla="*/ 17116895 w 17116895"/>
              <a:gd name="connsiteY12" fmla="*/ 1860635 h 3562502"/>
              <a:gd name="connsiteX0" fmla="*/ 0 w 17021797"/>
              <a:gd name="connsiteY0" fmla="*/ 1868122 h 3562502"/>
              <a:gd name="connsiteX1" fmla="*/ 11337887 w 17021797"/>
              <a:gd name="connsiteY1" fmla="*/ 1865376 h 3562502"/>
              <a:gd name="connsiteX2" fmla="*/ 11440300 w 17021797"/>
              <a:gd name="connsiteY2" fmla="*/ 1236269 h 3562502"/>
              <a:gd name="connsiteX3" fmla="*/ 11725592 w 17021797"/>
              <a:gd name="connsiteY3" fmla="*/ 3562502 h 3562502"/>
              <a:gd name="connsiteX4" fmla="*/ 12018200 w 17021797"/>
              <a:gd name="connsiteY4" fmla="*/ 14630 h 3562502"/>
              <a:gd name="connsiteX5" fmla="*/ 12329373 w 17021797"/>
              <a:gd name="connsiteY5" fmla="*/ 3076605 h 3562502"/>
              <a:gd name="connsiteX6" fmla="*/ 12469633 w 17021797"/>
              <a:gd name="connsiteY6" fmla="*/ 1867853 h 3562502"/>
              <a:gd name="connsiteX7" fmla="*/ 15929722 w 17021797"/>
              <a:gd name="connsiteY7" fmla="*/ 1868490 h 3562502"/>
              <a:gd name="connsiteX8" fmla="*/ 16184481 w 17021797"/>
              <a:gd name="connsiteY8" fmla="*/ 2848024 h 3562502"/>
              <a:gd name="connsiteX9" fmla="*/ 16436582 w 17021797"/>
              <a:gd name="connsiteY9" fmla="*/ 0 h 3562502"/>
              <a:gd name="connsiteX10" fmla="*/ 16699929 w 17021797"/>
              <a:gd name="connsiteY10" fmla="*/ 3533241 h 3562502"/>
              <a:gd name="connsiteX11" fmla="*/ 17021797 w 17021797"/>
              <a:gd name="connsiteY11" fmla="*/ 1250899 h 3562502"/>
              <a:gd name="connsiteX0" fmla="*/ 0 w 16699928"/>
              <a:gd name="connsiteY0" fmla="*/ 1868122 h 3562502"/>
              <a:gd name="connsiteX1" fmla="*/ 11337887 w 16699928"/>
              <a:gd name="connsiteY1" fmla="*/ 1865376 h 3562502"/>
              <a:gd name="connsiteX2" fmla="*/ 11440300 w 16699928"/>
              <a:gd name="connsiteY2" fmla="*/ 1236269 h 3562502"/>
              <a:gd name="connsiteX3" fmla="*/ 11725592 w 16699928"/>
              <a:gd name="connsiteY3" fmla="*/ 3562502 h 3562502"/>
              <a:gd name="connsiteX4" fmla="*/ 12018200 w 16699928"/>
              <a:gd name="connsiteY4" fmla="*/ 14630 h 3562502"/>
              <a:gd name="connsiteX5" fmla="*/ 12329373 w 16699928"/>
              <a:gd name="connsiteY5" fmla="*/ 3076605 h 3562502"/>
              <a:gd name="connsiteX6" fmla="*/ 12469633 w 16699928"/>
              <a:gd name="connsiteY6" fmla="*/ 1867853 h 3562502"/>
              <a:gd name="connsiteX7" fmla="*/ 15929722 w 16699928"/>
              <a:gd name="connsiteY7" fmla="*/ 1868490 h 3562502"/>
              <a:gd name="connsiteX8" fmla="*/ 16184481 w 16699928"/>
              <a:gd name="connsiteY8" fmla="*/ 2848024 h 3562502"/>
              <a:gd name="connsiteX9" fmla="*/ 16436582 w 16699928"/>
              <a:gd name="connsiteY9" fmla="*/ 0 h 3562502"/>
              <a:gd name="connsiteX10" fmla="*/ 16699929 w 16699928"/>
              <a:gd name="connsiteY10" fmla="*/ 3533241 h 3562502"/>
              <a:gd name="connsiteX0" fmla="*/ 0 w 16436581"/>
              <a:gd name="connsiteY0" fmla="*/ 1868122 h 3562502"/>
              <a:gd name="connsiteX1" fmla="*/ 11337887 w 16436581"/>
              <a:gd name="connsiteY1" fmla="*/ 1865376 h 3562502"/>
              <a:gd name="connsiteX2" fmla="*/ 11440300 w 16436581"/>
              <a:gd name="connsiteY2" fmla="*/ 1236269 h 3562502"/>
              <a:gd name="connsiteX3" fmla="*/ 11725592 w 16436581"/>
              <a:gd name="connsiteY3" fmla="*/ 3562502 h 3562502"/>
              <a:gd name="connsiteX4" fmla="*/ 12018200 w 16436581"/>
              <a:gd name="connsiteY4" fmla="*/ 14630 h 3562502"/>
              <a:gd name="connsiteX5" fmla="*/ 12329373 w 16436581"/>
              <a:gd name="connsiteY5" fmla="*/ 3076605 h 3562502"/>
              <a:gd name="connsiteX6" fmla="*/ 12469633 w 16436581"/>
              <a:gd name="connsiteY6" fmla="*/ 1867853 h 3562502"/>
              <a:gd name="connsiteX7" fmla="*/ 15929722 w 16436581"/>
              <a:gd name="connsiteY7" fmla="*/ 1868490 h 3562502"/>
              <a:gd name="connsiteX8" fmla="*/ 16184481 w 16436581"/>
              <a:gd name="connsiteY8" fmla="*/ 2848024 h 3562502"/>
              <a:gd name="connsiteX9" fmla="*/ 16436582 w 16436581"/>
              <a:gd name="connsiteY9" fmla="*/ 0 h 3562502"/>
              <a:gd name="connsiteX0" fmla="*/ 0 w 16184481"/>
              <a:gd name="connsiteY0" fmla="*/ 1853491 h 3547871"/>
              <a:gd name="connsiteX1" fmla="*/ 11337887 w 16184481"/>
              <a:gd name="connsiteY1" fmla="*/ 1850745 h 3547871"/>
              <a:gd name="connsiteX2" fmla="*/ 11440300 w 16184481"/>
              <a:gd name="connsiteY2" fmla="*/ 1221638 h 3547871"/>
              <a:gd name="connsiteX3" fmla="*/ 11725592 w 16184481"/>
              <a:gd name="connsiteY3" fmla="*/ 3547871 h 3547871"/>
              <a:gd name="connsiteX4" fmla="*/ 12018200 w 16184481"/>
              <a:gd name="connsiteY4" fmla="*/ -1 h 3547871"/>
              <a:gd name="connsiteX5" fmla="*/ 12329373 w 16184481"/>
              <a:gd name="connsiteY5" fmla="*/ 3061974 h 3547871"/>
              <a:gd name="connsiteX6" fmla="*/ 12469633 w 16184481"/>
              <a:gd name="connsiteY6" fmla="*/ 1853222 h 3547871"/>
              <a:gd name="connsiteX7" fmla="*/ 15929722 w 16184481"/>
              <a:gd name="connsiteY7" fmla="*/ 1853859 h 3547871"/>
              <a:gd name="connsiteX8" fmla="*/ 16184481 w 16184481"/>
              <a:gd name="connsiteY8" fmla="*/ 2833393 h 3547871"/>
              <a:gd name="connsiteX0" fmla="*/ 0 w 15929721"/>
              <a:gd name="connsiteY0" fmla="*/ 1853492 h 3547872"/>
              <a:gd name="connsiteX1" fmla="*/ 11337887 w 15929721"/>
              <a:gd name="connsiteY1" fmla="*/ 1850746 h 3547872"/>
              <a:gd name="connsiteX2" fmla="*/ 11440300 w 15929721"/>
              <a:gd name="connsiteY2" fmla="*/ 1221639 h 3547872"/>
              <a:gd name="connsiteX3" fmla="*/ 11725592 w 15929721"/>
              <a:gd name="connsiteY3" fmla="*/ 3547872 h 3547872"/>
              <a:gd name="connsiteX4" fmla="*/ 12018200 w 15929721"/>
              <a:gd name="connsiteY4" fmla="*/ 0 h 3547872"/>
              <a:gd name="connsiteX5" fmla="*/ 12329373 w 15929721"/>
              <a:gd name="connsiteY5" fmla="*/ 3061975 h 3547872"/>
              <a:gd name="connsiteX6" fmla="*/ 12469633 w 15929721"/>
              <a:gd name="connsiteY6" fmla="*/ 1853223 h 3547872"/>
              <a:gd name="connsiteX7" fmla="*/ 15929722 w 15929721"/>
              <a:gd name="connsiteY7" fmla="*/ 1853860 h 3547872"/>
              <a:gd name="connsiteX0" fmla="*/ 0 w 17764659"/>
              <a:gd name="connsiteY0" fmla="*/ 1853492 h 3547872"/>
              <a:gd name="connsiteX1" fmla="*/ 11337887 w 17764659"/>
              <a:gd name="connsiteY1" fmla="*/ 1850746 h 3547872"/>
              <a:gd name="connsiteX2" fmla="*/ 11440300 w 17764659"/>
              <a:gd name="connsiteY2" fmla="*/ 1221639 h 3547872"/>
              <a:gd name="connsiteX3" fmla="*/ 11725592 w 17764659"/>
              <a:gd name="connsiteY3" fmla="*/ 3547872 h 3547872"/>
              <a:gd name="connsiteX4" fmla="*/ 12018200 w 17764659"/>
              <a:gd name="connsiteY4" fmla="*/ 0 h 3547872"/>
              <a:gd name="connsiteX5" fmla="*/ 12329373 w 17764659"/>
              <a:gd name="connsiteY5" fmla="*/ 3061975 h 3547872"/>
              <a:gd name="connsiteX6" fmla="*/ 12469633 w 17764659"/>
              <a:gd name="connsiteY6" fmla="*/ 1853223 h 3547872"/>
              <a:gd name="connsiteX7" fmla="*/ 17764659 w 17764659"/>
              <a:gd name="connsiteY7" fmla="*/ 1853861 h 354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4659" h="3547872">
                <a:moveTo>
                  <a:pt x="0" y="1853492"/>
                </a:moveTo>
                <a:lnTo>
                  <a:pt x="11337887" y="1850746"/>
                </a:lnTo>
                <a:lnTo>
                  <a:pt x="11440300" y="1221639"/>
                </a:lnTo>
                <a:lnTo>
                  <a:pt x="11725592" y="3547872"/>
                </a:lnTo>
                <a:lnTo>
                  <a:pt x="12018200" y="0"/>
                </a:lnTo>
                <a:lnTo>
                  <a:pt x="12329373" y="3061975"/>
                </a:lnTo>
                <a:lnTo>
                  <a:pt x="12469633" y="1853223"/>
                </a:lnTo>
                <a:lnTo>
                  <a:pt x="17764659" y="1853861"/>
                </a:lnTo>
              </a:path>
            </a:pathLst>
          </a:cu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EA3636-486C-710E-5E17-7DF65C64BD65}"/>
              </a:ext>
            </a:extLst>
          </p:cNvPr>
          <p:cNvSpPr/>
          <p:nvPr/>
        </p:nvSpPr>
        <p:spPr>
          <a:xfrm>
            <a:off x="142022" y="290070"/>
            <a:ext cx="81083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研究限制與未來發展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/</a:t>
            </a: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貢獻</a:t>
            </a:r>
            <a:endParaRPr lang="ko-KR" altLang="en-US" sz="5400" b="1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6A043-4C15-FD30-7D70-B0D5F2458F64}"/>
              </a:ext>
            </a:extLst>
          </p:cNvPr>
          <p:cNvSpPr txBox="1"/>
          <p:nvPr/>
        </p:nvSpPr>
        <p:spPr>
          <a:xfrm>
            <a:off x="638984" y="1550310"/>
            <a:ext cx="41291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技術和功能限制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系統挑戰：回應時間偶有延遲、完全依賴網路連接、缺乏學習數據分析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普遍瓶頸：反映當前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輔助語言學習系統共同面臨的技術限制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330A3-CE0A-CD0E-D3F4-56C2EEC9E146}"/>
              </a:ext>
            </a:extLst>
          </p:cNvPr>
          <p:cNvSpPr txBox="1"/>
          <p:nvPr/>
        </p:nvSpPr>
        <p:spPr>
          <a:xfrm>
            <a:off x="74897" y="4123083"/>
            <a:ext cx="392862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研究限制與未來發展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0DAF1-1DFE-196B-35E4-FABF0ACE5ED6}"/>
              </a:ext>
            </a:extLst>
          </p:cNvPr>
          <p:cNvSpPr txBox="1"/>
          <p:nvPr/>
        </p:nvSpPr>
        <p:spPr>
          <a:xfrm>
            <a:off x="0" y="4946474"/>
            <a:ext cx="373710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200" b="1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研究意義與貢獻</a:t>
            </a:r>
            <a:endParaRPr lang="ko-KR" altLang="en-US" sz="3200" b="1" dirty="0">
              <a:solidFill>
                <a:schemeClr val="accent2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10" name="Graphic 25">
            <a:extLst>
              <a:ext uri="{FF2B5EF4-FFF2-40B4-BE49-F238E27FC236}">
                <a16:creationId xmlns:a16="http://schemas.microsoft.com/office/drawing/2014/main" id="{40F553F2-1CB0-4F64-12FF-9124227E66B4}"/>
              </a:ext>
            </a:extLst>
          </p:cNvPr>
          <p:cNvGrpSpPr/>
          <p:nvPr/>
        </p:nvGrpSpPr>
        <p:grpSpPr>
          <a:xfrm flipH="1">
            <a:off x="13079560" y="4349885"/>
            <a:ext cx="1552374" cy="1031582"/>
            <a:chOff x="342288" y="5278574"/>
            <a:chExt cx="1920177" cy="127599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1AAE695-0D34-7193-A534-618384D26D8D}"/>
                </a:ext>
              </a:extLst>
            </p:cNvPr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07775 w 1920177"/>
                <a:gd name="connsiteY17" fmla="*/ 927069 h 1274796"/>
                <a:gd name="connsiteX18" fmla="*/ 1784879 w 1920177"/>
                <a:gd name="connsiteY18" fmla="*/ 918301 h 1274796"/>
                <a:gd name="connsiteX19" fmla="*/ 1836029 w 1920177"/>
                <a:gd name="connsiteY19" fmla="*/ 859600 h 1274796"/>
                <a:gd name="connsiteX20" fmla="*/ 1910805 w 1920177"/>
                <a:gd name="connsiteY20" fmla="*/ 735136 h 1274796"/>
                <a:gd name="connsiteX21" fmla="*/ 1895460 w 1920177"/>
                <a:gd name="connsiteY21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784879 w 1920177"/>
                <a:gd name="connsiteY17" fmla="*/ 918301 h 1274796"/>
                <a:gd name="connsiteX18" fmla="*/ 1836029 w 1920177"/>
                <a:gd name="connsiteY18" fmla="*/ 859600 h 1274796"/>
                <a:gd name="connsiteX19" fmla="*/ 1910805 w 1920177"/>
                <a:gd name="connsiteY19" fmla="*/ 735136 h 1274796"/>
                <a:gd name="connsiteX20" fmla="*/ 1895460 w 1920177"/>
                <a:gd name="connsiteY20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6419"/>
                <a:gd name="connsiteX1" fmla="*/ 1829939 w 1920177"/>
                <a:gd name="connsiteY1" fmla="*/ 539306 h 1276419"/>
                <a:gd name="connsiteX2" fmla="*/ 1633135 w 1920177"/>
                <a:gd name="connsiteY2" fmla="*/ 367101 h 1276419"/>
                <a:gd name="connsiteX3" fmla="*/ 1431946 w 1920177"/>
                <a:gd name="connsiteY3" fmla="*/ 220229 h 1276419"/>
                <a:gd name="connsiteX4" fmla="*/ 1122124 w 1920177"/>
                <a:gd name="connsiteY4" fmla="*/ 73112 h 1276419"/>
                <a:gd name="connsiteX5" fmla="*/ 816931 w 1920177"/>
                <a:gd name="connsiteY5" fmla="*/ 2964 h 1276419"/>
                <a:gd name="connsiteX6" fmla="*/ 573360 w 1920177"/>
                <a:gd name="connsiteY6" fmla="*/ 15630 h 1276419"/>
                <a:gd name="connsiteX7" fmla="*/ 289114 w 1920177"/>
                <a:gd name="connsiteY7" fmla="*/ 113058 h 1276419"/>
                <a:gd name="connsiteX8" fmla="*/ 102052 w 1920177"/>
                <a:gd name="connsiteY8" fmla="*/ 262123 h 1276419"/>
                <a:gd name="connsiteX9" fmla="*/ 56991 w 1920177"/>
                <a:gd name="connsiteY9" fmla="*/ 711266 h 1276419"/>
                <a:gd name="connsiteX10" fmla="*/ 258180 w 1920177"/>
                <a:gd name="connsiteY10" fmla="*/ 899302 h 1276419"/>
                <a:gd name="connsiteX11" fmla="*/ 549977 w 1920177"/>
                <a:gd name="connsiteY11" fmla="*/ 1050316 h 1276419"/>
                <a:gd name="connsiteX12" fmla="*/ 879772 w 1920177"/>
                <a:gd name="connsiteY12" fmla="*/ 1181844 h 1276419"/>
                <a:gd name="connsiteX13" fmla="*/ 1159634 w 1920177"/>
                <a:gd name="connsiteY13" fmla="*/ 1270503 h 1276419"/>
                <a:gd name="connsiteX14" fmla="*/ 1272163 w 1920177"/>
                <a:gd name="connsiteY14" fmla="*/ 1270503 h 1276419"/>
                <a:gd name="connsiteX15" fmla="*/ 1414234 w 1920177"/>
                <a:gd name="connsiteY15" fmla="*/ 1211160 h 1276419"/>
                <a:gd name="connsiteX16" fmla="*/ 1738844 w 1920177"/>
                <a:gd name="connsiteY16" fmla="*/ 964579 h 1276419"/>
                <a:gd name="connsiteX17" fmla="*/ 1836029 w 1920177"/>
                <a:gd name="connsiteY17" fmla="*/ 859600 h 1276419"/>
                <a:gd name="connsiteX18" fmla="*/ 1910805 w 1920177"/>
                <a:gd name="connsiteY18" fmla="*/ 735136 h 1276419"/>
                <a:gd name="connsiteX19" fmla="*/ 1895460 w 1920177"/>
                <a:gd name="connsiteY19" fmla="*/ 616030 h 1276419"/>
                <a:gd name="connsiteX0" fmla="*/ 1895460 w 1920177"/>
                <a:gd name="connsiteY0" fmla="*/ 616030 h 1275785"/>
                <a:gd name="connsiteX1" fmla="*/ 1829939 w 1920177"/>
                <a:gd name="connsiteY1" fmla="*/ 539306 h 1275785"/>
                <a:gd name="connsiteX2" fmla="*/ 1633135 w 1920177"/>
                <a:gd name="connsiteY2" fmla="*/ 367101 h 1275785"/>
                <a:gd name="connsiteX3" fmla="*/ 1431946 w 1920177"/>
                <a:gd name="connsiteY3" fmla="*/ 220229 h 1275785"/>
                <a:gd name="connsiteX4" fmla="*/ 1122124 w 1920177"/>
                <a:gd name="connsiteY4" fmla="*/ 73112 h 1275785"/>
                <a:gd name="connsiteX5" fmla="*/ 816931 w 1920177"/>
                <a:gd name="connsiteY5" fmla="*/ 2964 h 1275785"/>
                <a:gd name="connsiteX6" fmla="*/ 573360 w 1920177"/>
                <a:gd name="connsiteY6" fmla="*/ 15630 h 1275785"/>
                <a:gd name="connsiteX7" fmla="*/ 289114 w 1920177"/>
                <a:gd name="connsiteY7" fmla="*/ 113058 h 1275785"/>
                <a:gd name="connsiteX8" fmla="*/ 102052 w 1920177"/>
                <a:gd name="connsiteY8" fmla="*/ 262123 h 1275785"/>
                <a:gd name="connsiteX9" fmla="*/ 56991 w 1920177"/>
                <a:gd name="connsiteY9" fmla="*/ 711266 h 1275785"/>
                <a:gd name="connsiteX10" fmla="*/ 258180 w 1920177"/>
                <a:gd name="connsiteY10" fmla="*/ 899302 h 1275785"/>
                <a:gd name="connsiteX11" fmla="*/ 549977 w 1920177"/>
                <a:gd name="connsiteY11" fmla="*/ 1050316 h 1275785"/>
                <a:gd name="connsiteX12" fmla="*/ 879772 w 1920177"/>
                <a:gd name="connsiteY12" fmla="*/ 1181844 h 1275785"/>
                <a:gd name="connsiteX13" fmla="*/ 1159634 w 1920177"/>
                <a:gd name="connsiteY13" fmla="*/ 1270503 h 1275785"/>
                <a:gd name="connsiteX14" fmla="*/ 1272163 w 1920177"/>
                <a:gd name="connsiteY14" fmla="*/ 1270503 h 1275785"/>
                <a:gd name="connsiteX15" fmla="*/ 1420392 w 1920177"/>
                <a:gd name="connsiteY15" fmla="*/ 1220396 h 1275785"/>
                <a:gd name="connsiteX16" fmla="*/ 1738844 w 1920177"/>
                <a:gd name="connsiteY16" fmla="*/ 964579 h 1275785"/>
                <a:gd name="connsiteX17" fmla="*/ 1836029 w 1920177"/>
                <a:gd name="connsiteY17" fmla="*/ 859600 h 1275785"/>
                <a:gd name="connsiteX18" fmla="*/ 1910805 w 1920177"/>
                <a:gd name="connsiteY18" fmla="*/ 735136 h 1275785"/>
                <a:gd name="connsiteX19" fmla="*/ 1895460 w 1920177"/>
                <a:gd name="connsiteY19" fmla="*/ 616030 h 1275785"/>
                <a:gd name="connsiteX0" fmla="*/ 1895460 w 1920177"/>
                <a:gd name="connsiteY0" fmla="*/ 616030 h 1275995"/>
                <a:gd name="connsiteX1" fmla="*/ 1829939 w 1920177"/>
                <a:gd name="connsiteY1" fmla="*/ 539306 h 1275995"/>
                <a:gd name="connsiteX2" fmla="*/ 1633135 w 1920177"/>
                <a:gd name="connsiteY2" fmla="*/ 367101 h 1275995"/>
                <a:gd name="connsiteX3" fmla="*/ 1431946 w 1920177"/>
                <a:gd name="connsiteY3" fmla="*/ 220229 h 1275995"/>
                <a:gd name="connsiteX4" fmla="*/ 1122124 w 1920177"/>
                <a:gd name="connsiteY4" fmla="*/ 73112 h 1275995"/>
                <a:gd name="connsiteX5" fmla="*/ 816931 w 1920177"/>
                <a:gd name="connsiteY5" fmla="*/ 2964 h 1275995"/>
                <a:gd name="connsiteX6" fmla="*/ 573360 w 1920177"/>
                <a:gd name="connsiteY6" fmla="*/ 15630 h 1275995"/>
                <a:gd name="connsiteX7" fmla="*/ 289114 w 1920177"/>
                <a:gd name="connsiteY7" fmla="*/ 113058 h 1275995"/>
                <a:gd name="connsiteX8" fmla="*/ 102052 w 1920177"/>
                <a:gd name="connsiteY8" fmla="*/ 262123 h 1275995"/>
                <a:gd name="connsiteX9" fmla="*/ 56991 w 1920177"/>
                <a:gd name="connsiteY9" fmla="*/ 711266 h 1275995"/>
                <a:gd name="connsiteX10" fmla="*/ 258180 w 1920177"/>
                <a:gd name="connsiteY10" fmla="*/ 899302 h 1275995"/>
                <a:gd name="connsiteX11" fmla="*/ 549977 w 1920177"/>
                <a:gd name="connsiteY11" fmla="*/ 1050316 h 1275995"/>
                <a:gd name="connsiteX12" fmla="*/ 879772 w 1920177"/>
                <a:gd name="connsiteY12" fmla="*/ 1181844 h 1275995"/>
                <a:gd name="connsiteX13" fmla="*/ 1159634 w 1920177"/>
                <a:gd name="connsiteY13" fmla="*/ 1270503 h 1275995"/>
                <a:gd name="connsiteX14" fmla="*/ 1272163 w 1920177"/>
                <a:gd name="connsiteY14" fmla="*/ 1270503 h 1275995"/>
                <a:gd name="connsiteX15" fmla="*/ 1417313 w 1920177"/>
                <a:gd name="connsiteY15" fmla="*/ 1217317 h 1275995"/>
                <a:gd name="connsiteX16" fmla="*/ 1738844 w 1920177"/>
                <a:gd name="connsiteY16" fmla="*/ 964579 h 1275995"/>
                <a:gd name="connsiteX17" fmla="*/ 1836029 w 1920177"/>
                <a:gd name="connsiteY17" fmla="*/ 859600 h 1275995"/>
                <a:gd name="connsiteX18" fmla="*/ 1910805 w 1920177"/>
                <a:gd name="connsiteY18" fmla="*/ 735136 h 1275995"/>
                <a:gd name="connsiteX19" fmla="*/ 1895460 w 1920177"/>
                <a:gd name="connsiteY19" fmla="*/ 616030 h 1275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AC7F42-DA37-7C40-C2CB-1E299315A01D}"/>
                </a:ext>
              </a:extLst>
            </p:cNvPr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F538F5E-C2B5-CCBF-9915-13D0A89CE188}"/>
                </a:ext>
              </a:extLst>
            </p:cNvPr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" fmla="*/ 1791460 w 1833764"/>
                <a:gd name="connsiteY0" fmla="*/ 766733 h 1104823"/>
                <a:gd name="connsiteX1" fmla="*/ 1831162 w 1833764"/>
                <a:gd name="connsiteY1" fmla="*/ 653716 h 1104823"/>
                <a:gd name="connsiteX2" fmla="*/ 1824098 w 1833764"/>
                <a:gd name="connsiteY2" fmla="*/ 635692 h 1104823"/>
                <a:gd name="connsiteX3" fmla="*/ 1747617 w 1833764"/>
                <a:gd name="connsiteY3" fmla="*/ 538507 h 1104823"/>
                <a:gd name="connsiteX4" fmla="*/ 1524994 w 1833764"/>
                <a:gd name="connsiteY4" fmla="*/ 346087 h 1104823"/>
                <a:gd name="connsiteX5" fmla="*/ 1378121 w 1833764"/>
                <a:gd name="connsiteY5" fmla="*/ 237942 h 1104823"/>
                <a:gd name="connsiteX6" fmla="*/ 945053 w 1833764"/>
                <a:gd name="connsiteY6" fmla="*/ 43086 h 1104823"/>
                <a:gd name="connsiteX7" fmla="*/ 720481 w 1833764"/>
                <a:gd name="connsiteY7" fmla="*/ 3384 h 1104823"/>
                <a:gd name="connsiteX8" fmla="*/ 583594 w 1833764"/>
                <a:gd name="connsiteY8" fmla="*/ 5576 h 1104823"/>
                <a:gd name="connsiteX9" fmla="*/ 245519 w 1833764"/>
                <a:gd name="connsiteY9" fmla="*/ 96428 h 1104823"/>
                <a:gd name="connsiteX10" fmla="*/ 26549 w 1833764"/>
                <a:gd name="connsiteY10" fmla="*/ 262786 h 1104823"/>
                <a:gd name="connsiteX11" fmla="*/ 0 w 1833764"/>
                <a:gd name="connsiteY11" fmla="*/ 301757 h 1104823"/>
                <a:gd name="connsiteX12" fmla="*/ 104492 w 1833764"/>
                <a:gd name="connsiteY12" fmla="*/ 282759 h 1104823"/>
                <a:gd name="connsiteX13" fmla="*/ 252826 w 1833764"/>
                <a:gd name="connsiteY13" fmla="*/ 318807 h 1104823"/>
                <a:gd name="connsiteX14" fmla="*/ 388982 w 1833764"/>
                <a:gd name="connsiteY14" fmla="*/ 386276 h 1104823"/>
                <a:gd name="connsiteX15" fmla="*/ 549738 w 1833764"/>
                <a:gd name="connsiteY15" fmla="*/ 495639 h 1104823"/>
                <a:gd name="connsiteX16" fmla="*/ 739236 w 1833764"/>
                <a:gd name="connsiteY16" fmla="*/ 655421 h 1104823"/>
                <a:gd name="connsiteX17" fmla="*/ 739236 w 1833764"/>
                <a:gd name="connsiteY17" fmla="*/ 655421 h 1104823"/>
                <a:gd name="connsiteX18" fmla="*/ 968192 w 1833764"/>
                <a:gd name="connsiteY18" fmla="*/ 833471 h 1104823"/>
                <a:gd name="connsiteX19" fmla="*/ 968192 w 1833764"/>
                <a:gd name="connsiteY19" fmla="*/ 833471 h 1104823"/>
                <a:gd name="connsiteX20" fmla="*/ 1216390 w 1833764"/>
                <a:gd name="connsiteY20" fmla="*/ 1002996 h 1104823"/>
                <a:gd name="connsiteX21" fmla="*/ 1343047 w 1833764"/>
                <a:gd name="connsiteY21" fmla="*/ 1085810 h 1104823"/>
                <a:gd name="connsiteX22" fmla="*/ 1386646 w 1833764"/>
                <a:gd name="connsiteY22" fmla="*/ 1104808 h 1104823"/>
                <a:gd name="connsiteX23" fmla="*/ 1441449 w 1833764"/>
                <a:gd name="connsiteY23" fmla="*/ 1076310 h 1104823"/>
                <a:gd name="connsiteX24" fmla="*/ 1791460 w 1833764"/>
                <a:gd name="connsiteY24" fmla="*/ 766733 h 1104823"/>
                <a:gd name="connsiteX25" fmla="*/ 840318 w 1833764"/>
                <a:gd name="connsiteY25" fmla="*/ 736286 h 1104823"/>
                <a:gd name="connsiteX26" fmla="*/ 841779 w 1833764"/>
                <a:gd name="connsiteY26" fmla="*/ 738235 h 1104823"/>
                <a:gd name="connsiteX27" fmla="*/ 840318 w 1833764"/>
                <a:gd name="connsiteY27" fmla="*/ 736286 h 1104823"/>
                <a:gd name="connsiteX28" fmla="*/ 1254631 w 1833764"/>
                <a:gd name="connsiteY28" fmla="*/ 1026135 h 1104823"/>
                <a:gd name="connsiteX29" fmla="*/ 1254631 w 1833764"/>
                <a:gd name="connsiteY29" fmla="*/ 1026135 h 1104823"/>
                <a:gd name="connsiteX30" fmla="*/ 1256092 w 1833764"/>
                <a:gd name="connsiteY30" fmla="*/ 1028083 h 1104823"/>
                <a:gd name="connsiteX31" fmla="*/ 1254631 w 1833764"/>
                <a:gd name="connsiteY31" fmla="*/ 1026135 h 1104823"/>
                <a:gd name="connsiteX0" fmla="*/ 1791460 w 1834540"/>
                <a:gd name="connsiteY0" fmla="*/ 766733 h 1104823"/>
                <a:gd name="connsiteX1" fmla="*/ 1824098 w 1834540"/>
                <a:gd name="connsiteY1" fmla="*/ 635692 h 1104823"/>
                <a:gd name="connsiteX2" fmla="*/ 1747617 w 1834540"/>
                <a:gd name="connsiteY2" fmla="*/ 538507 h 1104823"/>
                <a:gd name="connsiteX3" fmla="*/ 1524994 w 1834540"/>
                <a:gd name="connsiteY3" fmla="*/ 346087 h 1104823"/>
                <a:gd name="connsiteX4" fmla="*/ 1378121 w 1834540"/>
                <a:gd name="connsiteY4" fmla="*/ 237942 h 1104823"/>
                <a:gd name="connsiteX5" fmla="*/ 945053 w 1834540"/>
                <a:gd name="connsiteY5" fmla="*/ 43086 h 1104823"/>
                <a:gd name="connsiteX6" fmla="*/ 720481 w 1834540"/>
                <a:gd name="connsiteY6" fmla="*/ 3384 h 1104823"/>
                <a:gd name="connsiteX7" fmla="*/ 583594 w 1834540"/>
                <a:gd name="connsiteY7" fmla="*/ 5576 h 1104823"/>
                <a:gd name="connsiteX8" fmla="*/ 245519 w 1834540"/>
                <a:gd name="connsiteY8" fmla="*/ 96428 h 1104823"/>
                <a:gd name="connsiteX9" fmla="*/ 26549 w 1834540"/>
                <a:gd name="connsiteY9" fmla="*/ 262786 h 1104823"/>
                <a:gd name="connsiteX10" fmla="*/ 0 w 1834540"/>
                <a:gd name="connsiteY10" fmla="*/ 301757 h 1104823"/>
                <a:gd name="connsiteX11" fmla="*/ 104492 w 1834540"/>
                <a:gd name="connsiteY11" fmla="*/ 282759 h 1104823"/>
                <a:gd name="connsiteX12" fmla="*/ 252826 w 1834540"/>
                <a:gd name="connsiteY12" fmla="*/ 318807 h 1104823"/>
                <a:gd name="connsiteX13" fmla="*/ 388982 w 1834540"/>
                <a:gd name="connsiteY13" fmla="*/ 386276 h 1104823"/>
                <a:gd name="connsiteX14" fmla="*/ 549738 w 1834540"/>
                <a:gd name="connsiteY14" fmla="*/ 495639 h 1104823"/>
                <a:gd name="connsiteX15" fmla="*/ 739236 w 1834540"/>
                <a:gd name="connsiteY15" fmla="*/ 655421 h 1104823"/>
                <a:gd name="connsiteX16" fmla="*/ 739236 w 1834540"/>
                <a:gd name="connsiteY16" fmla="*/ 655421 h 1104823"/>
                <a:gd name="connsiteX17" fmla="*/ 968192 w 1834540"/>
                <a:gd name="connsiteY17" fmla="*/ 833471 h 1104823"/>
                <a:gd name="connsiteX18" fmla="*/ 968192 w 1834540"/>
                <a:gd name="connsiteY18" fmla="*/ 833471 h 1104823"/>
                <a:gd name="connsiteX19" fmla="*/ 1216390 w 1834540"/>
                <a:gd name="connsiteY19" fmla="*/ 1002996 h 1104823"/>
                <a:gd name="connsiteX20" fmla="*/ 1343047 w 1834540"/>
                <a:gd name="connsiteY20" fmla="*/ 1085810 h 1104823"/>
                <a:gd name="connsiteX21" fmla="*/ 1386646 w 1834540"/>
                <a:gd name="connsiteY21" fmla="*/ 1104808 h 1104823"/>
                <a:gd name="connsiteX22" fmla="*/ 1441449 w 1834540"/>
                <a:gd name="connsiteY22" fmla="*/ 1076310 h 1104823"/>
                <a:gd name="connsiteX23" fmla="*/ 1791460 w 1834540"/>
                <a:gd name="connsiteY23" fmla="*/ 766733 h 1104823"/>
                <a:gd name="connsiteX24" fmla="*/ 840318 w 1834540"/>
                <a:gd name="connsiteY24" fmla="*/ 736286 h 1104823"/>
                <a:gd name="connsiteX25" fmla="*/ 841779 w 1834540"/>
                <a:gd name="connsiteY25" fmla="*/ 738235 h 1104823"/>
                <a:gd name="connsiteX26" fmla="*/ 840318 w 1834540"/>
                <a:gd name="connsiteY26" fmla="*/ 736286 h 1104823"/>
                <a:gd name="connsiteX27" fmla="*/ 1254631 w 1834540"/>
                <a:gd name="connsiteY27" fmla="*/ 1026135 h 1104823"/>
                <a:gd name="connsiteX28" fmla="*/ 1254631 w 1834540"/>
                <a:gd name="connsiteY28" fmla="*/ 1026135 h 1104823"/>
                <a:gd name="connsiteX29" fmla="*/ 1256092 w 1834540"/>
                <a:gd name="connsiteY29" fmla="*/ 1028083 h 1104823"/>
                <a:gd name="connsiteX30" fmla="*/ 1254631 w 1834540"/>
                <a:gd name="connsiteY30" fmla="*/ 1026135 h 1104823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26625"/>
                <a:gd name="connsiteY0" fmla="*/ 754418 h 1109932"/>
                <a:gd name="connsiteX1" fmla="*/ 1824098 w 1826625"/>
                <a:gd name="connsiteY1" fmla="*/ 635692 h 1109932"/>
                <a:gd name="connsiteX2" fmla="*/ 1747617 w 1826625"/>
                <a:gd name="connsiteY2" fmla="*/ 538507 h 1109932"/>
                <a:gd name="connsiteX3" fmla="*/ 1524994 w 1826625"/>
                <a:gd name="connsiteY3" fmla="*/ 346087 h 1109932"/>
                <a:gd name="connsiteX4" fmla="*/ 1378121 w 1826625"/>
                <a:gd name="connsiteY4" fmla="*/ 237942 h 1109932"/>
                <a:gd name="connsiteX5" fmla="*/ 945053 w 1826625"/>
                <a:gd name="connsiteY5" fmla="*/ 43086 h 1109932"/>
                <a:gd name="connsiteX6" fmla="*/ 720481 w 1826625"/>
                <a:gd name="connsiteY6" fmla="*/ 3384 h 1109932"/>
                <a:gd name="connsiteX7" fmla="*/ 583594 w 1826625"/>
                <a:gd name="connsiteY7" fmla="*/ 5576 h 1109932"/>
                <a:gd name="connsiteX8" fmla="*/ 245519 w 1826625"/>
                <a:gd name="connsiteY8" fmla="*/ 96428 h 1109932"/>
                <a:gd name="connsiteX9" fmla="*/ 26549 w 1826625"/>
                <a:gd name="connsiteY9" fmla="*/ 262786 h 1109932"/>
                <a:gd name="connsiteX10" fmla="*/ 0 w 1826625"/>
                <a:gd name="connsiteY10" fmla="*/ 301757 h 1109932"/>
                <a:gd name="connsiteX11" fmla="*/ 104492 w 1826625"/>
                <a:gd name="connsiteY11" fmla="*/ 282759 h 1109932"/>
                <a:gd name="connsiteX12" fmla="*/ 252826 w 1826625"/>
                <a:gd name="connsiteY12" fmla="*/ 318807 h 1109932"/>
                <a:gd name="connsiteX13" fmla="*/ 388982 w 1826625"/>
                <a:gd name="connsiteY13" fmla="*/ 386276 h 1109932"/>
                <a:gd name="connsiteX14" fmla="*/ 549738 w 1826625"/>
                <a:gd name="connsiteY14" fmla="*/ 495639 h 1109932"/>
                <a:gd name="connsiteX15" fmla="*/ 739236 w 1826625"/>
                <a:gd name="connsiteY15" fmla="*/ 655421 h 1109932"/>
                <a:gd name="connsiteX16" fmla="*/ 739236 w 1826625"/>
                <a:gd name="connsiteY16" fmla="*/ 655421 h 1109932"/>
                <a:gd name="connsiteX17" fmla="*/ 968192 w 1826625"/>
                <a:gd name="connsiteY17" fmla="*/ 833471 h 1109932"/>
                <a:gd name="connsiteX18" fmla="*/ 968192 w 1826625"/>
                <a:gd name="connsiteY18" fmla="*/ 833471 h 1109932"/>
                <a:gd name="connsiteX19" fmla="*/ 1216390 w 1826625"/>
                <a:gd name="connsiteY19" fmla="*/ 1002996 h 1109932"/>
                <a:gd name="connsiteX20" fmla="*/ 1343047 w 1826625"/>
                <a:gd name="connsiteY20" fmla="*/ 1085810 h 1109932"/>
                <a:gd name="connsiteX21" fmla="*/ 1386646 w 1826625"/>
                <a:gd name="connsiteY21" fmla="*/ 1104808 h 1109932"/>
                <a:gd name="connsiteX22" fmla="*/ 1441449 w 1826625"/>
                <a:gd name="connsiteY22" fmla="*/ 1076310 h 1109932"/>
                <a:gd name="connsiteX23" fmla="*/ 1782224 w 1826625"/>
                <a:gd name="connsiteY23" fmla="*/ 754418 h 1109932"/>
                <a:gd name="connsiteX24" fmla="*/ 840318 w 1826625"/>
                <a:gd name="connsiteY24" fmla="*/ 736286 h 1109932"/>
                <a:gd name="connsiteX25" fmla="*/ 841779 w 1826625"/>
                <a:gd name="connsiteY25" fmla="*/ 738235 h 1109932"/>
                <a:gd name="connsiteX26" fmla="*/ 840318 w 1826625"/>
                <a:gd name="connsiteY26" fmla="*/ 736286 h 1109932"/>
                <a:gd name="connsiteX27" fmla="*/ 1254631 w 1826625"/>
                <a:gd name="connsiteY27" fmla="*/ 1026135 h 1109932"/>
                <a:gd name="connsiteX28" fmla="*/ 1254631 w 1826625"/>
                <a:gd name="connsiteY28" fmla="*/ 1026135 h 1109932"/>
                <a:gd name="connsiteX29" fmla="*/ 1256092 w 1826625"/>
                <a:gd name="connsiteY29" fmla="*/ 1028083 h 1109932"/>
                <a:gd name="connsiteX30" fmla="*/ 1254631 w 1826625"/>
                <a:gd name="connsiteY30" fmla="*/ 1026135 h 1109932"/>
                <a:gd name="connsiteX0" fmla="*/ 1782224 w 1825422"/>
                <a:gd name="connsiteY0" fmla="*/ 754418 h 1109932"/>
                <a:gd name="connsiteX1" fmla="*/ 1824098 w 1825422"/>
                <a:gd name="connsiteY1" fmla="*/ 635692 h 1109932"/>
                <a:gd name="connsiteX2" fmla="*/ 1747617 w 1825422"/>
                <a:gd name="connsiteY2" fmla="*/ 538507 h 1109932"/>
                <a:gd name="connsiteX3" fmla="*/ 1524994 w 1825422"/>
                <a:gd name="connsiteY3" fmla="*/ 346087 h 1109932"/>
                <a:gd name="connsiteX4" fmla="*/ 1378121 w 1825422"/>
                <a:gd name="connsiteY4" fmla="*/ 237942 h 1109932"/>
                <a:gd name="connsiteX5" fmla="*/ 945053 w 1825422"/>
                <a:gd name="connsiteY5" fmla="*/ 43086 h 1109932"/>
                <a:gd name="connsiteX6" fmla="*/ 720481 w 1825422"/>
                <a:gd name="connsiteY6" fmla="*/ 3384 h 1109932"/>
                <a:gd name="connsiteX7" fmla="*/ 583594 w 1825422"/>
                <a:gd name="connsiteY7" fmla="*/ 5576 h 1109932"/>
                <a:gd name="connsiteX8" fmla="*/ 245519 w 1825422"/>
                <a:gd name="connsiteY8" fmla="*/ 96428 h 1109932"/>
                <a:gd name="connsiteX9" fmla="*/ 26549 w 1825422"/>
                <a:gd name="connsiteY9" fmla="*/ 262786 h 1109932"/>
                <a:gd name="connsiteX10" fmla="*/ 0 w 1825422"/>
                <a:gd name="connsiteY10" fmla="*/ 301757 h 1109932"/>
                <a:gd name="connsiteX11" fmla="*/ 104492 w 1825422"/>
                <a:gd name="connsiteY11" fmla="*/ 282759 h 1109932"/>
                <a:gd name="connsiteX12" fmla="*/ 252826 w 1825422"/>
                <a:gd name="connsiteY12" fmla="*/ 318807 h 1109932"/>
                <a:gd name="connsiteX13" fmla="*/ 388982 w 1825422"/>
                <a:gd name="connsiteY13" fmla="*/ 386276 h 1109932"/>
                <a:gd name="connsiteX14" fmla="*/ 549738 w 1825422"/>
                <a:gd name="connsiteY14" fmla="*/ 495639 h 1109932"/>
                <a:gd name="connsiteX15" fmla="*/ 739236 w 1825422"/>
                <a:gd name="connsiteY15" fmla="*/ 655421 h 1109932"/>
                <a:gd name="connsiteX16" fmla="*/ 739236 w 1825422"/>
                <a:gd name="connsiteY16" fmla="*/ 655421 h 1109932"/>
                <a:gd name="connsiteX17" fmla="*/ 968192 w 1825422"/>
                <a:gd name="connsiteY17" fmla="*/ 833471 h 1109932"/>
                <a:gd name="connsiteX18" fmla="*/ 968192 w 1825422"/>
                <a:gd name="connsiteY18" fmla="*/ 833471 h 1109932"/>
                <a:gd name="connsiteX19" fmla="*/ 1216390 w 1825422"/>
                <a:gd name="connsiteY19" fmla="*/ 1002996 h 1109932"/>
                <a:gd name="connsiteX20" fmla="*/ 1343047 w 1825422"/>
                <a:gd name="connsiteY20" fmla="*/ 1085810 h 1109932"/>
                <a:gd name="connsiteX21" fmla="*/ 1386646 w 1825422"/>
                <a:gd name="connsiteY21" fmla="*/ 1104808 h 1109932"/>
                <a:gd name="connsiteX22" fmla="*/ 1441449 w 1825422"/>
                <a:gd name="connsiteY22" fmla="*/ 1076310 h 1109932"/>
                <a:gd name="connsiteX23" fmla="*/ 1782224 w 1825422"/>
                <a:gd name="connsiteY23" fmla="*/ 754418 h 1109932"/>
                <a:gd name="connsiteX24" fmla="*/ 840318 w 1825422"/>
                <a:gd name="connsiteY24" fmla="*/ 736286 h 1109932"/>
                <a:gd name="connsiteX25" fmla="*/ 841779 w 1825422"/>
                <a:gd name="connsiteY25" fmla="*/ 738235 h 1109932"/>
                <a:gd name="connsiteX26" fmla="*/ 840318 w 1825422"/>
                <a:gd name="connsiteY26" fmla="*/ 736286 h 1109932"/>
                <a:gd name="connsiteX27" fmla="*/ 1254631 w 1825422"/>
                <a:gd name="connsiteY27" fmla="*/ 1026135 h 1109932"/>
                <a:gd name="connsiteX28" fmla="*/ 1254631 w 1825422"/>
                <a:gd name="connsiteY28" fmla="*/ 1026135 h 1109932"/>
                <a:gd name="connsiteX29" fmla="*/ 1256092 w 1825422"/>
                <a:gd name="connsiteY29" fmla="*/ 1028083 h 1109932"/>
                <a:gd name="connsiteX30" fmla="*/ 1254631 w 1825422"/>
                <a:gd name="connsiteY30" fmla="*/ 1026135 h 110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6A02BF-12B0-DA46-6E06-5599852E37C3}"/>
                </a:ext>
              </a:extLst>
            </p:cNvPr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595EC5-6BAD-BBD1-649C-F3F67736932C}"/>
                </a:ext>
              </a:extLst>
            </p:cNvPr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80BB6A-B6D4-4A99-37EB-C6C92B7E8B6D}"/>
                </a:ext>
              </a:extLst>
            </p:cNvPr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0E2D40-6BB4-1BD6-3611-282B1A24966C}"/>
                </a:ext>
              </a:extLst>
            </p:cNvPr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" fmla="*/ 0 w 325671"/>
                <a:gd name="connsiteY0" fmla="*/ 51248 h 271192"/>
                <a:gd name="connsiteX1" fmla="*/ 165871 w 325671"/>
                <a:gd name="connsiteY1" fmla="*/ 105320 h 271192"/>
                <a:gd name="connsiteX2" fmla="*/ 275965 w 325671"/>
                <a:gd name="connsiteY2" fmla="*/ 271192 h 271192"/>
                <a:gd name="connsiteX3" fmla="*/ 324923 w 325671"/>
                <a:gd name="connsiteY3" fmla="*/ 220773 h 271192"/>
                <a:gd name="connsiteX4" fmla="*/ 239166 w 325671"/>
                <a:gd name="connsiteY4" fmla="*/ 55476 h 271192"/>
                <a:gd name="connsiteX5" fmla="*/ 66008 w 325671"/>
                <a:gd name="connsiteY5" fmla="*/ 829 h 271192"/>
                <a:gd name="connsiteX6" fmla="*/ 0 w 325671"/>
                <a:gd name="connsiteY6" fmla="*/ 51248 h 271192"/>
                <a:gd name="connsiteX0" fmla="*/ 3757 w 329428"/>
                <a:gd name="connsiteY0" fmla="*/ 51248 h 271192"/>
                <a:gd name="connsiteX1" fmla="*/ 185022 w 329428"/>
                <a:gd name="connsiteY1" fmla="*/ 102241 h 271192"/>
                <a:gd name="connsiteX2" fmla="*/ 279722 w 329428"/>
                <a:gd name="connsiteY2" fmla="*/ 271192 h 271192"/>
                <a:gd name="connsiteX3" fmla="*/ 328680 w 329428"/>
                <a:gd name="connsiteY3" fmla="*/ 220773 h 271192"/>
                <a:gd name="connsiteX4" fmla="*/ 242923 w 329428"/>
                <a:gd name="connsiteY4" fmla="*/ 55476 h 271192"/>
                <a:gd name="connsiteX5" fmla="*/ 69765 w 329428"/>
                <a:gd name="connsiteY5" fmla="*/ 829 h 271192"/>
                <a:gd name="connsiteX6" fmla="*/ 3757 w 329428"/>
                <a:gd name="connsiteY6" fmla="*/ 51248 h 271192"/>
                <a:gd name="connsiteX0" fmla="*/ 3757 w 329827"/>
                <a:gd name="connsiteY0" fmla="*/ 51248 h 283507"/>
                <a:gd name="connsiteX1" fmla="*/ 185022 w 329827"/>
                <a:gd name="connsiteY1" fmla="*/ 102241 h 283507"/>
                <a:gd name="connsiteX2" fmla="*/ 285880 w 329827"/>
                <a:gd name="connsiteY2" fmla="*/ 283507 h 283507"/>
                <a:gd name="connsiteX3" fmla="*/ 328680 w 329827"/>
                <a:gd name="connsiteY3" fmla="*/ 220773 h 283507"/>
                <a:gd name="connsiteX4" fmla="*/ 242923 w 329827"/>
                <a:gd name="connsiteY4" fmla="*/ 55476 h 283507"/>
                <a:gd name="connsiteX5" fmla="*/ 69765 w 329827"/>
                <a:gd name="connsiteY5" fmla="*/ 829 h 283507"/>
                <a:gd name="connsiteX6" fmla="*/ 3757 w 329827"/>
                <a:gd name="connsiteY6" fmla="*/ 51248 h 283507"/>
                <a:gd name="connsiteX0" fmla="*/ 3757 w 328680"/>
                <a:gd name="connsiteY0" fmla="*/ 51248 h 283507"/>
                <a:gd name="connsiteX1" fmla="*/ 185022 w 328680"/>
                <a:gd name="connsiteY1" fmla="*/ 102241 h 283507"/>
                <a:gd name="connsiteX2" fmla="*/ 285880 w 328680"/>
                <a:gd name="connsiteY2" fmla="*/ 283507 h 283507"/>
                <a:gd name="connsiteX3" fmla="*/ 328680 w 328680"/>
                <a:gd name="connsiteY3" fmla="*/ 220773 h 283507"/>
                <a:gd name="connsiteX4" fmla="*/ 242923 w 328680"/>
                <a:gd name="connsiteY4" fmla="*/ 55476 h 283507"/>
                <a:gd name="connsiteX5" fmla="*/ 69765 w 328680"/>
                <a:gd name="connsiteY5" fmla="*/ 829 h 283507"/>
                <a:gd name="connsiteX6" fmla="*/ 3757 w 328680"/>
                <a:gd name="connsiteY6" fmla="*/ 51248 h 283507"/>
                <a:gd name="connsiteX0" fmla="*/ 3757 w 334838"/>
                <a:gd name="connsiteY0" fmla="*/ 51248 h 283507"/>
                <a:gd name="connsiteX1" fmla="*/ 185022 w 334838"/>
                <a:gd name="connsiteY1" fmla="*/ 102241 h 283507"/>
                <a:gd name="connsiteX2" fmla="*/ 285880 w 334838"/>
                <a:gd name="connsiteY2" fmla="*/ 283507 h 283507"/>
                <a:gd name="connsiteX3" fmla="*/ 334838 w 334838"/>
                <a:gd name="connsiteY3" fmla="*/ 226931 h 283507"/>
                <a:gd name="connsiteX4" fmla="*/ 242923 w 334838"/>
                <a:gd name="connsiteY4" fmla="*/ 55476 h 283507"/>
                <a:gd name="connsiteX5" fmla="*/ 69765 w 334838"/>
                <a:gd name="connsiteY5" fmla="*/ 829 h 283507"/>
                <a:gd name="connsiteX6" fmla="*/ 3757 w 334838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6008 w 331081"/>
                <a:gd name="connsiteY5" fmla="*/ 829 h 283507"/>
                <a:gd name="connsiteX6" fmla="*/ 0 w 331081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2929 w 331081"/>
                <a:gd name="connsiteY5" fmla="*/ 829 h 283507"/>
                <a:gd name="connsiteX6" fmla="*/ 0 w 331081"/>
                <a:gd name="connsiteY6" fmla="*/ 51248 h 2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4B37A4-E2D5-BEE6-0E39-B4E20FACF699}"/>
                </a:ext>
              </a:extLst>
            </p:cNvPr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160"/>
            </a:p>
          </p:txBody>
        </p:sp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5A5BFA9-D9AB-E887-BAC3-3D4A0C46C72D}"/>
              </a:ext>
            </a:extLst>
          </p:cNvPr>
          <p:cNvSpPr txBox="1"/>
          <p:nvPr/>
        </p:nvSpPr>
        <p:spPr>
          <a:xfrm>
            <a:off x="5447379" y="1501437"/>
            <a:ext cx="57869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四大未來發展方向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技術優化：提升語音識別準確率、優化響應速度、探索離線功能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功能擴展：學習進度追踪、數據分析系統、個性化學習路徑、主題內容擴充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用戶體驗提升：遊戲化元素、社群功能、界面設計優化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深化研究：大規模長期實證、不同族群體驗差異、認知和動機影響機制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C76A48F5-9DC5-9632-F6CC-95268718F7CD}"/>
              </a:ext>
            </a:extLst>
          </p:cNvPr>
          <p:cNvSpPr txBox="1"/>
          <p:nvPr/>
        </p:nvSpPr>
        <p:spPr>
          <a:xfrm>
            <a:off x="638984" y="5657198"/>
            <a:ext cx="458779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核心貢獻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教育應用實證：證明提示工程可有效引導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生成教育內容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創新解決方案：解決「缺乏練習機會」與「學習動機不足」問題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技術整合典範：多技術整合於易用平台，降低應用門檻：創造模擬真實語境的學習環境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37053D0-635D-AED6-E8A6-0C120770F538}"/>
              </a:ext>
            </a:extLst>
          </p:cNvPr>
          <p:cNvSpPr txBox="1"/>
          <p:nvPr/>
        </p:nvSpPr>
        <p:spPr>
          <a:xfrm>
            <a:off x="5447379" y="5353619"/>
            <a:ext cx="4024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三層面價值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技術層面：提示工程框架可供其他教育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參考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教育層面：多元需求整合為數位學習工具提供新思路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體驗層面：高普及率平台策略為教育科技普及提供成功案例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F77AF83-5133-E498-A04C-9EAB79158444}"/>
              </a:ext>
            </a:extLst>
          </p:cNvPr>
          <p:cNvSpPr txBox="1"/>
          <p:nvPr/>
        </p:nvSpPr>
        <p:spPr>
          <a:xfrm>
            <a:off x="10136509" y="5439807"/>
            <a:ext cx="40241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未來價值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應用前景：為語言學習帶來更個性化、高效體驗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探索意義：對未來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輔助教育模式的前瞻探索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實踐參考：為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服務教育目標提供思考和參考</a:t>
            </a:r>
            <a:endParaRPr lang="en-US" altLang="ko-KR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955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 txBox="1">
            <a:spLocks noGrp="1"/>
          </p:cNvSpPr>
          <p:nvPr>
            <p:ph type="title"/>
          </p:nvPr>
        </p:nvSpPr>
        <p:spPr>
          <a:xfrm>
            <a:off x="2718534" y="2299941"/>
            <a:ext cx="8328480" cy="2721600"/>
          </a:xfrm>
          <a:prstGeom prst="rect">
            <a:avLst/>
          </a:prstGeom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r>
              <a:rPr lang="zh-TW" altLang="en-US" sz="768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感謝口委蒞臨指導</a:t>
            </a:r>
            <a:endParaRPr sz="768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Google Shape;601;p42">
            <a:extLst>
              <a:ext uri="{FF2B5EF4-FFF2-40B4-BE49-F238E27FC236}">
                <a16:creationId xmlns:a16="http://schemas.microsoft.com/office/drawing/2014/main" id="{2A7F489D-B2F1-4046-984B-3886A23DD10A}"/>
              </a:ext>
            </a:extLst>
          </p:cNvPr>
          <p:cNvSpPr txBox="1">
            <a:spLocks/>
          </p:cNvSpPr>
          <p:nvPr/>
        </p:nvSpPr>
        <p:spPr>
          <a:xfrm>
            <a:off x="2277440" y="5475590"/>
            <a:ext cx="6985829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題目：</a:t>
            </a:r>
            <a: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結合大型語言模型之英語學習系統設計與實作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資訊管理所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研究生：杜宜霖</a:t>
            </a:r>
            <a:b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指導教授：黃承龍 博士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0044FD3-FFF7-4CE6-8B97-9A3D51CB9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357" y="1073991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844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"/>
          <p:cNvSpPr txBox="1">
            <a:spLocks noGrp="1"/>
          </p:cNvSpPr>
          <p:nvPr>
            <p:ph type="title"/>
          </p:nvPr>
        </p:nvSpPr>
        <p:spPr>
          <a:xfrm>
            <a:off x="2718534" y="2299941"/>
            <a:ext cx="8328480" cy="2721600"/>
          </a:xfrm>
          <a:prstGeom prst="rect">
            <a:avLst/>
          </a:prstGeom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r>
              <a:rPr lang="en-US" altLang="zh-TW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Q&amp;A</a:t>
            </a:r>
            <a:endParaRPr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0044FD3-FFF7-4CE6-8B97-9A3D51CB9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5357" y="1073991"/>
            <a:ext cx="1348166" cy="122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601;p42">
            <a:extLst>
              <a:ext uri="{FF2B5EF4-FFF2-40B4-BE49-F238E27FC236}">
                <a16:creationId xmlns:a16="http://schemas.microsoft.com/office/drawing/2014/main" id="{870CEE65-AB81-396B-E457-54F6013D7379}"/>
              </a:ext>
            </a:extLst>
          </p:cNvPr>
          <p:cNvSpPr txBox="1">
            <a:spLocks/>
          </p:cNvSpPr>
          <p:nvPr/>
        </p:nvSpPr>
        <p:spPr>
          <a:xfrm>
            <a:off x="2297318" y="5438520"/>
            <a:ext cx="6985829" cy="1617941"/>
          </a:xfrm>
          <a:prstGeom prst="rect">
            <a:avLst/>
          </a:prstGeom>
        </p:spPr>
        <p:txBody>
          <a:bodyPr spcFirstLastPara="1" wrap="square" lIns="146280" tIns="146280" rIns="146280" bIns="14628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題目：</a:t>
            </a:r>
            <a: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Bot</a:t>
            </a: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結合大型語言模型之英語學習系統設計與實作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國立高雄科技大學 資訊管理所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研究生：杜宜霖</a:t>
            </a:r>
            <a:br>
              <a:rPr lang="en-US" altLang="zh-TW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240" b="1" dirty="0">
                <a:solidFill>
                  <a:srgbClr val="5358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指導教授：黃承龍 博士</a:t>
            </a:r>
            <a:endParaRPr lang="en-US" altLang="zh-TW" sz="2240" b="1" dirty="0">
              <a:solidFill>
                <a:srgbClr val="5358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200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3360</TotalTime>
  <Words>4164</Words>
  <Application>Microsoft Office PowerPoint</Application>
  <PresentationFormat>自訂</PresentationFormat>
  <Paragraphs>549</Paragraphs>
  <Slides>45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0" baseType="lpstr">
      <vt:lpstr>Microsoft JhengHei</vt:lpstr>
      <vt:lpstr>Arial</vt:lpstr>
      <vt:lpstr>Microsoft JhengHei</vt:lpstr>
      <vt:lpstr>Work Sans</vt:lpstr>
      <vt:lpstr>Office Theme</vt:lpstr>
      <vt:lpstr>PowerPoint 簡報</vt:lpstr>
      <vt:lpstr>PowerPoint 簡報</vt:lpstr>
      <vt:lpstr>緒論</vt:lpstr>
      <vt:lpstr>PowerPoint 簡報</vt:lpstr>
      <vt:lpstr>PowerPoint 簡報</vt:lpstr>
      <vt:lpstr>PowerPoint 簡報</vt:lpstr>
      <vt:lpstr>系統核心功能</vt:lpstr>
      <vt:lpstr>PowerPoint 簡報</vt:lpstr>
      <vt:lpstr>PowerPoint 簡報</vt:lpstr>
      <vt:lpstr>系統功能展示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提示工程設計 </vt:lpstr>
      <vt:lpstr>PowerPoint 簡報</vt:lpstr>
      <vt:lpstr>PowerPoint 簡報</vt:lpstr>
      <vt:lpstr>PowerPoint 簡報</vt:lpstr>
      <vt:lpstr>PowerPoint 簡報</vt:lpstr>
      <vt:lpstr>PowerPoint 簡報</vt:lpstr>
      <vt:lpstr>系統架構與運作流程 </vt:lpstr>
      <vt:lpstr>PowerPoint 簡報</vt:lpstr>
      <vt:lpstr>PowerPoint 簡報</vt:lpstr>
      <vt:lpstr>技術實作與部署流程</vt:lpstr>
      <vt:lpstr>PowerPoint 簡報</vt:lpstr>
      <vt:lpstr>現有英語學習應用比較</vt:lpstr>
      <vt:lpstr>PowerPoint 簡報</vt:lpstr>
      <vt:lpstr>使用者回饋與改善建議</vt:lpstr>
      <vt:lpstr>PowerPoint 簡報</vt:lpstr>
      <vt:lpstr>文獻探討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結論</vt:lpstr>
      <vt:lpstr>PowerPoint 簡報</vt:lpstr>
      <vt:lpstr>PowerPoint 簡報</vt:lpstr>
      <vt:lpstr>感謝口委蒞臨指導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F112119106</cp:lastModifiedBy>
  <cp:revision>11</cp:revision>
  <dcterms:created xsi:type="dcterms:W3CDTF">2025-05-15T02:28:07Z</dcterms:created>
  <dcterms:modified xsi:type="dcterms:W3CDTF">2025-05-27T14:14:03Z</dcterms:modified>
</cp:coreProperties>
</file>