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media/image19.jpg" ContentType="image/jpg"/>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2"/>
  </p:notesMasterIdLst>
  <p:sldIdLst>
    <p:sldId id="296" r:id="rId2"/>
    <p:sldId id="256" r:id="rId3"/>
    <p:sldId id="260" r:id="rId4"/>
    <p:sldId id="297" r:id="rId5"/>
    <p:sldId id="298" r:id="rId6"/>
    <p:sldId id="324" r:id="rId7"/>
    <p:sldId id="352" r:id="rId8"/>
    <p:sldId id="341" r:id="rId9"/>
    <p:sldId id="336" r:id="rId10"/>
    <p:sldId id="353" r:id="rId11"/>
    <p:sldId id="342" r:id="rId12"/>
    <p:sldId id="343" r:id="rId13"/>
    <p:sldId id="354" r:id="rId14"/>
    <p:sldId id="345" r:id="rId15"/>
    <p:sldId id="339" r:id="rId16"/>
    <p:sldId id="346" r:id="rId17"/>
    <p:sldId id="355" r:id="rId18"/>
    <p:sldId id="356" r:id="rId19"/>
    <p:sldId id="357" r:id="rId20"/>
    <p:sldId id="275" r:id="rId21"/>
    <p:sldId id="328" r:id="rId22"/>
    <p:sldId id="358" r:id="rId23"/>
    <p:sldId id="380" r:id="rId24"/>
    <p:sldId id="381"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4630400" cy="8229600"/>
  <p:notesSz cx="8229600" cy="14630400"/>
  <p:embeddedFontLst>
    <p:embeddedFont>
      <p:font typeface="Microsoft JhengHei UI" panose="020B0604030504040204" pitchFamily="34" charset="-120"/>
      <p:regular r:id="rId43"/>
      <p:bold r:id="rId44"/>
    </p:embeddedFont>
    <p:embeddedFont>
      <p:font typeface="Microsoft JhengHei" panose="020B0604030504040204" pitchFamily="34" charset="-120"/>
      <p:regular r:id="rId45"/>
      <p:bold r:id="rId46"/>
    </p:embeddedFont>
    <p:embeddedFont>
      <p:font typeface="Microsoft JhengHei" panose="020B0604030504040204" pitchFamily="34" charset="-120"/>
      <p:regular r:id="rId45"/>
      <p:bold r:id="rId46"/>
    </p:embeddedFont>
    <p:embeddedFont>
      <p:font typeface="Work Sans" pitchFamily="2" charset="0"/>
      <p:regular r:id="rId47"/>
      <p:bold r:id="rId48"/>
      <p:italic r:id="rId49"/>
      <p:boldItalic r:id="rId50"/>
    </p:embeddedFont>
  </p:embeddedFontLst>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679" autoAdjust="0"/>
  </p:normalViewPr>
  <p:slideViewPr>
    <p:cSldViewPr snapToGrid="0" snapToObjects="1">
      <p:cViewPr varScale="1">
        <p:scale>
          <a:sx n="55" d="100"/>
          <a:sy n="55" d="100"/>
        </p:scale>
        <p:origin x="1219" y="38"/>
      </p:cViewPr>
      <p:guideLst/>
    </p:cSldViewPr>
  </p:slideViewPr>
  <p:notesTextViewPr>
    <p:cViewPr>
      <p:scale>
        <a:sx n="1" d="1"/>
        <a:sy n="1" d="1"/>
      </p:scale>
      <p:origin x="0" y="0"/>
    </p:cViewPr>
  </p:notesTextViewPr>
  <p:sorterViewPr>
    <p:cViewPr>
      <p:scale>
        <a:sx n="100" d="100"/>
        <a:sy n="100" d="100"/>
      </p:scale>
      <p:origin x="0" y="-2482"/>
    </p:cViewPr>
  </p:sorterViewPr>
  <p:notesViewPr>
    <p:cSldViewPr snapToGrid="0" snapToObjects="1" showGuides="1">
      <p:cViewPr varScale="1">
        <p:scale>
          <a:sx n="42" d="100"/>
          <a:sy n="42" d="100"/>
        </p:scale>
        <p:origin x="3403" y="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87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4608" userDrawn="1">
          <p15:clr>
            <a:srgbClr val="F26B43"/>
          </p15:clr>
        </p15:guide>
        <p15:guide id="2" pos="259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各位口委們好，感謝您的蒞臨，來參加學生的口試</a:t>
            </a:r>
          </a:p>
          <a:p>
            <a:pPr marL="0" lvl="0" indent="0" algn="l" rtl="0">
              <a:spcBef>
                <a:spcPts val="0"/>
              </a:spcBef>
              <a:spcAft>
                <a:spcPts val="0"/>
              </a:spcAft>
              <a:buNone/>
            </a:pPr>
            <a:r>
              <a:rPr lang="zh-TW" altLang="en-US" dirty="0"/>
              <a:t>我是</a:t>
            </a:r>
            <a:r>
              <a:rPr lang="en-US" altLang="zh-TW" dirty="0"/>
              <a:t>XXX</a:t>
            </a:r>
            <a:r>
              <a:rPr lang="zh-TW" altLang="en-US" dirty="0"/>
              <a:t>，口試論文是：基於穩定擴散模型之個人化影像生成的微調</a:t>
            </a:r>
          </a:p>
          <a:p>
            <a:pPr marL="0" lvl="0" indent="0" algn="l" rtl="0">
              <a:spcBef>
                <a:spcPts val="0"/>
              </a:spcBef>
              <a:spcAft>
                <a:spcPts val="0"/>
              </a:spcAft>
              <a:buNone/>
            </a:pPr>
            <a:r>
              <a:rPr lang="zh-TW" altLang="en-US" dirty="0"/>
              <a:t>指導教授是</a:t>
            </a:r>
            <a:r>
              <a:rPr lang="en-US" altLang="zh-TW" dirty="0"/>
              <a:t>XXX</a:t>
            </a:r>
            <a:r>
              <a:rPr lang="zh-TW" altLang="en-US" dirty="0"/>
              <a:t>，這邊謝謝老師兩年的照顧與教導，也謝謝兩位口不遠千里來指導我的論文</a:t>
            </a:r>
            <a:endParaRPr lang="en-US" altLang="zh-TW" dirty="0"/>
          </a:p>
          <a:p>
            <a:pPr marL="0" lvl="0" indent="0" algn="l" rtl="0">
              <a:spcBef>
                <a:spcPts val="0"/>
              </a:spcBef>
              <a:spcAft>
                <a:spcPts val="0"/>
              </a:spcAft>
              <a:buNone/>
            </a:pPr>
            <a:r>
              <a:rPr lang="zh-TW" altLang="en-US" dirty="0"/>
              <a:t>那這邊就開始我的報告</a:t>
            </a:r>
            <a:endParaRPr dirty="0"/>
          </a:p>
        </p:txBody>
      </p:sp>
    </p:spTree>
    <p:extLst>
      <p:ext uri="{BB962C8B-B14F-4D97-AF65-F5344CB8AC3E}">
        <p14:creationId xmlns:p14="http://schemas.microsoft.com/office/powerpoint/2010/main" val="619872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在全球化趨勢下，英語溝通能力已成為現代人必備的競爭要素。</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然而，傳統英語學習面臨許多痛點：</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其次是缺乏實際操練機會，學生即使掌握語法知識，也難以在實際情境中靈活應用；</a:t>
            </a:r>
            <a:endParaRPr lang="en-US" altLang="zh-TW" dirty="0"/>
          </a:p>
          <a:p>
            <a:r>
              <a:rPr lang="zh-TW" altLang="en-US" dirty="0"/>
              <a:t>首先是昂貴的課程形成經濟門檻，讓許多學習者望而卻步；</a:t>
            </a:r>
            <a:endParaRPr lang="en-US" altLang="zh-TW" dirty="0"/>
          </a:p>
          <a:p>
            <a:r>
              <a:rPr lang="zh-TW" altLang="en-US" dirty="0"/>
              <a:t>第五是學習動機不足，缺乏持續學習的驅動力；</a:t>
            </a:r>
            <a:endParaRPr lang="en-US" altLang="zh-TW" dirty="0"/>
          </a:p>
          <a:p>
            <a:r>
              <a:rPr lang="zh-TW" altLang="en-US" dirty="0"/>
              <a:t>第四是使用者難以主動學習與自主練習；</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最後是課程內容與學生程度不符，無法提供適切的學習挑戰</a:t>
            </a:r>
            <a:endParaRPr lang="en-US" altLang="zh-TW" dirty="0"/>
          </a:p>
          <a:p>
            <a:r>
              <a:rPr lang="zh-TW" altLang="en-US" dirty="0"/>
              <a:t>第三是師資與個別指導資源不足，無法提供足夠的個人化學習支援；</a:t>
            </a:r>
            <a:endParaRPr lang="en-US" altLang="zh-TW" dirty="0"/>
          </a:p>
          <a:p>
            <a:r>
              <a:rPr lang="zh-TW" altLang="en-US" dirty="0"/>
              <a:t>。</a:t>
            </a:r>
          </a:p>
        </p:txBody>
      </p:sp>
    </p:spTree>
    <p:extLst>
      <p:ext uri="{BB962C8B-B14F-4D97-AF65-F5344CB8AC3E}">
        <p14:creationId xmlns:p14="http://schemas.microsoft.com/office/powerpoint/2010/main" val="3025363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基於這些痛點，我們發現了幾個重要的發展契機。</a:t>
            </a:r>
            <a:endParaRPr lang="en-US" altLang="zh-TW" dirty="0"/>
          </a:p>
          <a:p>
            <a:r>
              <a:rPr lang="zh-TW" altLang="en-US" dirty="0"/>
              <a:t>科技的進展為模擬語言環境提供了可能性</a:t>
            </a:r>
            <a:endParaRPr lang="en-US" altLang="zh-TW" dirty="0"/>
          </a:p>
          <a:p>
            <a:r>
              <a:rPr lang="zh-TW" altLang="en-US" dirty="0"/>
              <a:t>首先，</a:t>
            </a:r>
            <a:r>
              <a:rPr lang="en-US" altLang="zh-TW" dirty="0"/>
              <a:t>LINE</a:t>
            </a:r>
            <a:r>
              <a:rPr lang="zh-TW" altLang="en-US" dirty="0"/>
              <a:t>在台灣的普及率極高，已成為民眾日常必備工具，若整合英語學習功能，可大幅降低學習門檻。</a:t>
            </a:r>
            <a:endParaRPr lang="en-US" altLang="zh-TW" dirty="0"/>
          </a:p>
          <a:p>
            <a:r>
              <a:rPr lang="zh-TW" altLang="en-US" dirty="0"/>
              <a:t>而</a:t>
            </a:r>
            <a:r>
              <a:rPr lang="en-US" altLang="zh-TW" dirty="0"/>
              <a:t>AI</a:t>
            </a:r>
            <a:r>
              <a:rPr lang="zh-TW" altLang="en-US" dirty="0"/>
              <a:t>技術更促進了個人化、高互動的學習模式，具有翻轉英語學習的潛力。</a:t>
            </a:r>
            <a:endParaRPr lang="en-US" altLang="zh-TW" dirty="0"/>
          </a:p>
          <a:p>
            <a:r>
              <a:rPr lang="zh-TW" altLang="en-US" dirty="0"/>
              <a:t>其次，大型語言模型與語音技術的進步，讓我們能夠模擬真人互動，提供即時回饋能力。</a:t>
            </a:r>
            <a:endParaRPr lang="en-US" altLang="zh-TW" dirty="0"/>
          </a:p>
          <a:p>
            <a:r>
              <a:rPr lang="zh-TW" altLang="en-US" dirty="0"/>
              <a:t>，</a:t>
            </a:r>
          </a:p>
        </p:txBody>
      </p:sp>
    </p:spTree>
    <p:extLst>
      <p:ext uri="{BB962C8B-B14F-4D97-AF65-F5344CB8AC3E}">
        <p14:creationId xmlns:p14="http://schemas.microsoft.com/office/powerpoint/2010/main" val="2568419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基於以上背景，本研究設定了三大目標。</a:t>
            </a:r>
            <a:endParaRPr lang="en-US" altLang="zh-TW" dirty="0"/>
          </a:p>
          <a:p>
            <a:r>
              <a:rPr lang="zh-TW" altLang="en-US" dirty="0"/>
              <a:t>第一是開發四大功能：對話練習、單字造句、跟讀練習和聽力練習，創建</a:t>
            </a:r>
            <a:r>
              <a:rPr lang="en-US" altLang="zh-TW" dirty="0"/>
              <a:t>Learn English </a:t>
            </a:r>
            <a:r>
              <a:rPr lang="en-US" altLang="zh-TW" dirty="0" err="1"/>
              <a:t>Linebot</a:t>
            </a:r>
            <a:r>
              <a:rPr lang="zh-TW" altLang="en-US" dirty="0"/>
              <a:t>系統。</a:t>
            </a:r>
            <a:endParaRPr lang="en-US" altLang="zh-TW" dirty="0"/>
          </a:p>
          <a:p>
            <a:r>
              <a:rPr lang="zh-TW" altLang="en-US" dirty="0"/>
              <a:t>第二是深入研究提示工程，包括優化</a:t>
            </a:r>
            <a:r>
              <a:rPr lang="en-US" altLang="zh-TW" dirty="0"/>
              <a:t>AI</a:t>
            </a:r>
            <a:r>
              <a:rPr lang="zh-TW" altLang="en-US" dirty="0"/>
              <a:t>提示設計、控制語法難度，以及改善詞彙選擇與回饋方式。</a:t>
            </a:r>
            <a:endParaRPr lang="en-US" altLang="zh-TW" dirty="0"/>
          </a:p>
          <a:p>
            <a:r>
              <a:rPr lang="zh-TW" altLang="en-US" dirty="0"/>
              <a:t>第三是評估系統成效，分析教育效果與使用者接受度，提出優化建議，為</a:t>
            </a:r>
            <a:r>
              <a:rPr lang="en-US" altLang="zh-TW" dirty="0"/>
              <a:t>AI</a:t>
            </a:r>
            <a:r>
              <a:rPr lang="zh-TW" altLang="en-US" dirty="0"/>
              <a:t>應用於語言教育提供實務參考。</a:t>
            </a:r>
            <a:endParaRPr lang="en-US" altLang="zh-TW" dirty="0"/>
          </a:p>
          <a:p>
            <a:endParaRPr lang="zh-TW" altLang="en-US" dirty="0"/>
          </a:p>
        </p:txBody>
      </p:sp>
    </p:spTree>
    <p:extLst>
      <p:ext uri="{BB962C8B-B14F-4D97-AF65-F5344CB8AC3E}">
        <p14:creationId xmlns:p14="http://schemas.microsoft.com/office/powerpoint/2010/main" val="2059015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51679155-55D3-0E1F-B4B9-75759EB22CE7}"/>
            </a:ext>
          </a:extLst>
        </p:cNvPr>
        <p:cNvGrpSpPr/>
        <p:nvPr/>
      </p:nvGrpSpPr>
      <p:grpSpPr>
        <a:xfrm>
          <a:off x="0" y="0"/>
          <a:ext cx="0" cy="0"/>
          <a:chOff x="0" y="0"/>
          <a:chExt cx="0" cy="0"/>
        </a:xfrm>
      </p:grpSpPr>
      <p:sp>
        <p:nvSpPr>
          <p:cNvPr id="656" name="Google Shape;656;g54dda1946d_6_257:notes">
            <a:extLst>
              <a:ext uri="{FF2B5EF4-FFF2-40B4-BE49-F238E27FC236}">
                <a16:creationId xmlns:a16="http://schemas.microsoft.com/office/drawing/2014/main" id="{73D04884-C82C-1B5D-0575-552C66A04A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a:extLst>
              <a:ext uri="{FF2B5EF4-FFF2-40B4-BE49-F238E27FC236}">
                <a16:creationId xmlns:a16="http://schemas.microsoft.com/office/drawing/2014/main" id="{598958DD-B68F-33D1-8E3B-D1EEAD546B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4083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我們的系統具有四大整合特色。首先是圖文選單設計，</a:t>
            </a:r>
            <a:r>
              <a:rPr lang="en-US" altLang="zh-TW" dirty="0"/>
              <a:t>LINE Rich Menu</a:t>
            </a:r>
            <a:r>
              <a:rPr lang="zh-TW" altLang="en-US" dirty="0"/>
              <a:t>提供視覺化又便利的功能入口，包含四大功能區塊，支援一鍵快速切換，無需記憶指令或文字輸入。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第三是整合先進技術，包括</a:t>
            </a:r>
            <a:r>
              <a:rPr lang="en-US" altLang="zh-TW" dirty="0"/>
              <a:t>GPT-3.5</a:t>
            </a:r>
            <a:r>
              <a:rPr lang="zh-TW" altLang="en-US" dirty="0"/>
              <a:t>、</a:t>
            </a:r>
            <a:r>
              <a:rPr lang="en-US" altLang="zh-TW" dirty="0"/>
              <a:t>Whisper</a:t>
            </a:r>
            <a:r>
              <a:rPr lang="zh-TW" altLang="en-US" dirty="0"/>
              <a:t>和</a:t>
            </a:r>
            <a:r>
              <a:rPr lang="en-US" altLang="zh-TW" dirty="0" err="1"/>
              <a:t>gTTS</a:t>
            </a:r>
            <a:r>
              <a:rPr lang="zh-TW" altLang="en-US" dirty="0"/>
              <a:t>。</a:t>
            </a:r>
            <a:endParaRPr lang="en-US" altLang="zh-TW" dirty="0"/>
          </a:p>
          <a:p>
            <a:r>
              <a:rPr lang="zh-TW" altLang="en-US" dirty="0"/>
              <a:t>其次採用</a:t>
            </a:r>
            <a:r>
              <a:rPr lang="en-US" altLang="zh-TW" dirty="0"/>
              <a:t>CEFR</a:t>
            </a:r>
            <a:r>
              <a:rPr lang="zh-TW" altLang="en-US" dirty="0"/>
              <a:t>國際標準分級，包括</a:t>
            </a:r>
            <a:r>
              <a:rPr lang="en-US" altLang="zh-TW" dirty="0"/>
              <a:t>A1-A2</a:t>
            </a:r>
            <a:r>
              <a:rPr lang="zh-TW" altLang="en-US" dirty="0"/>
              <a:t>初級、</a:t>
            </a:r>
            <a:r>
              <a:rPr lang="en-US" altLang="zh-TW" dirty="0"/>
              <a:t>B1-B2</a:t>
            </a:r>
            <a:r>
              <a:rPr lang="zh-TW" altLang="en-US" dirty="0"/>
              <a:t>中級和</a:t>
            </a:r>
            <a:r>
              <a:rPr lang="en-US" altLang="zh-TW" dirty="0"/>
              <a:t>C1-C2</a:t>
            </a:r>
            <a:r>
              <a:rPr lang="zh-TW" altLang="en-US" dirty="0"/>
              <a:t>高級。</a:t>
            </a:r>
            <a:endParaRPr lang="en-US" altLang="zh-TW" dirty="0"/>
          </a:p>
          <a:p>
            <a:r>
              <a:rPr lang="zh-TW" altLang="en-US" dirty="0"/>
              <a:t>最後是使用者界面優勢，採用雙語支持策略，英文學習搭配中文回饋，零學習成本無需適應新平台，在日常社交平台中進行無縫整合學習體驗。</a:t>
            </a:r>
          </a:p>
        </p:txBody>
      </p:sp>
    </p:spTree>
    <p:extLst>
      <p:ext uri="{BB962C8B-B14F-4D97-AF65-F5344CB8AC3E}">
        <p14:creationId xmlns:p14="http://schemas.microsoft.com/office/powerpoint/2010/main" val="4079853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系統四大功能各有其理論基礎和技術特色。</a:t>
            </a:r>
            <a:endParaRPr lang="en-US" altLang="zh-TW" dirty="0"/>
          </a:p>
          <a:p>
            <a:r>
              <a:rPr lang="zh-TW" altLang="en-US" dirty="0"/>
              <a:t>對話練習基於浸入式語言學習理論，採用角色扮演架構，</a:t>
            </a:r>
            <a:r>
              <a:rPr lang="en-US" altLang="zh-TW" dirty="0"/>
              <a:t>AI</a:t>
            </a:r>
            <a:r>
              <a:rPr lang="zh-TW" altLang="en-US" dirty="0"/>
              <a:t>扮演真實對話夥伴而非教學工具，有效降低情感過濾器。技術架構包含五大日常主題、三級難度分層和參數化提示設計，教育創新則運用深度對話策略和隱性糾錯機制。</a:t>
            </a:r>
          </a:p>
          <a:p>
            <a:r>
              <a:rPr lang="zh-TW" altLang="en-US" dirty="0"/>
              <a:t>單字造句功能基於輸出假說理論，採用結構化的「展示</a:t>
            </a:r>
            <a:r>
              <a:rPr lang="en-US" altLang="zh-TW" dirty="0"/>
              <a:t>-</a:t>
            </a:r>
            <a:r>
              <a:rPr lang="zh-TW" altLang="en-US" dirty="0"/>
              <a:t>練習</a:t>
            </a:r>
            <a:r>
              <a:rPr lang="en-US" altLang="zh-TW" dirty="0"/>
              <a:t>-</a:t>
            </a:r>
            <a:r>
              <a:rPr lang="zh-TW" altLang="en-US" dirty="0"/>
              <a:t>回饋」學習模式。分級體系整合</a:t>
            </a:r>
            <a:r>
              <a:rPr lang="en-US" altLang="zh-TW" dirty="0"/>
              <a:t>CEFR</a:t>
            </a:r>
            <a:r>
              <a:rPr lang="zh-TW" altLang="en-US" dirty="0"/>
              <a:t>國際標準，並有預設詞庫備份機制。雙語教學策略符合認知負荷理論，多維評估機制涵蓋詞彙準確性、句法正確性和表達自然度分析。</a:t>
            </a:r>
          </a:p>
          <a:p>
            <a:r>
              <a:rPr lang="zh-TW" altLang="en-US" dirty="0"/>
              <a:t>跟讀練習結合模仿學習理論與支架式教學，母語角色提供標準化語音模型。語音評估技術整合</a:t>
            </a:r>
            <a:r>
              <a:rPr lang="en-US" altLang="zh-TW" dirty="0"/>
              <a:t>Whisper</a:t>
            </a:r>
            <a:r>
              <a:rPr lang="zh-TW" altLang="en-US" dirty="0"/>
              <a:t>加上</a:t>
            </a:r>
            <a:r>
              <a:rPr lang="en-US" altLang="zh-TW" dirty="0" err="1"/>
              <a:t>Levenshtein</a:t>
            </a:r>
            <a:r>
              <a:rPr lang="zh-TW" altLang="en-US" dirty="0"/>
              <a:t>距離算法，場景化設計涵蓋五大生活場景。</a:t>
            </a:r>
          </a:p>
          <a:p>
            <a:r>
              <a:rPr lang="zh-TW" altLang="en-US" dirty="0"/>
              <a:t>聽力練習基於聽力理解理論與自然順序假說，專業語言助手專注創建符合教育目標的聽力訓練內容，智能評估系統包含自動問題生成算法和混合評估模式</a:t>
            </a:r>
          </a:p>
          <a:p>
            <a:endParaRPr lang="zh-TW" altLang="en-US" dirty="0"/>
          </a:p>
        </p:txBody>
      </p:sp>
    </p:spTree>
    <p:extLst>
      <p:ext uri="{BB962C8B-B14F-4D97-AF65-F5344CB8AC3E}">
        <p14:creationId xmlns:p14="http://schemas.microsoft.com/office/powerpoint/2010/main" val="1315640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4908351D-176F-5650-67FD-38C82BDC1A54}"/>
            </a:ext>
          </a:extLst>
        </p:cNvPr>
        <p:cNvGrpSpPr/>
        <p:nvPr/>
      </p:nvGrpSpPr>
      <p:grpSpPr>
        <a:xfrm>
          <a:off x="0" y="0"/>
          <a:ext cx="0" cy="0"/>
          <a:chOff x="0" y="0"/>
          <a:chExt cx="0" cy="0"/>
        </a:xfrm>
      </p:grpSpPr>
      <p:sp>
        <p:nvSpPr>
          <p:cNvPr id="656" name="Google Shape;656;g54dda1946d_6_257:notes">
            <a:extLst>
              <a:ext uri="{FF2B5EF4-FFF2-40B4-BE49-F238E27FC236}">
                <a16:creationId xmlns:a16="http://schemas.microsoft.com/office/drawing/2014/main" id="{1059844E-B272-7051-408F-F813D1E4E3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a:extLst>
              <a:ext uri="{FF2B5EF4-FFF2-40B4-BE49-F238E27FC236}">
                <a16:creationId xmlns:a16="http://schemas.microsoft.com/office/drawing/2014/main" id="{7279F700-FFC2-B5C8-B3A7-FB62E041E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0589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英語對話練習的流程包含六個步驟：主題選擇、難易度選擇、對話引導、使用者回應（支援文字或語音）、系統回饋。特別值得強調的是，系統具有對話連貫性，能夠延伸話題，創造自然的對話環境。</a:t>
            </a:r>
          </a:p>
        </p:txBody>
      </p:sp>
    </p:spTree>
    <p:extLst>
      <p:ext uri="{BB962C8B-B14F-4D97-AF65-F5344CB8AC3E}">
        <p14:creationId xmlns:p14="http://schemas.microsoft.com/office/powerpoint/2010/main" val="687756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從實際操作畫面可以看到，使用者輸入「</a:t>
            </a:r>
            <a:r>
              <a:rPr lang="en-US" altLang="zh-TW" dirty="0"/>
              <a:t>#start_conversation</a:t>
            </a:r>
            <a:r>
              <a:rPr lang="zh-TW" altLang="en-US" dirty="0"/>
              <a:t>」開始對話，系統詢問難度等級和主題選擇。</a:t>
            </a:r>
            <a:endParaRPr lang="en-US" altLang="zh-TW" dirty="0"/>
          </a:p>
          <a:p>
            <a:r>
              <a:rPr lang="zh-TW" altLang="en-US" dirty="0"/>
              <a:t>在餐廳主題下，系統以「</a:t>
            </a:r>
            <a:r>
              <a:rPr lang="en-US" altLang="zh-TW" dirty="0"/>
              <a:t>【Dining at a family </a:t>
            </a:r>
            <a:r>
              <a:rPr lang="en-US" altLang="zh-TW" dirty="0" err="1"/>
              <a:t>restaurant】What's</a:t>
            </a:r>
            <a:r>
              <a:rPr lang="en-US" altLang="zh-TW" dirty="0"/>
              <a:t> your favorite cuisine?</a:t>
            </a:r>
            <a:r>
              <a:rPr lang="zh-TW" altLang="en-US" dirty="0"/>
              <a:t>」開場，使用者回應後，系統能自然延續話題，展現良好的對話連貫性。</a:t>
            </a:r>
          </a:p>
        </p:txBody>
      </p:sp>
    </p:spTree>
    <p:extLst>
      <p:ext uri="{BB962C8B-B14F-4D97-AF65-F5344CB8AC3E}">
        <p14:creationId xmlns:p14="http://schemas.microsoft.com/office/powerpoint/2010/main" val="191503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單字造句練習的流程相當清晰：首先輸入指令或透過選單啟動，接著選擇難易度，系統提供單字並附上詞性和定義，使用者進行造句練習，最後系統給予建議與範例回饋。</a:t>
            </a:r>
          </a:p>
        </p:txBody>
      </p:sp>
    </p:spTree>
    <p:extLst>
      <p:ext uri="{BB962C8B-B14F-4D97-AF65-F5344CB8AC3E}">
        <p14:creationId xmlns:p14="http://schemas.microsoft.com/office/powerpoint/2010/main" val="1519569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實際操作中，系統提供「</a:t>
            </a:r>
            <a:r>
              <a:rPr lang="en-US" altLang="zh-TW" dirty="0"/>
              <a:t>cat</a:t>
            </a:r>
            <a:r>
              <a:rPr lang="zh-TW" altLang="en-US" dirty="0"/>
              <a:t>」這個單字，包含完整的英文定義，要求使用者造句。</a:t>
            </a:r>
            <a:endParaRPr lang="en-US" altLang="zh-TW" dirty="0"/>
          </a:p>
          <a:p>
            <a:r>
              <a:rPr lang="zh-TW" altLang="en-US" dirty="0"/>
              <a:t>當使用者回應「</a:t>
            </a:r>
            <a:r>
              <a:rPr lang="en-US" altLang="zh-TW" dirty="0"/>
              <a:t>I like my cat.</a:t>
            </a:r>
            <a:r>
              <a:rPr lang="zh-TW" altLang="en-US" dirty="0"/>
              <a:t>」後，系統提供範例句「</a:t>
            </a:r>
            <a:r>
              <a:rPr lang="en-US" altLang="zh-TW" dirty="0"/>
              <a:t>I have a cat at home.</a:t>
            </a:r>
            <a:r>
              <a:rPr lang="zh-TW" altLang="en-US" dirty="0"/>
              <a:t>」並給予正面回饋「</a:t>
            </a:r>
            <a:r>
              <a:rPr lang="en-US" altLang="zh-TW" dirty="0"/>
              <a:t>Good job! Your sentence is correct and clear. Keep it up!</a:t>
            </a:r>
            <a:r>
              <a:rPr lang="zh-TW" altLang="en-US" dirty="0"/>
              <a:t>」</a:t>
            </a:r>
          </a:p>
        </p:txBody>
      </p:sp>
    </p:spTree>
    <p:extLst>
      <p:ext uri="{BB962C8B-B14F-4D97-AF65-F5344CB8AC3E}">
        <p14:creationId xmlns:p14="http://schemas.microsoft.com/office/powerpoint/2010/main" val="3816911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跟讀練習的循環流程包括：難度選擇加上標準語音示範、使用者語音回覆、提供分數和發音建議與改進方向，最後鼓勵反覆練習以提升口語流暢度</a:t>
            </a:r>
          </a:p>
        </p:txBody>
      </p:sp>
    </p:spTree>
    <p:extLst>
      <p:ext uri="{BB962C8B-B14F-4D97-AF65-F5344CB8AC3E}">
        <p14:creationId xmlns:p14="http://schemas.microsoft.com/office/powerpoint/2010/main" val="4280221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系統提供標準語音示範「</a:t>
            </a:r>
            <a:r>
              <a:rPr lang="en-US" altLang="zh-TW" dirty="0"/>
              <a:t>I like to watch funny movies with my friends.</a:t>
            </a:r>
            <a:r>
              <a:rPr lang="zh-TW" altLang="en-US" dirty="0"/>
              <a:t>」，</a:t>
            </a:r>
            <a:endParaRPr lang="en-US" altLang="zh-TW" dirty="0"/>
          </a:p>
          <a:p>
            <a:r>
              <a:rPr lang="zh-TW" altLang="en-US" dirty="0"/>
              <a:t>使用者跟讀後，系統進行詳細評估，包括表現等級（中等</a:t>
            </a:r>
            <a:r>
              <a:rPr lang="en-US" altLang="zh-TW" dirty="0"/>
              <a:t>3/5</a:t>
            </a:r>
            <a:r>
              <a:rPr lang="zh-TW" altLang="en-US" dirty="0"/>
              <a:t>分）、相似度得分（</a:t>
            </a:r>
            <a:r>
              <a:rPr lang="en-US" altLang="zh-TW" dirty="0"/>
              <a:t>61.0%</a:t>
            </a:r>
            <a:r>
              <a:rPr lang="zh-TW" altLang="en-US" dirty="0"/>
              <a:t>），並提供具體的改進建議。</a:t>
            </a:r>
          </a:p>
        </p:txBody>
      </p:sp>
    </p:spTree>
    <p:extLst>
      <p:ext uri="{BB962C8B-B14F-4D97-AF65-F5344CB8AC3E}">
        <p14:creationId xmlns:p14="http://schemas.microsoft.com/office/powerpoint/2010/main" val="2614880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聽力練習的流程是：選擇難易度、播放音訊後進行提問、使用者輸入答案、系統回覆聽力原文、答案和分數。</a:t>
            </a:r>
          </a:p>
        </p:txBody>
      </p:sp>
    </p:spTree>
    <p:extLst>
      <p:ext uri="{BB962C8B-B14F-4D97-AF65-F5344CB8AC3E}">
        <p14:creationId xmlns:p14="http://schemas.microsoft.com/office/powerpoint/2010/main" val="40626173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系統播放「</a:t>
            </a:r>
            <a:r>
              <a:rPr lang="en-US" altLang="zh-TW" dirty="0"/>
              <a:t>The sun is shining in the clear sky.</a:t>
            </a:r>
            <a:r>
              <a:rPr lang="zh-TW" altLang="en-US" dirty="0"/>
              <a:t>」的音訊，提問「</a:t>
            </a:r>
            <a:r>
              <a:rPr lang="en-US" altLang="zh-TW" dirty="0"/>
              <a:t>What is shining in the clear sky?</a:t>
            </a:r>
            <a:r>
              <a:rPr lang="zh-TW" altLang="en-US" dirty="0"/>
              <a:t>」，</a:t>
            </a:r>
            <a:endParaRPr lang="en-US" altLang="zh-TW" dirty="0"/>
          </a:p>
          <a:p>
            <a:r>
              <a:rPr lang="zh-TW" altLang="en-US" dirty="0"/>
              <a:t>使用者正確回答「</a:t>
            </a:r>
            <a:r>
              <a:rPr lang="en-US" altLang="zh-TW" dirty="0"/>
              <a:t>The sun</a:t>
            </a:r>
            <a:r>
              <a:rPr lang="zh-TW" altLang="en-US" dirty="0"/>
              <a:t>」後，獲得滿分評價和詳細的練習總結，包括聽力原文和問題答案的完整回顧。</a:t>
            </a:r>
          </a:p>
        </p:txBody>
      </p:sp>
    </p:spTree>
    <p:extLst>
      <p:ext uri="{BB962C8B-B14F-4D97-AF65-F5344CB8AC3E}">
        <p14:creationId xmlns:p14="http://schemas.microsoft.com/office/powerpoint/2010/main" val="3987925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63F87EC2-1CD1-A28D-EA88-BC498765AA14}"/>
            </a:ext>
          </a:extLst>
        </p:cNvPr>
        <p:cNvGrpSpPr/>
        <p:nvPr/>
      </p:nvGrpSpPr>
      <p:grpSpPr>
        <a:xfrm>
          <a:off x="0" y="0"/>
          <a:ext cx="0" cy="0"/>
          <a:chOff x="0" y="0"/>
          <a:chExt cx="0" cy="0"/>
        </a:xfrm>
      </p:grpSpPr>
      <p:sp>
        <p:nvSpPr>
          <p:cNvPr id="656" name="Google Shape;656;g54dda1946d_6_257:notes">
            <a:extLst>
              <a:ext uri="{FF2B5EF4-FFF2-40B4-BE49-F238E27FC236}">
                <a16:creationId xmlns:a16="http://schemas.microsoft.com/office/drawing/2014/main" id="{C0202C3A-40CE-8F05-9F96-A748A97082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54dda1946d_6_257:notes">
            <a:extLst>
              <a:ext uri="{FF2B5EF4-FFF2-40B4-BE49-F238E27FC236}">
                <a16:creationId xmlns:a16="http://schemas.microsoft.com/office/drawing/2014/main" id="{08B9DB6C-423C-2A75-25A6-6C0D48F49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4418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我們的提示工程基於四大基本設計原則，這些原則相互協作，形成完整的設計框架。</a:t>
            </a:r>
          </a:p>
          <a:p>
            <a:r>
              <a:rPr lang="zh-TW" altLang="en-US" dirty="0"/>
              <a:t>首先是</a:t>
            </a:r>
            <a:r>
              <a:rPr lang="zh-TW" altLang="en-US" b="1" dirty="0"/>
              <a:t>教育導向原則</a:t>
            </a:r>
            <a:r>
              <a:rPr lang="zh-TW" altLang="en-US" dirty="0"/>
              <a:t>，以促進英語能力發展為核心目標。我們確保每個學習目標都清晰明確，採用階梯式學習策略，建立學習動機獎勵機制，並且融入認知與鼓勵元素。</a:t>
            </a:r>
          </a:p>
          <a:p>
            <a:r>
              <a:rPr lang="zh-TW" altLang="en-US" dirty="0"/>
              <a:t>其次是</a:t>
            </a:r>
            <a:r>
              <a:rPr lang="zh-TW" altLang="en-US" b="1" dirty="0"/>
              <a:t>情境適應性原則</a:t>
            </a:r>
            <a:r>
              <a:rPr lang="zh-TW" altLang="en-US" dirty="0"/>
              <a:t>，根據學習情境動態調整輸出內容。系統能夠程度適應，調整語言複雜度和專業詞彙使用；對話連貫，自然延續話題；情緒感知，察覺學習者情緒並適時調整。</a:t>
            </a:r>
          </a:p>
          <a:p>
            <a:r>
              <a:rPr lang="zh-TW" altLang="en-US" dirty="0"/>
              <a:t>第三是</a:t>
            </a:r>
            <a:r>
              <a:rPr lang="zh-TW" altLang="en-US" b="1" dirty="0"/>
              <a:t>結構化提示框架</a:t>
            </a:r>
            <a:r>
              <a:rPr lang="zh-TW" altLang="en-US" dirty="0"/>
              <a:t>，採用分層結構來組織提示內容。包含指令層定義任務和限制、角色定位設定</a:t>
            </a:r>
            <a:r>
              <a:rPr lang="en-US" altLang="zh-TW" dirty="0"/>
              <a:t>AI</a:t>
            </a:r>
            <a:r>
              <a:rPr lang="zh-TW" altLang="en-US" dirty="0"/>
              <a:t>扮演角色、統一組件建立一致性提示庫，以及參數化將主題、難度可調整。</a:t>
            </a:r>
          </a:p>
          <a:p>
            <a:r>
              <a:rPr lang="zh-TW" altLang="en-US" dirty="0"/>
              <a:t>最後是</a:t>
            </a:r>
            <a:r>
              <a:rPr lang="zh-TW" altLang="en-US" b="1" dirty="0"/>
              <a:t>功能導向設計</a:t>
            </a:r>
            <a:r>
              <a:rPr lang="zh-TW" altLang="en-US" dirty="0"/>
              <a:t>，針對聽說讀寫各功能客製化提示策略。對話練習著重角色扮演與自然互動，單字練習強調引導式學習與回饋，跟讀練習注重語音模仿與評估，聽力練習專注於漸進式訓練與理解。</a:t>
            </a:r>
          </a:p>
          <a:p>
            <a:endParaRPr lang="zh-TW" altLang="en-US" dirty="0"/>
          </a:p>
        </p:txBody>
      </p:sp>
    </p:spTree>
    <p:extLst>
      <p:ext uri="{BB962C8B-B14F-4D97-AF65-F5344CB8AC3E}">
        <p14:creationId xmlns:p14="http://schemas.microsoft.com/office/powerpoint/2010/main" val="3548519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對話練習的提示設計圍繞中央的核心理念展開，形成完整的教學生態系統。</a:t>
            </a:r>
          </a:p>
          <a:p>
            <a:r>
              <a:rPr lang="zh-TW" altLang="en-US" b="1" dirty="0"/>
              <a:t>核心架構</a:t>
            </a:r>
            <a:r>
              <a:rPr lang="zh-TW" altLang="en-US" dirty="0"/>
              <a:t>部分，我們將角色定位為「真實對話夥伴」而非</a:t>
            </a:r>
            <a:r>
              <a:rPr lang="en-US" altLang="zh-TW" dirty="0"/>
              <a:t>AI</a:t>
            </a:r>
            <a:r>
              <a:rPr lang="zh-TW" altLang="en-US" dirty="0"/>
              <a:t>助手，創造自然語言環境。互動規範維持對話擬真性，難度控制從初級</a:t>
            </a:r>
            <a:r>
              <a:rPr lang="en-US" altLang="zh-TW" dirty="0"/>
              <a:t>5-7</a:t>
            </a:r>
            <a:r>
              <a:rPr lang="zh-TW" altLang="en-US" dirty="0"/>
              <a:t>詞到高級</a:t>
            </a:r>
            <a:r>
              <a:rPr lang="en-US" altLang="zh-TW" dirty="0"/>
              <a:t>12</a:t>
            </a:r>
            <a:r>
              <a:rPr lang="zh-TW" altLang="en-US" dirty="0"/>
              <a:t>詞進行精確調節，問題策略採用深入話題避免跳轉的方式，使用具體針對性問題。</a:t>
            </a:r>
          </a:p>
          <a:p>
            <a:r>
              <a:rPr lang="zh-TW" altLang="en-US" b="1" dirty="0"/>
              <a:t>主題情境設計</a:t>
            </a:r>
            <a:r>
              <a:rPr lang="zh-TW" altLang="en-US" dirty="0"/>
              <a:t>涵蓋多元主題覆蓋，包含五大核心日常主題，每個主題都有</a:t>
            </a:r>
            <a:r>
              <a:rPr lang="en-US" altLang="zh-TW" dirty="0"/>
              <a:t>emoji</a:t>
            </a:r>
            <a:r>
              <a:rPr lang="zh-TW" altLang="en-US" dirty="0"/>
              <a:t>圖標增強視覺化體驗。情境描述與角色設定創造接近真實的語言環境，場景開場設計採用雙語開場，兼顧情境明確性與理解障礙的降低。</a:t>
            </a:r>
          </a:p>
          <a:p>
            <a:r>
              <a:rPr lang="zh-TW" altLang="en-US" b="1" dirty="0"/>
              <a:t>難度調整機制</a:t>
            </a:r>
            <a:r>
              <a:rPr lang="zh-TW" altLang="en-US" dirty="0"/>
              <a:t>採用</a:t>
            </a:r>
            <a:r>
              <a:rPr lang="en-US" altLang="zh-TW" dirty="0"/>
              <a:t>CEFR</a:t>
            </a:r>
            <a:r>
              <a:rPr lang="zh-TW" altLang="en-US" dirty="0"/>
              <a:t>標準分級，從</a:t>
            </a:r>
            <a:r>
              <a:rPr lang="en-US" altLang="zh-TW" dirty="0"/>
              <a:t>A1-A2</a:t>
            </a:r>
            <a:r>
              <a:rPr lang="zh-TW" altLang="en-US" dirty="0"/>
              <a:t>基礎日常詞彙，到</a:t>
            </a:r>
            <a:r>
              <a:rPr lang="en-US" altLang="zh-TW" dirty="0"/>
              <a:t>B1-B2</a:t>
            </a:r>
            <a:r>
              <a:rPr lang="zh-TW" altLang="en-US" dirty="0"/>
              <a:t>常用詞彙，再到</a:t>
            </a:r>
            <a:r>
              <a:rPr lang="en-US" altLang="zh-TW" dirty="0"/>
              <a:t>C1-C2</a:t>
            </a:r>
            <a:r>
              <a:rPr lang="zh-TW" altLang="en-US" dirty="0"/>
              <a:t>專業詞彙。回應長度精確控制確保學習者獲得適當挑戰，詞彙與句型難度採用漸進式設計提供明確學習路徑。</a:t>
            </a:r>
          </a:p>
          <a:p>
            <a:r>
              <a:rPr lang="zh-TW" altLang="en-US" b="1" dirty="0"/>
              <a:t>互動流程設計</a:t>
            </a:r>
            <a:r>
              <a:rPr lang="zh-TW" altLang="en-US" dirty="0"/>
              <a:t>包括自然引人入勝的開場方式，話題深入探討鼓勵多輪交流練習，問題優化技巧轉換寬泛問題為具體針對性問題，以及明確結束機制提供用戶控制感。</a:t>
            </a:r>
          </a:p>
          <a:p>
            <a:r>
              <a:rPr lang="zh-TW" altLang="en-US" b="1" dirty="0"/>
              <a:t>設計原理</a:t>
            </a:r>
            <a:r>
              <a:rPr lang="zh-TW" altLang="en-US" dirty="0"/>
              <a:t>基於四大核心理念：擬真互動原理避免</a:t>
            </a:r>
            <a:r>
              <a:rPr lang="en-US" altLang="zh-TW" dirty="0"/>
              <a:t>AI</a:t>
            </a:r>
            <a:r>
              <a:rPr lang="zh-TW" altLang="en-US" dirty="0"/>
              <a:t>特徵模擬真實人物角色，輸出控制原理基於</a:t>
            </a:r>
            <a:r>
              <a:rPr lang="en-US" altLang="zh-TW" dirty="0"/>
              <a:t>i+1</a:t>
            </a:r>
            <a:r>
              <a:rPr lang="zh-TW" altLang="en-US" dirty="0"/>
              <a:t>假說嚴格限制回應複雜度，深度對話原理採用交際教學法培養持續性對話能力，參數化設計原理運用模塊化思想進行主題難度詞彙動態組合。</a:t>
            </a:r>
          </a:p>
          <a:p>
            <a:endParaRPr lang="zh-TW" altLang="en-US" dirty="0"/>
          </a:p>
        </p:txBody>
      </p:sp>
    </p:spTree>
    <p:extLst>
      <p:ext uri="{BB962C8B-B14F-4D97-AF65-F5344CB8AC3E}">
        <p14:creationId xmlns:p14="http://schemas.microsoft.com/office/powerpoint/2010/main" val="15380266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單字練習的提示設計以促進詞彙內化為核心目標，形成系統性的學習架構。</a:t>
            </a:r>
          </a:p>
          <a:p>
            <a:r>
              <a:rPr lang="zh-TW" altLang="en-US" b="1" dirty="0"/>
              <a:t>核心架構</a:t>
            </a:r>
            <a:r>
              <a:rPr lang="zh-TW" altLang="en-US" dirty="0"/>
              <a:t>將角色定位為「有耐心的英語教師」，建立支持性學習關係。學習流程遵循單字介紹到學生造句再到教師回饋的完整循環。運作指南強調鼓勵教學與支持策略。</a:t>
            </a:r>
          </a:p>
          <a:p>
            <a:r>
              <a:rPr lang="zh-TW" altLang="en-US" b="1" dirty="0"/>
              <a:t>雙語教學策略</a:t>
            </a:r>
            <a:r>
              <a:rPr lang="zh-TW" altLang="en-US" dirty="0"/>
              <a:t>採用詞彙定義模式，提供英中雙語定義確保理解準確性。範例回饋分離使用英文範例句搭配中文詳細回饋，文化適應考量注重文化差異與表達習慣，增強實用性。</a:t>
            </a:r>
          </a:p>
          <a:p>
            <a:r>
              <a:rPr lang="zh-TW" altLang="en-US" b="1" dirty="0"/>
              <a:t>難度分級設計</a:t>
            </a:r>
            <a:r>
              <a:rPr lang="zh-TW" altLang="en-US" dirty="0"/>
              <a:t>採用</a:t>
            </a:r>
            <a:r>
              <a:rPr lang="en-US" altLang="zh-TW" dirty="0"/>
              <a:t>CEFR</a:t>
            </a:r>
            <a:r>
              <a:rPr lang="zh-TW" altLang="en-US" dirty="0"/>
              <a:t>標準分級，基礎</a:t>
            </a:r>
            <a:r>
              <a:rPr lang="en-US" altLang="zh-TW" dirty="0"/>
              <a:t>A1-A2</a:t>
            </a:r>
            <a:r>
              <a:rPr lang="zh-TW" altLang="en-US" dirty="0"/>
              <a:t>階段採用簡單詞彙，高階</a:t>
            </a:r>
            <a:r>
              <a:rPr lang="en-US" altLang="zh-TW" dirty="0"/>
              <a:t>C1-C2</a:t>
            </a:r>
            <a:r>
              <a:rPr lang="zh-TW" altLang="en-US" dirty="0"/>
              <a:t>階段使用複雜詞彙配合專業例句。</a:t>
            </a:r>
          </a:p>
          <a:p>
            <a:r>
              <a:rPr lang="zh-TW" altLang="en-US" b="1" dirty="0"/>
              <a:t>回饋機制設計</a:t>
            </a:r>
            <a:r>
              <a:rPr lang="zh-TW" altLang="en-US" dirty="0"/>
              <a:t>包含多維評估體系，評估詞彙準確性、句法正確性和表達自然度。建設性回饋策略保護學習信心，採用鼓勵支持性語言。預設詞庫備份確保在</a:t>
            </a:r>
            <a:r>
              <a:rPr lang="en-US" altLang="zh-TW" dirty="0"/>
              <a:t>API</a:t>
            </a:r>
            <a:r>
              <a:rPr lang="zh-TW" altLang="en-US" dirty="0"/>
              <a:t>失敗時仍可提供基本學習內容，保證連續性。</a:t>
            </a:r>
          </a:p>
          <a:p>
            <a:r>
              <a:rPr lang="zh-TW" altLang="en-US" b="1" dirty="0"/>
              <a:t>設計原理</a:t>
            </a:r>
            <a:r>
              <a:rPr lang="zh-TW" altLang="en-US" dirty="0"/>
              <a:t>基於四大核心理念：主動輸出原理促進詞彙內化，即時回饋原理立即修正指導，雙語支持原理減輕學習壓力，漸進挑戰原理逐步提升難度。</a:t>
            </a:r>
          </a:p>
          <a:p>
            <a:endParaRPr lang="zh-TW" altLang="en-US" dirty="0"/>
          </a:p>
        </p:txBody>
      </p:sp>
    </p:spTree>
    <p:extLst>
      <p:ext uri="{BB962C8B-B14F-4D97-AF65-F5344CB8AC3E}">
        <p14:creationId xmlns:p14="http://schemas.microsoft.com/office/powerpoint/2010/main" val="36685979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跟讀練習的提示設計專注於提升口語表達能力，通過模仿學習實現語音改善。</a:t>
            </a:r>
          </a:p>
          <a:p>
            <a:r>
              <a:rPr lang="zh-TW" altLang="en-US" b="1" dirty="0"/>
              <a:t>核心架構</a:t>
            </a:r>
            <a:r>
              <a:rPr lang="zh-TW" altLang="en-US" dirty="0"/>
              <a:t>將角色定位為英語母語人士，指導原則強調句型簡單、語速緩慢清晰，重視實用表達。範例句型如「</a:t>
            </a:r>
            <a:r>
              <a:rPr lang="en-US" altLang="zh-TW" dirty="0"/>
              <a:t>What time is it?</a:t>
            </a:r>
            <a:r>
              <a:rPr lang="zh-TW" altLang="en-US" dirty="0"/>
              <a:t>」「</a:t>
            </a:r>
            <a:r>
              <a:rPr lang="en-US" altLang="zh-TW" dirty="0"/>
              <a:t>Can I sit here?</a:t>
            </a:r>
            <a:r>
              <a:rPr lang="zh-TW" altLang="en-US" dirty="0"/>
              <a:t>」等日常實用句型，並明確標示</a:t>
            </a:r>
            <a:r>
              <a:rPr lang="en-US" altLang="zh-TW" dirty="0"/>
              <a:t>CEFR</a:t>
            </a:r>
            <a:r>
              <a:rPr lang="zh-TW" altLang="en-US" dirty="0"/>
              <a:t>語言等級。</a:t>
            </a:r>
          </a:p>
          <a:p>
            <a:r>
              <a:rPr lang="zh-TW" altLang="en-US" b="1" dirty="0"/>
              <a:t>主題分類</a:t>
            </a:r>
            <a:r>
              <a:rPr lang="zh-TW" altLang="en-US" dirty="0"/>
              <a:t>涵蓋五大生活場景，視覺化輔助採用</a:t>
            </a:r>
            <a:r>
              <a:rPr lang="en-US" altLang="zh-TW" dirty="0"/>
              <a:t>emoji</a:t>
            </a:r>
            <a:r>
              <a:rPr lang="zh-TW" altLang="en-US" dirty="0"/>
              <a:t>圖標加簡明描述增強界面友好性，功能性分類讓每主題強調特定語言功能。</a:t>
            </a:r>
          </a:p>
          <a:p>
            <a:r>
              <a:rPr lang="zh-TW" altLang="en-US" b="1" dirty="0"/>
              <a:t>難度調整機制</a:t>
            </a:r>
            <a:r>
              <a:rPr lang="zh-TW" altLang="en-US" dirty="0"/>
              <a:t>採用</a:t>
            </a:r>
            <a:r>
              <a:rPr lang="en-US" altLang="zh-TW" dirty="0"/>
              <a:t>CEFR</a:t>
            </a:r>
            <a:r>
              <a:rPr lang="zh-TW" altLang="en-US" dirty="0"/>
              <a:t>標準分級，語言複雜度調整從句型簡單表達到語調複雜調節，語用功能深化調整交際能力範圍的複雜性。</a:t>
            </a:r>
          </a:p>
          <a:p>
            <a:r>
              <a:rPr lang="zh-TW" altLang="en-US" b="1" dirty="0"/>
              <a:t>情境化句型設計</a:t>
            </a:r>
            <a:r>
              <a:rPr lang="zh-TW" altLang="en-US" dirty="0"/>
              <a:t>強調真實場景復現，模擬實際交流表達方式。交流目的導向涵蓋不同交流目的的功能，文化適切性確保符合目標語言文化習慣。</a:t>
            </a:r>
          </a:p>
          <a:p>
            <a:r>
              <a:rPr lang="zh-TW" altLang="en-US" b="1" dirty="0"/>
              <a:t>設計原理</a:t>
            </a:r>
            <a:r>
              <a:rPr lang="zh-TW" altLang="en-US" dirty="0"/>
              <a:t>基於模仿學習原理，採用</a:t>
            </a:r>
            <a:r>
              <a:rPr lang="en-US" altLang="zh-TW" dirty="0"/>
              <a:t>shadowing</a:t>
            </a:r>
            <a:r>
              <a:rPr lang="zh-TW" altLang="en-US" dirty="0"/>
              <a:t>技術培養發音語調；實用性優先原理運用任務型教學法；漸進挑戰原理採用支架式教學逐步增加難度；功能導向原理採用交際教學法，將語言作為交流工具。</a:t>
            </a:r>
          </a:p>
          <a:p>
            <a:endParaRPr lang="zh-TW" altLang="en-US" dirty="0"/>
          </a:p>
        </p:txBody>
      </p:sp>
    </p:spTree>
    <p:extLst>
      <p:ext uri="{BB962C8B-B14F-4D97-AF65-F5344CB8AC3E}">
        <p14:creationId xmlns:p14="http://schemas.microsoft.com/office/powerpoint/2010/main" val="37566770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聽力練習的提示設計旨在培養漸進式聽力理解能力，從基本識別到複雜理解。</a:t>
            </a:r>
          </a:p>
          <a:p>
            <a:r>
              <a:rPr lang="zh-TW" altLang="en-US" b="1" dirty="0"/>
              <a:t>核心架構</a:t>
            </a:r>
            <a:r>
              <a:rPr lang="zh-TW" altLang="en-US" dirty="0"/>
              <a:t>將系統定位為英語語言助手，專注聽力訓練。內容生成指南明確聽力學習重點，主題目標設定增強針對性，學習指南與範例提供具體指導和示例內容。</a:t>
            </a:r>
          </a:p>
          <a:p>
            <a:r>
              <a:rPr lang="zh-TW" altLang="en-US" b="1" dirty="0"/>
              <a:t>主題分類</a:t>
            </a:r>
            <a:r>
              <a:rPr lang="zh-TW" altLang="en-US" dirty="0"/>
              <a:t>包含八大日常主題，視覺化輔助採用</a:t>
            </a:r>
            <a:r>
              <a:rPr lang="en-US" altLang="zh-TW" dirty="0"/>
              <a:t>emoji</a:t>
            </a:r>
            <a:r>
              <a:rPr lang="zh-TW" altLang="en-US" dirty="0"/>
              <a:t>圖標增強界面友好性，目標明確性確保每主題有清晰學習焦點。</a:t>
            </a:r>
          </a:p>
          <a:p>
            <a:r>
              <a:rPr lang="zh-TW" altLang="en-US" b="1" dirty="0"/>
              <a:t>問題生成與評估機制</a:t>
            </a:r>
            <a:r>
              <a:rPr lang="zh-TW" altLang="en-US" dirty="0"/>
              <a:t>採用自動問題生成，基於理解檢測理論。智能答案評估結合量化評分與質性反饋，隨題困難度適應性從初中級</a:t>
            </a:r>
            <a:r>
              <a:rPr lang="en-US" altLang="zh-TW" dirty="0"/>
              <a:t>1</a:t>
            </a:r>
            <a:r>
              <a:rPr lang="zh-TW" altLang="en-US" dirty="0"/>
              <a:t>個問題到高級</a:t>
            </a:r>
            <a:r>
              <a:rPr lang="en-US" altLang="zh-TW" dirty="0"/>
              <a:t>3</a:t>
            </a:r>
            <a:r>
              <a:rPr lang="zh-TW" altLang="en-US" dirty="0"/>
              <a:t>個問題。</a:t>
            </a:r>
          </a:p>
          <a:p>
            <a:r>
              <a:rPr lang="zh-TW" altLang="en-US" b="1" dirty="0"/>
              <a:t>難度調整機制</a:t>
            </a:r>
            <a:r>
              <a:rPr lang="zh-TW" altLang="en-US" dirty="0"/>
              <a:t>包括內容長度控制，精確控制字數範圍。語言複雜度梯度從基礎詞彙到專業術語，主題深度層級從基本描述到詳細分析再到專業討論。</a:t>
            </a:r>
          </a:p>
          <a:p>
            <a:r>
              <a:rPr lang="zh-TW" altLang="en-US" b="1" dirty="0"/>
              <a:t>設計原理</a:t>
            </a:r>
            <a:r>
              <a:rPr lang="zh-TW" altLang="en-US" dirty="0"/>
              <a:t>基於循序漸進原理，採用自然順序假說科學安排難度；直接理解測試原理基於聽力理解理論，培養信息提取能力；量身定制回饋原理採用形成性評估，提供針對性指導；主題多元化原理基於情境學習理論，適應各種交流場景。</a:t>
            </a:r>
          </a:p>
          <a:p>
            <a:endParaRPr lang="zh-TW" altLang="en-US" dirty="0"/>
          </a:p>
        </p:txBody>
      </p:sp>
    </p:spTree>
    <p:extLst>
      <p:ext uri="{BB962C8B-B14F-4D97-AF65-F5344CB8AC3E}">
        <p14:creationId xmlns:p14="http://schemas.microsoft.com/office/powerpoint/2010/main" val="3040956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我們的系統架構分為四大模組。前端設計採用</a:t>
            </a:r>
            <a:r>
              <a:rPr lang="en-US" altLang="zh-TW" dirty="0"/>
              <a:t>LINE</a:t>
            </a:r>
            <a:r>
              <a:rPr lang="zh-TW" altLang="en-US" dirty="0"/>
              <a:t>平台聊天介面，免安裝</a:t>
            </a:r>
            <a:r>
              <a:rPr lang="en-US" altLang="zh-TW" dirty="0"/>
              <a:t>APP</a:t>
            </a:r>
            <a:r>
              <a:rPr lang="zh-TW" altLang="en-US" dirty="0"/>
              <a:t>，支援文字與語音雙向互動，圖文選單快速選擇學習模式，視覺化設計操作簡單直覺。</a:t>
            </a:r>
          </a:p>
          <a:p>
            <a:r>
              <a:rPr lang="zh-TW" altLang="en-US" dirty="0"/>
              <a:t>後端應用模組使用</a:t>
            </a:r>
            <a:r>
              <a:rPr lang="en-US" altLang="zh-TW" dirty="0"/>
              <a:t>Flask</a:t>
            </a:r>
            <a:r>
              <a:rPr lang="zh-TW" altLang="en-US" dirty="0"/>
              <a:t>框架建立網路應用，</a:t>
            </a:r>
            <a:r>
              <a:rPr lang="en-US" altLang="zh-TW" dirty="0"/>
              <a:t>LINE API</a:t>
            </a:r>
            <a:r>
              <a:rPr lang="zh-TW" altLang="en-US" dirty="0"/>
              <a:t>連接處理訊息，</a:t>
            </a:r>
            <a:r>
              <a:rPr lang="en-US" altLang="zh-TW" dirty="0"/>
              <a:t>Webhook</a:t>
            </a:r>
            <a:r>
              <a:rPr lang="zh-TW" altLang="en-US" dirty="0"/>
              <a:t>接收用戶請求，</a:t>
            </a:r>
            <a:r>
              <a:rPr lang="en-US" altLang="zh-TW" dirty="0" err="1"/>
              <a:t>ngrok</a:t>
            </a:r>
            <a:r>
              <a:rPr lang="zh-TW" altLang="en-US" dirty="0"/>
              <a:t>作為本機伺服器暴露到互聯網上的工具。</a:t>
            </a:r>
          </a:p>
          <a:p>
            <a:r>
              <a:rPr lang="zh-TW" altLang="en-US" dirty="0"/>
              <a:t>後端服務模組整合</a:t>
            </a:r>
            <a:r>
              <a:rPr lang="en-US" altLang="zh-TW" dirty="0"/>
              <a:t>GPT-3.5</a:t>
            </a:r>
            <a:r>
              <a:rPr lang="zh-TW" altLang="en-US" dirty="0"/>
              <a:t>處理英語對話與回饋，</a:t>
            </a:r>
            <a:r>
              <a:rPr lang="en-US" altLang="zh-TW" dirty="0"/>
              <a:t>Whisper</a:t>
            </a:r>
            <a:r>
              <a:rPr lang="zh-TW" altLang="en-US" dirty="0"/>
              <a:t>進行語音轉文字，</a:t>
            </a:r>
            <a:r>
              <a:rPr lang="en-US" altLang="zh-TW" dirty="0" err="1"/>
              <a:t>gTTS</a:t>
            </a:r>
            <a:r>
              <a:rPr lang="zh-TW" altLang="en-US" dirty="0"/>
              <a:t>提供文字轉語音，採用</a:t>
            </a:r>
            <a:r>
              <a:rPr lang="en-US" altLang="zh-TW" dirty="0"/>
              <a:t>API</a:t>
            </a:r>
            <a:r>
              <a:rPr lang="zh-TW" altLang="en-US" dirty="0"/>
              <a:t>串接方式靈活調用。</a:t>
            </a:r>
          </a:p>
          <a:p>
            <a:r>
              <a:rPr lang="zh-TW" altLang="en-US" dirty="0"/>
              <a:t>提示工程模組負責分析用戶學習情境與意圖，管理不同學習模式提示模板，動態生成教育導向提示，確保</a:t>
            </a:r>
            <a:r>
              <a:rPr lang="en-US" altLang="zh-TW" dirty="0"/>
              <a:t>AI</a:t>
            </a:r>
            <a:r>
              <a:rPr lang="zh-TW" altLang="en-US" dirty="0"/>
              <a:t>回應符合教學目標。</a:t>
            </a:r>
          </a:p>
          <a:p>
            <a:r>
              <a:rPr lang="zh-TW" altLang="en-US" dirty="0"/>
              <a:t>架構特點包括模組化設計便於維護擴展，輕量化部署成本低，以及教育目標導向專為初學者設計。</a:t>
            </a:r>
          </a:p>
          <a:p>
            <a:endParaRPr lang="zh-TW" altLang="en-US" dirty="0"/>
          </a:p>
        </p:txBody>
      </p:sp>
    </p:spTree>
    <p:extLst>
      <p:ext uri="{BB962C8B-B14F-4D97-AF65-F5344CB8AC3E}">
        <p14:creationId xmlns:p14="http://schemas.microsoft.com/office/powerpoint/2010/main" val="3166278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系統運作流程展現了完整的數據處理路徑。使用者透過</a:t>
            </a:r>
            <a:r>
              <a:rPr lang="en-US" altLang="zh-TW" dirty="0"/>
              <a:t>LINE Bot</a:t>
            </a:r>
            <a:r>
              <a:rPr lang="zh-TW" altLang="en-US" dirty="0"/>
              <a:t>輸入訊息，</a:t>
            </a:r>
            <a:r>
              <a:rPr lang="en-US" altLang="zh-TW" dirty="0"/>
              <a:t>Flask</a:t>
            </a:r>
            <a:r>
              <a:rPr lang="zh-TW" altLang="en-US" dirty="0"/>
              <a:t>後端伺服器處理請求，提示工程接受結構化提示並生成高質量學習內容，</a:t>
            </a:r>
            <a:r>
              <a:rPr lang="en-US" altLang="zh-TW" dirty="0"/>
              <a:t>GPT-3.5</a:t>
            </a:r>
            <a:r>
              <a:rPr lang="zh-TW" altLang="en-US" dirty="0"/>
              <a:t>大型語言模型進行處理，語音處理包括</a:t>
            </a:r>
            <a:r>
              <a:rPr lang="en-US" altLang="zh-TW" dirty="0"/>
              <a:t>Whisper API</a:t>
            </a:r>
            <a:r>
              <a:rPr lang="zh-TW" altLang="en-US" dirty="0"/>
              <a:t>語音轉文字和</a:t>
            </a:r>
            <a:r>
              <a:rPr lang="en-US" altLang="zh-TW" dirty="0" err="1"/>
              <a:t>gTTS</a:t>
            </a:r>
            <a:r>
              <a:rPr lang="zh-TW" altLang="en-US" dirty="0"/>
              <a:t>文字轉語音，最後</a:t>
            </a:r>
            <a:r>
              <a:rPr lang="en-US" altLang="zh-TW" dirty="0"/>
              <a:t>LINE Bot</a:t>
            </a:r>
            <a:r>
              <a:rPr lang="zh-TW" altLang="en-US" dirty="0"/>
              <a:t>回傳結果包含文字和語音。</a:t>
            </a:r>
          </a:p>
        </p:txBody>
      </p:sp>
    </p:spTree>
    <p:extLst>
      <p:ext uri="{BB962C8B-B14F-4D97-AF65-F5344CB8AC3E}">
        <p14:creationId xmlns:p14="http://schemas.microsoft.com/office/powerpoint/2010/main" val="7217016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部署流程包含六個主要階段。首先是</a:t>
            </a:r>
            <a:r>
              <a:rPr lang="en-US" altLang="zh-TW" dirty="0"/>
              <a:t>LINE Platform</a:t>
            </a:r>
            <a:r>
              <a:rPr lang="zh-TW" altLang="en-US" dirty="0"/>
              <a:t>設定，註冊</a:t>
            </a:r>
            <a:r>
              <a:rPr lang="en-US" altLang="zh-TW" dirty="0"/>
              <a:t>LINE Developers</a:t>
            </a:r>
            <a:r>
              <a:rPr lang="zh-TW" altLang="en-US" dirty="0"/>
              <a:t>並創建</a:t>
            </a:r>
            <a:r>
              <a:rPr lang="en-US" altLang="zh-TW" dirty="0"/>
              <a:t>Messaging API Channel</a:t>
            </a:r>
            <a:r>
              <a:rPr lang="zh-TW" altLang="en-US" dirty="0"/>
              <a:t>，設定基本資訊，生成</a:t>
            </a:r>
            <a:r>
              <a:rPr lang="en-US" altLang="zh-TW" dirty="0"/>
              <a:t>Channel Access Token</a:t>
            </a:r>
            <a:r>
              <a:rPr lang="zh-TW" altLang="en-US" dirty="0"/>
              <a:t>。</a:t>
            </a:r>
          </a:p>
          <a:p>
            <a:r>
              <a:rPr lang="zh-TW" altLang="en-US" dirty="0"/>
              <a:t>第二階段是</a:t>
            </a:r>
            <a:r>
              <a:rPr lang="en-US" altLang="zh-TW" dirty="0"/>
              <a:t>Webhook</a:t>
            </a:r>
            <a:r>
              <a:rPr lang="zh-TW" altLang="en-US" dirty="0"/>
              <a:t>配置，</a:t>
            </a:r>
            <a:r>
              <a:rPr lang="en-US" altLang="zh-TW" dirty="0" err="1"/>
              <a:t>ngrok</a:t>
            </a:r>
            <a:r>
              <a:rPr lang="zh-TW" altLang="en-US" dirty="0"/>
              <a:t>生成</a:t>
            </a:r>
            <a:r>
              <a:rPr lang="en-US" altLang="zh-TW" dirty="0"/>
              <a:t>HTTPS</a:t>
            </a:r>
            <a:r>
              <a:rPr lang="zh-TW" altLang="en-US" dirty="0"/>
              <a:t>網址，設定</a:t>
            </a:r>
            <a:r>
              <a:rPr lang="en-US" altLang="zh-TW" dirty="0"/>
              <a:t>Webhook URL</a:t>
            </a:r>
            <a:r>
              <a:rPr lang="zh-TW" altLang="en-US" dirty="0"/>
              <a:t>指向</a:t>
            </a:r>
            <a:r>
              <a:rPr lang="en-US" altLang="zh-TW" dirty="0"/>
              <a:t>/callback</a:t>
            </a:r>
            <a:r>
              <a:rPr lang="zh-TW" altLang="en-US" dirty="0"/>
              <a:t>路徑，啟用文字和音訊訊息接收。</a:t>
            </a:r>
          </a:p>
          <a:p>
            <a:r>
              <a:rPr lang="zh-TW" altLang="en-US" dirty="0"/>
              <a:t>第三階段是應用程式設定，設定環境變數存儲</a:t>
            </a:r>
            <a:r>
              <a:rPr lang="en-US" altLang="zh-TW" dirty="0"/>
              <a:t>API</a:t>
            </a:r>
            <a:r>
              <a:rPr lang="zh-TW" altLang="en-US" dirty="0"/>
              <a:t>密鑰，配置</a:t>
            </a:r>
            <a:r>
              <a:rPr lang="en-US" altLang="zh-TW" dirty="0"/>
              <a:t>Flask</a:t>
            </a:r>
            <a:r>
              <a:rPr lang="zh-TW" altLang="en-US" dirty="0"/>
              <a:t>路由和錯誤處理，整合</a:t>
            </a:r>
            <a:r>
              <a:rPr lang="en-US" altLang="zh-TW" dirty="0"/>
              <a:t>OpenAI</a:t>
            </a:r>
            <a:r>
              <a:rPr lang="zh-TW" altLang="en-US" dirty="0"/>
              <a:t>、</a:t>
            </a:r>
            <a:r>
              <a:rPr lang="en-US" altLang="zh-TW" dirty="0" err="1"/>
              <a:t>gTTS</a:t>
            </a:r>
            <a:r>
              <a:rPr lang="zh-TW" altLang="en-US" dirty="0"/>
              <a:t>、</a:t>
            </a:r>
            <a:r>
              <a:rPr lang="en-US" altLang="zh-TW" dirty="0"/>
              <a:t>LINE API</a:t>
            </a:r>
            <a:r>
              <a:rPr lang="zh-TW" altLang="en-US" dirty="0"/>
              <a:t>服務。</a:t>
            </a:r>
          </a:p>
          <a:p>
            <a:r>
              <a:rPr lang="zh-TW" altLang="en-US" dirty="0"/>
              <a:t>第四階段是</a:t>
            </a:r>
            <a:r>
              <a:rPr lang="en-US" altLang="zh-TW" dirty="0"/>
              <a:t>LINE Bot</a:t>
            </a:r>
            <a:r>
              <a:rPr lang="zh-TW" altLang="en-US" dirty="0"/>
              <a:t>功能配置，上傳</a:t>
            </a:r>
            <a:r>
              <a:rPr lang="en-US" altLang="zh-TW" dirty="0"/>
              <a:t>Rich Menu</a:t>
            </a:r>
            <a:r>
              <a:rPr lang="zh-TW" altLang="en-US" dirty="0"/>
              <a:t>圖片，配置選單功能映射，設定歡迎訊息。</a:t>
            </a:r>
          </a:p>
          <a:p>
            <a:r>
              <a:rPr lang="zh-TW" altLang="en-US" dirty="0"/>
              <a:t>第五階段是服務啟動與監控，啟動</a:t>
            </a:r>
            <a:r>
              <a:rPr lang="en-US" altLang="zh-TW" dirty="0"/>
              <a:t>Flask</a:t>
            </a:r>
            <a:r>
              <a:rPr lang="zh-TW" altLang="en-US" dirty="0"/>
              <a:t>和</a:t>
            </a:r>
            <a:r>
              <a:rPr lang="en-US" altLang="zh-TW" dirty="0" err="1"/>
              <a:t>ngrok</a:t>
            </a:r>
            <a:r>
              <a:rPr lang="zh-TW" altLang="en-US" dirty="0"/>
              <a:t>，設定日誌記錄和健康檢查。</a:t>
            </a:r>
          </a:p>
          <a:p>
            <a:r>
              <a:rPr lang="zh-TW" altLang="en-US" dirty="0"/>
              <a:t>最後是系統測試與驗證，包括功能測試驗證四大學習模式，壓力測試多用戶同時使用，以及異常測試網路中斷恢復。</a:t>
            </a:r>
          </a:p>
          <a:p>
            <a:endParaRPr lang="zh-TW" altLang="en-US" dirty="0"/>
          </a:p>
        </p:txBody>
      </p:sp>
    </p:spTree>
    <p:extLst>
      <p:ext uri="{BB962C8B-B14F-4D97-AF65-F5344CB8AC3E}">
        <p14:creationId xmlns:p14="http://schemas.microsoft.com/office/powerpoint/2010/main" val="27542361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我們與</a:t>
            </a:r>
            <a:r>
              <a:rPr lang="en-US" altLang="zh-TW" dirty="0"/>
              <a:t>Speak</a:t>
            </a:r>
            <a:r>
              <a:rPr lang="zh-TW" altLang="en-US" dirty="0"/>
              <a:t>、</a:t>
            </a:r>
            <a:r>
              <a:rPr lang="en-US" altLang="zh-TW" dirty="0"/>
              <a:t>Toko</a:t>
            </a:r>
            <a:r>
              <a:rPr lang="zh-TW" altLang="en-US" dirty="0"/>
              <a:t>、</a:t>
            </a:r>
            <a:r>
              <a:rPr lang="en-US" altLang="zh-TW" dirty="0"/>
              <a:t>ELSA</a:t>
            </a:r>
            <a:r>
              <a:rPr lang="zh-TW" altLang="en-US" dirty="0"/>
              <a:t>三款主流應用進行比較。在平台方面，其他應用都需要下載</a:t>
            </a:r>
            <a:r>
              <a:rPr lang="en-US" altLang="zh-TW" dirty="0"/>
              <a:t>APP</a:t>
            </a:r>
            <a:r>
              <a:rPr lang="zh-TW" altLang="en-US" dirty="0"/>
              <a:t>，而我們的系統基於</a:t>
            </a:r>
            <a:r>
              <a:rPr lang="en-US" altLang="zh-TW" dirty="0"/>
              <a:t>Line Bot</a:t>
            </a:r>
            <a:r>
              <a:rPr lang="zh-TW" altLang="en-US" dirty="0"/>
              <a:t>無需額外下載。在主要功能方面，我們提供對話、單字造句、跟讀、聽力練習的整合功能。在價格模式上，其他應用都採用訂閱制，我們則完全免費。在目標用戶方面，我們專注於英語初學者。</a:t>
            </a:r>
          </a:p>
          <a:p>
            <a:r>
              <a:rPr lang="zh-TW" altLang="en-US" dirty="0"/>
              <a:t>差異化優勢歸納為四點：低使用門檻無需額外安裝</a:t>
            </a:r>
            <a:r>
              <a:rPr lang="en-US" altLang="zh-TW" dirty="0"/>
              <a:t>LINE</a:t>
            </a:r>
            <a:r>
              <a:rPr lang="zh-TW" altLang="en-US" dirty="0"/>
              <a:t>直接使用，功能整合對話造句跟讀三合一，零成本學習完全免費無經濟壓力，適合初學者簡易操作降低技術門檻。</a:t>
            </a:r>
          </a:p>
          <a:p>
            <a:endParaRPr lang="zh-TW" altLang="en-US" dirty="0"/>
          </a:p>
        </p:txBody>
      </p:sp>
    </p:spTree>
    <p:extLst>
      <p:ext uri="{BB962C8B-B14F-4D97-AF65-F5344CB8AC3E}">
        <p14:creationId xmlns:p14="http://schemas.microsoft.com/office/powerpoint/2010/main" val="12377840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正面回饋包括三個方面。易用性方面，</a:t>
            </a:r>
            <a:r>
              <a:rPr lang="en-US" altLang="zh-TW" dirty="0"/>
              <a:t>LINE</a:t>
            </a:r>
            <a:r>
              <a:rPr lang="zh-TW" altLang="en-US" dirty="0"/>
              <a:t>平台熟悉界面直覺。互動性方面，回應自然理解上下文提供即時反饋。學習效果方面，發音改善詞彙應用提升信心增強。功能偏好顯示初學者愛跟讀、中級愛對話、高級愛造句。</a:t>
            </a:r>
          </a:p>
          <a:p>
            <a:r>
              <a:rPr lang="zh-TW" altLang="en-US" dirty="0"/>
              <a:t>使用挑戰與限制包括系統回應時間偶有延遲、完全依賴網路連接、缺乏學習進度追踪功能，以及語音識別對非標準發音準確率待改善。</a:t>
            </a:r>
          </a:p>
          <a:p>
            <a:r>
              <a:rPr lang="zh-TW" altLang="en-US" dirty="0"/>
              <a:t>改進建議分為三個層面。技術優化包括提升語音識別、縮短回應時間、部分離線功能。功能擴充包括學習數據分析、個人化路徑、更多主題內容。體驗提升包括遊戲化元素、社群功能、界面優化。</a:t>
            </a:r>
          </a:p>
          <a:p>
            <a:endParaRPr lang="zh-TW" altLang="en-US" dirty="0"/>
          </a:p>
        </p:txBody>
      </p:sp>
    </p:spTree>
    <p:extLst>
      <p:ext uri="{BB962C8B-B14F-4D97-AF65-F5344CB8AC3E}">
        <p14:creationId xmlns:p14="http://schemas.microsoft.com/office/powerpoint/2010/main" val="3802642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本研究成功實現了基於</a:t>
            </a:r>
            <a:r>
              <a:rPr lang="en-US" altLang="zh-TW" dirty="0"/>
              <a:t>LINE Bot</a:t>
            </a:r>
            <a:r>
              <a:rPr lang="zh-TW" altLang="en-US" dirty="0"/>
              <a:t>的英語學習系統，整合</a:t>
            </a:r>
            <a:r>
              <a:rPr lang="en-US" altLang="zh-TW" dirty="0"/>
              <a:t>LLM</a:t>
            </a:r>
            <a:r>
              <a:rPr lang="zh-TW" altLang="en-US" dirty="0"/>
              <a:t>、語音轉文字及文字轉語音技術。四大核心功能涵蓋英語對話練習、單字造句、跟讀練習、聽力練習，全面培養聽說讀寫四種語言能力，創造低門檻高互動學習平台。</a:t>
            </a:r>
          </a:p>
          <a:p>
            <a:r>
              <a:rPr lang="zh-TW" altLang="en-US" dirty="0"/>
              <a:t>系統具有三項主要優勢：易用性與便利性基於</a:t>
            </a:r>
            <a:r>
              <a:rPr lang="en-US" altLang="zh-TW" dirty="0"/>
              <a:t>LINE</a:t>
            </a:r>
            <a:r>
              <a:rPr lang="zh-TW" altLang="en-US" dirty="0"/>
              <a:t>平台免除額外安裝，互動式學習體驗提供即時反饋和自然對話，多元化學習功能創造模擬真實語境的學習環境。</a:t>
            </a:r>
          </a:p>
          <a:p>
            <a:r>
              <a:rPr lang="zh-TW" altLang="en-US" dirty="0"/>
              <a:t>技術實現成功整合多種先進技術，</a:t>
            </a:r>
            <a:r>
              <a:rPr lang="en-US" altLang="zh-TW" dirty="0"/>
              <a:t>Flask</a:t>
            </a:r>
            <a:r>
              <a:rPr lang="zh-TW" altLang="en-US" dirty="0"/>
              <a:t>後端架構確保系統靈活性，提示工程技術突破引導</a:t>
            </a:r>
            <a:r>
              <a:rPr lang="en-US" altLang="zh-TW" dirty="0"/>
              <a:t>AI</a:t>
            </a:r>
            <a:r>
              <a:rPr lang="zh-TW" altLang="en-US" dirty="0"/>
              <a:t>生成符合教育目的內容。使用者訪談重要發現顯示個性化學習驗證，系統能適應不同學習階段需求。</a:t>
            </a:r>
          </a:p>
          <a:p>
            <a:endParaRPr lang="en-US" altLang="zh-TW" dirty="0"/>
          </a:p>
          <a:p>
            <a:r>
              <a:rPr lang="zh-TW" altLang="en-US" dirty="0"/>
              <a:t>系統具有三項主要優勢：易用性與便利性基於</a:t>
            </a:r>
            <a:r>
              <a:rPr lang="en-US" altLang="zh-TW" dirty="0"/>
              <a:t>LINE</a:t>
            </a:r>
            <a:r>
              <a:rPr lang="zh-TW" altLang="en-US" dirty="0"/>
              <a:t>平台免除額外安裝，互動式學習體驗提供即時反饋和自然對話，多元化學習功能創造模擬真實語境的學習環境。</a:t>
            </a:r>
          </a:p>
          <a:p>
            <a:r>
              <a:rPr lang="zh-TW" altLang="en-US" dirty="0"/>
              <a:t>技術實現成功整合多種先進技術，</a:t>
            </a:r>
            <a:r>
              <a:rPr lang="en-US" altLang="zh-TW" dirty="0"/>
              <a:t>Flask</a:t>
            </a:r>
            <a:r>
              <a:rPr lang="zh-TW" altLang="en-US" dirty="0"/>
              <a:t>後端架構確保系統靈活性，提示工程技術突破引導</a:t>
            </a:r>
            <a:r>
              <a:rPr lang="en-US" altLang="zh-TW" dirty="0"/>
              <a:t>AI</a:t>
            </a:r>
            <a:r>
              <a:rPr lang="zh-TW" altLang="en-US" dirty="0"/>
              <a:t>生成符合教育目的內容。使用者訪談重要發現顯示個性化學習驗證，系統能適應不同學習階段需求。</a:t>
            </a:r>
          </a:p>
          <a:p>
            <a:endParaRPr lang="en-US" altLang="zh-TW" dirty="0"/>
          </a:p>
          <a:p>
            <a:r>
              <a:rPr lang="zh-TW" altLang="en-US" dirty="0"/>
              <a:t>我們規劃了四個主要的發展方向：</a:t>
            </a:r>
          </a:p>
          <a:p>
            <a:r>
              <a:rPr lang="zh-TW" altLang="en-US" b="1" dirty="0"/>
              <a:t>技術優化</a:t>
            </a:r>
            <a:r>
              <a:rPr lang="zh-TW" altLang="en-US" dirty="0"/>
              <a:t>：提升語音識別準確率、縮短回應時間、開發部分離線功能 </a:t>
            </a:r>
            <a:r>
              <a:rPr lang="zh-TW" altLang="en-US" b="1" dirty="0"/>
              <a:t>功能擴展</a:t>
            </a:r>
            <a:r>
              <a:rPr lang="zh-TW" altLang="en-US" dirty="0"/>
              <a:t>：建立學習分析系統、開發個人化路徑、擴充主題內容範圍 </a:t>
            </a:r>
            <a:r>
              <a:rPr lang="zh-TW" altLang="en-US" b="1" dirty="0"/>
              <a:t>研究深化</a:t>
            </a:r>
            <a:r>
              <a:rPr lang="zh-TW" altLang="en-US" dirty="0"/>
              <a:t>：進行大規模長期實證研究、分析不同族群使用者體驗差異、探討認知影響機制 </a:t>
            </a:r>
            <a:r>
              <a:rPr lang="zh-TW" altLang="en-US" b="1" dirty="0"/>
              <a:t>認知影響實驗</a:t>
            </a:r>
            <a:r>
              <a:rPr lang="zh-TW" altLang="en-US" dirty="0"/>
              <a:t>：設計對照實驗、測量學習效益、研究動機影響因素</a:t>
            </a:r>
          </a:p>
          <a:p>
            <a:endParaRPr lang="zh-TW" altLang="en-US" dirty="0"/>
          </a:p>
        </p:txBody>
      </p:sp>
    </p:spTree>
    <p:extLst>
      <p:ext uri="{BB962C8B-B14F-4D97-AF65-F5344CB8AC3E}">
        <p14:creationId xmlns:p14="http://schemas.microsoft.com/office/powerpoint/2010/main" val="3917302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zh-TW" altLang="en-US" dirty="0"/>
              <a:t>我們的研究建立在堅實的理論基礎之上，涵蓋英語學習理論、技術應用和教學法整合三個層面。</a:t>
            </a:r>
          </a:p>
          <a:p>
            <a:r>
              <a:rPr lang="zh-TW" altLang="en-US" b="1" dirty="0"/>
              <a:t>英語學習理論方面</a:t>
            </a:r>
            <a:r>
              <a:rPr lang="zh-TW" altLang="en-US" dirty="0"/>
              <a:t>，我們採用了多位學者的重要理論。</a:t>
            </a:r>
            <a:r>
              <a:rPr lang="en-US" altLang="zh-TW" dirty="0"/>
              <a:t>Vygotsky</a:t>
            </a:r>
            <a:r>
              <a:rPr lang="zh-TW" altLang="en-US" dirty="0"/>
              <a:t>（</a:t>
            </a:r>
            <a:r>
              <a:rPr lang="en-US" altLang="zh-TW" dirty="0"/>
              <a:t>1978</a:t>
            </a:r>
            <a:r>
              <a:rPr lang="zh-TW" altLang="en-US" dirty="0"/>
              <a:t>）的互動學習理論強調語言習得根植於與他人的交流；</a:t>
            </a:r>
            <a:r>
              <a:rPr lang="en-US" altLang="zh-TW" dirty="0"/>
              <a:t>Krashen</a:t>
            </a:r>
            <a:r>
              <a:rPr lang="zh-TW" altLang="en-US" dirty="0"/>
              <a:t>（</a:t>
            </a:r>
            <a:r>
              <a:rPr lang="en-US" altLang="zh-TW" dirty="0"/>
              <a:t>1982</a:t>
            </a:r>
            <a:r>
              <a:rPr lang="zh-TW" altLang="en-US" dirty="0"/>
              <a:t>）的「可理解輸入」理論主張輸入須具挑戰性但可理解；</a:t>
            </a:r>
            <a:r>
              <a:rPr lang="en-US" altLang="zh-TW" dirty="0"/>
              <a:t>Swain</a:t>
            </a:r>
            <a:r>
              <a:rPr lang="zh-TW" altLang="en-US" dirty="0"/>
              <a:t>（</a:t>
            </a:r>
            <a:r>
              <a:rPr lang="en-US" altLang="zh-TW" dirty="0"/>
              <a:t>1985</a:t>
            </a:r>
            <a:r>
              <a:rPr lang="zh-TW" altLang="en-US" dirty="0"/>
              <a:t>）的輸出假說強調主動產出對語言習得的重要性；</a:t>
            </a:r>
            <a:r>
              <a:rPr lang="en-US" altLang="zh-TW" dirty="0"/>
              <a:t>Godwin-Jones</a:t>
            </a:r>
            <a:r>
              <a:rPr lang="zh-TW" altLang="en-US" dirty="0"/>
              <a:t>（</a:t>
            </a:r>
            <a:r>
              <a:rPr lang="en-US" altLang="zh-TW" dirty="0"/>
              <a:t>2018</a:t>
            </a:r>
            <a:r>
              <a:rPr lang="zh-TW" altLang="en-US" dirty="0"/>
              <a:t>）的數位學習環境理論指出數位工具擴展語言學習場域；</a:t>
            </a:r>
            <a:r>
              <a:rPr lang="en-US" altLang="zh-TW" dirty="0"/>
              <a:t>Liu</a:t>
            </a:r>
            <a:r>
              <a:rPr lang="zh-TW" altLang="en-US" dirty="0"/>
              <a:t>等人（</a:t>
            </a:r>
            <a:r>
              <a:rPr lang="en-US" altLang="zh-TW" dirty="0"/>
              <a:t>2023</a:t>
            </a:r>
            <a:r>
              <a:rPr lang="zh-TW" altLang="en-US" dirty="0"/>
              <a:t>）的</a:t>
            </a:r>
            <a:r>
              <a:rPr lang="en-US" altLang="zh-TW" dirty="0"/>
              <a:t>AI</a:t>
            </a:r>
            <a:r>
              <a:rPr lang="zh-TW" altLang="en-US" dirty="0"/>
              <a:t>教育應用研究證明</a:t>
            </a:r>
            <a:r>
              <a:rPr lang="en-US" altLang="zh-TW" dirty="0"/>
              <a:t>LLM</a:t>
            </a:r>
            <a:r>
              <a:rPr lang="zh-TW" altLang="en-US" dirty="0"/>
              <a:t>與</a:t>
            </a:r>
            <a:r>
              <a:rPr lang="en-US" altLang="zh-TW" dirty="0"/>
              <a:t>NLP</a:t>
            </a:r>
            <a:r>
              <a:rPr lang="zh-TW" altLang="en-US" dirty="0"/>
              <a:t>技術在語言教學中的廣泛應用潛力。</a:t>
            </a:r>
          </a:p>
          <a:p>
            <a:r>
              <a:rPr lang="zh-TW" altLang="en-US" b="1" dirty="0"/>
              <a:t>語音轉文字技術（</a:t>
            </a:r>
            <a:r>
              <a:rPr lang="en-US" altLang="zh-TW" b="1" dirty="0"/>
              <a:t>Whisper</a:t>
            </a:r>
            <a:r>
              <a:rPr lang="zh-TW" altLang="en-US" b="1" dirty="0"/>
              <a:t>）方面</a:t>
            </a:r>
            <a:r>
              <a:rPr lang="zh-TW" altLang="en-US" dirty="0"/>
              <a:t>，</a:t>
            </a:r>
            <a:r>
              <a:rPr lang="en-US" altLang="zh-TW" dirty="0"/>
              <a:t>Radford</a:t>
            </a:r>
            <a:r>
              <a:rPr lang="zh-TW" altLang="en-US" dirty="0"/>
              <a:t>等人（</a:t>
            </a:r>
            <a:r>
              <a:rPr lang="en-US" altLang="zh-TW" dirty="0"/>
              <a:t>2022</a:t>
            </a:r>
            <a:r>
              <a:rPr lang="zh-TW" altLang="en-US" dirty="0"/>
              <a:t>）開發的</a:t>
            </a:r>
            <a:r>
              <a:rPr lang="en-US" altLang="zh-TW" dirty="0"/>
              <a:t>Whisper</a:t>
            </a:r>
            <a:r>
              <a:rPr lang="zh-TW" altLang="en-US" dirty="0"/>
              <a:t>採用</a:t>
            </a:r>
            <a:r>
              <a:rPr lang="en-US" altLang="zh-TW" dirty="0"/>
              <a:t>Transformer</a:t>
            </a:r>
            <a:r>
              <a:rPr lang="zh-TW" altLang="en-US" dirty="0"/>
              <a:t>架構，使用</a:t>
            </a:r>
            <a:r>
              <a:rPr lang="en-US" altLang="zh-TW" dirty="0"/>
              <a:t>68</a:t>
            </a:r>
            <a:r>
              <a:rPr lang="zh-TW" altLang="en-US" dirty="0"/>
              <a:t>萬小時多語言資料訓練，具備跨語言魯棒性。</a:t>
            </a:r>
            <a:r>
              <a:rPr lang="en-US" altLang="zh-TW" dirty="0"/>
              <a:t>Macháček</a:t>
            </a:r>
            <a:r>
              <a:rPr lang="zh-TW" altLang="en-US" dirty="0"/>
              <a:t>等人（</a:t>
            </a:r>
            <a:r>
              <a:rPr lang="en-US" altLang="zh-TW" dirty="0"/>
              <a:t>2023</a:t>
            </a:r>
            <a:r>
              <a:rPr lang="zh-TW" altLang="en-US" dirty="0"/>
              <a:t>）的即時應用研究顯示平均延遲僅</a:t>
            </a:r>
            <a:r>
              <a:rPr lang="en-US" altLang="zh-TW" dirty="0"/>
              <a:t>3.3</a:t>
            </a:r>
            <a:r>
              <a:rPr lang="zh-TW" altLang="en-US" dirty="0"/>
              <a:t>秒，適用於互動系統。</a:t>
            </a:r>
            <a:r>
              <a:rPr lang="en-US" altLang="zh-TW" dirty="0"/>
              <a:t>Zhao</a:t>
            </a:r>
            <a:r>
              <a:rPr lang="zh-TW" altLang="en-US" dirty="0"/>
              <a:t>等人（</a:t>
            </a:r>
            <a:r>
              <a:rPr lang="en-US" altLang="zh-TW" dirty="0"/>
              <a:t>2023</a:t>
            </a:r>
            <a:r>
              <a:rPr lang="zh-TW" altLang="en-US" dirty="0"/>
              <a:t>）的多語言實驗證明</a:t>
            </a:r>
            <a:r>
              <a:rPr lang="en-US" altLang="zh-TW" dirty="0"/>
              <a:t>Whisper</a:t>
            </a:r>
            <a:r>
              <a:rPr lang="zh-TW" altLang="en-US" dirty="0"/>
              <a:t>在中英混合語音處理上的優異表現。</a:t>
            </a:r>
          </a:p>
          <a:p>
            <a:r>
              <a:rPr lang="zh-TW" altLang="en-US" b="1" dirty="0"/>
              <a:t>提示工程（</a:t>
            </a:r>
            <a:r>
              <a:rPr lang="en-US" altLang="zh-TW" b="1" dirty="0"/>
              <a:t>Prompt Engineering</a:t>
            </a:r>
            <a:r>
              <a:rPr lang="zh-TW" altLang="en-US" b="1" dirty="0"/>
              <a:t>）方面</a:t>
            </a:r>
            <a:r>
              <a:rPr lang="zh-TW" altLang="en-US" dirty="0"/>
              <a:t>，這是引導</a:t>
            </a:r>
            <a:r>
              <a:rPr lang="en-US" altLang="zh-TW" dirty="0"/>
              <a:t>LLM</a:t>
            </a:r>
            <a:r>
              <a:rPr lang="zh-TW" altLang="en-US" dirty="0"/>
              <a:t>生成所需輸出的核心技術。</a:t>
            </a:r>
            <a:r>
              <a:rPr lang="en-US" altLang="zh-TW" dirty="0"/>
              <a:t>Wei</a:t>
            </a:r>
            <a:r>
              <a:rPr lang="zh-TW" altLang="en-US" dirty="0"/>
              <a:t>等人（</a:t>
            </a:r>
            <a:r>
              <a:rPr lang="en-US" altLang="zh-TW" dirty="0"/>
              <a:t>2022</a:t>
            </a:r>
            <a:r>
              <a:rPr lang="zh-TW" altLang="en-US" dirty="0"/>
              <a:t>）的研究展示零樣本和少樣本學習能力，</a:t>
            </a:r>
            <a:r>
              <a:rPr lang="en-US" altLang="zh-TW" dirty="0"/>
              <a:t>Chiles &amp; Adams</a:t>
            </a:r>
            <a:r>
              <a:rPr lang="zh-TW" altLang="en-US" dirty="0"/>
              <a:t>（</a:t>
            </a:r>
            <a:r>
              <a:rPr lang="en-US" altLang="zh-TW" dirty="0"/>
              <a:t>2024</a:t>
            </a:r>
            <a:r>
              <a:rPr lang="zh-TW" altLang="en-US" dirty="0"/>
              <a:t>）強調提示素養成為</a:t>
            </a:r>
            <a:r>
              <a:rPr lang="en-US" altLang="zh-TW" dirty="0"/>
              <a:t>21</a:t>
            </a:r>
            <a:r>
              <a:rPr lang="zh-TW" altLang="en-US" dirty="0"/>
              <a:t>世紀重要技能，</a:t>
            </a:r>
            <a:r>
              <a:rPr lang="en-US" altLang="zh-TW" dirty="0"/>
              <a:t>Liu</a:t>
            </a:r>
            <a:r>
              <a:rPr lang="zh-TW" altLang="en-US" dirty="0"/>
              <a:t>等人（</a:t>
            </a:r>
            <a:r>
              <a:rPr lang="en-US" altLang="zh-TW" dirty="0"/>
              <a:t>2023</a:t>
            </a:r>
            <a:r>
              <a:rPr lang="zh-TW" altLang="en-US" dirty="0"/>
              <a:t>）的學習應用研究證明提示設計在語言學習策略中的重要性。</a:t>
            </a:r>
          </a:p>
          <a:p>
            <a:endParaRPr lang="zh-TW" altLang="en-US" dirty="0"/>
          </a:p>
        </p:txBody>
      </p:sp>
    </p:spTree>
    <p:extLst>
      <p:ext uri="{BB962C8B-B14F-4D97-AF65-F5344CB8AC3E}">
        <p14:creationId xmlns:p14="http://schemas.microsoft.com/office/powerpoint/2010/main" val="27269101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備忘稿版面配置區 2"/>
          <p:cNvSpPr>
            <a:spLocks noGrp="1"/>
          </p:cNvSpPr>
          <p:nvPr>
            <p:ph type="body" idx="1"/>
          </p:nvPr>
        </p:nvSpPr>
        <p:spPr>
          <a:xfrm>
            <a:off x="822325" y="7040563"/>
            <a:ext cx="6584950" cy="5761037"/>
          </a:xfrm>
          <a:prstGeom prst="rect">
            <a:avLst/>
          </a:prstGeom>
        </p:spPr>
        <p:txBody>
          <a:bodyPr/>
          <a:lstStyle/>
          <a:p>
            <a:r>
              <a:rPr lang="en-US" altLang="zh-TW" b="1" dirty="0"/>
              <a:t>Flask</a:t>
            </a:r>
            <a:r>
              <a:rPr lang="zh-TW" altLang="en-US" b="1" dirty="0"/>
              <a:t>架構方面</a:t>
            </a:r>
            <a:r>
              <a:rPr lang="zh-TW" altLang="en-US" dirty="0"/>
              <a:t>，</a:t>
            </a:r>
            <a:r>
              <a:rPr lang="en-US" altLang="zh-TW" dirty="0"/>
              <a:t>Grinberg</a:t>
            </a:r>
            <a:r>
              <a:rPr lang="zh-TW" altLang="en-US" dirty="0"/>
              <a:t>（</a:t>
            </a:r>
            <a:r>
              <a:rPr lang="en-US" altLang="zh-TW" dirty="0"/>
              <a:t>2018</a:t>
            </a:r>
            <a:r>
              <a:rPr lang="zh-TW" altLang="en-US" dirty="0"/>
              <a:t>）設計的輕量級</a:t>
            </a:r>
            <a:r>
              <a:rPr lang="en-US" altLang="zh-TW" dirty="0"/>
              <a:t>Python</a:t>
            </a:r>
            <a:r>
              <a:rPr lang="zh-TW" altLang="en-US" dirty="0"/>
              <a:t>框架提供高度靈活性，</a:t>
            </a:r>
            <a:r>
              <a:rPr lang="en-US" altLang="zh-TW" dirty="0"/>
              <a:t>Baker</a:t>
            </a:r>
            <a:r>
              <a:rPr lang="zh-TW" altLang="en-US" dirty="0"/>
              <a:t>等人（</a:t>
            </a:r>
            <a:r>
              <a:rPr lang="en-US" altLang="zh-TW" dirty="0"/>
              <a:t>2020</a:t>
            </a:r>
            <a:r>
              <a:rPr lang="zh-TW" altLang="en-US" dirty="0"/>
              <a:t>）的核心功能研究展示其模組整合能力，</a:t>
            </a:r>
            <a:r>
              <a:rPr lang="en-US" altLang="zh-TW" dirty="0"/>
              <a:t>Zhou</a:t>
            </a:r>
            <a:r>
              <a:rPr lang="zh-TW" altLang="en-US" dirty="0"/>
              <a:t>等人（</a:t>
            </a:r>
            <a:r>
              <a:rPr lang="en-US" altLang="zh-TW" dirty="0"/>
              <a:t>2021</a:t>
            </a:r>
            <a:r>
              <a:rPr lang="zh-TW" altLang="en-US" dirty="0"/>
              <a:t>）的教育應用研究證明其在智能學習系統整合中的優勢。</a:t>
            </a:r>
          </a:p>
          <a:p>
            <a:r>
              <a:rPr lang="zh-TW" altLang="en-US" b="1" dirty="0"/>
              <a:t>文字轉語音技術（</a:t>
            </a:r>
            <a:r>
              <a:rPr lang="en-US" altLang="zh-TW" b="1" dirty="0" err="1"/>
              <a:t>gTTS</a:t>
            </a:r>
            <a:r>
              <a:rPr lang="zh-TW" altLang="en-US" b="1" dirty="0"/>
              <a:t>）方面</a:t>
            </a:r>
            <a:r>
              <a:rPr lang="zh-TW" altLang="en-US" dirty="0"/>
              <a:t>，</a:t>
            </a:r>
            <a:r>
              <a:rPr lang="en-US" altLang="zh-TW" dirty="0"/>
              <a:t>Choudhury &amp; Kumar</a:t>
            </a:r>
            <a:r>
              <a:rPr lang="zh-TW" altLang="en-US" dirty="0"/>
              <a:t>（</a:t>
            </a:r>
            <a:r>
              <a:rPr lang="en-US" altLang="zh-TW" dirty="0"/>
              <a:t>2019</a:t>
            </a:r>
            <a:r>
              <a:rPr lang="zh-TW" altLang="en-US" dirty="0"/>
              <a:t>）和</a:t>
            </a:r>
            <a:r>
              <a:rPr lang="en-US" altLang="zh-TW" dirty="0"/>
              <a:t>Tsai</a:t>
            </a:r>
            <a:r>
              <a:rPr lang="zh-TW" altLang="en-US" dirty="0"/>
              <a:t>（</a:t>
            </a:r>
            <a:r>
              <a:rPr lang="en-US" altLang="zh-TW" dirty="0"/>
              <a:t>2021</a:t>
            </a:r>
            <a:r>
              <a:rPr lang="zh-TW" altLang="en-US" dirty="0"/>
              <a:t>）的技術基礎研究展示</a:t>
            </a:r>
            <a:r>
              <a:rPr lang="en-US" altLang="zh-TW" dirty="0"/>
              <a:t>Google</a:t>
            </a:r>
            <a:r>
              <a:rPr lang="zh-TW" altLang="en-US" dirty="0"/>
              <a:t>語音合成技術支持</a:t>
            </a:r>
            <a:r>
              <a:rPr lang="en-US" altLang="zh-TW" dirty="0"/>
              <a:t>100</a:t>
            </a:r>
            <a:r>
              <a:rPr lang="zh-TW" altLang="en-US" dirty="0"/>
              <a:t>多種語言，</a:t>
            </a:r>
            <a:r>
              <a:rPr lang="en-US" altLang="zh-TW" dirty="0"/>
              <a:t>Liao &amp; Lee</a:t>
            </a:r>
            <a:r>
              <a:rPr lang="zh-TW" altLang="en-US" dirty="0"/>
              <a:t>（</a:t>
            </a:r>
            <a:r>
              <a:rPr lang="en-US" altLang="zh-TW" dirty="0"/>
              <a:t>2020</a:t>
            </a:r>
            <a:r>
              <a:rPr lang="zh-TW" altLang="en-US" dirty="0"/>
              <a:t>）的教育效果研究證明其在聽力和發音能力提升上的價值，</a:t>
            </a:r>
            <a:r>
              <a:rPr lang="en-US" altLang="zh-TW" dirty="0"/>
              <a:t>Chen</a:t>
            </a:r>
            <a:r>
              <a:rPr lang="zh-TW" altLang="en-US" dirty="0"/>
              <a:t>等人（</a:t>
            </a:r>
            <a:r>
              <a:rPr lang="en-US" altLang="zh-TW" dirty="0"/>
              <a:t>2022</a:t>
            </a:r>
            <a:r>
              <a:rPr lang="zh-TW" altLang="en-US" dirty="0"/>
              <a:t>）的應用優勢研究展示其個性化學習體驗的實現。</a:t>
            </a:r>
          </a:p>
          <a:p>
            <a:r>
              <a:rPr lang="zh-TW" altLang="en-US" b="1" dirty="0"/>
              <a:t>大型語言模型（</a:t>
            </a:r>
            <a:r>
              <a:rPr lang="en-US" altLang="zh-TW" b="1" dirty="0"/>
              <a:t>LLM</a:t>
            </a:r>
            <a:r>
              <a:rPr lang="zh-TW" altLang="en-US" b="1" dirty="0"/>
              <a:t>）方面</a:t>
            </a:r>
            <a:r>
              <a:rPr lang="zh-TW" altLang="en-US" dirty="0"/>
              <a:t>，</a:t>
            </a:r>
            <a:r>
              <a:rPr lang="en-US" altLang="zh-TW" dirty="0"/>
              <a:t>Brown</a:t>
            </a:r>
            <a:r>
              <a:rPr lang="zh-TW" altLang="en-US" dirty="0"/>
              <a:t>等人（</a:t>
            </a:r>
            <a:r>
              <a:rPr lang="en-US" altLang="zh-TW" dirty="0"/>
              <a:t>2020</a:t>
            </a:r>
            <a:r>
              <a:rPr lang="zh-TW" altLang="en-US" dirty="0"/>
              <a:t>）展示其基於</a:t>
            </a:r>
            <a:r>
              <a:rPr lang="en-US" altLang="zh-TW" dirty="0"/>
              <a:t>Transformer</a:t>
            </a:r>
            <a:r>
              <a:rPr lang="zh-TW" altLang="en-US" dirty="0"/>
              <a:t>架構的技術特性，</a:t>
            </a:r>
            <a:r>
              <a:rPr lang="en-US" altLang="zh-TW" dirty="0"/>
              <a:t>Zhao &amp; Zhang</a:t>
            </a:r>
            <a:r>
              <a:rPr lang="zh-TW" altLang="en-US" dirty="0"/>
              <a:t>（</a:t>
            </a:r>
            <a:r>
              <a:rPr lang="en-US" altLang="zh-TW" dirty="0"/>
              <a:t>2023</a:t>
            </a:r>
            <a:r>
              <a:rPr lang="zh-TW" altLang="en-US" dirty="0"/>
              <a:t>）和</a:t>
            </a:r>
            <a:r>
              <a:rPr lang="en-US" altLang="zh-TW" dirty="0"/>
              <a:t>Liu</a:t>
            </a:r>
            <a:r>
              <a:rPr lang="zh-TW" altLang="en-US" dirty="0"/>
              <a:t>等人（</a:t>
            </a:r>
            <a:r>
              <a:rPr lang="en-US" altLang="zh-TW" dirty="0"/>
              <a:t>2023</a:t>
            </a:r>
            <a:r>
              <a:rPr lang="zh-TW" altLang="en-US" dirty="0"/>
              <a:t>）的教育革新研究證明其在個性化學習和即時反饋上的突破，</a:t>
            </a:r>
            <a:r>
              <a:rPr lang="en-US" altLang="zh-TW" dirty="0"/>
              <a:t>Wei &amp; Chen</a:t>
            </a:r>
            <a:r>
              <a:rPr lang="zh-TW" altLang="en-US" dirty="0"/>
              <a:t>（</a:t>
            </a:r>
            <a:r>
              <a:rPr lang="en-US" altLang="zh-TW" dirty="0"/>
              <a:t>2022</a:t>
            </a:r>
            <a:r>
              <a:rPr lang="zh-TW" altLang="en-US" dirty="0"/>
              <a:t>）的優勢研究展示其相較傳統方法在自然互動和豐富語言示例上的顯著優勢。</a:t>
            </a:r>
          </a:p>
          <a:p>
            <a:endParaRPr lang="zh-TW" altLang="en-US" dirty="0"/>
          </a:p>
        </p:txBody>
      </p:sp>
    </p:spTree>
    <p:extLst>
      <p:ext uri="{BB962C8B-B14F-4D97-AF65-F5344CB8AC3E}">
        <p14:creationId xmlns:p14="http://schemas.microsoft.com/office/powerpoint/2010/main" val="14764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2" name="投影片編號版面配置區 2">
            <a:extLst>
              <a:ext uri="{FF2B5EF4-FFF2-40B4-BE49-F238E27FC236}">
                <a16:creationId xmlns:a16="http://schemas.microsoft.com/office/drawing/2014/main" id="{5C38B004-2B62-0CAA-E993-B4F29FBCE0E7}"/>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7F29C516-ED09-D976-F3C2-6A8A5286F8CB}"/>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F237FFAE-ECD5-4B46-71EB-62B9DF34F7C0}"/>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8EEC2797-CA41-F547-AB94-D2580EDA6020}"/>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CA674EF6-4FC5-F8DC-D778-2EB5CDB62A81}"/>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24699151-0C43-1F38-095B-C90EAEB2EF89}"/>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14DC0022-76FC-10B4-9713-3B8C998741B2}"/>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FCE866C8-E37B-652A-888D-CDA9AD9EDCF0}"/>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CE790E76-EBE8-E753-B8D0-42494206255F}"/>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24046BB6-5948-70A6-9FCE-3FDFC207E8D7}"/>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
        <p:nvSpPr>
          <p:cNvPr id="5" name="投影片編號版面配置區 2">
            <a:extLst>
              <a:ext uri="{FF2B5EF4-FFF2-40B4-BE49-F238E27FC236}">
                <a16:creationId xmlns:a16="http://schemas.microsoft.com/office/drawing/2014/main" id="{D724C4F2-0794-C2D6-0958-A7627A1B2338}"/>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252525"/>
                </a:solidFill>
                <a:latin typeface="Microsoft JhengHei"/>
                <a:cs typeface="Microsoft JhengHe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1493CA0-64E5-49A1-8E8B-3753034A2CFB}" type="datetime1">
              <a:rPr lang="en-US" altLang="zh-TW" smtClean="0"/>
              <a:t>5/29/2025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2976686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F44E185-3893-474E-8A1F-8100059A4A74}" type="datetime1">
              <a:rPr lang="en-US" altLang="zh-TW" smtClean="0"/>
              <a:t>5/29/2025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3579726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630400" cy="8229600"/>
          </a:xfrm>
          <a:custGeom>
            <a:avLst/>
            <a:gdLst/>
            <a:ahLst/>
            <a:cxnLst/>
            <a:rect l="l" t="t" r="r" b="b"/>
            <a:pathLst>
              <a:path w="14630400" h="8229600">
                <a:moveTo>
                  <a:pt x="14630400" y="0"/>
                </a:moveTo>
                <a:lnTo>
                  <a:pt x="0" y="0"/>
                </a:lnTo>
                <a:lnTo>
                  <a:pt x="0" y="8229600"/>
                </a:lnTo>
                <a:lnTo>
                  <a:pt x="14630400" y="8229600"/>
                </a:lnTo>
                <a:lnTo>
                  <a:pt x="14630400" y="0"/>
                </a:lnTo>
                <a:close/>
              </a:path>
            </a:pathLst>
          </a:custGeom>
          <a:solidFill>
            <a:srgbClr val="FFF1CC">
              <a:alpha val="30195"/>
            </a:srgbClr>
          </a:solidFill>
        </p:spPr>
        <p:txBody>
          <a:bodyPr wrap="square" lIns="0" tIns="0" rIns="0" bIns="0" rtlCol="0"/>
          <a:lstStyle/>
          <a:p>
            <a:endParaRPr/>
          </a:p>
        </p:txBody>
      </p:sp>
      <p:sp>
        <p:nvSpPr>
          <p:cNvPr id="17" name="bg object 17"/>
          <p:cNvSpPr/>
          <p:nvPr/>
        </p:nvSpPr>
        <p:spPr>
          <a:xfrm>
            <a:off x="0" y="507"/>
            <a:ext cx="1746885" cy="3629660"/>
          </a:xfrm>
          <a:custGeom>
            <a:avLst/>
            <a:gdLst/>
            <a:ahLst/>
            <a:cxnLst/>
            <a:rect l="l" t="t" r="r" b="b"/>
            <a:pathLst>
              <a:path w="1746885" h="3629660">
                <a:moveTo>
                  <a:pt x="1737614" y="0"/>
                </a:moveTo>
                <a:lnTo>
                  <a:pt x="0" y="5801"/>
                </a:lnTo>
                <a:lnTo>
                  <a:pt x="0" y="2823667"/>
                </a:lnTo>
                <a:lnTo>
                  <a:pt x="2453" y="2852720"/>
                </a:lnTo>
                <a:lnTo>
                  <a:pt x="8923" y="2899275"/>
                </a:lnTo>
                <a:lnTo>
                  <a:pt x="17801" y="2945013"/>
                </a:lnTo>
                <a:lnTo>
                  <a:pt x="29020" y="2989866"/>
                </a:lnTo>
                <a:lnTo>
                  <a:pt x="42515" y="3033768"/>
                </a:lnTo>
                <a:lnTo>
                  <a:pt x="58216" y="3076654"/>
                </a:lnTo>
                <a:lnTo>
                  <a:pt x="76058" y="3118455"/>
                </a:lnTo>
                <a:lnTo>
                  <a:pt x="95974" y="3159107"/>
                </a:lnTo>
                <a:lnTo>
                  <a:pt x="117897" y="3198542"/>
                </a:lnTo>
                <a:lnTo>
                  <a:pt x="141759" y="3236693"/>
                </a:lnTo>
                <a:lnTo>
                  <a:pt x="167494" y="3273495"/>
                </a:lnTo>
                <a:lnTo>
                  <a:pt x="195035" y="3308880"/>
                </a:lnTo>
                <a:lnTo>
                  <a:pt x="224315" y="3342782"/>
                </a:lnTo>
                <a:lnTo>
                  <a:pt x="255268" y="3375136"/>
                </a:lnTo>
                <a:lnTo>
                  <a:pt x="287825" y="3405873"/>
                </a:lnTo>
                <a:lnTo>
                  <a:pt x="321921" y="3434928"/>
                </a:lnTo>
                <a:lnTo>
                  <a:pt x="357487" y="3462234"/>
                </a:lnTo>
                <a:lnTo>
                  <a:pt x="394459" y="3487724"/>
                </a:lnTo>
                <a:lnTo>
                  <a:pt x="432767" y="3511333"/>
                </a:lnTo>
                <a:lnTo>
                  <a:pt x="472346" y="3532993"/>
                </a:lnTo>
                <a:lnTo>
                  <a:pt x="513129" y="3552639"/>
                </a:lnTo>
                <a:lnTo>
                  <a:pt x="555048" y="3570202"/>
                </a:lnTo>
                <a:lnTo>
                  <a:pt x="598037" y="3585618"/>
                </a:lnTo>
                <a:lnTo>
                  <a:pt x="642029" y="3598819"/>
                </a:lnTo>
                <a:lnTo>
                  <a:pt x="686957" y="3609739"/>
                </a:lnTo>
                <a:lnTo>
                  <a:pt x="732753" y="3618312"/>
                </a:lnTo>
                <a:lnTo>
                  <a:pt x="779352" y="3624470"/>
                </a:lnTo>
                <a:lnTo>
                  <a:pt x="826685" y="3628148"/>
                </a:lnTo>
                <a:lnTo>
                  <a:pt x="874687" y="3629279"/>
                </a:lnTo>
                <a:lnTo>
                  <a:pt x="922685" y="3627833"/>
                </a:lnTo>
                <a:lnTo>
                  <a:pt x="969998" y="3623844"/>
                </a:lnTo>
                <a:lnTo>
                  <a:pt x="1016559" y="3617380"/>
                </a:lnTo>
                <a:lnTo>
                  <a:pt x="1062301" y="3608508"/>
                </a:lnTo>
                <a:lnTo>
                  <a:pt x="1107158" y="3597293"/>
                </a:lnTo>
                <a:lnTo>
                  <a:pt x="1151063" y="3583804"/>
                </a:lnTo>
                <a:lnTo>
                  <a:pt x="1193950" y="3568108"/>
                </a:lnTo>
                <a:lnTo>
                  <a:pt x="1235752" y="3550270"/>
                </a:lnTo>
                <a:lnTo>
                  <a:pt x="1276404" y="3530359"/>
                </a:lnTo>
                <a:lnTo>
                  <a:pt x="1315839" y="3508440"/>
                </a:lnTo>
                <a:lnTo>
                  <a:pt x="1353990" y="3484582"/>
                </a:lnTo>
                <a:lnTo>
                  <a:pt x="1390791" y="3458851"/>
                </a:lnTo>
                <a:lnTo>
                  <a:pt x="1426175" y="3431313"/>
                </a:lnTo>
                <a:lnTo>
                  <a:pt x="1460077" y="3402036"/>
                </a:lnTo>
                <a:lnTo>
                  <a:pt x="1492429" y="3371087"/>
                </a:lnTo>
                <a:lnTo>
                  <a:pt x="1523165" y="3338533"/>
                </a:lnTo>
                <a:lnTo>
                  <a:pt x="1552220" y="3304441"/>
                </a:lnTo>
                <a:lnTo>
                  <a:pt x="1579525" y="3268877"/>
                </a:lnTo>
                <a:lnTo>
                  <a:pt x="1605016" y="3231909"/>
                </a:lnTo>
                <a:lnTo>
                  <a:pt x="1628625" y="3193603"/>
                </a:lnTo>
                <a:lnTo>
                  <a:pt x="1650287" y="3154026"/>
                </a:lnTo>
                <a:lnTo>
                  <a:pt x="1669934" y="3113246"/>
                </a:lnTo>
                <a:lnTo>
                  <a:pt x="1687501" y="3071329"/>
                </a:lnTo>
                <a:lnTo>
                  <a:pt x="1702920" y="3028343"/>
                </a:lnTo>
                <a:lnTo>
                  <a:pt x="1716127" y="2984354"/>
                </a:lnTo>
                <a:lnTo>
                  <a:pt x="1727053" y="2939429"/>
                </a:lnTo>
                <a:lnTo>
                  <a:pt x="1735633" y="2893635"/>
                </a:lnTo>
                <a:lnTo>
                  <a:pt x="1741800" y="2847039"/>
                </a:lnTo>
                <a:lnTo>
                  <a:pt x="1745488" y="2799708"/>
                </a:lnTo>
                <a:lnTo>
                  <a:pt x="1746631" y="2751709"/>
                </a:lnTo>
                <a:lnTo>
                  <a:pt x="1737614" y="0"/>
                </a:lnTo>
                <a:close/>
              </a:path>
            </a:pathLst>
          </a:custGeom>
          <a:solidFill>
            <a:srgbClr val="EC7C30"/>
          </a:solidFill>
        </p:spPr>
        <p:txBody>
          <a:bodyPr wrap="square" lIns="0" tIns="0" rIns="0" bIns="0" rtlCol="0"/>
          <a:lstStyle/>
          <a:p>
            <a:endParaRPr/>
          </a:p>
        </p:txBody>
      </p:sp>
      <p:sp>
        <p:nvSpPr>
          <p:cNvPr id="18" name="bg object 18"/>
          <p:cNvSpPr/>
          <p:nvPr/>
        </p:nvSpPr>
        <p:spPr>
          <a:xfrm>
            <a:off x="12279883" y="5879084"/>
            <a:ext cx="2350770" cy="2350770"/>
          </a:xfrm>
          <a:custGeom>
            <a:avLst/>
            <a:gdLst/>
            <a:ahLst/>
            <a:cxnLst/>
            <a:rect l="l" t="t" r="r" b="b"/>
            <a:pathLst>
              <a:path w="2350769" h="2350770">
                <a:moveTo>
                  <a:pt x="2350516" y="0"/>
                </a:moveTo>
                <a:lnTo>
                  <a:pt x="0" y="2350500"/>
                </a:lnTo>
                <a:lnTo>
                  <a:pt x="2350516" y="2350500"/>
                </a:lnTo>
                <a:lnTo>
                  <a:pt x="2350516" y="0"/>
                </a:lnTo>
                <a:close/>
              </a:path>
            </a:pathLst>
          </a:custGeom>
          <a:solidFill>
            <a:srgbClr val="A4A4A4"/>
          </a:solidFill>
        </p:spPr>
        <p:txBody>
          <a:bodyPr wrap="square" lIns="0" tIns="0" rIns="0" bIns="0" rtlCol="0"/>
          <a:lstStyle/>
          <a:p>
            <a:endParaRPr/>
          </a:p>
        </p:txBody>
      </p:sp>
      <p:sp>
        <p:nvSpPr>
          <p:cNvPr id="19" name="bg object 19"/>
          <p:cNvSpPr/>
          <p:nvPr/>
        </p:nvSpPr>
        <p:spPr>
          <a:xfrm>
            <a:off x="12546202" y="6006084"/>
            <a:ext cx="1885950" cy="1885950"/>
          </a:xfrm>
          <a:custGeom>
            <a:avLst/>
            <a:gdLst/>
            <a:ahLst/>
            <a:cxnLst/>
            <a:rect l="l" t="t" r="r" b="b"/>
            <a:pathLst>
              <a:path w="1885950" h="1885950">
                <a:moveTo>
                  <a:pt x="535304" y="942975"/>
                </a:moveTo>
                <a:lnTo>
                  <a:pt x="538047" y="895426"/>
                </a:lnTo>
                <a:lnTo>
                  <a:pt x="546070" y="849486"/>
                </a:lnTo>
                <a:lnTo>
                  <a:pt x="559069" y="805461"/>
                </a:lnTo>
                <a:lnTo>
                  <a:pt x="576737" y="763657"/>
                </a:lnTo>
                <a:lnTo>
                  <a:pt x="598769" y="724381"/>
                </a:lnTo>
                <a:lnTo>
                  <a:pt x="624858" y="687939"/>
                </a:lnTo>
                <a:lnTo>
                  <a:pt x="654700" y="654637"/>
                </a:lnTo>
                <a:lnTo>
                  <a:pt x="687989" y="624781"/>
                </a:lnTo>
                <a:lnTo>
                  <a:pt x="724418" y="598679"/>
                </a:lnTo>
                <a:lnTo>
                  <a:pt x="763682" y="576635"/>
                </a:lnTo>
                <a:lnTo>
                  <a:pt x="805476" y="558957"/>
                </a:lnTo>
                <a:lnTo>
                  <a:pt x="849493" y="545950"/>
                </a:lnTo>
                <a:lnTo>
                  <a:pt x="895428" y="537922"/>
                </a:lnTo>
                <a:lnTo>
                  <a:pt x="942975" y="535178"/>
                </a:lnTo>
                <a:lnTo>
                  <a:pt x="990523" y="537922"/>
                </a:lnTo>
                <a:lnTo>
                  <a:pt x="1036463" y="545950"/>
                </a:lnTo>
                <a:lnTo>
                  <a:pt x="1080488" y="558957"/>
                </a:lnTo>
                <a:lnTo>
                  <a:pt x="1122292" y="576635"/>
                </a:lnTo>
                <a:lnTo>
                  <a:pt x="1161568" y="598679"/>
                </a:lnTo>
                <a:lnTo>
                  <a:pt x="1198010" y="624781"/>
                </a:lnTo>
                <a:lnTo>
                  <a:pt x="1231312" y="654637"/>
                </a:lnTo>
                <a:lnTo>
                  <a:pt x="1261168" y="687939"/>
                </a:lnTo>
                <a:lnTo>
                  <a:pt x="1287270" y="724381"/>
                </a:lnTo>
                <a:lnTo>
                  <a:pt x="1309314" y="763657"/>
                </a:lnTo>
                <a:lnTo>
                  <a:pt x="1326992" y="805461"/>
                </a:lnTo>
                <a:lnTo>
                  <a:pt x="1339999" y="849486"/>
                </a:lnTo>
                <a:lnTo>
                  <a:pt x="1348027" y="895426"/>
                </a:lnTo>
                <a:lnTo>
                  <a:pt x="1350772" y="942975"/>
                </a:lnTo>
                <a:lnTo>
                  <a:pt x="1348027" y="990514"/>
                </a:lnTo>
                <a:lnTo>
                  <a:pt x="1339999" y="1036444"/>
                </a:lnTo>
                <a:lnTo>
                  <a:pt x="1326992" y="1080458"/>
                </a:lnTo>
                <a:lnTo>
                  <a:pt x="1309314" y="1122250"/>
                </a:lnTo>
                <a:lnTo>
                  <a:pt x="1287270" y="1161514"/>
                </a:lnTo>
                <a:lnTo>
                  <a:pt x="1261168" y="1197944"/>
                </a:lnTo>
                <a:lnTo>
                  <a:pt x="1231312" y="1231234"/>
                </a:lnTo>
                <a:lnTo>
                  <a:pt x="1198010" y="1261079"/>
                </a:lnTo>
                <a:lnTo>
                  <a:pt x="1161568" y="1287171"/>
                </a:lnTo>
                <a:lnTo>
                  <a:pt x="1122292" y="1309205"/>
                </a:lnTo>
                <a:lnTo>
                  <a:pt x="1080488" y="1326876"/>
                </a:lnTo>
                <a:lnTo>
                  <a:pt x="1036463" y="1339877"/>
                </a:lnTo>
                <a:lnTo>
                  <a:pt x="990523" y="1347902"/>
                </a:lnTo>
                <a:lnTo>
                  <a:pt x="942975" y="1350645"/>
                </a:lnTo>
                <a:lnTo>
                  <a:pt x="895428" y="1347902"/>
                </a:lnTo>
                <a:lnTo>
                  <a:pt x="849493" y="1339877"/>
                </a:lnTo>
                <a:lnTo>
                  <a:pt x="805476" y="1326876"/>
                </a:lnTo>
                <a:lnTo>
                  <a:pt x="763682" y="1309205"/>
                </a:lnTo>
                <a:lnTo>
                  <a:pt x="724418" y="1287171"/>
                </a:lnTo>
                <a:lnTo>
                  <a:pt x="687989" y="1261079"/>
                </a:lnTo>
                <a:lnTo>
                  <a:pt x="654700" y="1231234"/>
                </a:lnTo>
                <a:lnTo>
                  <a:pt x="624858" y="1197944"/>
                </a:lnTo>
                <a:lnTo>
                  <a:pt x="598769" y="1161514"/>
                </a:lnTo>
                <a:lnTo>
                  <a:pt x="576737" y="1122250"/>
                </a:lnTo>
                <a:lnTo>
                  <a:pt x="559069" y="1080458"/>
                </a:lnTo>
                <a:lnTo>
                  <a:pt x="546070" y="1036444"/>
                </a:lnTo>
                <a:lnTo>
                  <a:pt x="538047" y="990514"/>
                </a:lnTo>
                <a:lnTo>
                  <a:pt x="535304" y="942975"/>
                </a:lnTo>
                <a:close/>
              </a:path>
              <a:path w="1885950" h="1885950">
                <a:moveTo>
                  <a:pt x="354202" y="942975"/>
                </a:moveTo>
                <a:lnTo>
                  <a:pt x="356155" y="894676"/>
                </a:lnTo>
                <a:lnTo>
                  <a:pt x="361910" y="847454"/>
                </a:lnTo>
                <a:lnTo>
                  <a:pt x="371317" y="801461"/>
                </a:lnTo>
                <a:lnTo>
                  <a:pt x="384223" y="756847"/>
                </a:lnTo>
                <a:lnTo>
                  <a:pt x="400478" y="713765"/>
                </a:lnTo>
                <a:lnTo>
                  <a:pt x="419930" y="672366"/>
                </a:lnTo>
                <a:lnTo>
                  <a:pt x="442426" y="632800"/>
                </a:lnTo>
                <a:lnTo>
                  <a:pt x="467816" y="595220"/>
                </a:lnTo>
                <a:lnTo>
                  <a:pt x="495947" y="559776"/>
                </a:lnTo>
                <a:lnTo>
                  <a:pt x="526669" y="526621"/>
                </a:lnTo>
                <a:lnTo>
                  <a:pt x="559828" y="495905"/>
                </a:lnTo>
                <a:lnTo>
                  <a:pt x="595275" y="467779"/>
                </a:lnTo>
                <a:lnTo>
                  <a:pt x="632857" y="442396"/>
                </a:lnTo>
                <a:lnTo>
                  <a:pt x="672422" y="419906"/>
                </a:lnTo>
                <a:lnTo>
                  <a:pt x="713819" y="400460"/>
                </a:lnTo>
                <a:lnTo>
                  <a:pt x="756896" y="384211"/>
                </a:lnTo>
                <a:lnTo>
                  <a:pt x="801502" y="371309"/>
                </a:lnTo>
                <a:lnTo>
                  <a:pt x="847485" y="361906"/>
                </a:lnTo>
                <a:lnTo>
                  <a:pt x="894693" y="356154"/>
                </a:lnTo>
                <a:lnTo>
                  <a:pt x="942975" y="354203"/>
                </a:lnTo>
                <a:lnTo>
                  <a:pt x="991273" y="356154"/>
                </a:lnTo>
                <a:lnTo>
                  <a:pt x="1038495" y="361906"/>
                </a:lnTo>
                <a:lnTo>
                  <a:pt x="1084488" y="371309"/>
                </a:lnTo>
                <a:lnTo>
                  <a:pt x="1129102" y="384211"/>
                </a:lnTo>
                <a:lnTo>
                  <a:pt x="1172184" y="400460"/>
                </a:lnTo>
                <a:lnTo>
                  <a:pt x="1213583" y="419906"/>
                </a:lnTo>
                <a:lnTo>
                  <a:pt x="1253149" y="442396"/>
                </a:lnTo>
                <a:lnTo>
                  <a:pt x="1290729" y="467779"/>
                </a:lnTo>
                <a:lnTo>
                  <a:pt x="1326173" y="495905"/>
                </a:lnTo>
                <a:lnTo>
                  <a:pt x="1359328" y="526621"/>
                </a:lnTo>
                <a:lnTo>
                  <a:pt x="1390044" y="559776"/>
                </a:lnTo>
                <a:lnTo>
                  <a:pt x="1418170" y="595220"/>
                </a:lnTo>
                <a:lnTo>
                  <a:pt x="1443553" y="632800"/>
                </a:lnTo>
                <a:lnTo>
                  <a:pt x="1466043" y="672366"/>
                </a:lnTo>
                <a:lnTo>
                  <a:pt x="1485489" y="713765"/>
                </a:lnTo>
                <a:lnTo>
                  <a:pt x="1501738" y="756847"/>
                </a:lnTo>
                <a:lnTo>
                  <a:pt x="1514640" y="801461"/>
                </a:lnTo>
                <a:lnTo>
                  <a:pt x="1524043" y="847454"/>
                </a:lnTo>
                <a:lnTo>
                  <a:pt x="1529795" y="894676"/>
                </a:lnTo>
                <a:lnTo>
                  <a:pt x="1531747" y="942975"/>
                </a:lnTo>
                <a:lnTo>
                  <a:pt x="1529795" y="991258"/>
                </a:lnTo>
                <a:lnTo>
                  <a:pt x="1524043" y="1038467"/>
                </a:lnTo>
                <a:lnTo>
                  <a:pt x="1514640" y="1084450"/>
                </a:lnTo>
                <a:lnTo>
                  <a:pt x="1501738" y="1129055"/>
                </a:lnTo>
                <a:lnTo>
                  <a:pt x="1485489" y="1172132"/>
                </a:lnTo>
                <a:lnTo>
                  <a:pt x="1466043" y="1213527"/>
                </a:lnTo>
                <a:lnTo>
                  <a:pt x="1443553" y="1253091"/>
                </a:lnTo>
                <a:lnTo>
                  <a:pt x="1418170" y="1290671"/>
                </a:lnTo>
                <a:lnTo>
                  <a:pt x="1390044" y="1326115"/>
                </a:lnTo>
                <a:lnTo>
                  <a:pt x="1359328" y="1359273"/>
                </a:lnTo>
                <a:lnTo>
                  <a:pt x="1326173" y="1389992"/>
                </a:lnTo>
                <a:lnTo>
                  <a:pt x="1290729" y="1418121"/>
                </a:lnTo>
                <a:lnTo>
                  <a:pt x="1253149" y="1443508"/>
                </a:lnTo>
                <a:lnTo>
                  <a:pt x="1213583" y="1466002"/>
                </a:lnTo>
                <a:lnTo>
                  <a:pt x="1172184" y="1485451"/>
                </a:lnTo>
                <a:lnTo>
                  <a:pt x="1129102" y="1501704"/>
                </a:lnTo>
                <a:lnTo>
                  <a:pt x="1084488" y="1514609"/>
                </a:lnTo>
                <a:lnTo>
                  <a:pt x="1038495" y="1524015"/>
                </a:lnTo>
                <a:lnTo>
                  <a:pt x="991273" y="1529769"/>
                </a:lnTo>
                <a:lnTo>
                  <a:pt x="942975" y="1531721"/>
                </a:lnTo>
                <a:lnTo>
                  <a:pt x="894693" y="1529769"/>
                </a:lnTo>
                <a:lnTo>
                  <a:pt x="847485" y="1524015"/>
                </a:lnTo>
                <a:lnTo>
                  <a:pt x="801502" y="1514609"/>
                </a:lnTo>
                <a:lnTo>
                  <a:pt x="756896" y="1501704"/>
                </a:lnTo>
                <a:lnTo>
                  <a:pt x="713819" y="1485451"/>
                </a:lnTo>
                <a:lnTo>
                  <a:pt x="672422" y="1466002"/>
                </a:lnTo>
                <a:lnTo>
                  <a:pt x="632857" y="1443508"/>
                </a:lnTo>
                <a:lnTo>
                  <a:pt x="595275" y="1418121"/>
                </a:lnTo>
                <a:lnTo>
                  <a:pt x="559828" y="1389992"/>
                </a:lnTo>
                <a:lnTo>
                  <a:pt x="526668" y="1359273"/>
                </a:lnTo>
                <a:lnTo>
                  <a:pt x="495947" y="1326115"/>
                </a:lnTo>
                <a:lnTo>
                  <a:pt x="467816" y="1290671"/>
                </a:lnTo>
                <a:lnTo>
                  <a:pt x="442426" y="1253091"/>
                </a:lnTo>
                <a:lnTo>
                  <a:pt x="419930" y="1213527"/>
                </a:lnTo>
                <a:lnTo>
                  <a:pt x="400478" y="1172132"/>
                </a:lnTo>
                <a:lnTo>
                  <a:pt x="384223" y="1129055"/>
                </a:lnTo>
                <a:lnTo>
                  <a:pt x="371317" y="1084450"/>
                </a:lnTo>
                <a:lnTo>
                  <a:pt x="361910" y="1038467"/>
                </a:lnTo>
                <a:lnTo>
                  <a:pt x="356155" y="991258"/>
                </a:lnTo>
                <a:lnTo>
                  <a:pt x="354202" y="942975"/>
                </a:lnTo>
                <a:close/>
              </a:path>
              <a:path w="1885950" h="1885950">
                <a:moveTo>
                  <a:pt x="184276" y="942975"/>
                </a:moveTo>
                <a:lnTo>
                  <a:pt x="185769" y="894984"/>
                </a:lnTo>
                <a:lnTo>
                  <a:pt x="190189" y="847789"/>
                </a:lnTo>
                <a:lnTo>
                  <a:pt x="197445" y="801476"/>
                </a:lnTo>
                <a:lnTo>
                  <a:pt x="207451" y="756136"/>
                </a:lnTo>
                <a:lnTo>
                  <a:pt x="220115" y="711856"/>
                </a:lnTo>
                <a:lnTo>
                  <a:pt x="235351" y="668726"/>
                </a:lnTo>
                <a:lnTo>
                  <a:pt x="253068" y="626835"/>
                </a:lnTo>
                <a:lnTo>
                  <a:pt x="273179" y="586270"/>
                </a:lnTo>
                <a:lnTo>
                  <a:pt x="295593" y="547122"/>
                </a:lnTo>
                <a:lnTo>
                  <a:pt x="320222" y="509478"/>
                </a:lnTo>
                <a:lnTo>
                  <a:pt x="346977" y="473428"/>
                </a:lnTo>
                <a:lnTo>
                  <a:pt x="375770" y="439060"/>
                </a:lnTo>
                <a:lnTo>
                  <a:pt x="406511" y="406463"/>
                </a:lnTo>
                <a:lnTo>
                  <a:pt x="439111" y="375726"/>
                </a:lnTo>
                <a:lnTo>
                  <a:pt x="473481" y="346938"/>
                </a:lnTo>
                <a:lnTo>
                  <a:pt x="509533" y="320187"/>
                </a:lnTo>
                <a:lnTo>
                  <a:pt x="547178" y="295563"/>
                </a:lnTo>
                <a:lnTo>
                  <a:pt x="586326" y="273154"/>
                </a:lnTo>
                <a:lnTo>
                  <a:pt x="626889" y="253048"/>
                </a:lnTo>
                <a:lnTo>
                  <a:pt x="668778" y="235335"/>
                </a:lnTo>
                <a:lnTo>
                  <a:pt x="711904" y="220104"/>
                </a:lnTo>
                <a:lnTo>
                  <a:pt x="756178" y="207443"/>
                </a:lnTo>
                <a:lnTo>
                  <a:pt x="801511" y="197441"/>
                </a:lnTo>
                <a:lnTo>
                  <a:pt x="847814" y="190186"/>
                </a:lnTo>
                <a:lnTo>
                  <a:pt x="894998" y="185769"/>
                </a:lnTo>
                <a:lnTo>
                  <a:pt x="942975" y="184277"/>
                </a:lnTo>
                <a:lnTo>
                  <a:pt x="990965" y="185769"/>
                </a:lnTo>
                <a:lnTo>
                  <a:pt x="1038162" y="190186"/>
                </a:lnTo>
                <a:lnTo>
                  <a:pt x="1084477" y="197441"/>
                </a:lnTo>
                <a:lnTo>
                  <a:pt x="1129821" y="207443"/>
                </a:lnTo>
                <a:lnTo>
                  <a:pt x="1174105" y="220104"/>
                </a:lnTo>
                <a:lnTo>
                  <a:pt x="1217240" y="235335"/>
                </a:lnTo>
                <a:lnTo>
                  <a:pt x="1259137" y="253048"/>
                </a:lnTo>
                <a:lnTo>
                  <a:pt x="1299707" y="273154"/>
                </a:lnTo>
                <a:lnTo>
                  <a:pt x="1338862" y="295563"/>
                </a:lnTo>
                <a:lnTo>
                  <a:pt x="1376513" y="320187"/>
                </a:lnTo>
                <a:lnTo>
                  <a:pt x="1412570" y="346938"/>
                </a:lnTo>
                <a:lnTo>
                  <a:pt x="1446945" y="375726"/>
                </a:lnTo>
                <a:lnTo>
                  <a:pt x="1479550" y="406463"/>
                </a:lnTo>
                <a:lnTo>
                  <a:pt x="1510294" y="439060"/>
                </a:lnTo>
                <a:lnTo>
                  <a:pt x="1539089" y="473428"/>
                </a:lnTo>
                <a:lnTo>
                  <a:pt x="1565847" y="509478"/>
                </a:lnTo>
                <a:lnTo>
                  <a:pt x="1590478" y="547122"/>
                </a:lnTo>
                <a:lnTo>
                  <a:pt x="1612894" y="586270"/>
                </a:lnTo>
                <a:lnTo>
                  <a:pt x="1633005" y="626835"/>
                </a:lnTo>
                <a:lnTo>
                  <a:pt x="1650723" y="668726"/>
                </a:lnTo>
                <a:lnTo>
                  <a:pt x="1665960" y="711856"/>
                </a:lnTo>
                <a:lnTo>
                  <a:pt x="1678625" y="756136"/>
                </a:lnTo>
                <a:lnTo>
                  <a:pt x="1688631" y="801476"/>
                </a:lnTo>
                <a:lnTo>
                  <a:pt x="1695887" y="847789"/>
                </a:lnTo>
                <a:lnTo>
                  <a:pt x="1700307" y="894984"/>
                </a:lnTo>
                <a:lnTo>
                  <a:pt x="1701800" y="942975"/>
                </a:lnTo>
                <a:lnTo>
                  <a:pt x="1700307" y="990958"/>
                </a:lnTo>
                <a:lnTo>
                  <a:pt x="1695887" y="1038149"/>
                </a:lnTo>
                <a:lnTo>
                  <a:pt x="1688631" y="1084457"/>
                </a:lnTo>
                <a:lnTo>
                  <a:pt x="1678625" y="1129795"/>
                </a:lnTo>
                <a:lnTo>
                  <a:pt x="1665960" y="1174074"/>
                </a:lnTo>
                <a:lnTo>
                  <a:pt x="1650723" y="1217204"/>
                </a:lnTo>
                <a:lnTo>
                  <a:pt x="1633005" y="1259096"/>
                </a:lnTo>
                <a:lnTo>
                  <a:pt x="1612894" y="1299662"/>
                </a:lnTo>
                <a:lnTo>
                  <a:pt x="1590478" y="1338813"/>
                </a:lnTo>
                <a:lnTo>
                  <a:pt x="1565847" y="1376460"/>
                </a:lnTo>
                <a:lnTo>
                  <a:pt x="1539089" y="1412514"/>
                </a:lnTo>
                <a:lnTo>
                  <a:pt x="1510294" y="1446886"/>
                </a:lnTo>
                <a:lnTo>
                  <a:pt x="1479549" y="1479488"/>
                </a:lnTo>
                <a:lnTo>
                  <a:pt x="1446945" y="1510229"/>
                </a:lnTo>
                <a:lnTo>
                  <a:pt x="1412570" y="1539023"/>
                </a:lnTo>
                <a:lnTo>
                  <a:pt x="1376513" y="1565778"/>
                </a:lnTo>
                <a:lnTo>
                  <a:pt x="1338862" y="1590408"/>
                </a:lnTo>
                <a:lnTo>
                  <a:pt x="1299707" y="1612822"/>
                </a:lnTo>
                <a:lnTo>
                  <a:pt x="1259137" y="1632932"/>
                </a:lnTo>
                <a:lnTo>
                  <a:pt x="1217240" y="1650650"/>
                </a:lnTo>
                <a:lnTo>
                  <a:pt x="1174105" y="1665885"/>
                </a:lnTo>
                <a:lnTo>
                  <a:pt x="1129821" y="1678550"/>
                </a:lnTo>
                <a:lnTo>
                  <a:pt x="1084477" y="1688555"/>
                </a:lnTo>
                <a:lnTo>
                  <a:pt x="1038162" y="1695811"/>
                </a:lnTo>
                <a:lnTo>
                  <a:pt x="990965" y="1700231"/>
                </a:lnTo>
                <a:lnTo>
                  <a:pt x="942975" y="1701723"/>
                </a:lnTo>
                <a:lnTo>
                  <a:pt x="894998" y="1700231"/>
                </a:lnTo>
                <a:lnTo>
                  <a:pt x="847814" y="1695811"/>
                </a:lnTo>
                <a:lnTo>
                  <a:pt x="801511" y="1688555"/>
                </a:lnTo>
                <a:lnTo>
                  <a:pt x="756178" y="1678550"/>
                </a:lnTo>
                <a:lnTo>
                  <a:pt x="711904" y="1665885"/>
                </a:lnTo>
                <a:lnTo>
                  <a:pt x="668778" y="1650650"/>
                </a:lnTo>
                <a:lnTo>
                  <a:pt x="626889" y="1632932"/>
                </a:lnTo>
                <a:lnTo>
                  <a:pt x="586326" y="1612822"/>
                </a:lnTo>
                <a:lnTo>
                  <a:pt x="547178" y="1590408"/>
                </a:lnTo>
                <a:lnTo>
                  <a:pt x="509533" y="1565778"/>
                </a:lnTo>
                <a:lnTo>
                  <a:pt x="473481" y="1539023"/>
                </a:lnTo>
                <a:lnTo>
                  <a:pt x="439111" y="1510229"/>
                </a:lnTo>
                <a:lnTo>
                  <a:pt x="406511" y="1479488"/>
                </a:lnTo>
                <a:lnTo>
                  <a:pt x="375770" y="1446886"/>
                </a:lnTo>
                <a:lnTo>
                  <a:pt x="346977" y="1412514"/>
                </a:lnTo>
                <a:lnTo>
                  <a:pt x="320222" y="1376460"/>
                </a:lnTo>
                <a:lnTo>
                  <a:pt x="295593" y="1338813"/>
                </a:lnTo>
                <a:lnTo>
                  <a:pt x="273179" y="1299662"/>
                </a:lnTo>
                <a:lnTo>
                  <a:pt x="253068" y="1259096"/>
                </a:lnTo>
                <a:lnTo>
                  <a:pt x="235351" y="1217204"/>
                </a:lnTo>
                <a:lnTo>
                  <a:pt x="220115" y="1174074"/>
                </a:lnTo>
                <a:lnTo>
                  <a:pt x="207451" y="1129795"/>
                </a:lnTo>
                <a:lnTo>
                  <a:pt x="197445" y="1084457"/>
                </a:lnTo>
                <a:lnTo>
                  <a:pt x="190189" y="1038149"/>
                </a:lnTo>
                <a:lnTo>
                  <a:pt x="185769" y="990958"/>
                </a:lnTo>
                <a:lnTo>
                  <a:pt x="184276" y="942975"/>
                </a:lnTo>
                <a:close/>
              </a:path>
              <a:path w="1885950" h="1885950">
                <a:moveTo>
                  <a:pt x="0" y="942975"/>
                </a:moveTo>
                <a:lnTo>
                  <a:pt x="1227" y="894446"/>
                </a:lnTo>
                <a:lnTo>
                  <a:pt x="4869" y="846555"/>
                </a:lnTo>
                <a:lnTo>
                  <a:pt x="10867" y="799360"/>
                </a:lnTo>
                <a:lnTo>
                  <a:pt x="19161" y="752922"/>
                </a:lnTo>
                <a:lnTo>
                  <a:pt x="29692" y="707298"/>
                </a:lnTo>
                <a:lnTo>
                  <a:pt x="42402" y="662549"/>
                </a:lnTo>
                <a:lnTo>
                  <a:pt x="57229" y="618734"/>
                </a:lnTo>
                <a:lnTo>
                  <a:pt x="74116" y="575911"/>
                </a:lnTo>
                <a:lnTo>
                  <a:pt x="93003" y="534140"/>
                </a:lnTo>
                <a:lnTo>
                  <a:pt x="113830" y="493481"/>
                </a:lnTo>
                <a:lnTo>
                  <a:pt x="136538" y="453992"/>
                </a:lnTo>
                <a:lnTo>
                  <a:pt x="161069" y="415732"/>
                </a:lnTo>
                <a:lnTo>
                  <a:pt x="187362" y="378762"/>
                </a:lnTo>
                <a:lnTo>
                  <a:pt x="215358" y="343140"/>
                </a:lnTo>
                <a:lnTo>
                  <a:pt x="244999" y="308925"/>
                </a:lnTo>
                <a:lnTo>
                  <a:pt x="276225" y="276177"/>
                </a:lnTo>
                <a:lnTo>
                  <a:pt x="308975" y="244955"/>
                </a:lnTo>
                <a:lnTo>
                  <a:pt x="343193" y="215317"/>
                </a:lnTo>
                <a:lnTo>
                  <a:pt x="378816" y="187325"/>
                </a:lnTo>
                <a:lnTo>
                  <a:pt x="415788" y="161035"/>
                </a:lnTo>
                <a:lnTo>
                  <a:pt x="454048" y="136509"/>
                </a:lnTo>
                <a:lnTo>
                  <a:pt x="493537" y="113804"/>
                </a:lnTo>
                <a:lnTo>
                  <a:pt x="534195" y="92981"/>
                </a:lnTo>
                <a:lnTo>
                  <a:pt x="575964" y="74098"/>
                </a:lnTo>
                <a:lnTo>
                  <a:pt x="618784" y="57215"/>
                </a:lnTo>
                <a:lnTo>
                  <a:pt x="662596" y="42391"/>
                </a:lnTo>
                <a:lnTo>
                  <a:pt x="707341" y="29685"/>
                </a:lnTo>
                <a:lnTo>
                  <a:pt x="752958" y="19156"/>
                </a:lnTo>
                <a:lnTo>
                  <a:pt x="799390" y="10864"/>
                </a:lnTo>
                <a:lnTo>
                  <a:pt x="846576" y="4868"/>
                </a:lnTo>
                <a:lnTo>
                  <a:pt x="894457" y="1226"/>
                </a:lnTo>
                <a:lnTo>
                  <a:pt x="942975" y="0"/>
                </a:lnTo>
                <a:lnTo>
                  <a:pt x="991503" y="1226"/>
                </a:lnTo>
                <a:lnTo>
                  <a:pt x="1039394" y="4868"/>
                </a:lnTo>
                <a:lnTo>
                  <a:pt x="1086589" y="10864"/>
                </a:lnTo>
                <a:lnTo>
                  <a:pt x="1133027" y="19156"/>
                </a:lnTo>
                <a:lnTo>
                  <a:pt x="1178651" y="29685"/>
                </a:lnTo>
                <a:lnTo>
                  <a:pt x="1223400" y="42391"/>
                </a:lnTo>
                <a:lnTo>
                  <a:pt x="1267215" y="57215"/>
                </a:lnTo>
                <a:lnTo>
                  <a:pt x="1310038" y="74098"/>
                </a:lnTo>
                <a:lnTo>
                  <a:pt x="1351809" y="92981"/>
                </a:lnTo>
                <a:lnTo>
                  <a:pt x="1392468" y="113804"/>
                </a:lnTo>
                <a:lnTo>
                  <a:pt x="1431957" y="136509"/>
                </a:lnTo>
                <a:lnTo>
                  <a:pt x="1470217" y="161035"/>
                </a:lnTo>
                <a:lnTo>
                  <a:pt x="1507187" y="187325"/>
                </a:lnTo>
                <a:lnTo>
                  <a:pt x="1542809" y="215317"/>
                </a:lnTo>
                <a:lnTo>
                  <a:pt x="1577024" y="244955"/>
                </a:lnTo>
                <a:lnTo>
                  <a:pt x="1609772" y="276177"/>
                </a:lnTo>
                <a:lnTo>
                  <a:pt x="1640994" y="308925"/>
                </a:lnTo>
                <a:lnTo>
                  <a:pt x="1670632" y="343140"/>
                </a:lnTo>
                <a:lnTo>
                  <a:pt x="1698624" y="378762"/>
                </a:lnTo>
                <a:lnTo>
                  <a:pt x="1724914" y="415732"/>
                </a:lnTo>
                <a:lnTo>
                  <a:pt x="1749440" y="453992"/>
                </a:lnTo>
                <a:lnTo>
                  <a:pt x="1772145" y="493481"/>
                </a:lnTo>
                <a:lnTo>
                  <a:pt x="1792968" y="534140"/>
                </a:lnTo>
                <a:lnTo>
                  <a:pt x="1811851" y="575911"/>
                </a:lnTo>
                <a:lnTo>
                  <a:pt x="1828734" y="618734"/>
                </a:lnTo>
                <a:lnTo>
                  <a:pt x="1843558" y="662549"/>
                </a:lnTo>
                <a:lnTo>
                  <a:pt x="1856264" y="707298"/>
                </a:lnTo>
                <a:lnTo>
                  <a:pt x="1866793" y="752922"/>
                </a:lnTo>
                <a:lnTo>
                  <a:pt x="1875085" y="799360"/>
                </a:lnTo>
                <a:lnTo>
                  <a:pt x="1881081" y="846555"/>
                </a:lnTo>
                <a:lnTo>
                  <a:pt x="1884723" y="894446"/>
                </a:lnTo>
                <a:lnTo>
                  <a:pt x="1885950" y="942975"/>
                </a:lnTo>
                <a:lnTo>
                  <a:pt x="1884723" y="991496"/>
                </a:lnTo>
                <a:lnTo>
                  <a:pt x="1881081" y="1039381"/>
                </a:lnTo>
                <a:lnTo>
                  <a:pt x="1875085" y="1086570"/>
                </a:lnTo>
                <a:lnTo>
                  <a:pt x="1866793" y="1133004"/>
                </a:lnTo>
                <a:lnTo>
                  <a:pt x="1856264" y="1178623"/>
                </a:lnTo>
                <a:lnTo>
                  <a:pt x="1843558" y="1223368"/>
                </a:lnTo>
                <a:lnTo>
                  <a:pt x="1828734" y="1267180"/>
                </a:lnTo>
                <a:lnTo>
                  <a:pt x="1811851" y="1310000"/>
                </a:lnTo>
                <a:lnTo>
                  <a:pt x="1792968" y="1351768"/>
                </a:lnTo>
                <a:lnTo>
                  <a:pt x="1772145" y="1392426"/>
                </a:lnTo>
                <a:lnTo>
                  <a:pt x="1749440" y="1431913"/>
                </a:lnTo>
                <a:lnTo>
                  <a:pt x="1724914" y="1470171"/>
                </a:lnTo>
                <a:lnTo>
                  <a:pt x="1698624" y="1507141"/>
                </a:lnTo>
                <a:lnTo>
                  <a:pt x="1670632" y="1542762"/>
                </a:lnTo>
                <a:lnTo>
                  <a:pt x="1640994" y="1576976"/>
                </a:lnTo>
                <a:lnTo>
                  <a:pt x="1609772" y="1609725"/>
                </a:lnTo>
                <a:lnTo>
                  <a:pt x="1577024" y="1640947"/>
                </a:lnTo>
                <a:lnTo>
                  <a:pt x="1542809" y="1670584"/>
                </a:lnTo>
                <a:lnTo>
                  <a:pt x="1507187" y="1698578"/>
                </a:lnTo>
                <a:lnTo>
                  <a:pt x="1470217" y="1724868"/>
                </a:lnTo>
                <a:lnTo>
                  <a:pt x="1431957" y="1749395"/>
                </a:lnTo>
                <a:lnTo>
                  <a:pt x="1392468" y="1772100"/>
                </a:lnTo>
                <a:lnTo>
                  <a:pt x="1351809" y="1792924"/>
                </a:lnTo>
                <a:lnTo>
                  <a:pt x="1310038" y="1811808"/>
                </a:lnTo>
                <a:lnTo>
                  <a:pt x="1267215" y="1828692"/>
                </a:lnTo>
                <a:lnTo>
                  <a:pt x="1223400" y="1843517"/>
                </a:lnTo>
                <a:lnTo>
                  <a:pt x="1178651" y="1856224"/>
                </a:lnTo>
                <a:lnTo>
                  <a:pt x="1133027" y="1866753"/>
                </a:lnTo>
                <a:lnTo>
                  <a:pt x="1086589" y="1875046"/>
                </a:lnTo>
                <a:lnTo>
                  <a:pt x="1039394" y="1881043"/>
                </a:lnTo>
                <a:lnTo>
                  <a:pt x="991503" y="1884684"/>
                </a:lnTo>
                <a:lnTo>
                  <a:pt x="942975" y="1885911"/>
                </a:lnTo>
                <a:lnTo>
                  <a:pt x="894457" y="1884684"/>
                </a:lnTo>
                <a:lnTo>
                  <a:pt x="846576" y="1881043"/>
                </a:lnTo>
                <a:lnTo>
                  <a:pt x="799390" y="1875046"/>
                </a:lnTo>
                <a:lnTo>
                  <a:pt x="752958" y="1866753"/>
                </a:lnTo>
                <a:lnTo>
                  <a:pt x="707341" y="1856224"/>
                </a:lnTo>
                <a:lnTo>
                  <a:pt x="662596" y="1843517"/>
                </a:lnTo>
                <a:lnTo>
                  <a:pt x="618784" y="1828692"/>
                </a:lnTo>
                <a:lnTo>
                  <a:pt x="575964" y="1811808"/>
                </a:lnTo>
                <a:lnTo>
                  <a:pt x="534195" y="1792924"/>
                </a:lnTo>
                <a:lnTo>
                  <a:pt x="493537" y="1772100"/>
                </a:lnTo>
                <a:lnTo>
                  <a:pt x="454048" y="1749395"/>
                </a:lnTo>
                <a:lnTo>
                  <a:pt x="415788" y="1724868"/>
                </a:lnTo>
                <a:lnTo>
                  <a:pt x="378816" y="1698578"/>
                </a:lnTo>
                <a:lnTo>
                  <a:pt x="343193" y="1670584"/>
                </a:lnTo>
                <a:lnTo>
                  <a:pt x="308975" y="1640947"/>
                </a:lnTo>
                <a:lnTo>
                  <a:pt x="276225" y="1609725"/>
                </a:lnTo>
                <a:lnTo>
                  <a:pt x="244999" y="1576976"/>
                </a:lnTo>
                <a:lnTo>
                  <a:pt x="215358" y="1542762"/>
                </a:lnTo>
                <a:lnTo>
                  <a:pt x="187362" y="1507141"/>
                </a:lnTo>
                <a:lnTo>
                  <a:pt x="161069" y="1470171"/>
                </a:lnTo>
                <a:lnTo>
                  <a:pt x="136538" y="1431913"/>
                </a:lnTo>
                <a:lnTo>
                  <a:pt x="113830" y="1392426"/>
                </a:lnTo>
                <a:lnTo>
                  <a:pt x="93003" y="1351768"/>
                </a:lnTo>
                <a:lnTo>
                  <a:pt x="74116" y="1310000"/>
                </a:lnTo>
                <a:lnTo>
                  <a:pt x="57229" y="1267180"/>
                </a:lnTo>
                <a:lnTo>
                  <a:pt x="42402" y="1223368"/>
                </a:lnTo>
                <a:lnTo>
                  <a:pt x="29692" y="1178623"/>
                </a:lnTo>
                <a:lnTo>
                  <a:pt x="19161" y="1133004"/>
                </a:lnTo>
                <a:lnTo>
                  <a:pt x="10867" y="1086570"/>
                </a:lnTo>
                <a:lnTo>
                  <a:pt x="4869" y="1039381"/>
                </a:lnTo>
                <a:lnTo>
                  <a:pt x="1227" y="991496"/>
                </a:lnTo>
                <a:lnTo>
                  <a:pt x="0" y="942975"/>
                </a:lnTo>
                <a:close/>
              </a:path>
            </a:pathLst>
          </a:custGeom>
          <a:ln w="19050">
            <a:solidFill>
              <a:srgbClr val="E7E6E6"/>
            </a:solidFill>
          </a:ln>
        </p:spPr>
        <p:txBody>
          <a:bodyPr wrap="square" lIns="0" tIns="0" rIns="0" bIns="0" rtlCol="0"/>
          <a:lstStyle/>
          <a:p>
            <a:endParaRPr/>
          </a:p>
        </p:txBody>
      </p:sp>
      <p:pic>
        <p:nvPicPr>
          <p:cNvPr id="20" name="bg object 20"/>
          <p:cNvPicPr/>
          <p:nvPr/>
        </p:nvPicPr>
        <p:blipFill>
          <a:blip r:embed="rId2" cstate="print"/>
          <a:stretch>
            <a:fillRect/>
          </a:stretch>
        </p:blipFill>
        <p:spPr>
          <a:xfrm>
            <a:off x="1604391" y="6978421"/>
            <a:ext cx="237616" cy="238556"/>
          </a:xfrm>
          <a:prstGeom prst="rect">
            <a:avLst/>
          </a:prstGeom>
        </p:spPr>
      </p:pic>
      <p:pic>
        <p:nvPicPr>
          <p:cNvPr id="21" name="bg object 21"/>
          <p:cNvPicPr/>
          <p:nvPr/>
        </p:nvPicPr>
        <p:blipFill>
          <a:blip r:embed="rId3" cstate="print"/>
          <a:stretch>
            <a:fillRect/>
          </a:stretch>
        </p:blipFill>
        <p:spPr>
          <a:xfrm>
            <a:off x="1209916" y="6978421"/>
            <a:ext cx="237629" cy="238556"/>
          </a:xfrm>
          <a:prstGeom prst="rect">
            <a:avLst/>
          </a:prstGeom>
        </p:spPr>
      </p:pic>
      <p:pic>
        <p:nvPicPr>
          <p:cNvPr id="22" name="bg object 22"/>
          <p:cNvPicPr/>
          <p:nvPr/>
        </p:nvPicPr>
        <p:blipFill>
          <a:blip r:embed="rId4" cstate="print"/>
          <a:stretch>
            <a:fillRect/>
          </a:stretch>
        </p:blipFill>
        <p:spPr>
          <a:xfrm>
            <a:off x="1999488" y="6978421"/>
            <a:ext cx="237617" cy="238556"/>
          </a:xfrm>
          <a:prstGeom prst="rect">
            <a:avLst/>
          </a:prstGeom>
        </p:spPr>
      </p:pic>
      <p:pic>
        <p:nvPicPr>
          <p:cNvPr id="23" name="bg object 23"/>
          <p:cNvPicPr/>
          <p:nvPr/>
        </p:nvPicPr>
        <p:blipFill>
          <a:blip r:embed="rId4" cstate="print"/>
          <a:stretch>
            <a:fillRect/>
          </a:stretch>
        </p:blipFill>
        <p:spPr>
          <a:xfrm>
            <a:off x="2394585" y="6978421"/>
            <a:ext cx="237616" cy="238556"/>
          </a:xfrm>
          <a:prstGeom prst="rect">
            <a:avLst/>
          </a:prstGeom>
        </p:spPr>
      </p:pic>
      <p:pic>
        <p:nvPicPr>
          <p:cNvPr id="24" name="bg object 24"/>
          <p:cNvPicPr/>
          <p:nvPr/>
        </p:nvPicPr>
        <p:blipFill>
          <a:blip r:embed="rId5" cstate="print"/>
          <a:stretch>
            <a:fillRect/>
          </a:stretch>
        </p:blipFill>
        <p:spPr>
          <a:xfrm>
            <a:off x="814781" y="6978421"/>
            <a:ext cx="237604" cy="238556"/>
          </a:xfrm>
          <a:prstGeom prst="rect">
            <a:avLst/>
          </a:prstGeom>
        </p:spPr>
      </p:pic>
      <p:pic>
        <p:nvPicPr>
          <p:cNvPr id="25" name="bg object 25"/>
          <p:cNvPicPr/>
          <p:nvPr/>
        </p:nvPicPr>
        <p:blipFill>
          <a:blip r:embed="rId2" cstate="print"/>
          <a:stretch>
            <a:fillRect/>
          </a:stretch>
        </p:blipFill>
        <p:spPr>
          <a:xfrm>
            <a:off x="1604391" y="7515859"/>
            <a:ext cx="237616" cy="238556"/>
          </a:xfrm>
          <a:prstGeom prst="rect">
            <a:avLst/>
          </a:prstGeom>
        </p:spPr>
      </p:pic>
      <p:pic>
        <p:nvPicPr>
          <p:cNvPr id="26" name="bg object 26"/>
          <p:cNvPicPr/>
          <p:nvPr/>
        </p:nvPicPr>
        <p:blipFill>
          <a:blip r:embed="rId4" cstate="print"/>
          <a:stretch>
            <a:fillRect/>
          </a:stretch>
        </p:blipFill>
        <p:spPr>
          <a:xfrm>
            <a:off x="1999488" y="7515859"/>
            <a:ext cx="237617" cy="238556"/>
          </a:xfrm>
          <a:prstGeom prst="rect">
            <a:avLst/>
          </a:prstGeom>
        </p:spPr>
      </p:pic>
      <p:pic>
        <p:nvPicPr>
          <p:cNvPr id="27" name="bg object 27"/>
          <p:cNvPicPr/>
          <p:nvPr/>
        </p:nvPicPr>
        <p:blipFill>
          <a:blip r:embed="rId3" cstate="print"/>
          <a:stretch>
            <a:fillRect/>
          </a:stretch>
        </p:blipFill>
        <p:spPr>
          <a:xfrm>
            <a:off x="1209916" y="7515859"/>
            <a:ext cx="237629" cy="238556"/>
          </a:xfrm>
          <a:prstGeom prst="rect">
            <a:avLst/>
          </a:prstGeom>
        </p:spPr>
      </p:pic>
      <p:pic>
        <p:nvPicPr>
          <p:cNvPr id="28" name="bg object 28"/>
          <p:cNvPicPr/>
          <p:nvPr/>
        </p:nvPicPr>
        <p:blipFill>
          <a:blip r:embed="rId4" cstate="print"/>
          <a:stretch>
            <a:fillRect/>
          </a:stretch>
        </p:blipFill>
        <p:spPr>
          <a:xfrm>
            <a:off x="2394585" y="7515859"/>
            <a:ext cx="237616" cy="238556"/>
          </a:xfrm>
          <a:prstGeom prst="rect">
            <a:avLst/>
          </a:prstGeom>
        </p:spPr>
      </p:pic>
      <p:pic>
        <p:nvPicPr>
          <p:cNvPr id="29" name="bg object 29"/>
          <p:cNvPicPr/>
          <p:nvPr/>
        </p:nvPicPr>
        <p:blipFill>
          <a:blip r:embed="rId5" cstate="print"/>
          <a:stretch>
            <a:fillRect/>
          </a:stretch>
        </p:blipFill>
        <p:spPr>
          <a:xfrm>
            <a:off x="814781" y="7515859"/>
            <a:ext cx="237604" cy="238556"/>
          </a:xfrm>
          <a:prstGeom prst="rect">
            <a:avLst/>
          </a:prstGeom>
        </p:spPr>
      </p:pic>
      <p:sp>
        <p:nvSpPr>
          <p:cNvPr id="30" name="bg object 30"/>
          <p:cNvSpPr/>
          <p:nvPr/>
        </p:nvSpPr>
        <p:spPr>
          <a:xfrm>
            <a:off x="0" y="507"/>
            <a:ext cx="2316480" cy="2317115"/>
          </a:xfrm>
          <a:custGeom>
            <a:avLst/>
            <a:gdLst/>
            <a:ahLst/>
            <a:cxnLst/>
            <a:rect l="l" t="t" r="r" b="b"/>
            <a:pathLst>
              <a:path w="2316480" h="2317115">
                <a:moveTo>
                  <a:pt x="2316479" y="0"/>
                </a:moveTo>
                <a:lnTo>
                  <a:pt x="0" y="0"/>
                </a:lnTo>
                <a:lnTo>
                  <a:pt x="0" y="2316531"/>
                </a:lnTo>
                <a:lnTo>
                  <a:pt x="2316479" y="0"/>
                </a:lnTo>
                <a:close/>
              </a:path>
            </a:pathLst>
          </a:custGeom>
          <a:solidFill>
            <a:srgbClr val="000000"/>
          </a:solidFill>
        </p:spPr>
        <p:txBody>
          <a:bodyPr wrap="square" lIns="0" tIns="0" rIns="0" bIns="0" rtlCol="0"/>
          <a:lstStyle/>
          <a:p>
            <a:endParaRPr/>
          </a:p>
        </p:txBody>
      </p:sp>
      <p:sp>
        <p:nvSpPr>
          <p:cNvPr id="31" name="bg object 31"/>
          <p:cNvSpPr/>
          <p:nvPr/>
        </p:nvSpPr>
        <p:spPr>
          <a:xfrm>
            <a:off x="12533756" y="0"/>
            <a:ext cx="2096770" cy="1612265"/>
          </a:xfrm>
          <a:custGeom>
            <a:avLst/>
            <a:gdLst/>
            <a:ahLst/>
            <a:cxnLst/>
            <a:rect l="l" t="t" r="r" b="b"/>
            <a:pathLst>
              <a:path w="2096769" h="1612265">
                <a:moveTo>
                  <a:pt x="2096643" y="0"/>
                </a:moveTo>
                <a:lnTo>
                  <a:pt x="805941" y="0"/>
                </a:lnTo>
                <a:lnTo>
                  <a:pt x="758584" y="1368"/>
                </a:lnTo>
                <a:lnTo>
                  <a:pt x="711947" y="5421"/>
                </a:lnTo>
                <a:lnTo>
                  <a:pt x="666107" y="12085"/>
                </a:lnTo>
                <a:lnTo>
                  <a:pt x="621138" y="21284"/>
                </a:lnTo>
                <a:lnTo>
                  <a:pt x="577118" y="32941"/>
                </a:lnTo>
                <a:lnTo>
                  <a:pt x="534120" y="46982"/>
                </a:lnTo>
                <a:lnTo>
                  <a:pt x="492222" y="63331"/>
                </a:lnTo>
                <a:lnTo>
                  <a:pt x="451497" y="81912"/>
                </a:lnTo>
                <a:lnTo>
                  <a:pt x="412023" y="102650"/>
                </a:lnTo>
                <a:lnTo>
                  <a:pt x="373874" y="125469"/>
                </a:lnTo>
                <a:lnTo>
                  <a:pt x="337126" y="150293"/>
                </a:lnTo>
                <a:lnTo>
                  <a:pt x="301855" y="177048"/>
                </a:lnTo>
                <a:lnTo>
                  <a:pt x="268136" y="205657"/>
                </a:lnTo>
                <a:lnTo>
                  <a:pt x="236045" y="236045"/>
                </a:lnTo>
                <a:lnTo>
                  <a:pt x="205657" y="268136"/>
                </a:lnTo>
                <a:lnTo>
                  <a:pt x="177048" y="301855"/>
                </a:lnTo>
                <a:lnTo>
                  <a:pt x="150293" y="337126"/>
                </a:lnTo>
                <a:lnTo>
                  <a:pt x="125469" y="373874"/>
                </a:lnTo>
                <a:lnTo>
                  <a:pt x="102650" y="412023"/>
                </a:lnTo>
                <a:lnTo>
                  <a:pt x="81912" y="451497"/>
                </a:lnTo>
                <a:lnTo>
                  <a:pt x="63331" y="492222"/>
                </a:lnTo>
                <a:lnTo>
                  <a:pt x="46982" y="534120"/>
                </a:lnTo>
                <a:lnTo>
                  <a:pt x="32941" y="577118"/>
                </a:lnTo>
                <a:lnTo>
                  <a:pt x="21284" y="621138"/>
                </a:lnTo>
                <a:lnTo>
                  <a:pt x="12085" y="666107"/>
                </a:lnTo>
                <a:lnTo>
                  <a:pt x="5421" y="711947"/>
                </a:lnTo>
                <a:lnTo>
                  <a:pt x="1368" y="758584"/>
                </a:lnTo>
                <a:lnTo>
                  <a:pt x="0" y="805942"/>
                </a:lnTo>
                <a:lnTo>
                  <a:pt x="0" y="1611883"/>
                </a:lnTo>
                <a:lnTo>
                  <a:pt x="1290701" y="1611883"/>
                </a:lnTo>
                <a:lnTo>
                  <a:pt x="1338058" y="1610515"/>
                </a:lnTo>
                <a:lnTo>
                  <a:pt x="1384695" y="1606462"/>
                </a:lnTo>
                <a:lnTo>
                  <a:pt x="1430535" y="1599798"/>
                </a:lnTo>
                <a:lnTo>
                  <a:pt x="1475504" y="1590599"/>
                </a:lnTo>
                <a:lnTo>
                  <a:pt x="1519524" y="1578942"/>
                </a:lnTo>
                <a:lnTo>
                  <a:pt x="1562522" y="1564901"/>
                </a:lnTo>
                <a:lnTo>
                  <a:pt x="1604420" y="1548552"/>
                </a:lnTo>
                <a:lnTo>
                  <a:pt x="1645145" y="1529971"/>
                </a:lnTo>
                <a:lnTo>
                  <a:pt x="1684619" y="1509233"/>
                </a:lnTo>
                <a:lnTo>
                  <a:pt x="1722768" y="1486414"/>
                </a:lnTo>
                <a:lnTo>
                  <a:pt x="1759516" y="1461590"/>
                </a:lnTo>
                <a:lnTo>
                  <a:pt x="1794787" y="1434835"/>
                </a:lnTo>
                <a:lnTo>
                  <a:pt x="1828506" y="1406226"/>
                </a:lnTo>
                <a:lnTo>
                  <a:pt x="1860597" y="1375838"/>
                </a:lnTo>
                <a:lnTo>
                  <a:pt x="1890985" y="1343747"/>
                </a:lnTo>
                <a:lnTo>
                  <a:pt x="1919594" y="1310028"/>
                </a:lnTo>
                <a:lnTo>
                  <a:pt x="1946349" y="1274757"/>
                </a:lnTo>
                <a:lnTo>
                  <a:pt x="1971173" y="1238009"/>
                </a:lnTo>
                <a:lnTo>
                  <a:pt x="1993992" y="1199860"/>
                </a:lnTo>
                <a:lnTo>
                  <a:pt x="2014730" y="1160386"/>
                </a:lnTo>
                <a:lnTo>
                  <a:pt x="2033311" y="1119661"/>
                </a:lnTo>
                <a:lnTo>
                  <a:pt x="2049660" y="1077763"/>
                </a:lnTo>
                <a:lnTo>
                  <a:pt x="2063701" y="1034765"/>
                </a:lnTo>
                <a:lnTo>
                  <a:pt x="2075358" y="990745"/>
                </a:lnTo>
                <a:lnTo>
                  <a:pt x="2084557" y="945776"/>
                </a:lnTo>
                <a:lnTo>
                  <a:pt x="2091221" y="899936"/>
                </a:lnTo>
                <a:lnTo>
                  <a:pt x="2095274" y="853299"/>
                </a:lnTo>
                <a:lnTo>
                  <a:pt x="2096643" y="805942"/>
                </a:lnTo>
                <a:lnTo>
                  <a:pt x="2096643" y="0"/>
                </a:lnTo>
                <a:close/>
              </a:path>
            </a:pathLst>
          </a:custGeom>
          <a:solidFill>
            <a:srgbClr val="E7E6E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5400" b="1" i="0">
                <a:solidFill>
                  <a:srgbClr val="252525"/>
                </a:solidFill>
                <a:latin typeface="Microsoft JhengHei"/>
                <a:cs typeface="Microsoft Jheng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4B7CA9D-3A57-4CC1-B380-5F51975DA5BB}" type="datetime1">
              <a:rPr lang="en-US" altLang="zh-TW" smtClean="0"/>
              <a:t>5/29/2025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38172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252525"/>
                </a:solidFill>
                <a:latin typeface="Microsoft JhengHei"/>
                <a:cs typeface="Microsoft JhengHei"/>
              </a:defRPr>
            </a:lvl1pPr>
          </a:lstStyle>
          <a:p>
            <a:endParaRPr/>
          </a:p>
        </p:txBody>
      </p:sp>
      <p:sp>
        <p:nvSpPr>
          <p:cNvPr id="3" name="Holder 3"/>
          <p:cNvSpPr>
            <a:spLocks noGrp="1"/>
          </p:cNvSpPr>
          <p:nvPr>
            <p:ph sz="half" idx="2"/>
          </p:nvPr>
        </p:nvSpPr>
        <p:spPr>
          <a:xfrm>
            <a:off x="731520" y="1892808"/>
            <a:ext cx="6364224" cy="543153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54315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CE7D36C-750F-46F4-B78F-172371AE01A4}" type="datetime1">
              <a:rPr lang="en-US" altLang="zh-TW" smtClean="0"/>
              <a:t>5/29/2025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extLst>
      <p:ext uri="{BB962C8B-B14F-4D97-AF65-F5344CB8AC3E}">
        <p14:creationId xmlns:p14="http://schemas.microsoft.com/office/powerpoint/2010/main" val="3499326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7920" y="1223680"/>
            <a:ext cx="7007520" cy="398784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8320"/>
            </a:lvl1pPr>
            <a:lvl2pPr lvl="1" algn="ctr">
              <a:spcBef>
                <a:spcPts val="0"/>
              </a:spcBef>
              <a:spcAft>
                <a:spcPts val="0"/>
              </a:spcAft>
              <a:buClr>
                <a:srgbClr val="191919"/>
              </a:buClr>
              <a:buSzPts val="5200"/>
              <a:buNone/>
              <a:defRPr sz="8320">
                <a:solidFill>
                  <a:srgbClr val="191919"/>
                </a:solidFill>
              </a:defRPr>
            </a:lvl2pPr>
            <a:lvl3pPr lvl="2" algn="ctr">
              <a:spcBef>
                <a:spcPts val="0"/>
              </a:spcBef>
              <a:spcAft>
                <a:spcPts val="0"/>
              </a:spcAft>
              <a:buClr>
                <a:srgbClr val="191919"/>
              </a:buClr>
              <a:buSzPts val="5200"/>
              <a:buNone/>
              <a:defRPr sz="8320">
                <a:solidFill>
                  <a:srgbClr val="191919"/>
                </a:solidFill>
              </a:defRPr>
            </a:lvl3pPr>
            <a:lvl4pPr lvl="3" algn="ctr">
              <a:spcBef>
                <a:spcPts val="0"/>
              </a:spcBef>
              <a:spcAft>
                <a:spcPts val="0"/>
              </a:spcAft>
              <a:buClr>
                <a:srgbClr val="191919"/>
              </a:buClr>
              <a:buSzPts val="5200"/>
              <a:buNone/>
              <a:defRPr sz="8320">
                <a:solidFill>
                  <a:srgbClr val="191919"/>
                </a:solidFill>
              </a:defRPr>
            </a:lvl4pPr>
            <a:lvl5pPr lvl="4" algn="ctr">
              <a:spcBef>
                <a:spcPts val="0"/>
              </a:spcBef>
              <a:spcAft>
                <a:spcPts val="0"/>
              </a:spcAft>
              <a:buClr>
                <a:srgbClr val="191919"/>
              </a:buClr>
              <a:buSzPts val="5200"/>
              <a:buNone/>
              <a:defRPr sz="8320">
                <a:solidFill>
                  <a:srgbClr val="191919"/>
                </a:solidFill>
              </a:defRPr>
            </a:lvl5pPr>
            <a:lvl6pPr lvl="5" algn="ctr">
              <a:spcBef>
                <a:spcPts val="0"/>
              </a:spcBef>
              <a:spcAft>
                <a:spcPts val="0"/>
              </a:spcAft>
              <a:buClr>
                <a:srgbClr val="191919"/>
              </a:buClr>
              <a:buSzPts val="5200"/>
              <a:buNone/>
              <a:defRPr sz="8320">
                <a:solidFill>
                  <a:srgbClr val="191919"/>
                </a:solidFill>
              </a:defRPr>
            </a:lvl6pPr>
            <a:lvl7pPr lvl="6" algn="ctr">
              <a:spcBef>
                <a:spcPts val="0"/>
              </a:spcBef>
              <a:spcAft>
                <a:spcPts val="0"/>
              </a:spcAft>
              <a:buClr>
                <a:srgbClr val="191919"/>
              </a:buClr>
              <a:buSzPts val="5200"/>
              <a:buNone/>
              <a:defRPr sz="8320">
                <a:solidFill>
                  <a:srgbClr val="191919"/>
                </a:solidFill>
              </a:defRPr>
            </a:lvl7pPr>
            <a:lvl8pPr lvl="7" algn="ctr">
              <a:spcBef>
                <a:spcPts val="0"/>
              </a:spcBef>
              <a:spcAft>
                <a:spcPts val="0"/>
              </a:spcAft>
              <a:buClr>
                <a:srgbClr val="191919"/>
              </a:buClr>
              <a:buSzPts val="5200"/>
              <a:buNone/>
              <a:defRPr sz="8320">
                <a:solidFill>
                  <a:srgbClr val="191919"/>
                </a:solidFill>
              </a:defRPr>
            </a:lvl8pPr>
            <a:lvl9pPr lvl="8" algn="ctr">
              <a:spcBef>
                <a:spcPts val="0"/>
              </a:spcBef>
              <a:spcAft>
                <a:spcPts val="0"/>
              </a:spcAft>
              <a:buClr>
                <a:srgbClr val="191919"/>
              </a:buClr>
              <a:buSzPts val="5200"/>
              <a:buNone/>
              <a:defRPr sz="8320">
                <a:solidFill>
                  <a:srgbClr val="191919"/>
                </a:solidFill>
              </a:defRPr>
            </a:lvl9pPr>
          </a:lstStyle>
          <a:p>
            <a:endParaRPr/>
          </a:p>
        </p:txBody>
      </p:sp>
      <p:sp>
        <p:nvSpPr>
          <p:cNvPr id="10" name="Google Shape;10;p2"/>
          <p:cNvSpPr txBox="1">
            <a:spLocks noGrp="1"/>
          </p:cNvSpPr>
          <p:nvPr>
            <p:ph type="subTitle" idx="1"/>
          </p:nvPr>
        </p:nvSpPr>
        <p:spPr>
          <a:xfrm>
            <a:off x="9147280" y="5963920"/>
            <a:ext cx="3838560" cy="114096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2560">
                <a:solidFill>
                  <a:schemeClr val="dk1"/>
                </a:solidFill>
              </a:defRPr>
            </a:lvl1pPr>
            <a:lvl2pPr lvl="1" algn="ctr">
              <a:lnSpc>
                <a:spcPct val="100000"/>
              </a:lnSpc>
              <a:spcBef>
                <a:spcPts val="0"/>
              </a:spcBef>
              <a:spcAft>
                <a:spcPts val="0"/>
              </a:spcAft>
              <a:buSzPts val="1800"/>
              <a:buNone/>
              <a:defRPr sz="2880"/>
            </a:lvl2pPr>
            <a:lvl3pPr lvl="2" algn="ctr">
              <a:lnSpc>
                <a:spcPct val="100000"/>
              </a:lnSpc>
              <a:spcBef>
                <a:spcPts val="0"/>
              </a:spcBef>
              <a:spcAft>
                <a:spcPts val="0"/>
              </a:spcAft>
              <a:buSzPts val="1800"/>
              <a:buNone/>
              <a:defRPr sz="2880"/>
            </a:lvl3pPr>
            <a:lvl4pPr lvl="3" algn="ctr">
              <a:lnSpc>
                <a:spcPct val="100000"/>
              </a:lnSpc>
              <a:spcBef>
                <a:spcPts val="0"/>
              </a:spcBef>
              <a:spcAft>
                <a:spcPts val="0"/>
              </a:spcAft>
              <a:buSzPts val="1800"/>
              <a:buNone/>
              <a:defRPr sz="2880"/>
            </a:lvl4pPr>
            <a:lvl5pPr lvl="4" algn="ctr">
              <a:lnSpc>
                <a:spcPct val="100000"/>
              </a:lnSpc>
              <a:spcBef>
                <a:spcPts val="0"/>
              </a:spcBef>
              <a:spcAft>
                <a:spcPts val="0"/>
              </a:spcAft>
              <a:buSzPts val="1800"/>
              <a:buNone/>
              <a:defRPr sz="2880"/>
            </a:lvl5pPr>
            <a:lvl6pPr lvl="5" algn="ctr">
              <a:lnSpc>
                <a:spcPct val="100000"/>
              </a:lnSpc>
              <a:spcBef>
                <a:spcPts val="0"/>
              </a:spcBef>
              <a:spcAft>
                <a:spcPts val="0"/>
              </a:spcAft>
              <a:buSzPts val="1800"/>
              <a:buNone/>
              <a:defRPr sz="2880"/>
            </a:lvl6pPr>
            <a:lvl7pPr lvl="6" algn="ctr">
              <a:lnSpc>
                <a:spcPct val="100000"/>
              </a:lnSpc>
              <a:spcBef>
                <a:spcPts val="0"/>
              </a:spcBef>
              <a:spcAft>
                <a:spcPts val="0"/>
              </a:spcAft>
              <a:buSzPts val="1800"/>
              <a:buNone/>
              <a:defRPr sz="2880"/>
            </a:lvl7pPr>
            <a:lvl8pPr lvl="7" algn="ctr">
              <a:lnSpc>
                <a:spcPct val="100000"/>
              </a:lnSpc>
              <a:spcBef>
                <a:spcPts val="0"/>
              </a:spcBef>
              <a:spcAft>
                <a:spcPts val="0"/>
              </a:spcAft>
              <a:buSzPts val="1800"/>
              <a:buNone/>
              <a:defRPr sz="2880"/>
            </a:lvl8pPr>
            <a:lvl9pPr lvl="8" algn="ctr">
              <a:lnSpc>
                <a:spcPct val="100000"/>
              </a:lnSpc>
              <a:spcBef>
                <a:spcPts val="0"/>
              </a:spcBef>
              <a:spcAft>
                <a:spcPts val="0"/>
              </a:spcAft>
              <a:buSzPts val="1800"/>
              <a:buNone/>
              <a:defRPr sz="2880"/>
            </a:lvl9pPr>
          </a:lstStyle>
          <a:p>
            <a:endParaRPr/>
          </a:p>
        </p:txBody>
      </p:sp>
      <p:grpSp>
        <p:nvGrpSpPr>
          <p:cNvPr id="11" name="Google Shape;11;p2"/>
          <p:cNvGrpSpPr/>
          <p:nvPr/>
        </p:nvGrpSpPr>
        <p:grpSpPr>
          <a:xfrm>
            <a:off x="3" y="-604498"/>
            <a:ext cx="14710558" cy="9373739"/>
            <a:chOff x="1" y="-377812"/>
            <a:chExt cx="9194099" cy="5858587"/>
          </a:xfrm>
        </p:grpSpPr>
        <p:grpSp>
          <p:nvGrpSpPr>
            <p:cNvPr id="12" name="Google Shape;12;p2"/>
            <p:cNvGrpSpPr/>
            <p:nvPr/>
          </p:nvGrpSpPr>
          <p:grpSpPr>
            <a:xfrm>
              <a:off x="1428740" y="-377812"/>
              <a:ext cx="1085166" cy="1085166"/>
              <a:chOff x="1834375" y="-134612"/>
              <a:chExt cx="1348200" cy="1348200"/>
            </a:xfrm>
          </p:grpSpPr>
          <p:sp>
            <p:nvSpPr>
              <p:cNvPr id="13" name="Google Shape;13;p2"/>
              <p:cNvSpPr/>
              <p:nvPr/>
            </p:nvSpPr>
            <p:spPr>
              <a:xfrm>
                <a:off x="2217015" y="248044"/>
                <a:ext cx="582900" cy="582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4" name="Google Shape;14;p2"/>
              <p:cNvSpPr/>
              <p:nvPr/>
            </p:nvSpPr>
            <p:spPr>
              <a:xfrm>
                <a:off x="2087561" y="118585"/>
                <a:ext cx="841800" cy="841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 name="Google Shape;15;p2"/>
              <p:cNvSpPr/>
              <p:nvPr/>
            </p:nvSpPr>
            <p:spPr>
              <a:xfrm>
                <a:off x="1966075" y="-2888"/>
                <a:ext cx="1084800" cy="1084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 name="Google Shape;16;p2"/>
              <p:cNvSpPr/>
              <p:nvPr/>
            </p:nvSpPr>
            <p:spPr>
              <a:xfrm>
                <a:off x="1834375" y="-134612"/>
                <a:ext cx="1348200" cy="1348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sp>
          <p:nvSpPr>
            <p:cNvPr id="17" name="Google Shape;17;p2"/>
            <p:cNvSpPr/>
            <p:nvPr/>
          </p:nvSpPr>
          <p:spPr>
            <a:xfrm rot="5388639">
              <a:off x="541948" y="3708045"/>
              <a:ext cx="907805" cy="1988711"/>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8" name="Google Shape;18;p2"/>
            <p:cNvSpPr/>
            <p:nvPr/>
          </p:nvSpPr>
          <p:spPr>
            <a:xfrm rot="5389199">
              <a:off x="297299" y="4514022"/>
              <a:ext cx="668403" cy="1260907"/>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9" name="Google Shape;19;p2"/>
            <p:cNvSpPr/>
            <p:nvPr/>
          </p:nvSpPr>
          <p:spPr>
            <a:xfrm rot="-5400000">
              <a:off x="7543350" y="59500"/>
              <a:ext cx="1262700" cy="20388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nvGrpSpPr>
            <p:cNvPr id="20" name="Google Shape;20;p2"/>
            <p:cNvGrpSpPr/>
            <p:nvPr/>
          </p:nvGrpSpPr>
          <p:grpSpPr>
            <a:xfrm>
              <a:off x="8356225" y="3672261"/>
              <a:ext cx="149100" cy="1135902"/>
              <a:chOff x="8356225" y="3672261"/>
              <a:chExt cx="149100" cy="1135902"/>
            </a:xfrm>
          </p:grpSpPr>
          <p:sp>
            <p:nvSpPr>
              <p:cNvPr id="21" name="Google Shape;21;p2"/>
              <p:cNvSpPr/>
              <p:nvPr/>
            </p:nvSpPr>
            <p:spPr>
              <a:xfrm rot="5400000">
                <a:off x="8356525" y="4165874"/>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2" name="Google Shape;22;p2"/>
              <p:cNvSpPr/>
              <p:nvPr/>
            </p:nvSpPr>
            <p:spPr>
              <a:xfrm rot="5400000">
                <a:off x="8356525" y="4412406"/>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3" name="Google Shape;23;p2"/>
              <p:cNvSpPr/>
              <p:nvPr/>
            </p:nvSpPr>
            <p:spPr>
              <a:xfrm rot="5400000">
                <a:off x="8356525" y="3918917"/>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4" name="Google Shape;24;p2"/>
              <p:cNvSpPr/>
              <p:nvPr/>
            </p:nvSpPr>
            <p:spPr>
              <a:xfrm rot="5400000">
                <a:off x="8356525" y="3671961"/>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5" name="Google Shape;25;p2"/>
              <p:cNvSpPr/>
              <p:nvPr/>
            </p:nvSpPr>
            <p:spPr>
              <a:xfrm rot="5400000">
                <a:off x="8356525" y="4659363"/>
                <a:ext cx="148500" cy="149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nvGrpSpPr>
            <p:cNvPr id="26" name="Google Shape;26;p2"/>
            <p:cNvGrpSpPr/>
            <p:nvPr/>
          </p:nvGrpSpPr>
          <p:grpSpPr>
            <a:xfrm>
              <a:off x="236175" y="3825675"/>
              <a:ext cx="713100" cy="713100"/>
              <a:chOff x="716700" y="3082200"/>
              <a:chExt cx="713100" cy="713100"/>
            </a:xfrm>
          </p:grpSpPr>
          <p:sp>
            <p:nvSpPr>
              <p:cNvPr id="27" name="Google Shape;27;p2"/>
              <p:cNvSpPr/>
              <p:nvPr/>
            </p:nvSpPr>
            <p:spPr>
              <a:xfrm>
                <a:off x="716700" y="3082200"/>
                <a:ext cx="713100" cy="713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28" name="Google Shape;28;p2"/>
              <p:cNvSpPr/>
              <p:nvPr/>
            </p:nvSpPr>
            <p:spPr>
              <a:xfrm>
                <a:off x="969450" y="3334950"/>
                <a:ext cx="207600" cy="207600"/>
              </a:xfrm>
              <a:prstGeom prst="star4">
                <a:avLst>
                  <a:gd name="adj" fmla="val 2226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spTree>
    <p:extLst>
      <p:ext uri="{BB962C8B-B14F-4D97-AF65-F5344CB8AC3E}">
        <p14:creationId xmlns:p14="http://schemas.microsoft.com/office/powerpoint/2010/main" val="3233299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45"/>
        <p:cNvGrpSpPr/>
        <p:nvPr/>
      </p:nvGrpSpPr>
      <p:grpSpPr>
        <a:xfrm>
          <a:off x="0" y="0"/>
          <a:ext cx="0" cy="0"/>
          <a:chOff x="0" y="0"/>
          <a:chExt cx="0" cy="0"/>
        </a:xfrm>
      </p:grpSpPr>
      <p:grpSp>
        <p:nvGrpSpPr>
          <p:cNvPr id="146" name="Google Shape;146;p9"/>
          <p:cNvGrpSpPr/>
          <p:nvPr/>
        </p:nvGrpSpPr>
        <p:grpSpPr>
          <a:xfrm>
            <a:off x="-34111" y="0"/>
            <a:ext cx="14664520" cy="8229587"/>
            <a:chOff x="-21320" y="0"/>
            <a:chExt cx="9165325" cy="5143492"/>
          </a:xfrm>
        </p:grpSpPr>
        <p:sp>
          <p:nvSpPr>
            <p:cNvPr id="147" name="Google Shape;147;p9"/>
            <p:cNvSpPr/>
            <p:nvPr/>
          </p:nvSpPr>
          <p:spPr>
            <a:xfrm rot="10788682">
              <a:off x="-3803" y="2142"/>
              <a:ext cx="1093506" cy="2266512"/>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48" name="Google Shape;148;p9"/>
            <p:cNvSpPr/>
            <p:nvPr/>
          </p:nvSpPr>
          <p:spPr>
            <a:xfrm rot="-5400000">
              <a:off x="7674905" y="3674391"/>
              <a:ext cx="1469100" cy="14691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nvGrpSpPr>
            <p:cNvPr id="149" name="Google Shape;149;p9"/>
            <p:cNvGrpSpPr/>
            <p:nvPr/>
          </p:nvGrpSpPr>
          <p:grpSpPr>
            <a:xfrm>
              <a:off x="7841404" y="3753771"/>
              <a:ext cx="1178731" cy="1178731"/>
              <a:chOff x="1834375" y="-134612"/>
              <a:chExt cx="1348200" cy="1348200"/>
            </a:xfrm>
          </p:grpSpPr>
          <p:sp>
            <p:nvSpPr>
              <p:cNvPr id="150" name="Google Shape;150;p9"/>
              <p:cNvSpPr/>
              <p:nvPr/>
            </p:nvSpPr>
            <p:spPr>
              <a:xfrm>
                <a:off x="2217015" y="248044"/>
                <a:ext cx="582900" cy="582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1" name="Google Shape;151;p9"/>
              <p:cNvSpPr/>
              <p:nvPr/>
            </p:nvSpPr>
            <p:spPr>
              <a:xfrm>
                <a:off x="2087561" y="118585"/>
                <a:ext cx="841800" cy="841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2" name="Google Shape;152;p9"/>
              <p:cNvSpPr/>
              <p:nvPr/>
            </p:nvSpPr>
            <p:spPr>
              <a:xfrm>
                <a:off x="1966075" y="-2888"/>
                <a:ext cx="1084800" cy="1084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3" name="Google Shape;153;p9"/>
              <p:cNvSpPr/>
              <p:nvPr/>
            </p:nvSpPr>
            <p:spPr>
              <a:xfrm>
                <a:off x="1834375" y="-134612"/>
                <a:ext cx="1348200" cy="1348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nvGrpSpPr>
            <p:cNvPr id="154" name="Google Shape;154;p9"/>
            <p:cNvGrpSpPr/>
            <p:nvPr/>
          </p:nvGrpSpPr>
          <p:grpSpPr>
            <a:xfrm>
              <a:off x="509240" y="4361512"/>
              <a:ext cx="1135902" cy="485000"/>
              <a:chOff x="476924" y="4119012"/>
              <a:chExt cx="1135902" cy="485000"/>
            </a:xfrm>
          </p:grpSpPr>
          <p:grpSp>
            <p:nvGrpSpPr>
              <p:cNvPr id="155" name="Google Shape;155;p9"/>
              <p:cNvGrpSpPr/>
              <p:nvPr/>
            </p:nvGrpSpPr>
            <p:grpSpPr>
              <a:xfrm rot="5400000">
                <a:off x="970325" y="3625611"/>
                <a:ext cx="149100" cy="1135902"/>
                <a:chOff x="8356225" y="3672261"/>
                <a:chExt cx="149100" cy="1135902"/>
              </a:xfrm>
            </p:grpSpPr>
            <p:sp>
              <p:nvSpPr>
                <p:cNvPr id="156" name="Google Shape;156;p9"/>
                <p:cNvSpPr/>
                <p:nvPr/>
              </p:nvSpPr>
              <p:spPr>
                <a:xfrm rot="5400000">
                  <a:off x="8356525" y="4165874"/>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7" name="Google Shape;157;p9"/>
                <p:cNvSpPr/>
                <p:nvPr/>
              </p:nvSpPr>
              <p:spPr>
                <a:xfrm rot="5400000">
                  <a:off x="8356525" y="4412406"/>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8" name="Google Shape;158;p9"/>
                <p:cNvSpPr/>
                <p:nvPr/>
              </p:nvSpPr>
              <p:spPr>
                <a:xfrm rot="5400000">
                  <a:off x="8356525" y="3918917"/>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59" name="Google Shape;159;p9"/>
                <p:cNvSpPr/>
                <p:nvPr/>
              </p:nvSpPr>
              <p:spPr>
                <a:xfrm rot="5400000">
                  <a:off x="8356525" y="3671961"/>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0" name="Google Shape;160;p9"/>
                <p:cNvSpPr/>
                <p:nvPr/>
              </p:nvSpPr>
              <p:spPr>
                <a:xfrm rot="5400000">
                  <a:off x="8356525" y="4659363"/>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nvGrpSpPr>
              <p:cNvPr id="161" name="Google Shape;161;p9"/>
              <p:cNvGrpSpPr/>
              <p:nvPr/>
            </p:nvGrpSpPr>
            <p:grpSpPr>
              <a:xfrm rot="5400000">
                <a:off x="970325" y="3961511"/>
                <a:ext cx="149100" cy="1135902"/>
                <a:chOff x="8356225" y="3672261"/>
                <a:chExt cx="149100" cy="1135902"/>
              </a:xfrm>
            </p:grpSpPr>
            <p:sp>
              <p:nvSpPr>
                <p:cNvPr id="162" name="Google Shape;162;p9"/>
                <p:cNvSpPr/>
                <p:nvPr/>
              </p:nvSpPr>
              <p:spPr>
                <a:xfrm rot="5400000">
                  <a:off x="8356525" y="4165874"/>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3" name="Google Shape;163;p9"/>
                <p:cNvSpPr/>
                <p:nvPr/>
              </p:nvSpPr>
              <p:spPr>
                <a:xfrm rot="5400000">
                  <a:off x="8356525" y="4412406"/>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4" name="Google Shape;164;p9"/>
                <p:cNvSpPr/>
                <p:nvPr/>
              </p:nvSpPr>
              <p:spPr>
                <a:xfrm rot="5400000">
                  <a:off x="8356525" y="3918917"/>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5" name="Google Shape;165;p9"/>
                <p:cNvSpPr/>
                <p:nvPr/>
              </p:nvSpPr>
              <p:spPr>
                <a:xfrm rot="5400000">
                  <a:off x="8356525" y="3671961"/>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6" name="Google Shape;166;p9"/>
                <p:cNvSpPr/>
                <p:nvPr/>
              </p:nvSpPr>
              <p:spPr>
                <a:xfrm rot="5400000">
                  <a:off x="8356525" y="4659363"/>
                  <a:ext cx="148500" cy="1491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grpSp>
        <p:sp>
          <p:nvSpPr>
            <p:cNvPr id="167" name="Google Shape;167;p9"/>
            <p:cNvSpPr/>
            <p:nvPr/>
          </p:nvSpPr>
          <p:spPr>
            <a:xfrm rot="5400000">
              <a:off x="-21320" y="341"/>
              <a:ext cx="1469100" cy="1469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sp>
          <p:nvSpPr>
            <p:cNvPr id="168" name="Google Shape;168;p9"/>
            <p:cNvSpPr/>
            <p:nvPr/>
          </p:nvSpPr>
          <p:spPr>
            <a:xfrm rot="-5400000" flipH="1">
              <a:off x="7985100" y="-151500"/>
              <a:ext cx="1007400" cy="1310400"/>
            </a:xfrm>
            <a:prstGeom prst="round2Diag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80">
                <a:latin typeface="Work Sans"/>
                <a:ea typeface="Work Sans"/>
                <a:cs typeface="Work Sans"/>
                <a:sym typeface="Work Sans"/>
              </a:endParaRPr>
            </a:p>
          </p:txBody>
        </p:sp>
      </p:grpSp>
      <p:sp>
        <p:nvSpPr>
          <p:cNvPr id="169" name="Google Shape;169;p9"/>
          <p:cNvSpPr txBox="1">
            <a:spLocks noGrp="1"/>
          </p:cNvSpPr>
          <p:nvPr>
            <p:ph type="title"/>
          </p:nvPr>
        </p:nvSpPr>
        <p:spPr>
          <a:xfrm>
            <a:off x="4031160" y="2097760"/>
            <a:ext cx="6430560" cy="188592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96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70" name="Google Shape;170;p9"/>
          <p:cNvSpPr txBox="1">
            <a:spLocks noGrp="1"/>
          </p:cNvSpPr>
          <p:nvPr>
            <p:ph type="subTitle" idx="1"/>
          </p:nvPr>
        </p:nvSpPr>
        <p:spPr>
          <a:xfrm>
            <a:off x="4031181" y="4643568"/>
            <a:ext cx="6430560" cy="15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560"/>
            </a:lvl1pPr>
            <a:lvl2pPr lvl="1" algn="ctr" rtl="0">
              <a:lnSpc>
                <a:spcPct val="100000"/>
              </a:lnSpc>
              <a:spcBef>
                <a:spcPts val="0"/>
              </a:spcBef>
              <a:spcAft>
                <a:spcPts val="0"/>
              </a:spcAft>
              <a:buSzPts val="1400"/>
              <a:buNone/>
              <a:defRPr/>
            </a:lvl2pPr>
            <a:lvl3pPr lvl="2" algn="ctr" rtl="0">
              <a:lnSpc>
                <a:spcPct val="100000"/>
              </a:lnSpc>
              <a:spcBef>
                <a:spcPts val="2560"/>
              </a:spcBef>
              <a:spcAft>
                <a:spcPts val="0"/>
              </a:spcAft>
              <a:buSzPts val="1400"/>
              <a:buNone/>
              <a:defRPr/>
            </a:lvl3pPr>
            <a:lvl4pPr lvl="3" algn="ctr" rtl="0">
              <a:lnSpc>
                <a:spcPct val="100000"/>
              </a:lnSpc>
              <a:spcBef>
                <a:spcPts val="2560"/>
              </a:spcBef>
              <a:spcAft>
                <a:spcPts val="0"/>
              </a:spcAft>
              <a:buSzPts val="1400"/>
              <a:buNone/>
              <a:defRPr/>
            </a:lvl4pPr>
            <a:lvl5pPr lvl="4" algn="ctr" rtl="0">
              <a:lnSpc>
                <a:spcPct val="100000"/>
              </a:lnSpc>
              <a:spcBef>
                <a:spcPts val="2560"/>
              </a:spcBef>
              <a:spcAft>
                <a:spcPts val="0"/>
              </a:spcAft>
              <a:buSzPts val="1400"/>
              <a:buNone/>
              <a:defRPr/>
            </a:lvl5pPr>
            <a:lvl6pPr lvl="5" algn="ctr" rtl="0">
              <a:lnSpc>
                <a:spcPct val="100000"/>
              </a:lnSpc>
              <a:spcBef>
                <a:spcPts val="2560"/>
              </a:spcBef>
              <a:spcAft>
                <a:spcPts val="0"/>
              </a:spcAft>
              <a:buSzPts val="1400"/>
              <a:buNone/>
              <a:defRPr/>
            </a:lvl6pPr>
            <a:lvl7pPr lvl="6" algn="ctr" rtl="0">
              <a:lnSpc>
                <a:spcPct val="100000"/>
              </a:lnSpc>
              <a:spcBef>
                <a:spcPts val="2560"/>
              </a:spcBef>
              <a:spcAft>
                <a:spcPts val="0"/>
              </a:spcAft>
              <a:buSzPts val="1400"/>
              <a:buNone/>
              <a:defRPr/>
            </a:lvl7pPr>
            <a:lvl8pPr lvl="7" algn="ctr" rtl="0">
              <a:lnSpc>
                <a:spcPct val="100000"/>
              </a:lnSpc>
              <a:spcBef>
                <a:spcPts val="2560"/>
              </a:spcBef>
              <a:spcAft>
                <a:spcPts val="0"/>
              </a:spcAft>
              <a:buSzPts val="1400"/>
              <a:buNone/>
              <a:defRPr/>
            </a:lvl8pPr>
            <a:lvl9pPr lvl="8" algn="ctr" rtl="0">
              <a:lnSpc>
                <a:spcPct val="100000"/>
              </a:lnSpc>
              <a:spcBef>
                <a:spcPts val="2560"/>
              </a:spcBef>
              <a:spcAft>
                <a:spcPts val="2560"/>
              </a:spcAft>
              <a:buSzPts val="1400"/>
              <a:buNone/>
              <a:defRPr/>
            </a:lvl9pPr>
          </a:lstStyle>
          <a:p>
            <a:endParaRPr/>
          </a:p>
        </p:txBody>
      </p:sp>
    </p:spTree>
    <p:extLst>
      <p:ext uri="{BB962C8B-B14F-4D97-AF65-F5344CB8AC3E}">
        <p14:creationId xmlns:p14="http://schemas.microsoft.com/office/powerpoint/2010/main" val="8091071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Images &amp; Contents Layout">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77D0EB80-5ACB-4B75-B1FE-BC47C43D1404}"/>
              </a:ext>
            </a:extLst>
          </p:cNvPr>
          <p:cNvSpPr>
            <a:spLocks noGrp="1"/>
          </p:cNvSpPr>
          <p:nvPr>
            <p:ph type="pic" sz="quarter" idx="11" hasCustomPrompt="1"/>
          </p:nvPr>
        </p:nvSpPr>
        <p:spPr>
          <a:xfrm>
            <a:off x="-5539" y="-12160"/>
            <a:ext cx="14635939" cy="4284617"/>
          </a:xfrm>
          <a:prstGeom prst="rect">
            <a:avLst/>
          </a:prstGeom>
          <a:solidFill>
            <a:schemeClr val="bg1">
              <a:lumMod val="95000"/>
            </a:schemeClr>
          </a:solidFill>
          <a:ln w="25400">
            <a:noFill/>
          </a:ln>
          <a:effectLst/>
        </p:spPr>
        <p:txBody>
          <a:bodyPr anchor="ctr"/>
          <a:lstStyle>
            <a:lvl1pPr marL="0" indent="0" algn="ctr">
              <a:buNone/>
              <a:defRPr lang="ko-KR" altLang="en-US" sz="1440" dirty="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
        <p:nvSpPr>
          <p:cNvPr id="30" name="Picture Placeholder 9">
            <a:extLst>
              <a:ext uri="{FF2B5EF4-FFF2-40B4-BE49-F238E27FC236}">
                <a16:creationId xmlns:a16="http://schemas.microsoft.com/office/drawing/2014/main" id="{C2375C0B-9A4C-42FF-991E-CA66F2BCF797}"/>
              </a:ext>
            </a:extLst>
          </p:cNvPr>
          <p:cNvSpPr>
            <a:spLocks noGrp="1"/>
          </p:cNvSpPr>
          <p:nvPr>
            <p:ph type="pic" sz="quarter" idx="10" hasCustomPrompt="1"/>
          </p:nvPr>
        </p:nvSpPr>
        <p:spPr>
          <a:xfrm>
            <a:off x="1116740" y="2088960"/>
            <a:ext cx="2430791" cy="4213370"/>
          </a:xfrm>
          <a:prstGeom prst="rect">
            <a:avLst/>
          </a:prstGeom>
          <a:solidFill>
            <a:schemeClr val="bg1">
              <a:lumMod val="95000"/>
            </a:schemeClr>
          </a:solidFill>
          <a:ln w="25400">
            <a:noFill/>
          </a:ln>
          <a:effectLst/>
        </p:spPr>
        <p:txBody>
          <a:bodyPr anchor="ctr"/>
          <a:lstStyle>
            <a:lvl1pPr marL="0" indent="0" algn="ctr">
              <a:buNone/>
              <a:defRPr lang="ko-KR" altLang="en-US" sz="1440" dirty="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5721018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88236" y="407412"/>
            <a:ext cx="13887836" cy="869096"/>
          </a:xfrm>
          <a:prstGeom prst="rect">
            <a:avLst/>
          </a:prstGeom>
        </p:spPr>
        <p:txBody>
          <a:bodyPr anchor="ctr"/>
          <a:lstStyle>
            <a:lvl1pPr marL="0" indent="0" algn="ctr">
              <a:buNone/>
              <a:defRPr sz="648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808524834"/>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30000"/>
          </a:schemeClr>
        </a:solidFill>
        <a:effectLst/>
      </p:bgPr>
    </p:bg>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0B581216-21E1-E329-57EC-8522ABE1AC41}"/>
              </a:ext>
            </a:extLst>
          </p:cNvPr>
          <p:cNvSpPr>
            <a:spLocks noGrp="1"/>
          </p:cNvSpPr>
          <p:nvPr>
            <p:ph type="sldNum" sz="quarter" idx="4"/>
          </p:nvPr>
        </p:nvSpPr>
        <p:spPr>
          <a:xfrm>
            <a:off x="10966883" y="7730115"/>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46198A0D-C119-49A8-AD21-4EA122FD909A}"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userDrawn="1">
          <p15:clr>
            <a:srgbClr val="F26B43"/>
          </p15:clr>
        </p15:guide>
        <p15:guide id="2" pos="46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394498" y="1197450"/>
            <a:ext cx="7556421" cy="1417558"/>
          </a:xfrm>
          <a:prstGeom prst="rect">
            <a:avLst/>
          </a:prstGeom>
          <a:noFill/>
          <a:ln/>
        </p:spPr>
        <p:txBody>
          <a:bodyPr wrap="square" lIns="0" tIns="0" rIns="0" bIns="0" rtlCol="0" anchor="t"/>
          <a:lstStyle/>
          <a:p>
            <a:pPr marL="0" indent="0" algn="ctr">
              <a:lnSpc>
                <a:spcPts val="5550"/>
              </a:lnSpc>
              <a:buNone/>
            </a:pPr>
            <a:r>
              <a:rPr lang="en-US" altLang="zh-TW" sz="4800" b="1" dirty="0">
                <a:latin typeface="Microsoft JhengHei" panose="020B0604030504040204" pitchFamily="34" charset="-120"/>
                <a:ea typeface="Microsoft JhengHei" panose="020B0604030504040204" pitchFamily="34" charset="-120"/>
                <a:cs typeface="Syne Bold" pitchFamily="34" charset="-120"/>
              </a:rPr>
              <a:t>LINE Bot</a:t>
            </a:r>
            <a:r>
              <a:rPr lang="zh-TW" altLang="en-US" sz="4800" b="1" dirty="0">
                <a:latin typeface="Microsoft JhengHei" panose="020B0604030504040204" pitchFamily="34" charset="-120"/>
                <a:ea typeface="Microsoft JhengHei" panose="020B0604030504040204" pitchFamily="34" charset="-120"/>
                <a:cs typeface="Syne Bold" pitchFamily="34" charset="-120"/>
              </a:rPr>
              <a:t>結合大型語言模型</a:t>
            </a:r>
            <a:endParaRPr lang="en-US" altLang="zh-TW" sz="4800" b="1" dirty="0">
              <a:latin typeface="Microsoft JhengHei" panose="020B0604030504040204" pitchFamily="34" charset="-120"/>
              <a:ea typeface="Microsoft JhengHei" panose="020B0604030504040204" pitchFamily="34" charset="-120"/>
              <a:cs typeface="Syne Bold" pitchFamily="34" charset="-120"/>
            </a:endParaRPr>
          </a:p>
          <a:p>
            <a:pPr marL="0" indent="0" algn="ctr">
              <a:lnSpc>
                <a:spcPts val="5550"/>
              </a:lnSpc>
              <a:buNone/>
            </a:pPr>
            <a:r>
              <a:rPr lang="zh-TW" altLang="en-US" sz="4800" b="1" dirty="0">
                <a:latin typeface="Microsoft JhengHei" panose="020B0604030504040204" pitchFamily="34" charset="-120"/>
                <a:ea typeface="Microsoft JhengHei" panose="020B0604030504040204" pitchFamily="34" charset="-120"/>
                <a:cs typeface="Syne Bold" pitchFamily="34" charset="-120"/>
              </a:rPr>
              <a:t>之英語學習系統設計與實作</a:t>
            </a:r>
            <a:endParaRPr lang="en-US" sz="4800" b="1" dirty="0">
              <a:latin typeface="Microsoft JhengHei" panose="020B0604030504040204" pitchFamily="34" charset="-120"/>
              <a:ea typeface="Microsoft JhengHei" panose="020B0604030504040204" pitchFamily="34" charset="-120"/>
            </a:endParaRPr>
          </a:p>
        </p:txBody>
      </p:sp>
      <p:sp>
        <p:nvSpPr>
          <p:cNvPr id="4" name="Text 1"/>
          <p:cNvSpPr/>
          <p:nvPr/>
        </p:nvSpPr>
        <p:spPr>
          <a:xfrm>
            <a:off x="6139667" y="5491993"/>
            <a:ext cx="3012091" cy="725805"/>
          </a:xfrm>
          <a:prstGeom prst="rect">
            <a:avLst/>
          </a:prstGeom>
          <a:noFill/>
          <a:ln/>
        </p:spPr>
        <p:txBody>
          <a:bodyPr wrap="square" lIns="0" tIns="0" rIns="0" bIns="0" rtlCol="0" anchor="t"/>
          <a:lstStyle/>
          <a:p>
            <a:pPr marL="0" indent="0" algn="l">
              <a:lnSpc>
                <a:spcPts val="2850"/>
              </a:lnSpc>
              <a:buNone/>
            </a:pPr>
            <a:endParaRPr lang="zh-TW" altLang="en-US" sz="2000" b="1" dirty="0">
              <a:latin typeface="Microsoft JhengHei" panose="020B0604030504040204" pitchFamily="34" charset="-120"/>
              <a:ea typeface="Microsoft JhengHei" panose="020B0604030504040204" pitchFamily="34" charset="-120"/>
              <a:cs typeface="Overpass Light" pitchFamily="34" charset="-120"/>
            </a:endParaRPr>
          </a:p>
        </p:txBody>
      </p:sp>
      <p:sp>
        <p:nvSpPr>
          <p:cNvPr id="5" name="Shape 2"/>
          <p:cNvSpPr/>
          <p:nvPr/>
        </p:nvSpPr>
        <p:spPr>
          <a:xfrm>
            <a:off x="6280190" y="5302568"/>
            <a:ext cx="362903" cy="362903"/>
          </a:xfrm>
          <a:prstGeom prst="roundRect">
            <a:avLst>
              <a:gd name="adj" fmla="val 25194296"/>
            </a:avLst>
          </a:prstGeom>
          <a:noFill/>
          <a:ln w="7620">
            <a:solidFill>
              <a:srgbClr val="FFFFFF"/>
            </a:solidFill>
            <a:prstDash val="solid"/>
          </a:ln>
        </p:spPr>
        <p:txBody>
          <a:bodyPr/>
          <a:lstStyle/>
          <a:p>
            <a:endParaRPr lang="zh-TW" altLang="en-US"/>
          </a:p>
        </p:txBody>
      </p:sp>
      <p:grpSp>
        <p:nvGrpSpPr>
          <p:cNvPr id="15" name="Group 323">
            <a:extLst>
              <a:ext uri="{FF2B5EF4-FFF2-40B4-BE49-F238E27FC236}">
                <a16:creationId xmlns:a16="http://schemas.microsoft.com/office/drawing/2014/main" id="{F8757124-4DEB-6852-B1D6-D3BC76280256}"/>
              </a:ext>
            </a:extLst>
          </p:cNvPr>
          <p:cNvGrpSpPr/>
          <p:nvPr/>
        </p:nvGrpSpPr>
        <p:grpSpPr>
          <a:xfrm flipH="1">
            <a:off x="141801" y="5814838"/>
            <a:ext cx="2416047" cy="2396330"/>
            <a:chOff x="837241" y="2338238"/>
            <a:chExt cx="4340280" cy="3982478"/>
          </a:xfrm>
        </p:grpSpPr>
        <p:sp>
          <p:nvSpPr>
            <p:cNvPr id="16" name="Freeform: Shape 324">
              <a:extLst>
                <a:ext uri="{FF2B5EF4-FFF2-40B4-BE49-F238E27FC236}">
                  <a16:creationId xmlns:a16="http://schemas.microsoft.com/office/drawing/2014/main" id="{8938E9F1-6800-F25D-6C1E-B028C901FFB0}"/>
                </a:ext>
              </a:extLst>
            </p:cNvPr>
            <p:cNvSpPr/>
            <p:nvPr/>
          </p:nvSpPr>
          <p:spPr>
            <a:xfrm>
              <a:off x="837241" y="2338238"/>
              <a:ext cx="4340280" cy="3982478"/>
            </a:xfrm>
            <a:custGeom>
              <a:avLst/>
              <a:gdLst>
                <a:gd name="connsiteX0" fmla="*/ 2649379 w 2657475"/>
                <a:gd name="connsiteY0" fmla="*/ 2105847 h 2438400"/>
                <a:gd name="connsiteX1" fmla="*/ 2644616 w 2657475"/>
                <a:gd name="connsiteY1" fmla="*/ 2094417 h 2438400"/>
                <a:gd name="connsiteX2" fmla="*/ 2649379 w 2657475"/>
                <a:gd name="connsiteY2" fmla="*/ 2070604 h 2438400"/>
                <a:gd name="connsiteX3" fmla="*/ 2644616 w 2657475"/>
                <a:gd name="connsiteY3" fmla="*/ 2062984 h 2438400"/>
                <a:gd name="connsiteX4" fmla="*/ 2630329 w 2657475"/>
                <a:gd name="connsiteY4" fmla="*/ 2055364 h 2438400"/>
                <a:gd name="connsiteX5" fmla="*/ 2633186 w 2657475"/>
                <a:gd name="connsiteY5" fmla="*/ 2039172 h 2438400"/>
                <a:gd name="connsiteX6" fmla="*/ 2628424 w 2657475"/>
                <a:gd name="connsiteY6" fmla="*/ 2032504 h 2438400"/>
                <a:gd name="connsiteX7" fmla="*/ 2620804 w 2657475"/>
                <a:gd name="connsiteY7" fmla="*/ 2029647 h 2438400"/>
                <a:gd name="connsiteX8" fmla="*/ 2576036 w 2657475"/>
                <a:gd name="connsiteY8" fmla="*/ 1994404 h 2438400"/>
                <a:gd name="connsiteX9" fmla="*/ 2450306 w 2657475"/>
                <a:gd name="connsiteY9" fmla="*/ 2037267 h 2438400"/>
                <a:gd name="connsiteX10" fmla="*/ 2367439 w 2657475"/>
                <a:gd name="connsiteY10" fmla="*/ 2059175 h 2438400"/>
                <a:gd name="connsiteX11" fmla="*/ 2388394 w 2657475"/>
                <a:gd name="connsiteY11" fmla="*/ 2002025 h 2438400"/>
                <a:gd name="connsiteX12" fmla="*/ 2333149 w 2657475"/>
                <a:gd name="connsiteY12" fmla="*/ 1995357 h 2438400"/>
                <a:gd name="connsiteX13" fmla="*/ 2230279 w 2657475"/>
                <a:gd name="connsiteY13" fmla="*/ 2017264 h 2438400"/>
                <a:gd name="connsiteX14" fmla="*/ 2156936 w 2657475"/>
                <a:gd name="connsiteY14" fmla="*/ 2010597 h 2438400"/>
                <a:gd name="connsiteX15" fmla="*/ 2101691 w 2657475"/>
                <a:gd name="connsiteY15" fmla="*/ 2037267 h 2438400"/>
                <a:gd name="connsiteX16" fmla="*/ 1998821 w 2657475"/>
                <a:gd name="connsiteY16" fmla="*/ 1897250 h 2438400"/>
                <a:gd name="connsiteX17" fmla="*/ 2027396 w 2657475"/>
                <a:gd name="connsiteY17" fmla="*/ 1709607 h 2438400"/>
                <a:gd name="connsiteX18" fmla="*/ 2015966 w 2657475"/>
                <a:gd name="connsiteY18" fmla="*/ 1630550 h 2438400"/>
                <a:gd name="connsiteX19" fmla="*/ 1779746 w 2657475"/>
                <a:gd name="connsiteY19" fmla="*/ 1366707 h 2438400"/>
                <a:gd name="connsiteX20" fmla="*/ 1827371 w 2657475"/>
                <a:gd name="connsiteY20" fmla="*/ 1300032 h 2438400"/>
                <a:gd name="connsiteX21" fmla="*/ 1854041 w 2657475"/>
                <a:gd name="connsiteY21" fmla="*/ 1255264 h 2438400"/>
                <a:gd name="connsiteX22" fmla="*/ 1841659 w 2657475"/>
                <a:gd name="connsiteY22" fmla="*/ 1220022 h 2438400"/>
                <a:gd name="connsiteX23" fmla="*/ 1834991 w 2657475"/>
                <a:gd name="connsiteY23" fmla="*/ 1188589 h 2438400"/>
                <a:gd name="connsiteX24" fmla="*/ 1833086 w 2657475"/>
                <a:gd name="connsiteY24" fmla="*/ 1147632 h 2438400"/>
                <a:gd name="connsiteX25" fmla="*/ 1799749 w 2657475"/>
                <a:gd name="connsiteY25" fmla="*/ 1114294 h 2438400"/>
                <a:gd name="connsiteX26" fmla="*/ 1774031 w 2657475"/>
                <a:gd name="connsiteY26" fmla="*/ 1078099 h 2438400"/>
                <a:gd name="connsiteX27" fmla="*/ 1723549 w 2657475"/>
                <a:gd name="connsiteY27" fmla="*/ 1099054 h 2438400"/>
                <a:gd name="connsiteX28" fmla="*/ 1654016 w 2657475"/>
                <a:gd name="connsiteY28" fmla="*/ 1186684 h 2438400"/>
                <a:gd name="connsiteX29" fmla="*/ 1637824 w 2657475"/>
                <a:gd name="connsiteY29" fmla="*/ 1186684 h 2438400"/>
                <a:gd name="connsiteX30" fmla="*/ 1458754 w 2657475"/>
                <a:gd name="connsiteY30" fmla="*/ 1060954 h 2438400"/>
                <a:gd name="connsiteX31" fmla="*/ 1353979 w 2657475"/>
                <a:gd name="connsiteY31" fmla="*/ 1099054 h 2438400"/>
                <a:gd name="connsiteX32" fmla="*/ 1339691 w 2657475"/>
                <a:gd name="connsiteY32" fmla="*/ 1081909 h 2438400"/>
                <a:gd name="connsiteX33" fmla="*/ 1256824 w 2657475"/>
                <a:gd name="connsiteY33" fmla="*/ 1012377 h 2438400"/>
                <a:gd name="connsiteX34" fmla="*/ 1223486 w 2657475"/>
                <a:gd name="connsiteY34" fmla="*/ 958084 h 2438400"/>
                <a:gd name="connsiteX35" fmla="*/ 1261586 w 2657475"/>
                <a:gd name="connsiteY35" fmla="*/ 899029 h 2438400"/>
                <a:gd name="connsiteX36" fmla="*/ 1299686 w 2657475"/>
                <a:gd name="connsiteY36" fmla="*/ 920937 h 2438400"/>
                <a:gd name="connsiteX37" fmla="*/ 1358741 w 2657475"/>
                <a:gd name="connsiteY37" fmla="*/ 916174 h 2438400"/>
                <a:gd name="connsiteX38" fmla="*/ 1366361 w 2657475"/>
                <a:gd name="connsiteY38" fmla="*/ 887599 h 2438400"/>
                <a:gd name="connsiteX39" fmla="*/ 1399699 w 2657475"/>
                <a:gd name="connsiteY39" fmla="*/ 889504 h 2438400"/>
                <a:gd name="connsiteX40" fmla="*/ 1412081 w 2657475"/>
                <a:gd name="connsiteY40" fmla="*/ 865692 h 2438400"/>
                <a:gd name="connsiteX41" fmla="*/ 1440656 w 2657475"/>
                <a:gd name="connsiteY41" fmla="*/ 860929 h 2438400"/>
                <a:gd name="connsiteX42" fmla="*/ 1452086 w 2657475"/>
                <a:gd name="connsiteY42" fmla="*/ 830449 h 2438400"/>
                <a:gd name="connsiteX43" fmla="*/ 1497806 w 2657475"/>
                <a:gd name="connsiteY43" fmla="*/ 825687 h 2438400"/>
                <a:gd name="connsiteX44" fmla="*/ 1513999 w 2657475"/>
                <a:gd name="connsiteY44" fmla="*/ 797112 h 2438400"/>
                <a:gd name="connsiteX45" fmla="*/ 1520666 w 2657475"/>
                <a:gd name="connsiteY45" fmla="*/ 687574 h 2438400"/>
                <a:gd name="connsiteX46" fmla="*/ 1560671 w 2657475"/>
                <a:gd name="connsiteY46" fmla="*/ 654237 h 2438400"/>
                <a:gd name="connsiteX47" fmla="*/ 1667351 w 2657475"/>
                <a:gd name="connsiteY47" fmla="*/ 541842 h 2438400"/>
                <a:gd name="connsiteX48" fmla="*/ 1674019 w 2657475"/>
                <a:gd name="connsiteY48" fmla="*/ 578037 h 2438400"/>
                <a:gd name="connsiteX49" fmla="*/ 1697831 w 2657475"/>
                <a:gd name="connsiteY49" fmla="*/ 511362 h 2438400"/>
                <a:gd name="connsiteX50" fmla="*/ 1718786 w 2657475"/>
                <a:gd name="connsiteY50" fmla="*/ 552319 h 2438400"/>
                <a:gd name="connsiteX51" fmla="*/ 1749266 w 2657475"/>
                <a:gd name="connsiteY51" fmla="*/ 473262 h 2438400"/>
                <a:gd name="connsiteX52" fmla="*/ 1768316 w 2657475"/>
                <a:gd name="connsiteY52" fmla="*/ 552319 h 2438400"/>
                <a:gd name="connsiteX53" fmla="*/ 1777841 w 2657475"/>
                <a:gd name="connsiteY53" fmla="*/ 436114 h 2438400"/>
                <a:gd name="connsiteX54" fmla="*/ 1744504 w 2657475"/>
                <a:gd name="connsiteY54" fmla="*/ 324672 h 2438400"/>
                <a:gd name="connsiteX55" fmla="*/ 1623536 w 2657475"/>
                <a:gd name="connsiteY55" fmla="*/ 188464 h 2438400"/>
                <a:gd name="connsiteX56" fmla="*/ 1264444 w 2657475"/>
                <a:gd name="connsiteY56" fmla="*/ 7489 h 2438400"/>
                <a:gd name="connsiteX57" fmla="*/ 845344 w 2657475"/>
                <a:gd name="connsiteY57" fmla="*/ 407539 h 2438400"/>
                <a:gd name="connsiteX58" fmla="*/ 673894 w 2657475"/>
                <a:gd name="connsiteY58" fmla="*/ 515172 h 2438400"/>
                <a:gd name="connsiteX59" fmla="*/ 432911 w 2657475"/>
                <a:gd name="connsiteY59" fmla="*/ 683764 h 2438400"/>
                <a:gd name="connsiteX60" fmla="*/ 328136 w 2657475"/>
                <a:gd name="connsiteY60" fmla="*/ 871407 h 2438400"/>
                <a:gd name="connsiteX61" fmla="*/ 210979 w 2657475"/>
                <a:gd name="connsiteY61" fmla="*/ 1068574 h 2438400"/>
                <a:gd name="connsiteX62" fmla="*/ 90964 w 2657475"/>
                <a:gd name="connsiteY62" fmla="*/ 1174302 h 2438400"/>
                <a:gd name="connsiteX63" fmla="*/ 133826 w 2657475"/>
                <a:gd name="connsiteY63" fmla="*/ 1162872 h 2438400"/>
                <a:gd name="connsiteX64" fmla="*/ 16669 w 2657475"/>
                <a:gd name="connsiteY64" fmla="*/ 1445764 h 2438400"/>
                <a:gd name="connsiteX65" fmla="*/ 64294 w 2657475"/>
                <a:gd name="connsiteY65" fmla="*/ 1400997 h 2438400"/>
                <a:gd name="connsiteX66" fmla="*/ 38576 w 2657475"/>
                <a:gd name="connsiteY66" fmla="*/ 1543872 h 2438400"/>
                <a:gd name="connsiteX67" fmla="*/ 7144 w 2657475"/>
                <a:gd name="connsiteY67" fmla="*/ 1769614 h 2438400"/>
                <a:gd name="connsiteX68" fmla="*/ 57626 w 2657475"/>
                <a:gd name="connsiteY68" fmla="*/ 1696272 h 2438400"/>
                <a:gd name="connsiteX69" fmla="*/ 10001 w 2657475"/>
                <a:gd name="connsiteY69" fmla="*/ 1889629 h 2438400"/>
                <a:gd name="connsiteX70" fmla="*/ 64294 w 2657475"/>
                <a:gd name="connsiteY70" fmla="*/ 1791522 h 2438400"/>
                <a:gd name="connsiteX71" fmla="*/ 32861 w 2657475"/>
                <a:gd name="connsiteY71" fmla="*/ 2001072 h 2438400"/>
                <a:gd name="connsiteX72" fmla="*/ 68104 w 2657475"/>
                <a:gd name="connsiteY72" fmla="*/ 2184905 h 2438400"/>
                <a:gd name="connsiteX73" fmla="*/ 147161 w 2657475"/>
                <a:gd name="connsiteY73" fmla="*/ 2175380 h 2438400"/>
                <a:gd name="connsiteX74" fmla="*/ 347186 w 2657475"/>
                <a:gd name="connsiteY74" fmla="*/ 2429697 h 2438400"/>
                <a:gd name="connsiteX75" fmla="*/ 718661 w 2657475"/>
                <a:gd name="connsiteY75" fmla="*/ 2391597 h 2438400"/>
                <a:gd name="connsiteX76" fmla="*/ 816769 w 2657475"/>
                <a:gd name="connsiteY76" fmla="*/ 2322064 h 2438400"/>
                <a:gd name="connsiteX77" fmla="*/ 890111 w 2657475"/>
                <a:gd name="connsiteY77" fmla="*/ 2264914 h 2438400"/>
                <a:gd name="connsiteX78" fmla="*/ 940594 w 2657475"/>
                <a:gd name="connsiteY78" fmla="*/ 2243007 h 2438400"/>
                <a:gd name="connsiteX79" fmla="*/ 994886 w 2657475"/>
                <a:gd name="connsiteY79" fmla="*/ 2226814 h 2438400"/>
                <a:gd name="connsiteX80" fmla="*/ 1011079 w 2657475"/>
                <a:gd name="connsiteY80" fmla="*/ 2160139 h 2438400"/>
                <a:gd name="connsiteX81" fmla="*/ 1032986 w 2657475"/>
                <a:gd name="connsiteY81" fmla="*/ 2143947 h 2438400"/>
                <a:gd name="connsiteX82" fmla="*/ 1042511 w 2657475"/>
                <a:gd name="connsiteY82" fmla="*/ 2089654 h 2438400"/>
                <a:gd name="connsiteX83" fmla="*/ 1052036 w 2657475"/>
                <a:gd name="connsiteY83" fmla="*/ 2022979 h 2438400"/>
                <a:gd name="connsiteX84" fmla="*/ 1061561 w 2657475"/>
                <a:gd name="connsiteY84" fmla="*/ 1930587 h 2438400"/>
                <a:gd name="connsiteX85" fmla="*/ 1087279 w 2657475"/>
                <a:gd name="connsiteY85" fmla="*/ 1866769 h 2438400"/>
                <a:gd name="connsiteX86" fmla="*/ 1306354 w 2657475"/>
                <a:gd name="connsiteY86" fmla="*/ 1606737 h 2438400"/>
                <a:gd name="connsiteX87" fmla="*/ 1382554 w 2657475"/>
                <a:gd name="connsiteY87" fmla="*/ 1561969 h 2438400"/>
                <a:gd name="connsiteX88" fmla="*/ 1413986 w 2657475"/>
                <a:gd name="connsiteY88" fmla="*/ 1578162 h 2438400"/>
                <a:gd name="connsiteX89" fmla="*/ 1615916 w 2657475"/>
                <a:gd name="connsiteY89" fmla="*/ 1890582 h 2438400"/>
                <a:gd name="connsiteX90" fmla="*/ 1768316 w 2657475"/>
                <a:gd name="connsiteY90" fmla="*/ 2219194 h 2438400"/>
                <a:gd name="connsiteX91" fmla="*/ 1804511 w 2657475"/>
                <a:gd name="connsiteY91" fmla="*/ 2371594 h 2438400"/>
                <a:gd name="connsiteX92" fmla="*/ 1925479 w 2657475"/>
                <a:gd name="connsiteY92" fmla="*/ 2350639 h 2438400"/>
                <a:gd name="connsiteX93" fmla="*/ 1958816 w 2657475"/>
                <a:gd name="connsiteY93" fmla="*/ 2317302 h 2438400"/>
                <a:gd name="connsiteX94" fmla="*/ 2009299 w 2657475"/>
                <a:gd name="connsiteY94" fmla="*/ 2347782 h 2438400"/>
                <a:gd name="connsiteX95" fmla="*/ 2095024 w 2657475"/>
                <a:gd name="connsiteY95" fmla="*/ 2430650 h 2438400"/>
                <a:gd name="connsiteX96" fmla="*/ 2230279 w 2657475"/>
                <a:gd name="connsiteY96" fmla="*/ 2363975 h 2438400"/>
                <a:gd name="connsiteX97" fmla="*/ 2435066 w 2657475"/>
                <a:gd name="connsiteY97" fmla="*/ 2283012 h 2438400"/>
                <a:gd name="connsiteX98" fmla="*/ 2546509 w 2657475"/>
                <a:gd name="connsiteY98" fmla="*/ 2227767 h 2438400"/>
                <a:gd name="connsiteX99" fmla="*/ 2630329 w 2657475"/>
                <a:gd name="connsiteY99" fmla="*/ 2172522 h 2438400"/>
                <a:gd name="connsiteX100" fmla="*/ 2647474 w 2657475"/>
                <a:gd name="connsiteY100" fmla="*/ 2161092 h 2438400"/>
                <a:gd name="connsiteX101" fmla="*/ 2647474 w 2657475"/>
                <a:gd name="connsiteY101" fmla="*/ 2143947 h 2438400"/>
                <a:gd name="connsiteX102" fmla="*/ 2655094 w 2657475"/>
                <a:gd name="connsiteY102" fmla="*/ 2131564 h 2438400"/>
                <a:gd name="connsiteX103" fmla="*/ 2649379 w 2657475"/>
                <a:gd name="connsiteY103" fmla="*/ 2105847 h 2438400"/>
                <a:gd name="connsiteX104" fmla="*/ 918686 w 2657475"/>
                <a:gd name="connsiteY104" fmla="*/ 1436239 h 2438400"/>
                <a:gd name="connsiteX105" fmla="*/ 897731 w 2657475"/>
                <a:gd name="connsiteY105" fmla="*/ 1472434 h 2438400"/>
                <a:gd name="connsiteX106" fmla="*/ 873919 w 2657475"/>
                <a:gd name="connsiteY106" fmla="*/ 1496247 h 2438400"/>
                <a:gd name="connsiteX107" fmla="*/ 832961 w 2657475"/>
                <a:gd name="connsiteY107" fmla="*/ 1532442 h 2438400"/>
                <a:gd name="connsiteX108" fmla="*/ 804386 w 2657475"/>
                <a:gd name="connsiteY108" fmla="*/ 1537204 h 2438400"/>
                <a:gd name="connsiteX109" fmla="*/ 783431 w 2657475"/>
                <a:gd name="connsiteY109" fmla="*/ 1515297 h 2438400"/>
                <a:gd name="connsiteX110" fmla="*/ 752951 w 2657475"/>
                <a:gd name="connsiteY110" fmla="*/ 1508629 h 2438400"/>
                <a:gd name="connsiteX111" fmla="*/ 754856 w 2657475"/>
                <a:gd name="connsiteY111" fmla="*/ 1454337 h 2438400"/>
                <a:gd name="connsiteX112" fmla="*/ 826294 w 2657475"/>
                <a:gd name="connsiteY112" fmla="*/ 1399092 h 2438400"/>
                <a:gd name="connsiteX113" fmla="*/ 871061 w 2657475"/>
                <a:gd name="connsiteY113" fmla="*/ 1291459 h 2438400"/>
                <a:gd name="connsiteX114" fmla="*/ 915829 w 2657475"/>
                <a:gd name="connsiteY114" fmla="*/ 1286697 h 2438400"/>
                <a:gd name="connsiteX115" fmla="*/ 1001554 w 2657475"/>
                <a:gd name="connsiteY115" fmla="*/ 1374327 h 2438400"/>
                <a:gd name="connsiteX116" fmla="*/ 918686 w 2657475"/>
                <a:gd name="connsiteY116" fmla="*/ 1436239 h 243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2657475" h="2438400">
                  <a:moveTo>
                    <a:pt x="2649379" y="2105847"/>
                  </a:moveTo>
                  <a:lnTo>
                    <a:pt x="2644616" y="2094417"/>
                  </a:lnTo>
                  <a:lnTo>
                    <a:pt x="2649379" y="2070604"/>
                  </a:lnTo>
                  <a:lnTo>
                    <a:pt x="2644616" y="2062984"/>
                  </a:lnTo>
                  <a:lnTo>
                    <a:pt x="2630329" y="2055364"/>
                  </a:lnTo>
                  <a:lnTo>
                    <a:pt x="2633186" y="2039172"/>
                  </a:lnTo>
                  <a:lnTo>
                    <a:pt x="2628424" y="2032504"/>
                  </a:lnTo>
                  <a:lnTo>
                    <a:pt x="2620804" y="2029647"/>
                  </a:lnTo>
                  <a:cubicBezTo>
                    <a:pt x="2620804" y="2029647"/>
                    <a:pt x="2628424" y="1980117"/>
                    <a:pt x="2576036" y="1994404"/>
                  </a:cubicBezTo>
                  <a:cubicBezTo>
                    <a:pt x="2576036" y="1994404"/>
                    <a:pt x="2493169" y="2006787"/>
                    <a:pt x="2450306" y="2037267"/>
                  </a:cubicBezTo>
                  <a:cubicBezTo>
                    <a:pt x="2450306" y="2037267"/>
                    <a:pt x="2404586" y="2058222"/>
                    <a:pt x="2367439" y="2059175"/>
                  </a:cubicBezTo>
                  <a:cubicBezTo>
                    <a:pt x="2367439" y="2059175"/>
                    <a:pt x="2397919" y="2025837"/>
                    <a:pt x="2388394" y="2002025"/>
                  </a:cubicBezTo>
                  <a:cubicBezTo>
                    <a:pt x="2388394" y="2002025"/>
                    <a:pt x="2376964" y="1970592"/>
                    <a:pt x="2333149" y="1995357"/>
                  </a:cubicBezTo>
                  <a:cubicBezTo>
                    <a:pt x="2333149" y="1995357"/>
                    <a:pt x="2290286" y="2021075"/>
                    <a:pt x="2230279" y="2017264"/>
                  </a:cubicBezTo>
                  <a:cubicBezTo>
                    <a:pt x="2230279" y="2017264"/>
                    <a:pt x="2194084" y="2015359"/>
                    <a:pt x="2156936" y="2010597"/>
                  </a:cubicBezTo>
                  <a:cubicBezTo>
                    <a:pt x="2156936" y="2010597"/>
                    <a:pt x="2128361" y="2013454"/>
                    <a:pt x="2101691" y="2037267"/>
                  </a:cubicBezTo>
                  <a:cubicBezTo>
                    <a:pt x="2101691" y="2037267"/>
                    <a:pt x="2020729" y="1970592"/>
                    <a:pt x="1998821" y="1897250"/>
                  </a:cubicBezTo>
                  <a:cubicBezTo>
                    <a:pt x="1998821" y="1897250"/>
                    <a:pt x="2025491" y="1808667"/>
                    <a:pt x="2027396" y="1709607"/>
                  </a:cubicBezTo>
                  <a:cubicBezTo>
                    <a:pt x="2027396" y="1709607"/>
                    <a:pt x="2024539" y="1674364"/>
                    <a:pt x="2015966" y="1630550"/>
                  </a:cubicBezTo>
                  <a:cubicBezTo>
                    <a:pt x="2015966" y="1630550"/>
                    <a:pt x="1889284" y="1452432"/>
                    <a:pt x="1779746" y="1366707"/>
                  </a:cubicBezTo>
                  <a:cubicBezTo>
                    <a:pt x="1779746" y="1366707"/>
                    <a:pt x="1810226" y="1349562"/>
                    <a:pt x="1827371" y="1300032"/>
                  </a:cubicBezTo>
                  <a:cubicBezTo>
                    <a:pt x="1827371" y="1300032"/>
                    <a:pt x="1834991" y="1269552"/>
                    <a:pt x="1854041" y="1255264"/>
                  </a:cubicBezTo>
                  <a:cubicBezTo>
                    <a:pt x="1854041" y="1255264"/>
                    <a:pt x="1868329" y="1231452"/>
                    <a:pt x="1841659" y="1220022"/>
                  </a:cubicBezTo>
                  <a:cubicBezTo>
                    <a:pt x="1841659" y="1220022"/>
                    <a:pt x="1829276" y="1200972"/>
                    <a:pt x="1834991" y="1188589"/>
                  </a:cubicBezTo>
                  <a:cubicBezTo>
                    <a:pt x="1834991" y="1188589"/>
                    <a:pt x="1852136" y="1147632"/>
                    <a:pt x="1833086" y="1147632"/>
                  </a:cubicBezTo>
                  <a:cubicBezTo>
                    <a:pt x="1833086" y="1147632"/>
                    <a:pt x="1797844" y="1130487"/>
                    <a:pt x="1799749" y="1114294"/>
                  </a:cubicBezTo>
                  <a:cubicBezTo>
                    <a:pt x="1799749" y="1114294"/>
                    <a:pt x="1814036" y="1073337"/>
                    <a:pt x="1774031" y="1078099"/>
                  </a:cubicBezTo>
                  <a:cubicBezTo>
                    <a:pt x="1774031" y="1078099"/>
                    <a:pt x="1764506" y="1073337"/>
                    <a:pt x="1723549" y="1099054"/>
                  </a:cubicBezTo>
                  <a:cubicBezTo>
                    <a:pt x="1723549" y="1099054"/>
                    <a:pt x="1668304" y="1151442"/>
                    <a:pt x="1654016" y="1186684"/>
                  </a:cubicBezTo>
                  <a:lnTo>
                    <a:pt x="1637824" y="1186684"/>
                  </a:lnTo>
                  <a:cubicBezTo>
                    <a:pt x="1637824" y="1186684"/>
                    <a:pt x="1596866" y="1074289"/>
                    <a:pt x="1458754" y="1060954"/>
                  </a:cubicBezTo>
                  <a:cubicBezTo>
                    <a:pt x="1458754" y="1060954"/>
                    <a:pt x="1409224" y="1051429"/>
                    <a:pt x="1353979" y="1099054"/>
                  </a:cubicBezTo>
                  <a:lnTo>
                    <a:pt x="1339691" y="1081909"/>
                  </a:lnTo>
                  <a:lnTo>
                    <a:pt x="1256824" y="1012377"/>
                  </a:lnTo>
                  <a:cubicBezTo>
                    <a:pt x="1256824" y="1012377"/>
                    <a:pt x="1223486" y="1005709"/>
                    <a:pt x="1223486" y="958084"/>
                  </a:cubicBezTo>
                  <a:cubicBezTo>
                    <a:pt x="1223486" y="958084"/>
                    <a:pt x="1216819" y="907602"/>
                    <a:pt x="1261586" y="899029"/>
                  </a:cubicBezTo>
                  <a:cubicBezTo>
                    <a:pt x="1261586" y="899029"/>
                    <a:pt x="1285399" y="896172"/>
                    <a:pt x="1299686" y="920937"/>
                  </a:cubicBezTo>
                  <a:cubicBezTo>
                    <a:pt x="1299686" y="920937"/>
                    <a:pt x="1334929" y="954274"/>
                    <a:pt x="1358741" y="916174"/>
                  </a:cubicBezTo>
                  <a:cubicBezTo>
                    <a:pt x="1358741" y="916174"/>
                    <a:pt x="1361599" y="899982"/>
                    <a:pt x="1366361" y="887599"/>
                  </a:cubicBezTo>
                  <a:cubicBezTo>
                    <a:pt x="1366361" y="887599"/>
                    <a:pt x="1382554" y="897124"/>
                    <a:pt x="1399699" y="889504"/>
                  </a:cubicBezTo>
                  <a:cubicBezTo>
                    <a:pt x="1399699" y="889504"/>
                    <a:pt x="1412081" y="884742"/>
                    <a:pt x="1412081" y="865692"/>
                  </a:cubicBezTo>
                  <a:cubicBezTo>
                    <a:pt x="1412081" y="865692"/>
                    <a:pt x="1416844" y="854262"/>
                    <a:pt x="1440656" y="860929"/>
                  </a:cubicBezTo>
                  <a:cubicBezTo>
                    <a:pt x="1440656" y="860929"/>
                    <a:pt x="1450181" y="865692"/>
                    <a:pt x="1452086" y="830449"/>
                  </a:cubicBezTo>
                  <a:lnTo>
                    <a:pt x="1497806" y="825687"/>
                  </a:lnTo>
                  <a:cubicBezTo>
                    <a:pt x="1497806" y="825687"/>
                    <a:pt x="1514951" y="827592"/>
                    <a:pt x="1513999" y="797112"/>
                  </a:cubicBezTo>
                  <a:cubicBezTo>
                    <a:pt x="1513999" y="797112"/>
                    <a:pt x="1506379" y="711387"/>
                    <a:pt x="1520666" y="687574"/>
                  </a:cubicBezTo>
                  <a:cubicBezTo>
                    <a:pt x="1520666" y="687574"/>
                    <a:pt x="1533049" y="671382"/>
                    <a:pt x="1560671" y="654237"/>
                  </a:cubicBezTo>
                  <a:cubicBezTo>
                    <a:pt x="1560671" y="654237"/>
                    <a:pt x="1643539" y="604707"/>
                    <a:pt x="1667351" y="541842"/>
                  </a:cubicBezTo>
                  <a:cubicBezTo>
                    <a:pt x="1667351" y="541842"/>
                    <a:pt x="1686401" y="551367"/>
                    <a:pt x="1674019" y="578037"/>
                  </a:cubicBezTo>
                  <a:cubicBezTo>
                    <a:pt x="1674019" y="578037"/>
                    <a:pt x="1697831" y="561844"/>
                    <a:pt x="1697831" y="511362"/>
                  </a:cubicBezTo>
                  <a:cubicBezTo>
                    <a:pt x="1697831" y="511362"/>
                    <a:pt x="1721644" y="514219"/>
                    <a:pt x="1718786" y="552319"/>
                  </a:cubicBezTo>
                  <a:cubicBezTo>
                    <a:pt x="1718786" y="552319"/>
                    <a:pt x="1750219" y="506599"/>
                    <a:pt x="1749266" y="473262"/>
                  </a:cubicBezTo>
                  <a:cubicBezTo>
                    <a:pt x="1749266" y="473262"/>
                    <a:pt x="1789271" y="466594"/>
                    <a:pt x="1768316" y="552319"/>
                  </a:cubicBezTo>
                  <a:cubicBezTo>
                    <a:pt x="1768316" y="552319"/>
                    <a:pt x="1794986" y="498027"/>
                    <a:pt x="1777841" y="436114"/>
                  </a:cubicBezTo>
                  <a:cubicBezTo>
                    <a:pt x="1777841" y="436114"/>
                    <a:pt x="1763554" y="352294"/>
                    <a:pt x="1744504" y="324672"/>
                  </a:cubicBezTo>
                  <a:cubicBezTo>
                    <a:pt x="1744504" y="324672"/>
                    <a:pt x="1665446" y="183702"/>
                    <a:pt x="1623536" y="188464"/>
                  </a:cubicBezTo>
                  <a:cubicBezTo>
                    <a:pt x="1623536" y="188464"/>
                    <a:pt x="1473994" y="-2036"/>
                    <a:pt x="1264444" y="7489"/>
                  </a:cubicBezTo>
                  <a:cubicBezTo>
                    <a:pt x="1264444" y="7489"/>
                    <a:pt x="1023461" y="-11561"/>
                    <a:pt x="845344" y="407539"/>
                  </a:cubicBezTo>
                  <a:cubicBezTo>
                    <a:pt x="845344" y="407539"/>
                    <a:pt x="838676" y="461832"/>
                    <a:pt x="673894" y="515172"/>
                  </a:cubicBezTo>
                  <a:cubicBezTo>
                    <a:pt x="673894" y="515172"/>
                    <a:pt x="537686" y="543747"/>
                    <a:pt x="432911" y="683764"/>
                  </a:cubicBezTo>
                  <a:cubicBezTo>
                    <a:pt x="432911" y="683764"/>
                    <a:pt x="369094" y="766632"/>
                    <a:pt x="328136" y="871407"/>
                  </a:cubicBezTo>
                  <a:cubicBezTo>
                    <a:pt x="328136" y="871407"/>
                    <a:pt x="280511" y="1007614"/>
                    <a:pt x="210979" y="1068574"/>
                  </a:cubicBezTo>
                  <a:lnTo>
                    <a:pt x="90964" y="1174302"/>
                  </a:lnTo>
                  <a:cubicBezTo>
                    <a:pt x="97631" y="1169539"/>
                    <a:pt x="110966" y="1162872"/>
                    <a:pt x="133826" y="1162872"/>
                  </a:cubicBezTo>
                  <a:cubicBezTo>
                    <a:pt x="133826" y="1162872"/>
                    <a:pt x="35719" y="1305747"/>
                    <a:pt x="16669" y="1445764"/>
                  </a:cubicBezTo>
                  <a:cubicBezTo>
                    <a:pt x="16669" y="1445764"/>
                    <a:pt x="45244" y="1404807"/>
                    <a:pt x="64294" y="1400997"/>
                  </a:cubicBezTo>
                  <a:cubicBezTo>
                    <a:pt x="64294" y="1400997"/>
                    <a:pt x="32861" y="1461004"/>
                    <a:pt x="38576" y="1543872"/>
                  </a:cubicBezTo>
                  <a:cubicBezTo>
                    <a:pt x="38576" y="1543872"/>
                    <a:pt x="48101" y="1651504"/>
                    <a:pt x="7144" y="1769614"/>
                  </a:cubicBezTo>
                  <a:cubicBezTo>
                    <a:pt x="7144" y="1769614"/>
                    <a:pt x="32861" y="1757232"/>
                    <a:pt x="57626" y="1696272"/>
                  </a:cubicBezTo>
                  <a:cubicBezTo>
                    <a:pt x="57626" y="1696272"/>
                    <a:pt x="3334" y="1832479"/>
                    <a:pt x="10001" y="1889629"/>
                  </a:cubicBezTo>
                  <a:cubicBezTo>
                    <a:pt x="10001" y="1889629"/>
                    <a:pt x="26194" y="1803904"/>
                    <a:pt x="64294" y="1791522"/>
                  </a:cubicBezTo>
                  <a:cubicBezTo>
                    <a:pt x="64294" y="1791522"/>
                    <a:pt x="64294" y="1956304"/>
                    <a:pt x="32861" y="2001072"/>
                  </a:cubicBezTo>
                  <a:cubicBezTo>
                    <a:pt x="32861" y="2001072"/>
                    <a:pt x="64294" y="2093464"/>
                    <a:pt x="68104" y="2184905"/>
                  </a:cubicBezTo>
                  <a:lnTo>
                    <a:pt x="147161" y="2175380"/>
                  </a:lnTo>
                  <a:cubicBezTo>
                    <a:pt x="147161" y="2175380"/>
                    <a:pt x="125254" y="2382072"/>
                    <a:pt x="347186" y="2429697"/>
                  </a:cubicBezTo>
                  <a:cubicBezTo>
                    <a:pt x="347186" y="2429697"/>
                    <a:pt x="591979" y="2445889"/>
                    <a:pt x="718661" y="2391597"/>
                  </a:cubicBezTo>
                  <a:cubicBezTo>
                    <a:pt x="718661" y="2391597"/>
                    <a:pt x="794861" y="2356355"/>
                    <a:pt x="816769" y="2322064"/>
                  </a:cubicBezTo>
                  <a:cubicBezTo>
                    <a:pt x="816769" y="2322064"/>
                    <a:pt x="835819" y="2331589"/>
                    <a:pt x="890111" y="2264914"/>
                  </a:cubicBezTo>
                  <a:lnTo>
                    <a:pt x="940594" y="2243007"/>
                  </a:lnTo>
                  <a:lnTo>
                    <a:pt x="994886" y="2226814"/>
                  </a:lnTo>
                  <a:lnTo>
                    <a:pt x="1011079" y="2160139"/>
                  </a:lnTo>
                  <a:lnTo>
                    <a:pt x="1032986" y="2143947"/>
                  </a:lnTo>
                  <a:cubicBezTo>
                    <a:pt x="1032986" y="2143947"/>
                    <a:pt x="1071086" y="2146805"/>
                    <a:pt x="1042511" y="2089654"/>
                  </a:cubicBezTo>
                  <a:cubicBezTo>
                    <a:pt x="1042511" y="2089654"/>
                    <a:pt x="1020604" y="2039172"/>
                    <a:pt x="1052036" y="2022979"/>
                  </a:cubicBezTo>
                  <a:cubicBezTo>
                    <a:pt x="1052036" y="2022979"/>
                    <a:pt x="1077754" y="2013454"/>
                    <a:pt x="1061561" y="1930587"/>
                  </a:cubicBezTo>
                  <a:cubicBezTo>
                    <a:pt x="1061561" y="1930587"/>
                    <a:pt x="1052036" y="1882962"/>
                    <a:pt x="1087279" y="1866769"/>
                  </a:cubicBezTo>
                  <a:cubicBezTo>
                    <a:pt x="1087279" y="1866769"/>
                    <a:pt x="1153954" y="1831527"/>
                    <a:pt x="1306354" y="1606737"/>
                  </a:cubicBezTo>
                  <a:cubicBezTo>
                    <a:pt x="1306354" y="1606737"/>
                    <a:pt x="1351121" y="1552444"/>
                    <a:pt x="1382554" y="1561969"/>
                  </a:cubicBezTo>
                  <a:cubicBezTo>
                    <a:pt x="1382554" y="1561969"/>
                    <a:pt x="1413986" y="1540062"/>
                    <a:pt x="1413986" y="1578162"/>
                  </a:cubicBezTo>
                  <a:cubicBezTo>
                    <a:pt x="1413986" y="1578162"/>
                    <a:pt x="1488281" y="1792475"/>
                    <a:pt x="1615916" y="1890582"/>
                  </a:cubicBezTo>
                  <a:cubicBezTo>
                    <a:pt x="1615916" y="1890582"/>
                    <a:pt x="1730216" y="2060127"/>
                    <a:pt x="1768316" y="2219194"/>
                  </a:cubicBezTo>
                  <a:cubicBezTo>
                    <a:pt x="1768316" y="2219194"/>
                    <a:pt x="1755934" y="2343019"/>
                    <a:pt x="1804511" y="2371594"/>
                  </a:cubicBezTo>
                  <a:cubicBezTo>
                    <a:pt x="1804511" y="2371594"/>
                    <a:pt x="1871186" y="2412552"/>
                    <a:pt x="1925479" y="2350639"/>
                  </a:cubicBezTo>
                  <a:lnTo>
                    <a:pt x="1958816" y="2317302"/>
                  </a:lnTo>
                  <a:cubicBezTo>
                    <a:pt x="1958816" y="2317302"/>
                    <a:pt x="2003584" y="2286822"/>
                    <a:pt x="2009299" y="2347782"/>
                  </a:cubicBezTo>
                  <a:cubicBezTo>
                    <a:pt x="2009299" y="2347782"/>
                    <a:pt x="2033111" y="2431602"/>
                    <a:pt x="2095024" y="2430650"/>
                  </a:cubicBezTo>
                  <a:cubicBezTo>
                    <a:pt x="2095024" y="2430650"/>
                    <a:pt x="2154079" y="2447794"/>
                    <a:pt x="2230279" y="2363975"/>
                  </a:cubicBezTo>
                  <a:cubicBezTo>
                    <a:pt x="2230279" y="2363975"/>
                    <a:pt x="2311241" y="2300157"/>
                    <a:pt x="2435066" y="2283012"/>
                  </a:cubicBezTo>
                  <a:cubicBezTo>
                    <a:pt x="2435066" y="2283012"/>
                    <a:pt x="2504599" y="2273487"/>
                    <a:pt x="2546509" y="2227767"/>
                  </a:cubicBezTo>
                  <a:cubicBezTo>
                    <a:pt x="2546509" y="2227767"/>
                    <a:pt x="2603659" y="2182047"/>
                    <a:pt x="2630329" y="2172522"/>
                  </a:cubicBezTo>
                  <a:lnTo>
                    <a:pt x="2647474" y="2161092"/>
                  </a:lnTo>
                  <a:lnTo>
                    <a:pt x="2647474" y="2143947"/>
                  </a:lnTo>
                  <a:lnTo>
                    <a:pt x="2655094" y="2131564"/>
                  </a:lnTo>
                  <a:lnTo>
                    <a:pt x="2649379" y="2105847"/>
                  </a:lnTo>
                  <a:close/>
                  <a:moveTo>
                    <a:pt x="918686" y="1436239"/>
                  </a:moveTo>
                  <a:cubicBezTo>
                    <a:pt x="894874" y="1455289"/>
                    <a:pt x="897731" y="1472434"/>
                    <a:pt x="897731" y="1472434"/>
                  </a:cubicBezTo>
                  <a:cubicBezTo>
                    <a:pt x="895826" y="1499104"/>
                    <a:pt x="873919" y="1496247"/>
                    <a:pt x="873919" y="1496247"/>
                  </a:cubicBezTo>
                  <a:cubicBezTo>
                    <a:pt x="832961" y="1493389"/>
                    <a:pt x="832961" y="1532442"/>
                    <a:pt x="832961" y="1532442"/>
                  </a:cubicBezTo>
                  <a:cubicBezTo>
                    <a:pt x="821531" y="1551492"/>
                    <a:pt x="804386" y="1537204"/>
                    <a:pt x="804386" y="1537204"/>
                  </a:cubicBezTo>
                  <a:lnTo>
                    <a:pt x="783431" y="1515297"/>
                  </a:lnTo>
                  <a:lnTo>
                    <a:pt x="752951" y="1508629"/>
                  </a:lnTo>
                  <a:lnTo>
                    <a:pt x="754856" y="1454337"/>
                  </a:lnTo>
                  <a:cubicBezTo>
                    <a:pt x="809149" y="1435287"/>
                    <a:pt x="826294" y="1399092"/>
                    <a:pt x="826294" y="1399092"/>
                  </a:cubicBezTo>
                  <a:cubicBezTo>
                    <a:pt x="852964" y="1370517"/>
                    <a:pt x="871061" y="1291459"/>
                    <a:pt x="871061" y="1291459"/>
                  </a:cubicBezTo>
                  <a:cubicBezTo>
                    <a:pt x="901541" y="1253359"/>
                    <a:pt x="915829" y="1286697"/>
                    <a:pt x="915829" y="1286697"/>
                  </a:cubicBezTo>
                  <a:cubicBezTo>
                    <a:pt x="917734" y="1305747"/>
                    <a:pt x="1001554" y="1374327"/>
                    <a:pt x="1001554" y="1374327"/>
                  </a:cubicBezTo>
                  <a:lnTo>
                    <a:pt x="918686" y="1436239"/>
                  </a:lnTo>
                  <a:close/>
                </a:path>
              </a:pathLst>
            </a:custGeom>
            <a:gradFill flip="none" rotWithShape="1">
              <a:gsLst>
                <a:gs pos="0">
                  <a:schemeClr val="accent1">
                    <a:alpha val="70000"/>
                  </a:schemeClr>
                </a:gs>
                <a:gs pos="100000">
                  <a:schemeClr val="accent2">
                    <a:alpha val="7000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7" name="Freeform: Shape 325">
              <a:extLst>
                <a:ext uri="{FF2B5EF4-FFF2-40B4-BE49-F238E27FC236}">
                  <a16:creationId xmlns:a16="http://schemas.microsoft.com/office/drawing/2014/main" id="{B68F3E27-4011-28D1-934E-04ED9C809921}"/>
                </a:ext>
              </a:extLst>
            </p:cNvPr>
            <p:cNvSpPr/>
            <p:nvPr/>
          </p:nvSpPr>
          <p:spPr>
            <a:xfrm>
              <a:off x="964804" y="4244480"/>
              <a:ext cx="31113" cy="31113"/>
            </a:xfrm>
            <a:custGeom>
              <a:avLst/>
              <a:gdLst>
                <a:gd name="connsiteX0" fmla="*/ 7144 w 19050"/>
                <a:gd name="connsiteY0" fmla="*/ 11906 h 19050"/>
                <a:gd name="connsiteX1" fmla="*/ 11906 w 19050"/>
                <a:gd name="connsiteY1" fmla="*/ 7144 h 19050"/>
                <a:gd name="connsiteX2" fmla="*/ 7144 w 19050"/>
                <a:gd name="connsiteY2" fmla="*/ 11906 h 19050"/>
              </a:gdLst>
              <a:ahLst/>
              <a:cxnLst>
                <a:cxn ang="0">
                  <a:pos x="connsiteX0" y="connsiteY0"/>
                </a:cxn>
                <a:cxn ang="0">
                  <a:pos x="connsiteX1" y="connsiteY1"/>
                </a:cxn>
                <a:cxn ang="0">
                  <a:pos x="connsiteX2" y="connsiteY2"/>
                </a:cxn>
              </a:cxnLst>
              <a:rect l="l" t="t" r="r" b="b"/>
              <a:pathLst>
                <a:path w="19050" h="19050">
                  <a:moveTo>
                    <a:pt x="7144" y="11906"/>
                  </a:moveTo>
                  <a:lnTo>
                    <a:pt x="11906" y="7144"/>
                  </a:lnTo>
                  <a:cubicBezTo>
                    <a:pt x="9049" y="10001"/>
                    <a:pt x="7144" y="11906"/>
                    <a:pt x="7144" y="11906"/>
                  </a:cubicBezTo>
                  <a:close/>
                </a:path>
              </a:pathLst>
            </a:custGeom>
            <a:solidFill>
              <a:srgbClr val="A38072"/>
            </a:solidFill>
            <a:ln w="9525" cap="flat">
              <a:noFill/>
              <a:prstDash val="solid"/>
              <a:miter/>
            </a:ln>
          </p:spPr>
          <p:txBody>
            <a:bodyPr rtlCol="0" anchor="ctr"/>
            <a:lstStyle/>
            <a:p>
              <a:endParaRPr lang="en-US"/>
            </a:p>
          </p:txBody>
        </p:sp>
        <p:sp>
          <p:nvSpPr>
            <p:cNvPr id="18" name="Freeform: Shape 326">
              <a:extLst>
                <a:ext uri="{FF2B5EF4-FFF2-40B4-BE49-F238E27FC236}">
                  <a16:creationId xmlns:a16="http://schemas.microsoft.com/office/drawing/2014/main" id="{F4BB3E6C-B1BA-1BDF-1019-9346D5C5A4F9}"/>
                </a:ext>
              </a:extLst>
            </p:cNvPr>
            <p:cNvSpPr/>
            <p:nvPr/>
          </p:nvSpPr>
          <p:spPr>
            <a:xfrm>
              <a:off x="2588649" y="2367347"/>
              <a:ext cx="933393" cy="871167"/>
            </a:xfrm>
            <a:custGeom>
              <a:avLst/>
              <a:gdLst>
                <a:gd name="connsiteX0" fmla="*/ 565468 w 571500"/>
                <a:gd name="connsiteY0" fmla="*/ 108729 h 533400"/>
                <a:gd name="connsiteX1" fmla="*/ 455930 w 571500"/>
                <a:gd name="connsiteY1" fmla="*/ 10622 h 533400"/>
                <a:gd name="connsiteX2" fmla="*/ 344488 w 571500"/>
                <a:gd name="connsiteY2" fmla="*/ 50627 h 533400"/>
                <a:gd name="connsiteX3" fmla="*/ 287338 w 571500"/>
                <a:gd name="connsiteY3" fmla="*/ 105872 h 533400"/>
                <a:gd name="connsiteX4" fmla="*/ 294005 w 571500"/>
                <a:gd name="connsiteY4" fmla="*/ 123017 h 533400"/>
                <a:gd name="connsiteX5" fmla="*/ 292100 w 571500"/>
                <a:gd name="connsiteY5" fmla="*/ 140162 h 533400"/>
                <a:gd name="connsiteX6" fmla="*/ 270193 w 571500"/>
                <a:gd name="connsiteY6" fmla="*/ 170642 h 533400"/>
                <a:gd name="connsiteX7" fmla="*/ 251143 w 571500"/>
                <a:gd name="connsiteY7" fmla="*/ 173499 h 533400"/>
                <a:gd name="connsiteX8" fmla="*/ 234950 w 571500"/>
                <a:gd name="connsiteY8" fmla="*/ 162069 h 533400"/>
                <a:gd name="connsiteX9" fmla="*/ 213995 w 571500"/>
                <a:gd name="connsiteY9" fmla="*/ 166832 h 533400"/>
                <a:gd name="connsiteX10" fmla="*/ 177800 w 571500"/>
                <a:gd name="connsiteY10" fmla="*/ 217314 h 533400"/>
                <a:gd name="connsiteX11" fmla="*/ 152083 w 571500"/>
                <a:gd name="connsiteY11" fmla="*/ 233507 h 533400"/>
                <a:gd name="connsiteX12" fmla="*/ 7302 w 571500"/>
                <a:gd name="connsiteY12" fmla="*/ 397337 h 533400"/>
                <a:gd name="connsiteX13" fmla="*/ 138748 w 571500"/>
                <a:gd name="connsiteY13" fmla="*/ 532592 h 533400"/>
                <a:gd name="connsiteX14" fmla="*/ 297815 w 571500"/>
                <a:gd name="connsiteY14" fmla="*/ 397337 h 533400"/>
                <a:gd name="connsiteX15" fmla="*/ 272098 w 571500"/>
                <a:gd name="connsiteY15" fmla="*/ 297324 h 533400"/>
                <a:gd name="connsiteX16" fmla="*/ 270193 w 571500"/>
                <a:gd name="connsiteY16" fmla="*/ 276369 h 533400"/>
                <a:gd name="connsiteX17" fmla="*/ 305435 w 571500"/>
                <a:gd name="connsiteY17" fmla="*/ 238269 h 533400"/>
                <a:gd name="connsiteX18" fmla="*/ 305435 w 571500"/>
                <a:gd name="connsiteY18" fmla="*/ 219219 h 533400"/>
                <a:gd name="connsiteX19" fmla="*/ 293053 w 571500"/>
                <a:gd name="connsiteY19" fmla="*/ 203027 h 533400"/>
                <a:gd name="connsiteX20" fmla="*/ 321628 w 571500"/>
                <a:gd name="connsiteY20" fmla="*/ 167784 h 533400"/>
                <a:gd name="connsiteX21" fmla="*/ 338773 w 571500"/>
                <a:gd name="connsiteY21" fmla="*/ 160164 h 533400"/>
                <a:gd name="connsiteX22" fmla="*/ 355918 w 571500"/>
                <a:gd name="connsiteY22" fmla="*/ 172547 h 533400"/>
                <a:gd name="connsiteX23" fmla="*/ 376873 w 571500"/>
                <a:gd name="connsiteY23" fmla="*/ 161117 h 533400"/>
                <a:gd name="connsiteX24" fmla="*/ 474028 w 571500"/>
                <a:gd name="connsiteY24" fmla="*/ 101109 h 533400"/>
                <a:gd name="connsiteX25" fmla="*/ 538798 w 571500"/>
                <a:gd name="connsiteY25" fmla="*/ 161117 h 533400"/>
                <a:gd name="connsiteX26" fmla="*/ 560705 w 571500"/>
                <a:gd name="connsiteY26" fmla="*/ 168737 h 533400"/>
                <a:gd name="connsiteX27" fmla="*/ 565468 w 571500"/>
                <a:gd name="connsiteY27" fmla="*/ 108729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1500" h="533400">
                  <a:moveTo>
                    <a:pt x="565468" y="108729"/>
                  </a:moveTo>
                  <a:cubicBezTo>
                    <a:pt x="565468" y="108729"/>
                    <a:pt x="544513" y="51579"/>
                    <a:pt x="455930" y="10622"/>
                  </a:cubicBezTo>
                  <a:cubicBezTo>
                    <a:pt x="455930" y="10622"/>
                    <a:pt x="417830" y="-10333"/>
                    <a:pt x="344488" y="50627"/>
                  </a:cubicBezTo>
                  <a:lnTo>
                    <a:pt x="287338" y="105872"/>
                  </a:lnTo>
                  <a:lnTo>
                    <a:pt x="294005" y="123017"/>
                  </a:lnTo>
                  <a:lnTo>
                    <a:pt x="292100" y="140162"/>
                  </a:lnTo>
                  <a:lnTo>
                    <a:pt x="270193" y="170642"/>
                  </a:lnTo>
                  <a:lnTo>
                    <a:pt x="251143" y="173499"/>
                  </a:lnTo>
                  <a:lnTo>
                    <a:pt x="234950" y="162069"/>
                  </a:lnTo>
                  <a:cubicBezTo>
                    <a:pt x="234950" y="162069"/>
                    <a:pt x="223520" y="154449"/>
                    <a:pt x="213995" y="166832"/>
                  </a:cubicBezTo>
                  <a:lnTo>
                    <a:pt x="177800" y="217314"/>
                  </a:lnTo>
                  <a:cubicBezTo>
                    <a:pt x="177800" y="217314"/>
                    <a:pt x="173038" y="231602"/>
                    <a:pt x="152083" y="233507"/>
                  </a:cubicBezTo>
                  <a:cubicBezTo>
                    <a:pt x="152083" y="233507"/>
                    <a:pt x="1588" y="231602"/>
                    <a:pt x="7302" y="397337"/>
                  </a:cubicBezTo>
                  <a:cubicBezTo>
                    <a:pt x="7302" y="397337"/>
                    <a:pt x="5398" y="523067"/>
                    <a:pt x="138748" y="532592"/>
                  </a:cubicBezTo>
                  <a:cubicBezTo>
                    <a:pt x="138748" y="532592"/>
                    <a:pt x="283528" y="535449"/>
                    <a:pt x="297815" y="397337"/>
                  </a:cubicBezTo>
                  <a:cubicBezTo>
                    <a:pt x="297815" y="397337"/>
                    <a:pt x="307340" y="337329"/>
                    <a:pt x="272098" y="297324"/>
                  </a:cubicBezTo>
                  <a:cubicBezTo>
                    <a:pt x="272098" y="297324"/>
                    <a:pt x="260668" y="284942"/>
                    <a:pt x="270193" y="276369"/>
                  </a:cubicBezTo>
                  <a:lnTo>
                    <a:pt x="305435" y="238269"/>
                  </a:lnTo>
                  <a:cubicBezTo>
                    <a:pt x="305435" y="238269"/>
                    <a:pt x="312103" y="233507"/>
                    <a:pt x="305435" y="219219"/>
                  </a:cubicBezTo>
                  <a:lnTo>
                    <a:pt x="293053" y="203027"/>
                  </a:lnTo>
                  <a:lnTo>
                    <a:pt x="321628" y="167784"/>
                  </a:lnTo>
                  <a:lnTo>
                    <a:pt x="338773" y="160164"/>
                  </a:lnTo>
                  <a:lnTo>
                    <a:pt x="355918" y="172547"/>
                  </a:lnTo>
                  <a:cubicBezTo>
                    <a:pt x="355918" y="172547"/>
                    <a:pt x="349250" y="177309"/>
                    <a:pt x="376873" y="161117"/>
                  </a:cubicBezTo>
                  <a:lnTo>
                    <a:pt x="474028" y="101109"/>
                  </a:lnTo>
                  <a:lnTo>
                    <a:pt x="538798" y="161117"/>
                  </a:lnTo>
                  <a:lnTo>
                    <a:pt x="560705" y="168737"/>
                  </a:lnTo>
                  <a:lnTo>
                    <a:pt x="565468" y="108729"/>
                  </a:lnTo>
                  <a:close/>
                </a:path>
              </a:pathLst>
            </a:custGeom>
            <a:solidFill>
              <a:schemeClr val="accent3"/>
            </a:solidFill>
            <a:ln w="9525" cap="flat">
              <a:noFill/>
              <a:prstDash val="solid"/>
              <a:miter/>
            </a:ln>
          </p:spPr>
          <p:txBody>
            <a:bodyPr rtlCol="0" anchor="ctr"/>
            <a:lstStyle/>
            <a:p>
              <a:endParaRPr lang="en-US"/>
            </a:p>
          </p:txBody>
        </p:sp>
        <p:sp>
          <p:nvSpPr>
            <p:cNvPr id="19" name="Freeform: Shape 327">
              <a:extLst>
                <a:ext uri="{FF2B5EF4-FFF2-40B4-BE49-F238E27FC236}">
                  <a16:creationId xmlns:a16="http://schemas.microsoft.com/office/drawing/2014/main" id="{2C117BAA-9508-AB11-8EE4-11D825D2C352}"/>
                </a:ext>
              </a:extLst>
            </p:cNvPr>
            <p:cNvSpPr/>
            <p:nvPr/>
          </p:nvSpPr>
          <p:spPr>
            <a:xfrm>
              <a:off x="2582521" y="3220640"/>
              <a:ext cx="202235" cy="653375"/>
            </a:xfrm>
            <a:custGeom>
              <a:avLst/>
              <a:gdLst>
                <a:gd name="connsiteX0" fmla="*/ 102495 w 123825"/>
                <a:gd name="connsiteY0" fmla="*/ 393993 h 400050"/>
                <a:gd name="connsiteX1" fmla="*/ 102495 w 123825"/>
                <a:gd name="connsiteY1" fmla="*/ 393993 h 400050"/>
                <a:gd name="connsiteX2" fmla="*/ 88207 w 123825"/>
                <a:gd name="connsiteY2" fmla="*/ 379706 h 400050"/>
                <a:gd name="connsiteX3" fmla="*/ 59632 w 123825"/>
                <a:gd name="connsiteY3" fmla="*/ 265406 h 400050"/>
                <a:gd name="connsiteX4" fmla="*/ 7245 w 123825"/>
                <a:gd name="connsiteY4" fmla="*/ 121578 h 400050"/>
                <a:gd name="connsiteX5" fmla="*/ 32010 w 123825"/>
                <a:gd name="connsiteY5" fmla="*/ 15851 h 400050"/>
                <a:gd name="connsiteX6" fmla="*/ 51060 w 123825"/>
                <a:gd name="connsiteY6" fmla="*/ 8231 h 400050"/>
                <a:gd name="connsiteX7" fmla="*/ 58679 w 123825"/>
                <a:gd name="connsiteY7" fmla="*/ 27281 h 400050"/>
                <a:gd name="connsiteX8" fmla="*/ 35820 w 123825"/>
                <a:gd name="connsiteY8" fmla="*/ 119673 h 400050"/>
                <a:gd name="connsiteX9" fmla="*/ 84397 w 123825"/>
                <a:gd name="connsiteY9" fmla="*/ 250166 h 400050"/>
                <a:gd name="connsiteX10" fmla="*/ 116782 w 123825"/>
                <a:gd name="connsiteY10" fmla="*/ 380658 h 400050"/>
                <a:gd name="connsiteX11" fmla="*/ 102495 w 123825"/>
                <a:gd name="connsiteY11" fmla="*/ 393993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825" h="400050">
                  <a:moveTo>
                    <a:pt x="102495" y="393993"/>
                  </a:moveTo>
                  <a:cubicBezTo>
                    <a:pt x="102495" y="393993"/>
                    <a:pt x="102495" y="393993"/>
                    <a:pt x="102495" y="393993"/>
                  </a:cubicBezTo>
                  <a:cubicBezTo>
                    <a:pt x="93922" y="393993"/>
                    <a:pt x="88207" y="387326"/>
                    <a:pt x="88207" y="379706"/>
                  </a:cubicBezTo>
                  <a:cubicBezTo>
                    <a:pt x="90112" y="314936"/>
                    <a:pt x="60585" y="265406"/>
                    <a:pt x="59632" y="265406"/>
                  </a:cubicBezTo>
                  <a:cubicBezTo>
                    <a:pt x="13912" y="200636"/>
                    <a:pt x="7245" y="124436"/>
                    <a:pt x="7245" y="121578"/>
                  </a:cubicBezTo>
                  <a:cubicBezTo>
                    <a:pt x="5340" y="78716"/>
                    <a:pt x="31057" y="18708"/>
                    <a:pt x="32010" y="15851"/>
                  </a:cubicBezTo>
                  <a:cubicBezTo>
                    <a:pt x="34867" y="8231"/>
                    <a:pt x="43440" y="5373"/>
                    <a:pt x="51060" y="8231"/>
                  </a:cubicBezTo>
                  <a:cubicBezTo>
                    <a:pt x="58679" y="11088"/>
                    <a:pt x="61537" y="19661"/>
                    <a:pt x="58679" y="27281"/>
                  </a:cubicBezTo>
                  <a:cubicBezTo>
                    <a:pt x="58679" y="28233"/>
                    <a:pt x="34867" y="83478"/>
                    <a:pt x="35820" y="119673"/>
                  </a:cubicBezTo>
                  <a:cubicBezTo>
                    <a:pt x="35820" y="119673"/>
                    <a:pt x="42487" y="191111"/>
                    <a:pt x="84397" y="250166"/>
                  </a:cubicBezTo>
                  <a:cubicBezTo>
                    <a:pt x="86302" y="253023"/>
                    <a:pt x="118687" y="307316"/>
                    <a:pt x="116782" y="380658"/>
                  </a:cubicBezTo>
                  <a:cubicBezTo>
                    <a:pt x="116782" y="388278"/>
                    <a:pt x="110115" y="393993"/>
                    <a:pt x="102495" y="393993"/>
                  </a:cubicBezTo>
                  <a:close/>
                </a:path>
              </a:pathLst>
            </a:custGeom>
            <a:solidFill>
              <a:schemeClr val="accent3"/>
            </a:solidFill>
            <a:ln w="9525" cap="flat">
              <a:noFill/>
              <a:prstDash val="solid"/>
              <a:miter/>
            </a:ln>
          </p:spPr>
          <p:txBody>
            <a:bodyPr rtlCol="0" anchor="ctr"/>
            <a:lstStyle/>
            <a:p>
              <a:endParaRPr lang="en-US"/>
            </a:p>
          </p:txBody>
        </p:sp>
        <p:sp>
          <p:nvSpPr>
            <p:cNvPr id="20" name="Freeform: Shape 328">
              <a:extLst>
                <a:ext uri="{FF2B5EF4-FFF2-40B4-BE49-F238E27FC236}">
                  <a16:creationId xmlns:a16="http://schemas.microsoft.com/office/drawing/2014/main" id="{7EB0878A-C681-6ECF-A2BC-4E963F439F9B}"/>
                </a:ext>
              </a:extLst>
            </p:cNvPr>
            <p:cNvSpPr/>
            <p:nvPr/>
          </p:nvSpPr>
          <p:spPr>
            <a:xfrm>
              <a:off x="2580960" y="4446546"/>
              <a:ext cx="964507" cy="1835674"/>
            </a:xfrm>
            <a:custGeom>
              <a:avLst/>
              <a:gdLst>
                <a:gd name="connsiteX0" fmla="*/ 97735 w 590550"/>
                <a:gd name="connsiteY0" fmla="*/ 1124530 h 1123950"/>
                <a:gd name="connsiteX1" fmla="*/ 34870 w 590550"/>
                <a:gd name="connsiteY1" fmla="*/ 1102623 h 1123950"/>
                <a:gd name="connsiteX2" fmla="*/ 61540 w 590550"/>
                <a:gd name="connsiteY2" fmla="*/ 1071190 h 1123950"/>
                <a:gd name="connsiteX3" fmla="*/ 63445 w 590550"/>
                <a:gd name="connsiteY3" fmla="*/ 1070238 h 1123950"/>
                <a:gd name="connsiteX4" fmla="*/ 141550 w 590550"/>
                <a:gd name="connsiteY4" fmla="*/ 1060713 h 1123950"/>
                <a:gd name="connsiteX5" fmla="*/ 252993 w 590550"/>
                <a:gd name="connsiteY5" fmla="*/ 911170 h 1123950"/>
                <a:gd name="connsiteX6" fmla="*/ 252993 w 590550"/>
                <a:gd name="connsiteY6" fmla="*/ 910218 h 1123950"/>
                <a:gd name="connsiteX7" fmla="*/ 252993 w 590550"/>
                <a:gd name="connsiteY7" fmla="*/ 909265 h 1123950"/>
                <a:gd name="connsiteX8" fmla="*/ 176793 w 590550"/>
                <a:gd name="connsiteY8" fmla="*/ 714003 h 1123950"/>
                <a:gd name="connsiteX9" fmla="*/ 175840 w 590550"/>
                <a:gd name="connsiteY9" fmla="*/ 713050 h 1123950"/>
                <a:gd name="connsiteX10" fmla="*/ 109165 w 590550"/>
                <a:gd name="connsiteY10" fmla="*/ 567318 h 1123950"/>
                <a:gd name="connsiteX11" fmla="*/ 7248 w 590550"/>
                <a:gd name="connsiteY11" fmla="*/ 23440 h 1123950"/>
                <a:gd name="connsiteX12" fmla="*/ 19630 w 590550"/>
                <a:gd name="connsiteY12" fmla="*/ 7248 h 1123950"/>
                <a:gd name="connsiteX13" fmla="*/ 35823 w 590550"/>
                <a:gd name="connsiteY13" fmla="*/ 19630 h 1123950"/>
                <a:gd name="connsiteX14" fmla="*/ 136788 w 590550"/>
                <a:gd name="connsiteY14" fmla="*/ 559698 h 1123950"/>
                <a:gd name="connsiteX15" fmla="*/ 199653 w 590550"/>
                <a:gd name="connsiteY15" fmla="*/ 695905 h 1123950"/>
                <a:gd name="connsiteX16" fmla="*/ 281568 w 590550"/>
                <a:gd name="connsiteY16" fmla="*/ 909265 h 1123950"/>
                <a:gd name="connsiteX17" fmla="*/ 150123 w 590550"/>
                <a:gd name="connsiteY17" fmla="*/ 1087383 h 1123950"/>
                <a:gd name="connsiteX18" fmla="*/ 146313 w 590550"/>
                <a:gd name="connsiteY18" fmla="*/ 1088335 h 1123950"/>
                <a:gd name="connsiteX19" fmla="*/ 93925 w 590550"/>
                <a:gd name="connsiteY19" fmla="*/ 1095003 h 1123950"/>
                <a:gd name="connsiteX20" fmla="*/ 96783 w 590550"/>
                <a:gd name="connsiteY20" fmla="*/ 1095003 h 1123950"/>
                <a:gd name="connsiteX21" fmla="*/ 424443 w 590550"/>
                <a:gd name="connsiteY21" fmla="*/ 1093098 h 1123950"/>
                <a:gd name="connsiteX22" fmla="*/ 561603 w 590550"/>
                <a:gd name="connsiteY22" fmla="*/ 974035 h 1123950"/>
                <a:gd name="connsiteX23" fmla="*/ 511120 w 590550"/>
                <a:gd name="connsiteY23" fmla="*/ 793060 h 1123950"/>
                <a:gd name="connsiteX24" fmla="*/ 512073 w 590550"/>
                <a:gd name="connsiteY24" fmla="*/ 485403 h 1123950"/>
                <a:gd name="connsiteX25" fmla="*/ 529218 w 590550"/>
                <a:gd name="connsiteY25" fmla="*/ 473973 h 1123950"/>
                <a:gd name="connsiteX26" fmla="*/ 540648 w 590550"/>
                <a:gd name="connsiteY26" fmla="*/ 491118 h 1123950"/>
                <a:gd name="connsiteX27" fmla="*/ 535885 w 590550"/>
                <a:gd name="connsiteY27" fmla="*/ 777820 h 1123950"/>
                <a:gd name="connsiteX28" fmla="*/ 590178 w 590550"/>
                <a:gd name="connsiteY28" fmla="*/ 974988 h 1123950"/>
                <a:gd name="connsiteX29" fmla="*/ 426348 w 590550"/>
                <a:gd name="connsiteY29" fmla="*/ 1121673 h 1123950"/>
                <a:gd name="connsiteX30" fmla="*/ 424443 w 590550"/>
                <a:gd name="connsiteY30" fmla="*/ 1121673 h 1123950"/>
                <a:gd name="connsiteX31" fmla="*/ 97735 w 590550"/>
                <a:gd name="connsiteY31" fmla="*/ 1124530 h 1123950"/>
                <a:gd name="connsiteX32" fmla="*/ 145360 w 590550"/>
                <a:gd name="connsiteY32" fmla="*/ 1075953 h 1123950"/>
                <a:gd name="connsiteX33" fmla="*/ 145360 w 590550"/>
                <a:gd name="connsiteY33" fmla="*/ 1075953 h 1123950"/>
                <a:gd name="connsiteX34" fmla="*/ 145360 w 590550"/>
                <a:gd name="connsiteY34" fmla="*/ 1075953 h 112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0550" h="1123950">
                  <a:moveTo>
                    <a:pt x="97735" y="1124530"/>
                  </a:moveTo>
                  <a:cubicBezTo>
                    <a:pt x="60588" y="1123578"/>
                    <a:pt x="38680" y="1119768"/>
                    <a:pt x="34870" y="1102623"/>
                  </a:cubicBezTo>
                  <a:cubicBezTo>
                    <a:pt x="32013" y="1087383"/>
                    <a:pt x="48205" y="1076905"/>
                    <a:pt x="61540" y="1071190"/>
                  </a:cubicBezTo>
                  <a:lnTo>
                    <a:pt x="63445" y="1070238"/>
                  </a:lnTo>
                  <a:lnTo>
                    <a:pt x="141550" y="1060713"/>
                  </a:lnTo>
                  <a:cubicBezTo>
                    <a:pt x="259660" y="1013088"/>
                    <a:pt x="252993" y="914980"/>
                    <a:pt x="252993" y="911170"/>
                  </a:cubicBezTo>
                  <a:lnTo>
                    <a:pt x="252993" y="910218"/>
                  </a:lnTo>
                  <a:lnTo>
                    <a:pt x="252993" y="909265"/>
                  </a:lnTo>
                  <a:cubicBezTo>
                    <a:pt x="255850" y="814015"/>
                    <a:pt x="177745" y="714955"/>
                    <a:pt x="176793" y="714003"/>
                  </a:cubicBezTo>
                  <a:lnTo>
                    <a:pt x="175840" y="713050"/>
                  </a:lnTo>
                  <a:cubicBezTo>
                    <a:pt x="134883" y="654948"/>
                    <a:pt x="110118" y="571128"/>
                    <a:pt x="109165" y="567318"/>
                  </a:cubicBezTo>
                  <a:cubicBezTo>
                    <a:pt x="55825" y="361578"/>
                    <a:pt x="7248" y="27250"/>
                    <a:pt x="7248" y="23440"/>
                  </a:cubicBezTo>
                  <a:cubicBezTo>
                    <a:pt x="6295" y="15820"/>
                    <a:pt x="12010" y="8200"/>
                    <a:pt x="19630" y="7248"/>
                  </a:cubicBezTo>
                  <a:cubicBezTo>
                    <a:pt x="27250" y="6295"/>
                    <a:pt x="34870" y="12010"/>
                    <a:pt x="35823" y="19630"/>
                  </a:cubicBezTo>
                  <a:cubicBezTo>
                    <a:pt x="35823" y="23440"/>
                    <a:pt x="84400" y="355863"/>
                    <a:pt x="136788" y="559698"/>
                  </a:cubicBezTo>
                  <a:cubicBezTo>
                    <a:pt x="136788" y="559698"/>
                    <a:pt x="161553" y="641613"/>
                    <a:pt x="199653" y="695905"/>
                  </a:cubicBezTo>
                  <a:cubicBezTo>
                    <a:pt x="206320" y="704478"/>
                    <a:pt x="284425" y="805443"/>
                    <a:pt x="281568" y="909265"/>
                  </a:cubicBezTo>
                  <a:cubicBezTo>
                    <a:pt x="282520" y="921648"/>
                    <a:pt x="283473" y="1034995"/>
                    <a:pt x="150123" y="1087383"/>
                  </a:cubicBezTo>
                  <a:lnTo>
                    <a:pt x="146313" y="1088335"/>
                  </a:lnTo>
                  <a:lnTo>
                    <a:pt x="93925" y="1095003"/>
                  </a:lnTo>
                  <a:cubicBezTo>
                    <a:pt x="94878" y="1095003"/>
                    <a:pt x="95830" y="1095003"/>
                    <a:pt x="96783" y="1095003"/>
                  </a:cubicBezTo>
                  <a:lnTo>
                    <a:pt x="424443" y="1093098"/>
                  </a:lnTo>
                  <a:cubicBezTo>
                    <a:pt x="436825" y="1091193"/>
                    <a:pt x="561603" y="1073095"/>
                    <a:pt x="561603" y="974035"/>
                  </a:cubicBezTo>
                  <a:cubicBezTo>
                    <a:pt x="561603" y="972130"/>
                    <a:pt x="566365" y="880690"/>
                    <a:pt x="511120" y="793060"/>
                  </a:cubicBezTo>
                  <a:cubicBezTo>
                    <a:pt x="509215" y="789250"/>
                    <a:pt x="467305" y="709240"/>
                    <a:pt x="512073" y="485403"/>
                  </a:cubicBezTo>
                  <a:cubicBezTo>
                    <a:pt x="513978" y="477783"/>
                    <a:pt x="521598" y="473020"/>
                    <a:pt x="529218" y="473973"/>
                  </a:cubicBezTo>
                  <a:cubicBezTo>
                    <a:pt x="536838" y="475878"/>
                    <a:pt x="541600" y="483498"/>
                    <a:pt x="540648" y="491118"/>
                  </a:cubicBezTo>
                  <a:cubicBezTo>
                    <a:pt x="499690" y="694953"/>
                    <a:pt x="533028" y="773058"/>
                    <a:pt x="535885" y="777820"/>
                  </a:cubicBezTo>
                  <a:cubicBezTo>
                    <a:pt x="595893" y="874023"/>
                    <a:pt x="590178" y="970225"/>
                    <a:pt x="590178" y="974988"/>
                  </a:cubicBezTo>
                  <a:cubicBezTo>
                    <a:pt x="590178" y="1075953"/>
                    <a:pt x="483498" y="1115005"/>
                    <a:pt x="426348" y="1121673"/>
                  </a:cubicBezTo>
                  <a:lnTo>
                    <a:pt x="424443" y="1121673"/>
                  </a:lnTo>
                  <a:lnTo>
                    <a:pt x="97735" y="1124530"/>
                  </a:lnTo>
                  <a:close/>
                  <a:moveTo>
                    <a:pt x="145360" y="1075953"/>
                  </a:moveTo>
                  <a:lnTo>
                    <a:pt x="145360" y="1075953"/>
                  </a:lnTo>
                  <a:lnTo>
                    <a:pt x="145360" y="1075953"/>
                  </a:lnTo>
                  <a:close/>
                </a:path>
              </a:pathLst>
            </a:custGeom>
            <a:solidFill>
              <a:schemeClr val="accent3"/>
            </a:solidFill>
            <a:ln w="9525" cap="flat">
              <a:noFill/>
              <a:prstDash val="solid"/>
              <a:miter/>
            </a:ln>
          </p:spPr>
          <p:txBody>
            <a:bodyPr rtlCol="0" anchor="ctr"/>
            <a:lstStyle/>
            <a:p>
              <a:endParaRPr lang="en-US"/>
            </a:p>
          </p:txBody>
        </p:sp>
        <p:sp>
          <p:nvSpPr>
            <p:cNvPr id="21" name="Freeform: Shape 329">
              <a:extLst>
                <a:ext uri="{FF2B5EF4-FFF2-40B4-BE49-F238E27FC236}">
                  <a16:creationId xmlns:a16="http://schemas.microsoft.com/office/drawing/2014/main" id="{A943930C-24BD-C57C-1243-D9DF0C41C3B3}"/>
                </a:ext>
              </a:extLst>
            </p:cNvPr>
            <p:cNvSpPr/>
            <p:nvPr/>
          </p:nvSpPr>
          <p:spPr>
            <a:xfrm>
              <a:off x="3563507" y="3778501"/>
              <a:ext cx="497810" cy="684488"/>
            </a:xfrm>
            <a:custGeom>
              <a:avLst/>
              <a:gdLst>
                <a:gd name="connsiteX0" fmla="*/ 294334 w 304800"/>
                <a:gd name="connsiteY0" fmla="*/ 11467 h 419100"/>
                <a:gd name="connsiteX1" fmla="*/ 260997 w 304800"/>
                <a:gd name="connsiteY1" fmla="*/ 16230 h 419100"/>
                <a:gd name="connsiteX2" fmla="*/ 78117 w 304800"/>
                <a:gd name="connsiteY2" fmla="*/ 190537 h 419100"/>
                <a:gd name="connsiteX3" fmla="*/ 63829 w 304800"/>
                <a:gd name="connsiteY3" fmla="*/ 236257 h 419100"/>
                <a:gd name="connsiteX4" fmla="*/ 59067 w 304800"/>
                <a:gd name="connsiteY4" fmla="*/ 296265 h 419100"/>
                <a:gd name="connsiteX5" fmla="*/ 16204 w 304800"/>
                <a:gd name="connsiteY5" fmla="*/ 345795 h 419100"/>
                <a:gd name="connsiteX6" fmla="*/ 14299 w 304800"/>
                <a:gd name="connsiteY6" fmla="*/ 396277 h 419100"/>
                <a:gd name="connsiteX7" fmla="*/ 30492 w 304800"/>
                <a:gd name="connsiteY7" fmla="*/ 415327 h 419100"/>
                <a:gd name="connsiteX8" fmla="*/ 75259 w 304800"/>
                <a:gd name="connsiteY8" fmla="*/ 380085 h 419100"/>
                <a:gd name="connsiteX9" fmla="*/ 297192 w 304800"/>
                <a:gd name="connsiteY9" fmla="*/ 52425 h 419100"/>
                <a:gd name="connsiteX10" fmla="*/ 294334 w 304800"/>
                <a:gd name="connsiteY10" fmla="*/ 11467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4800" h="419100">
                  <a:moveTo>
                    <a:pt x="294334" y="11467"/>
                  </a:moveTo>
                  <a:cubicBezTo>
                    <a:pt x="294334" y="11467"/>
                    <a:pt x="280047" y="-915"/>
                    <a:pt x="260997" y="16230"/>
                  </a:cubicBezTo>
                  <a:lnTo>
                    <a:pt x="78117" y="190537"/>
                  </a:lnTo>
                  <a:cubicBezTo>
                    <a:pt x="78117" y="190537"/>
                    <a:pt x="60972" y="201967"/>
                    <a:pt x="63829" y="236257"/>
                  </a:cubicBezTo>
                  <a:cubicBezTo>
                    <a:pt x="63829" y="236257"/>
                    <a:pt x="80974" y="269595"/>
                    <a:pt x="59067" y="296265"/>
                  </a:cubicBezTo>
                  <a:lnTo>
                    <a:pt x="16204" y="345795"/>
                  </a:lnTo>
                  <a:cubicBezTo>
                    <a:pt x="16204" y="345795"/>
                    <a:pt x="-2846" y="371512"/>
                    <a:pt x="14299" y="396277"/>
                  </a:cubicBezTo>
                  <a:lnTo>
                    <a:pt x="30492" y="415327"/>
                  </a:lnTo>
                  <a:cubicBezTo>
                    <a:pt x="30492" y="415327"/>
                    <a:pt x="42874" y="431520"/>
                    <a:pt x="75259" y="380085"/>
                  </a:cubicBezTo>
                  <a:lnTo>
                    <a:pt x="297192" y="52425"/>
                  </a:lnTo>
                  <a:cubicBezTo>
                    <a:pt x="297192" y="52425"/>
                    <a:pt x="321004" y="28612"/>
                    <a:pt x="294334" y="11467"/>
                  </a:cubicBezTo>
                  <a:close/>
                </a:path>
              </a:pathLst>
            </a:custGeom>
            <a:solidFill>
              <a:schemeClr val="accent3"/>
            </a:solidFill>
            <a:ln w="9525" cap="flat">
              <a:noFill/>
              <a:prstDash val="solid"/>
              <a:miter/>
            </a:ln>
          </p:spPr>
          <p:txBody>
            <a:bodyPr rtlCol="0" anchor="ctr"/>
            <a:lstStyle/>
            <a:p>
              <a:endParaRPr lang="en-US"/>
            </a:p>
          </p:txBody>
        </p:sp>
      </p:grpSp>
      <p:pic>
        <p:nvPicPr>
          <p:cNvPr id="23" name="圖片 22">
            <a:extLst>
              <a:ext uri="{FF2B5EF4-FFF2-40B4-BE49-F238E27FC236}">
                <a16:creationId xmlns:a16="http://schemas.microsoft.com/office/drawing/2014/main" id="{984FF9DA-6DA2-2A66-4715-8DCB3B653754}"/>
              </a:ext>
            </a:extLst>
          </p:cNvPr>
          <p:cNvPicPr>
            <a:picLocks noChangeAspect="1"/>
          </p:cNvPicPr>
          <p:nvPr/>
        </p:nvPicPr>
        <p:blipFill>
          <a:blip r:embed="rId3"/>
          <a:srcRect b="57881"/>
          <a:stretch/>
        </p:blipFill>
        <p:spPr>
          <a:xfrm>
            <a:off x="0" y="18432"/>
            <a:ext cx="3064476" cy="1854618"/>
          </a:xfrm>
          <a:prstGeom prst="rect">
            <a:avLst/>
          </a:prstGeom>
        </p:spPr>
      </p:pic>
      <p:pic>
        <p:nvPicPr>
          <p:cNvPr id="1030" name="Picture 6">
            <a:extLst>
              <a:ext uri="{FF2B5EF4-FFF2-40B4-BE49-F238E27FC236}">
                <a16:creationId xmlns:a16="http://schemas.microsoft.com/office/drawing/2014/main" id="{40306D31-783C-CFBF-EA4C-AA51918F2D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58" y="2028506"/>
            <a:ext cx="2426862" cy="242686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189AE58-591D-3A93-7AC9-3FFFDFE904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7401" y="5338692"/>
            <a:ext cx="1271933" cy="1156481"/>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C3330E11-475F-B4BA-A140-99808CBA34DE}"/>
              </a:ext>
            </a:extLst>
          </p:cNvPr>
          <p:cNvSpPr txBox="1"/>
          <p:nvPr/>
        </p:nvSpPr>
        <p:spPr>
          <a:xfrm>
            <a:off x="4487917" y="2642507"/>
            <a:ext cx="7463002" cy="1689117"/>
          </a:xfrm>
          <a:prstGeom prst="rect">
            <a:avLst/>
          </a:prstGeom>
          <a:noFill/>
        </p:spPr>
        <p:txBody>
          <a:bodyPr wrap="square">
            <a:spAutoFit/>
          </a:bodyPr>
          <a:lstStyle/>
          <a:p>
            <a:pPr indent="406400" algn="ctr" fontAlgn="base">
              <a:lnSpc>
                <a:spcPct val="150000"/>
              </a:lnSpc>
            </a:pPr>
            <a:r>
              <a:rPr lang="en-US" altLang="zh-TW" sz="2400" b="1" dirty="0">
                <a:effectLst/>
                <a:latin typeface="Microsoft JhengHei" panose="020B0604030504040204" pitchFamily="34" charset="-120"/>
                <a:ea typeface="Microsoft JhengHei" panose="020B0604030504040204" pitchFamily="34" charset="-120"/>
                <a:cs typeface="PMingLiU" panose="02020500000000000000" pitchFamily="18" charset="-120"/>
              </a:rPr>
              <a:t>Design and Implementation of an English Learning System Integrating LINE Bot with Large Language Models</a:t>
            </a:r>
            <a:endParaRPr lang="zh-TW" altLang="zh-TW" b="1" dirty="0">
              <a:effectLst/>
              <a:latin typeface="Microsoft JhengHei" panose="020B0604030504040204" pitchFamily="34" charset="-120"/>
              <a:ea typeface="Microsoft JhengHei" panose="020B0604030504040204" pitchFamily="34" charset="-120"/>
              <a:cs typeface="PMingLiU" panose="02020500000000000000" pitchFamily="18" charset="-120"/>
            </a:endParaRPr>
          </a:p>
        </p:txBody>
      </p:sp>
      <p:sp>
        <p:nvSpPr>
          <p:cNvPr id="10" name="Google Shape;184;p29">
            <a:extLst>
              <a:ext uri="{FF2B5EF4-FFF2-40B4-BE49-F238E27FC236}">
                <a16:creationId xmlns:a16="http://schemas.microsoft.com/office/drawing/2014/main" id="{9964DBE5-7F66-C8BA-2650-1125D631C69C}"/>
              </a:ext>
            </a:extLst>
          </p:cNvPr>
          <p:cNvSpPr txBox="1">
            <a:spLocks/>
          </p:cNvSpPr>
          <p:nvPr/>
        </p:nvSpPr>
        <p:spPr>
          <a:xfrm>
            <a:off x="6139667" y="5525003"/>
            <a:ext cx="4584357" cy="943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r>
              <a:rPr lang="zh-TW" altLang="en-US" sz="2000" b="1" dirty="0">
                <a:solidFill>
                  <a:schemeClr val="tx1"/>
                </a:solidFill>
                <a:latin typeface="Microsoft JhengHei" panose="020B0604030504040204" pitchFamily="34" charset="-120"/>
                <a:ea typeface="Microsoft JhengHei" panose="020B0604030504040204" pitchFamily="34" charset="-120"/>
              </a:rPr>
              <a:t>國立高雄科技大學 資訊管理學系研究所</a:t>
            </a:r>
            <a:endParaRPr lang="en-US" altLang="zh-TW" sz="2000" b="1" dirty="0">
              <a:solidFill>
                <a:schemeClr val="tx1"/>
              </a:solidFill>
              <a:latin typeface="Microsoft JhengHei" panose="020B0604030504040204" pitchFamily="34" charset="-120"/>
              <a:ea typeface="Microsoft JhengHei" panose="020B0604030504040204" pitchFamily="34" charset="-120"/>
            </a:endParaRPr>
          </a:p>
          <a:p>
            <a:r>
              <a:rPr lang="zh-TW" altLang="en-US" sz="2000" b="1" dirty="0">
                <a:latin typeface="Microsoft JhengHei" panose="020B0604030504040204" pitchFamily="34" charset="-120"/>
                <a:ea typeface="Microsoft JhengHei" panose="020B0604030504040204" pitchFamily="34" charset="-120"/>
                <a:cs typeface="Overpass Light" pitchFamily="34" charset="-120"/>
              </a:rPr>
              <a:t>報告學生：杜宜霖</a:t>
            </a:r>
            <a:endParaRPr lang="en-US" altLang="zh-TW" sz="2000" b="1" dirty="0">
              <a:latin typeface="Microsoft JhengHei" panose="020B0604030504040204" pitchFamily="34" charset="-120"/>
              <a:ea typeface="Microsoft JhengHei" panose="020B0604030504040204" pitchFamily="34" charset="-120"/>
              <a:cs typeface="Overpass Light" pitchFamily="34" charset="-120"/>
            </a:endParaRPr>
          </a:p>
          <a:p>
            <a:r>
              <a:rPr lang="zh-TW" altLang="en-US" sz="2000" b="1" dirty="0">
                <a:latin typeface="Microsoft JhengHei" panose="020B0604030504040204" pitchFamily="34" charset="-120"/>
                <a:ea typeface="Microsoft JhengHei" panose="020B0604030504040204" pitchFamily="34" charset="-120"/>
                <a:cs typeface="Overpass Light" pitchFamily="34" charset="-120"/>
              </a:rPr>
              <a:t>指導老師：黃承龍教授</a:t>
            </a:r>
          </a:p>
          <a:p>
            <a:endParaRPr lang="zh-TW" altLang="en-US" sz="2000" b="1" dirty="0">
              <a:latin typeface="Microsoft JhengHei" panose="020B0604030504040204" pitchFamily="34" charset="-120"/>
              <a:ea typeface="Microsoft JhengHei" panose="020B0604030504040204" pitchFamily="34" charset="-120"/>
              <a:cs typeface="Overpass Light" pitchFamily="34" charset="-120"/>
            </a:endParaRPr>
          </a:p>
          <a:p>
            <a:pPr marL="0" indent="0"/>
            <a:endParaRPr lang="zh-TW" altLang="en-US" sz="2000" b="1" dirty="0">
              <a:solidFill>
                <a:schemeClr val="tx1"/>
              </a:solidFill>
              <a:latin typeface="Microsoft JhengHei" panose="020B0604030504040204" pitchFamily="34" charset="-120"/>
              <a:ea typeface="Microsoft JhengHei" panose="020B0604030504040204" pitchFamily="34" charset="-120"/>
            </a:endParaRPr>
          </a:p>
        </p:txBody>
      </p:sp>
      <p:sp>
        <p:nvSpPr>
          <p:cNvPr id="8" name="文字方塊 7">
            <a:extLst>
              <a:ext uri="{FF2B5EF4-FFF2-40B4-BE49-F238E27FC236}">
                <a16:creationId xmlns:a16="http://schemas.microsoft.com/office/drawing/2014/main" id="{8E0ACDEE-B636-8739-4C5D-3BF891CFF5F0}"/>
              </a:ext>
            </a:extLst>
          </p:cNvPr>
          <p:cNvSpPr txBox="1"/>
          <p:nvPr/>
        </p:nvSpPr>
        <p:spPr>
          <a:xfrm>
            <a:off x="3657600" y="3930134"/>
            <a:ext cx="7315200" cy="369332"/>
          </a:xfrm>
          <a:prstGeom prst="rect">
            <a:avLst/>
          </a:prstGeom>
          <a:noFill/>
        </p:spPr>
        <p:txBody>
          <a:bodyPr wrap="square">
            <a:spAutoFit/>
          </a:bodyPr>
          <a:lstStyle/>
          <a:p>
            <a:r>
              <a:rPr lang="zh-TW" altLang="en-US" b="0" dirty="0">
                <a:effectLst/>
              </a:rPr>
              <a:t> </a:t>
            </a:r>
            <a:endParaRPr lang="zh-TW" altLang="en-US" dirty="0"/>
          </a:p>
        </p:txBody>
      </p:sp>
      <p:sp>
        <p:nvSpPr>
          <p:cNvPr id="14" name="文字方塊 13">
            <a:extLst>
              <a:ext uri="{FF2B5EF4-FFF2-40B4-BE49-F238E27FC236}">
                <a16:creationId xmlns:a16="http://schemas.microsoft.com/office/drawing/2014/main" id="{4B013109-CF46-BA71-B7CA-E5B5DB97AA5A}"/>
              </a:ext>
            </a:extLst>
          </p:cNvPr>
          <p:cNvSpPr txBox="1"/>
          <p:nvPr/>
        </p:nvSpPr>
        <p:spPr>
          <a:xfrm>
            <a:off x="3657600" y="3930134"/>
            <a:ext cx="7315200" cy="369332"/>
          </a:xfrm>
          <a:prstGeom prst="rect">
            <a:avLst/>
          </a:prstGeom>
          <a:noFill/>
        </p:spPr>
        <p:txBody>
          <a:bodyPr wrap="square">
            <a:spAutoFit/>
          </a:bodyPr>
          <a:lstStyle/>
          <a:p>
            <a:r>
              <a:rPr lang="zh-TW" altLang="en-US" b="0" dirty="0">
                <a:effectLst/>
              </a:rPr>
              <a:t> </a:t>
            </a:r>
            <a:endParaRPr lang="zh-TW" altLang="en-US" dirty="0"/>
          </a:p>
        </p:txBody>
      </p:sp>
      <p:sp>
        <p:nvSpPr>
          <p:cNvPr id="2" name="投影片編號版面配置區 1">
            <a:extLst>
              <a:ext uri="{FF2B5EF4-FFF2-40B4-BE49-F238E27FC236}">
                <a16:creationId xmlns:a16="http://schemas.microsoft.com/office/drawing/2014/main" id="{A1007226-9CBE-435E-B4A3-D2ABCA30EBD7}"/>
              </a:ext>
            </a:extLst>
          </p:cNvPr>
          <p:cNvSpPr>
            <a:spLocks noGrp="1"/>
          </p:cNvSpPr>
          <p:nvPr>
            <p:ph type="sldNum" sz="quarter" idx="4"/>
          </p:nvPr>
        </p:nvSpPr>
        <p:spPr/>
        <p:txBody>
          <a:bodyPr/>
          <a:lstStyle/>
          <a:p>
            <a:fld id="{46198A0D-C119-49A8-AD21-4EA122FD909A}" type="slidenum">
              <a:rPr lang="zh-TW" altLang="en-US" smtClean="0"/>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1" name="Google Shape;601;p42"/>
          <p:cNvSpPr txBox="1">
            <a:spLocks noGrp="1"/>
          </p:cNvSpPr>
          <p:nvPr>
            <p:ph type="subTitle" idx="1"/>
          </p:nvPr>
        </p:nvSpPr>
        <p:spPr>
          <a:xfrm>
            <a:off x="7074811" y="6069466"/>
            <a:ext cx="6124354" cy="1617941"/>
          </a:xfrm>
          <a:prstGeom prst="rect">
            <a:avLst/>
          </a:prstGeom>
        </p:spPr>
        <p:txBody>
          <a:bodyPr spcFirstLastPara="1" wrap="square" lIns="146280" tIns="146280" rIns="146280" bIns="146280" anchor="t" anchorCtr="0">
            <a:noAutofit/>
          </a:bodyPr>
          <a:lstStyle/>
          <a:p>
            <a:pPr marL="0" indent="0" algn="l"/>
            <a:r>
              <a:rPr lang="zh-TW" altLang="en-US" b="1" dirty="0">
                <a:latin typeface="微軟正黑體" panose="020B0604030504040204" pitchFamily="34" charset="-120"/>
                <a:ea typeface="微軟正黑體" panose="020B0604030504040204" pitchFamily="34" charset="-120"/>
              </a:rPr>
              <a:t>國立高雄科技大學 資訊管理學系研究所</a:t>
            </a:r>
          </a:p>
          <a:p>
            <a:pPr marL="0" indent="0" algn="l"/>
            <a:r>
              <a:rPr lang="zh-TW" altLang="en-US" b="1" dirty="0">
                <a:latin typeface="微軟正黑體" panose="020B0604030504040204" pitchFamily="34" charset="-120"/>
                <a:ea typeface="微軟正黑體" panose="020B0604030504040204" pitchFamily="34" charset="-120"/>
              </a:rPr>
              <a:t>報告學生：杜宜霖</a:t>
            </a:r>
          </a:p>
          <a:p>
            <a:pPr marL="0" indent="0" algn="l"/>
            <a:r>
              <a:rPr lang="zh-TW" altLang="en-US" b="1" dirty="0">
                <a:latin typeface="微軟正黑體" panose="020B0604030504040204" pitchFamily="34" charset="-120"/>
                <a:ea typeface="微軟正黑體" panose="020B0604030504040204" pitchFamily="34" charset="-120"/>
              </a:rPr>
              <a:t>指導老師：黃承龍教授</a:t>
            </a:r>
          </a:p>
          <a:p>
            <a:pPr marL="0" indent="0" algn="l"/>
            <a:endParaRPr lang="zh-TW" altLang="en-US" b="1" dirty="0">
              <a:latin typeface="微軟正黑體" panose="020B0604030504040204" pitchFamily="34" charset="-120"/>
              <a:ea typeface="微軟正黑體" panose="020B0604030504040204" pitchFamily="34" charset="-120"/>
            </a:endParaRPr>
          </a:p>
          <a:p>
            <a:pPr marL="0" indent="0" algn="l"/>
            <a:endParaRPr lang="zh-TW" altLang="en-US" b="1" dirty="0">
              <a:latin typeface="微軟正黑體" panose="020B0604030504040204" pitchFamily="34" charset="-120"/>
              <a:ea typeface="微軟正黑體" panose="020B0604030504040204" pitchFamily="34" charset="-120"/>
            </a:endParaRPr>
          </a:p>
        </p:txBody>
      </p:sp>
      <p:cxnSp>
        <p:nvCxnSpPr>
          <p:cNvPr id="602" name="Google Shape;602;p42"/>
          <p:cNvCxnSpPr/>
          <p:nvPr/>
        </p:nvCxnSpPr>
        <p:spPr>
          <a:xfrm>
            <a:off x="1513760" y="5578800"/>
            <a:ext cx="11558880" cy="0"/>
          </a:xfrm>
          <a:prstGeom prst="straightConnector1">
            <a:avLst/>
          </a:prstGeom>
          <a:noFill/>
          <a:ln w="19050" cap="flat" cmpd="sng">
            <a:solidFill>
              <a:schemeClr val="dk2"/>
            </a:solidFill>
            <a:prstDash val="solid"/>
            <a:round/>
            <a:headEnd type="none" w="med" len="med"/>
            <a:tailEnd type="none" w="med" len="med"/>
          </a:ln>
        </p:spPr>
      </p:cxnSp>
      <p:pic>
        <p:nvPicPr>
          <p:cNvPr id="1026" name="Picture 2">
            <a:extLst>
              <a:ext uri="{FF2B5EF4-FFF2-40B4-BE49-F238E27FC236}">
                <a16:creationId xmlns:a16="http://schemas.microsoft.com/office/drawing/2014/main" id="{1B4ED9B3-EB6F-482F-8053-9F2E2A295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9147" y="6069466"/>
            <a:ext cx="1348166" cy="1225950"/>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a:extLst>
              <a:ext uri="{FF2B5EF4-FFF2-40B4-BE49-F238E27FC236}">
                <a16:creationId xmlns:a16="http://schemas.microsoft.com/office/drawing/2014/main" id="{8E9BEDB3-996A-53CA-9878-E84B7955898C}"/>
              </a:ext>
            </a:extLst>
          </p:cNvPr>
          <p:cNvSpPr/>
          <p:nvPr/>
        </p:nvSpPr>
        <p:spPr>
          <a:xfrm>
            <a:off x="2496124" y="1435989"/>
            <a:ext cx="7556421" cy="1417558"/>
          </a:xfrm>
          <a:prstGeom prst="rect">
            <a:avLst/>
          </a:prstGeom>
          <a:noFill/>
          <a:ln/>
        </p:spPr>
        <p:txBody>
          <a:bodyPr wrap="square" lIns="0" tIns="0" rIns="0" bIns="0" rtlCol="0" anchor="t"/>
          <a:lstStyle/>
          <a:p>
            <a:pPr marL="0" indent="0" algn="ctr">
              <a:lnSpc>
                <a:spcPts val="5550"/>
              </a:lnSpc>
              <a:buNone/>
            </a:pPr>
            <a:r>
              <a:rPr lang="en-US" altLang="zh-TW" sz="4800" b="1" dirty="0">
                <a:latin typeface="Microsoft JhengHei" panose="020B0604030504040204" pitchFamily="34" charset="-120"/>
                <a:ea typeface="Microsoft JhengHei" panose="020B0604030504040204" pitchFamily="34" charset="-120"/>
                <a:cs typeface="Syne Bold" pitchFamily="34" charset="-120"/>
              </a:rPr>
              <a:t>LINE Bot</a:t>
            </a:r>
            <a:r>
              <a:rPr lang="zh-TW" altLang="en-US" sz="4800" b="1" dirty="0">
                <a:latin typeface="Microsoft JhengHei" panose="020B0604030504040204" pitchFamily="34" charset="-120"/>
                <a:ea typeface="Microsoft JhengHei" panose="020B0604030504040204" pitchFamily="34" charset="-120"/>
                <a:cs typeface="Syne Bold" pitchFamily="34" charset="-120"/>
              </a:rPr>
              <a:t>結合大型語言模型</a:t>
            </a:r>
            <a:endParaRPr lang="en-US" altLang="zh-TW" sz="4800" b="1" dirty="0">
              <a:latin typeface="Microsoft JhengHei" panose="020B0604030504040204" pitchFamily="34" charset="-120"/>
              <a:ea typeface="Microsoft JhengHei" panose="020B0604030504040204" pitchFamily="34" charset="-120"/>
              <a:cs typeface="Syne Bold" pitchFamily="34" charset="-120"/>
            </a:endParaRPr>
          </a:p>
          <a:p>
            <a:pPr marL="0" indent="0" algn="ctr">
              <a:lnSpc>
                <a:spcPts val="5550"/>
              </a:lnSpc>
              <a:buNone/>
            </a:pPr>
            <a:r>
              <a:rPr lang="zh-TW" altLang="en-US" sz="4800" b="1" dirty="0">
                <a:latin typeface="Microsoft JhengHei" panose="020B0604030504040204" pitchFamily="34" charset="-120"/>
                <a:ea typeface="Microsoft JhengHei" panose="020B0604030504040204" pitchFamily="34" charset="-120"/>
                <a:cs typeface="Syne Bold" pitchFamily="34" charset="-120"/>
              </a:rPr>
              <a:t>之英語學習系統設計與實作</a:t>
            </a:r>
            <a:endParaRPr lang="en-US" sz="4800" b="1" dirty="0">
              <a:latin typeface="Microsoft JhengHei" panose="020B0604030504040204" pitchFamily="34" charset="-120"/>
              <a:ea typeface="Microsoft JhengHei" panose="020B0604030504040204" pitchFamily="34" charset="-120"/>
            </a:endParaRPr>
          </a:p>
        </p:txBody>
      </p:sp>
      <p:sp>
        <p:nvSpPr>
          <p:cNvPr id="5" name="文字方塊 4">
            <a:extLst>
              <a:ext uri="{FF2B5EF4-FFF2-40B4-BE49-F238E27FC236}">
                <a16:creationId xmlns:a16="http://schemas.microsoft.com/office/drawing/2014/main" id="{98C0C525-C035-B8BF-E000-3F526A61630A}"/>
              </a:ext>
            </a:extLst>
          </p:cNvPr>
          <p:cNvSpPr txBox="1"/>
          <p:nvPr/>
        </p:nvSpPr>
        <p:spPr>
          <a:xfrm>
            <a:off x="2589543" y="2881046"/>
            <a:ext cx="7463002" cy="1689117"/>
          </a:xfrm>
          <a:prstGeom prst="rect">
            <a:avLst/>
          </a:prstGeom>
          <a:noFill/>
        </p:spPr>
        <p:txBody>
          <a:bodyPr wrap="square">
            <a:spAutoFit/>
          </a:bodyPr>
          <a:lstStyle/>
          <a:p>
            <a:pPr indent="406400" algn="ctr" fontAlgn="base">
              <a:lnSpc>
                <a:spcPct val="150000"/>
              </a:lnSpc>
            </a:pPr>
            <a:r>
              <a:rPr lang="en-US" altLang="zh-TW" sz="2400" b="1" dirty="0">
                <a:effectLst/>
                <a:latin typeface="Microsoft JhengHei" panose="020B0604030504040204" pitchFamily="34" charset="-120"/>
                <a:ea typeface="Microsoft JhengHei" panose="020B0604030504040204" pitchFamily="34" charset="-120"/>
                <a:cs typeface="PMingLiU" panose="02020500000000000000" pitchFamily="18" charset="-120"/>
              </a:rPr>
              <a:t>Design and Implementation of an English Learning System Integrating LINE Bot with Large Language Models</a:t>
            </a:r>
            <a:endParaRPr lang="zh-TW" altLang="zh-TW" b="1" dirty="0">
              <a:effectLst/>
              <a:latin typeface="Microsoft JhengHei" panose="020B0604030504040204" pitchFamily="34" charset="-120"/>
              <a:ea typeface="Microsoft JhengHei" panose="020B0604030504040204" pitchFamily="34" charset="-120"/>
              <a:cs typeface="PMingLiU" panose="02020500000000000000" pitchFamily="18" charset="-120"/>
            </a:endParaRPr>
          </a:p>
        </p:txBody>
      </p:sp>
    </p:spTree>
    <p:extLst>
      <p:ext uri="{BB962C8B-B14F-4D97-AF65-F5344CB8AC3E}">
        <p14:creationId xmlns:p14="http://schemas.microsoft.com/office/powerpoint/2010/main" val="217081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46"/>
          <p:cNvSpPr txBox="1">
            <a:spLocks noGrp="1"/>
          </p:cNvSpPr>
          <p:nvPr>
            <p:ph type="title"/>
          </p:nvPr>
        </p:nvSpPr>
        <p:spPr>
          <a:xfrm>
            <a:off x="4031160" y="2097760"/>
            <a:ext cx="6430560" cy="1885920"/>
          </a:xfrm>
          <a:prstGeom prst="rect">
            <a:avLst/>
          </a:prstGeom>
        </p:spPr>
        <p:txBody>
          <a:bodyPr spcFirstLastPara="1" wrap="square" lIns="146280" tIns="146280" rIns="146280" bIns="146280" anchor="b" anchorCtr="0">
            <a:noAutofit/>
          </a:bodyPr>
          <a:lstStyle/>
          <a:p>
            <a:pPr algn="l"/>
            <a:r>
              <a:rPr lang="zh-TW" altLang="en-US" b="1" dirty="0">
                <a:latin typeface="微軟正黑體" panose="020B0604030504040204" pitchFamily="34" charset="-120"/>
                <a:ea typeface="微軟正黑體" panose="020B0604030504040204" pitchFamily="34" charset="-120"/>
              </a:rPr>
              <a:t>緒論</a:t>
            </a:r>
            <a:endParaRPr b="1" dirty="0">
              <a:latin typeface="微軟正黑體" panose="020B0604030504040204" pitchFamily="34" charset="-120"/>
              <a:ea typeface="微軟正黑體" panose="020B0604030504040204" pitchFamily="34" charset="-120"/>
            </a:endParaRPr>
          </a:p>
        </p:txBody>
      </p:sp>
      <p:cxnSp>
        <p:nvCxnSpPr>
          <p:cNvPr id="661" name="Google Shape;661;p46"/>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0" y="407988"/>
            <a:ext cx="3060700" cy="868362"/>
          </a:xfrm>
          <a:prstGeom prst="rect">
            <a:avLst/>
          </a:prstGeom>
        </p:spPr>
        <p:txBody>
          <a:bodyPr>
            <a:noAutofit/>
          </a:bodyPr>
          <a:lstStyle/>
          <a:p>
            <a:pPr marL="0" indent="0">
              <a:buNone/>
            </a:pPr>
            <a:r>
              <a:rPr lang="zh-TW" altLang="en-US" sz="5400" b="1" dirty="0">
                <a:latin typeface="Microsoft JhengHei" panose="020B0604030504040204" pitchFamily="34" charset="-120"/>
                <a:ea typeface="Microsoft JhengHei" panose="020B0604030504040204" pitchFamily="34" charset="-120"/>
              </a:rPr>
              <a:t>研究背景</a:t>
            </a:r>
            <a:endParaRPr lang="en-US" altLang="zh-TW" sz="5400" b="1" dirty="0">
              <a:latin typeface="Microsoft JhengHei" panose="020B0604030504040204" pitchFamily="34" charset="-120"/>
              <a:ea typeface="Microsoft JhengHei" panose="020B0604030504040204" pitchFamily="34" charset="-120"/>
            </a:endParaRPr>
          </a:p>
          <a:p>
            <a:pPr marL="0" indent="0">
              <a:buNone/>
            </a:pPr>
            <a:endParaRPr lang="en-US" sz="5400" b="1" dirty="0">
              <a:latin typeface="Microsoft JhengHei" panose="020B0604030504040204" pitchFamily="34" charset="-120"/>
              <a:ea typeface="Microsoft JhengHei" panose="020B0604030504040204" pitchFamily="34" charset="-120"/>
            </a:endParaRPr>
          </a:p>
        </p:txBody>
      </p:sp>
      <p:sp>
        <p:nvSpPr>
          <p:cNvPr id="94" name="TextBox 93">
            <a:extLst>
              <a:ext uri="{FF2B5EF4-FFF2-40B4-BE49-F238E27FC236}">
                <a16:creationId xmlns:a16="http://schemas.microsoft.com/office/drawing/2014/main" id="{FC8DA546-7637-458F-9AF3-2C3E84329F8E}"/>
              </a:ext>
            </a:extLst>
          </p:cNvPr>
          <p:cNvSpPr txBox="1"/>
          <p:nvPr/>
        </p:nvSpPr>
        <p:spPr>
          <a:xfrm>
            <a:off x="10330966" y="2410234"/>
            <a:ext cx="3258425"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昂貴的課程形成經濟門檻</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5" name="TextBox 94">
            <a:extLst>
              <a:ext uri="{FF2B5EF4-FFF2-40B4-BE49-F238E27FC236}">
                <a16:creationId xmlns:a16="http://schemas.microsoft.com/office/drawing/2014/main" id="{4066C953-8E78-4339-99A6-4604FBCACA2A}"/>
              </a:ext>
            </a:extLst>
          </p:cNvPr>
          <p:cNvSpPr txBox="1"/>
          <p:nvPr/>
        </p:nvSpPr>
        <p:spPr>
          <a:xfrm>
            <a:off x="10330966" y="4067557"/>
            <a:ext cx="3258425"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使用者難以主動學習與自主練習</a:t>
            </a:r>
          </a:p>
        </p:txBody>
      </p:sp>
      <p:sp>
        <p:nvSpPr>
          <p:cNvPr id="96" name="TextBox 95">
            <a:extLst>
              <a:ext uri="{FF2B5EF4-FFF2-40B4-BE49-F238E27FC236}">
                <a16:creationId xmlns:a16="http://schemas.microsoft.com/office/drawing/2014/main" id="{40C0347D-20FF-4740-A892-8E4532750AF5}"/>
              </a:ext>
            </a:extLst>
          </p:cNvPr>
          <p:cNvSpPr txBox="1"/>
          <p:nvPr/>
        </p:nvSpPr>
        <p:spPr>
          <a:xfrm>
            <a:off x="10330967" y="5724880"/>
            <a:ext cx="3019274"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師資與個別指導資源不足</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7" name="TextBox 96">
            <a:extLst>
              <a:ext uri="{FF2B5EF4-FFF2-40B4-BE49-F238E27FC236}">
                <a16:creationId xmlns:a16="http://schemas.microsoft.com/office/drawing/2014/main" id="{A6F70C98-BDC8-4A38-B4DE-48ED99962DE3}"/>
              </a:ext>
            </a:extLst>
          </p:cNvPr>
          <p:cNvSpPr txBox="1"/>
          <p:nvPr/>
        </p:nvSpPr>
        <p:spPr>
          <a:xfrm>
            <a:off x="1041011" y="2410234"/>
            <a:ext cx="3276515" cy="523220"/>
          </a:xfrm>
          <a:prstGeom prst="rect">
            <a:avLst/>
          </a:prstGeom>
          <a:noFill/>
        </p:spPr>
        <p:txBody>
          <a:bodyPr wrap="square" rtlCol="0">
            <a:spAutoFit/>
          </a:bodyPr>
          <a:lstStyle/>
          <a:p>
            <a:pPr algn="r"/>
            <a:r>
              <a:rPr lang="zh-TW" altLang="en-US" sz="2800" dirty="0">
                <a:latin typeface="Microsoft JhengHei" panose="020B0604030504040204" pitchFamily="34" charset="-120"/>
                <a:ea typeface="Microsoft JhengHei" panose="020B0604030504040204" pitchFamily="34" charset="-120"/>
              </a:rPr>
              <a:t>缺乏實際操練機會</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8" name="TextBox 97">
            <a:extLst>
              <a:ext uri="{FF2B5EF4-FFF2-40B4-BE49-F238E27FC236}">
                <a16:creationId xmlns:a16="http://schemas.microsoft.com/office/drawing/2014/main" id="{B2D45F3F-87FE-4526-B027-79FACDAF1C53}"/>
              </a:ext>
            </a:extLst>
          </p:cNvPr>
          <p:cNvSpPr txBox="1"/>
          <p:nvPr/>
        </p:nvSpPr>
        <p:spPr>
          <a:xfrm>
            <a:off x="1041011" y="4067557"/>
            <a:ext cx="3276515" cy="523220"/>
          </a:xfrm>
          <a:prstGeom prst="rect">
            <a:avLst/>
          </a:prstGeom>
          <a:noFill/>
        </p:spPr>
        <p:txBody>
          <a:bodyPr wrap="square" rtlCol="0">
            <a:spAutoFit/>
          </a:bodyPr>
          <a:lstStyle/>
          <a:p>
            <a:pPr algn="r"/>
            <a:r>
              <a:rPr lang="zh-TW" altLang="en-US" sz="2800" dirty="0">
                <a:latin typeface="Microsoft JhengHei" panose="020B0604030504040204" pitchFamily="34" charset="-120"/>
                <a:ea typeface="Microsoft JhengHei" panose="020B0604030504040204" pitchFamily="34" charset="-120"/>
              </a:rPr>
              <a:t>學習動機不足</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99" name="TextBox 98">
            <a:extLst>
              <a:ext uri="{FF2B5EF4-FFF2-40B4-BE49-F238E27FC236}">
                <a16:creationId xmlns:a16="http://schemas.microsoft.com/office/drawing/2014/main" id="{FB3C26FD-598C-4DE1-BBED-92661B32B328}"/>
              </a:ext>
            </a:extLst>
          </p:cNvPr>
          <p:cNvSpPr txBox="1"/>
          <p:nvPr/>
        </p:nvSpPr>
        <p:spPr>
          <a:xfrm>
            <a:off x="1280159" y="5724880"/>
            <a:ext cx="3037368"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課程內容與</a:t>
            </a:r>
            <a:endParaRPr lang="en-US" altLang="zh-TW" sz="2800" dirty="0">
              <a:latin typeface="Microsoft JhengHei" panose="020B0604030504040204" pitchFamily="34" charset="-120"/>
              <a:ea typeface="Microsoft JhengHei" panose="020B0604030504040204" pitchFamily="34" charset="-120"/>
            </a:endParaRPr>
          </a:p>
          <a:p>
            <a:pPr algn="ctr"/>
            <a:r>
              <a:rPr lang="zh-TW" altLang="en-US" sz="2800" dirty="0">
                <a:latin typeface="Microsoft JhengHei" panose="020B0604030504040204" pitchFamily="34" charset="-120"/>
                <a:ea typeface="Microsoft JhengHei" panose="020B0604030504040204" pitchFamily="34" charset="-120"/>
              </a:rPr>
              <a:t>學生程度不符</a:t>
            </a:r>
            <a:endParaRPr lang="ko-KR" altLang="en-US" sz="2400" dirty="0">
              <a:solidFill>
                <a:schemeClr val="tx1">
                  <a:lumMod val="65000"/>
                  <a:lumOff val="35000"/>
                </a:schemeClr>
              </a:solidFill>
              <a:latin typeface="Microsoft JhengHei" panose="020B0604030504040204" pitchFamily="34" charset="-120"/>
              <a:cs typeface="Arial" pitchFamily="34" charset="0"/>
            </a:endParaRPr>
          </a:p>
        </p:txBody>
      </p:sp>
      <p:sp>
        <p:nvSpPr>
          <p:cNvPr id="100" name="Oval 99">
            <a:extLst>
              <a:ext uri="{FF2B5EF4-FFF2-40B4-BE49-F238E27FC236}">
                <a16:creationId xmlns:a16="http://schemas.microsoft.com/office/drawing/2014/main" id="{DCDF7A2C-EEA0-4662-98AD-EE45F7ED54F5}"/>
              </a:ext>
            </a:extLst>
          </p:cNvPr>
          <p:cNvSpPr/>
          <p:nvPr/>
        </p:nvSpPr>
        <p:spPr>
          <a:xfrm>
            <a:off x="9216744" y="2432167"/>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1" name="Oval 100">
            <a:extLst>
              <a:ext uri="{FF2B5EF4-FFF2-40B4-BE49-F238E27FC236}">
                <a16:creationId xmlns:a16="http://schemas.microsoft.com/office/drawing/2014/main" id="{84B5F07D-D028-459B-9B1B-A98877943613}"/>
              </a:ext>
            </a:extLst>
          </p:cNvPr>
          <p:cNvSpPr/>
          <p:nvPr/>
        </p:nvSpPr>
        <p:spPr>
          <a:xfrm>
            <a:off x="9216744" y="4100911"/>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2" name="Oval 101">
            <a:extLst>
              <a:ext uri="{FF2B5EF4-FFF2-40B4-BE49-F238E27FC236}">
                <a16:creationId xmlns:a16="http://schemas.microsoft.com/office/drawing/2014/main" id="{D06D285E-B491-4182-BDED-0DA094A78E24}"/>
              </a:ext>
            </a:extLst>
          </p:cNvPr>
          <p:cNvSpPr/>
          <p:nvPr/>
        </p:nvSpPr>
        <p:spPr>
          <a:xfrm>
            <a:off x="9216744" y="5803623"/>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3" name="Oval 102">
            <a:extLst>
              <a:ext uri="{FF2B5EF4-FFF2-40B4-BE49-F238E27FC236}">
                <a16:creationId xmlns:a16="http://schemas.microsoft.com/office/drawing/2014/main" id="{9C5D670B-8B7D-4FB2-BBA7-F568EB53A013}"/>
              </a:ext>
            </a:extLst>
          </p:cNvPr>
          <p:cNvSpPr/>
          <p:nvPr/>
        </p:nvSpPr>
        <p:spPr>
          <a:xfrm>
            <a:off x="4480267" y="2442137"/>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4" name="Oval 103">
            <a:extLst>
              <a:ext uri="{FF2B5EF4-FFF2-40B4-BE49-F238E27FC236}">
                <a16:creationId xmlns:a16="http://schemas.microsoft.com/office/drawing/2014/main" id="{9639E2A1-D675-41D2-B395-0DD759AE87E8}"/>
              </a:ext>
            </a:extLst>
          </p:cNvPr>
          <p:cNvSpPr/>
          <p:nvPr/>
        </p:nvSpPr>
        <p:spPr>
          <a:xfrm>
            <a:off x="4480267" y="4084008"/>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sp>
        <p:nvSpPr>
          <p:cNvPr id="105" name="Oval 104">
            <a:extLst>
              <a:ext uri="{FF2B5EF4-FFF2-40B4-BE49-F238E27FC236}">
                <a16:creationId xmlns:a16="http://schemas.microsoft.com/office/drawing/2014/main" id="{5EEFF939-6B58-47BF-88B9-ABF1F8F190E8}"/>
              </a:ext>
            </a:extLst>
          </p:cNvPr>
          <p:cNvSpPr/>
          <p:nvPr/>
        </p:nvSpPr>
        <p:spPr>
          <a:xfrm>
            <a:off x="4480267" y="5759842"/>
            <a:ext cx="933391" cy="933391"/>
          </a:xfrm>
          <a:prstGeom prst="ellipse">
            <a:avLst/>
          </a:prstGeom>
          <a:solidFill>
            <a:schemeClr val="accent1"/>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grpSp>
        <p:nvGrpSpPr>
          <p:cNvPr id="106" name="Group 105">
            <a:extLst>
              <a:ext uri="{FF2B5EF4-FFF2-40B4-BE49-F238E27FC236}">
                <a16:creationId xmlns:a16="http://schemas.microsoft.com/office/drawing/2014/main" id="{2475A4E7-78C2-4EDF-A569-D0C9A59B52E3}"/>
              </a:ext>
            </a:extLst>
          </p:cNvPr>
          <p:cNvGrpSpPr/>
          <p:nvPr/>
        </p:nvGrpSpPr>
        <p:grpSpPr>
          <a:xfrm>
            <a:off x="6329434" y="3557426"/>
            <a:ext cx="2003375" cy="2003375"/>
            <a:chOff x="3807530" y="2946763"/>
            <a:chExt cx="1512168" cy="1512168"/>
          </a:xfrm>
        </p:grpSpPr>
        <p:sp>
          <p:nvSpPr>
            <p:cNvPr id="107" name="Oval 106">
              <a:extLst>
                <a:ext uri="{FF2B5EF4-FFF2-40B4-BE49-F238E27FC236}">
                  <a16:creationId xmlns:a16="http://schemas.microsoft.com/office/drawing/2014/main" id="{951407A0-7EC7-47B3-BAA7-1B04BFB1ECD1}"/>
                </a:ext>
              </a:extLst>
            </p:cNvPr>
            <p:cNvSpPr/>
            <p:nvPr/>
          </p:nvSpPr>
          <p:spPr>
            <a:xfrm>
              <a:off x="3897540" y="3036773"/>
              <a:ext cx="1332148" cy="1332148"/>
            </a:xfrm>
            <a:prstGeom prst="ellipse">
              <a:avLst/>
            </a:prstGeom>
            <a:solidFill>
              <a:schemeClr val="accent2"/>
            </a:solidFill>
            <a:ln w="12700">
              <a:no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latin typeface="Microsoft JhengHei" panose="020B0604030504040204" pitchFamily="34" charset="-120"/>
                <a:ea typeface="Microsoft JhengHei" panose="020B0604030504040204" pitchFamily="34" charset="-120"/>
              </a:endParaRPr>
            </a:p>
          </p:txBody>
        </p:sp>
        <p:sp>
          <p:nvSpPr>
            <p:cNvPr id="108" name="Oval 107">
              <a:extLst>
                <a:ext uri="{FF2B5EF4-FFF2-40B4-BE49-F238E27FC236}">
                  <a16:creationId xmlns:a16="http://schemas.microsoft.com/office/drawing/2014/main" id="{737E430D-3782-44AD-B3D4-E4AEC4D26D0F}"/>
                </a:ext>
              </a:extLst>
            </p:cNvPr>
            <p:cNvSpPr/>
            <p:nvPr/>
          </p:nvSpPr>
          <p:spPr>
            <a:xfrm>
              <a:off x="3807530" y="2946763"/>
              <a:ext cx="1512168" cy="1512168"/>
            </a:xfrm>
            <a:prstGeom prst="ellipse">
              <a:avLst/>
            </a:prstGeom>
            <a:noFill/>
            <a:ln w="1587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latin typeface="Microsoft JhengHei" panose="020B0604030504040204" pitchFamily="34" charset="-120"/>
                <a:ea typeface="Microsoft JhengHei" panose="020B0604030504040204" pitchFamily="34" charset="-120"/>
              </a:endParaRPr>
            </a:p>
          </p:txBody>
        </p:sp>
      </p:grpSp>
      <p:cxnSp>
        <p:nvCxnSpPr>
          <p:cNvPr id="109" name="Straight Connector 108">
            <a:extLst>
              <a:ext uri="{FF2B5EF4-FFF2-40B4-BE49-F238E27FC236}">
                <a16:creationId xmlns:a16="http://schemas.microsoft.com/office/drawing/2014/main" id="{C4AF8747-ECF0-4502-B583-F2978D7887B4}"/>
              </a:ext>
            </a:extLst>
          </p:cNvPr>
          <p:cNvCxnSpPr>
            <a:cxnSpLocks/>
            <a:stCxn id="103" idx="6"/>
            <a:endCxn id="108" idx="1"/>
          </p:cNvCxnSpPr>
          <p:nvPr/>
        </p:nvCxnSpPr>
        <p:spPr>
          <a:xfrm>
            <a:off x="5413659" y="2908833"/>
            <a:ext cx="1209163" cy="9419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AB16BBE-209D-42A4-B442-E35A6CAFEB93}"/>
              </a:ext>
            </a:extLst>
          </p:cNvPr>
          <p:cNvCxnSpPr>
            <a:cxnSpLocks/>
            <a:stCxn id="104" idx="6"/>
            <a:endCxn id="108" idx="2"/>
          </p:cNvCxnSpPr>
          <p:nvPr/>
        </p:nvCxnSpPr>
        <p:spPr>
          <a:xfrm>
            <a:off x="5413659" y="4550701"/>
            <a:ext cx="915775" cy="841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A780DBB-7D41-4369-A581-1B1D319CB831}"/>
              </a:ext>
            </a:extLst>
          </p:cNvPr>
          <p:cNvCxnSpPr>
            <a:cxnSpLocks/>
            <a:stCxn id="105" idx="6"/>
            <a:endCxn id="108" idx="3"/>
          </p:cNvCxnSpPr>
          <p:nvPr/>
        </p:nvCxnSpPr>
        <p:spPr>
          <a:xfrm flipV="1">
            <a:off x="5413659" y="5267411"/>
            <a:ext cx="1209163" cy="95912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05623FD-3D86-4389-A21A-313DE4B6F4CB}"/>
              </a:ext>
            </a:extLst>
          </p:cNvPr>
          <p:cNvCxnSpPr>
            <a:cxnSpLocks/>
            <a:stCxn id="102" idx="2"/>
            <a:endCxn id="108" idx="5"/>
          </p:cNvCxnSpPr>
          <p:nvPr/>
        </p:nvCxnSpPr>
        <p:spPr>
          <a:xfrm flipH="1" flipV="1">
            <a:off x="8039422" y="5267413"/>
            <a:ext cx="1177322" cy="100290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7FA0363-6792-4877-ABD7-6E155E4046E9}"/>
              </a:ext>
            </a:extLst>
          </p:cNvPr>
          <p:cNvCxnSpPr>
            <a:cxnSpLocks/>
            <a:stCxn id="101" idx="2"/>
            <a:endCxn id="108" idx="6"/>
          </p:cNvCxnSpPr>
          <p:nvPr/>
        </p:nvCxnSpPr>
        <p:spPr>
          <a:xfrm flipH="1" flipV="1">
            <a:off x="8332809" y="4559113"/>
            <a:ext cx="883934" cy="849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2B003FE-1BCF-489C-925C-FAEF86D90179}"/>
              </a:ext>
            </a:extLst>
          </p:cNvPr>
          <p:cNvCxnSpPr>
            <a:cxnSpLocks/>
            <a:stCxn id="100" idx="2"/>
            <a:endCxn id="108" idx="7"/>
          </p:cNvCxnSpPr>
          <p:nvPr/>
        </p:nvCxnSpPr>
        <p:spPr>
          <a:xfrm flipH="1">
            <a:off x="8039422" y="2898861"/>
            <a:ext cx="1177322" cy="95195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F488088D-6AD2-4CFF-84E0-141D83AB67B3}"/>
              </a:ext>
            </a:extLst>
          </p:cNvPr>
          <p:cNvSpPr txBox="1"/>
          <p:nvPr/>
        </p:nvSpPr>
        <p:spPr>
          <a:xfrm>
            <a:off x="6491043" y="4047333"/>
            <a:ext cx="1717177" cy="954107"/>
          </a:xfrm>
          <a:prstGeom prst="rect">
            <a:avLst/>
          </a:prstGeom>
          <a:noFill/>
        </p:spPr>
        <p:txBody>
          <a:bodyPr wrap="square" rtlCol="0">
            <a:spAutoFit/>
          </a:bodyPr>
          <a:lstStyle/>
          <a:p>
            <a:pPr algn="ctr"/>
            <a:r>
              <a:rPr lang="zh-TW" altLang="en-US" sz="2800" b="1" dirty="0">
                <a:solidFill>
                  <a:schemeClr val="bg1"/>
                </a:solidFill>
                <a:latin typeface="Microsoft JhengHei" panose="020B0604030504040204" pitchFamily="34" charset="-120"/>
                <a:ea typeface="Microsoft JhengHei" panose="020B0604030504040204" pitchFamily="34" charset="-120"/>
                <a:cs typeface="Calibri" pitchFamily="34" charset="0"/>
              </a:rPr>
              <a:t>英語學習現況痛點</a:t>
            </a:r>
            <a:endParaRPr lang="ko-KR" altLang="en-US" sz="2800" b="1" dirty="0">
              <a:solidFill>
                <a:schemeClr val="bg1"/>
              </a:solidFill>
              <a:latin typeface="Microsoft JhengHei" panose="020B0604030504040204" pitchFamily="34" charset="-120"/>
              <a:cs typeface="Calibri" pitchFamily="34" charset="0"/>
            </a:endParaRPr>
          </a:p>
        </p:txBody>
      </p:sp>
      <p:sp>
        <p:nvSpPr>
          <p:cNvPr id="119" name="Rectangle 30">
            <a:extLst>
              <a:ext uri="{FF2B5EF4-FFF2-40B4-BE49-F238E27FC236}">
                <a16:creationId xmlns:a16="http://schemas.microsoft.com/office/drawing/2014/main" id="{2A47F3C4-CF8D-45BB-9BC0-8F7F3CA10E3E}"/>
              </a:ext>
            </a:extLst>
          </p:cNvPr>
          <p:cNvSpPr/>
          <p:nvPr/>
        </p:nvSpPr>
        <p:spPr>
          <a:xfrm>
            <a:off x="4771724" y="6036768"/>
            <a:ext cx="380651" cy="379538"/>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0" name="Frame 17">
            <a:extLst>
              <a:ext uri="{FF2B5EF4-FFF2-40B4-BE49-F238E27FC236}">
                <a16:creationId xmlns:a16="http://schemas.microsoft.com/office/drawing/2014/main" id="{ADBC3508-69E5-45F6-A48E-9B974B5CEA07}"/>
              </a:ext>
            </a:extLst>
          </p:cNvPr>
          <p:cNvSpPr/>
          <p:nvPr/>
        </p:nvSpPr>
        <p:spPr>
          <a:xfrm>
            <a:off x="4762946" y="2714530"/>
            <a:ext cx="382121" cy="382121"/>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solidFill>
                <a:schemeClr val="tx1"/>
              </a:solidFill>
              <a:latin typeface="Microsoft JhengHei" panose="020B0604030504040204" pitchFamily="34" charset="-120"/>
            </a:endParaRPr>
          </a:p>
        </p:txBody>
      </p:sp>
      <p:sp>
        <p:nvSpPr>
          <p:cNvPr id="121" name="Rounded Rectangle 25">
            <a:extLst>
              <a:ext uri="{FF2B5EF4-FFF2-40B4-BE49-F238E27FC236}">
                <a16:creationId xmlns:a16="http://schemas.microsoft.com/office/drawing/2014/main" id="{060F5C2A-47F2-4B69-BBE2-4CE32C45493E}"/>
              </a:ext>
            </a:extLst>
          </p:cNvPr>
          <p:cNvSpPr/>
          <p:nvPr/>
        </p:nvSpPr>
        <p:spPr>
          <a:xfrm>
            <a:off x="9452105" y="2713411"/>
            <a:ext cx="494602" cy="362465"/>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2" name="Donut 39">
            <a:extLst>
              <a:ext uri="{FF2B5EF4-FFF2-40B4-BE49-F238E27FC236}">
                <a16:creationId xmlns:a16="http://schemas.microsoft.com/office/drawing/2014/main" id="{B4EB1CC5-CD98-4F7E-9D0C-8BC16F0B6BC0}"/>
              </a:ext>
            </a:extLst>
          </p:cNvPr>
          <p:cNvSpPr/>
          <p:nvPr/>
        </p:nvSpPr>
        <p:spPr>
          <a:xfrm>
            <a:off x="9446258" y="4333015"/>
            <a:ext cx="489142" cy="489142"/>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solidFill>
                <a:schemeClr val="tx1"/>
              </a:solidFill>
              <a:latin typeface="Microsoft JhengHei" panose="020B0604030504040204" pitchFamily="34" charset="-120"/>
            </a:endParaRPr>
          </a:p>
        </p:txBody>
      </p:sp>
      <p:sp>
        <p:nvSpPr>
          <p:cNvPr id="123" name="Trapezoid 22">
            <a:extLst>
              <a:ext uri="{FF2B5EF4-FFF2-40B4-BE49-F238E27FC236}">
                <a16:creationId xmlns:a16="http://schemas.microsoft.com/office/drawing/2014/main" id="{AEC77BBE-1CB3-428C-BAB7-B807B024431F}"/>
              </a:ext>
            </a:extLst>
          </p:cNvPr>
          <p:cNvSpPr>
            <a:spLocks noChangeAspect="1"/>
          </p:cNvSpPr>
          <p:nvPr/>
        </p:nvSpPr>
        <p:spPr>
          <a:xfrm>
            <a:off x="9429610" y="6133066"/>
            <a:ext cx="539594" cy="274502"/>
          </a:xfrm>
          <a:custGeom>
            <a:avLst/>
            <a:gdLst/>
            <a:ahLst/>
            <a:cxnLst/>
            <a:rect l="l" t="t" r="r" b="b"/>
            <a:pathLst>
              <a:path w="3261500" h="1659188">
                <a:moveTo>
                  <a:pt x="121102" y="1436888"/>
                </a:moveTo>
                <a:lnTo>
                  <a:pt x="3045452" y="1436888"/>
                </a:lnTo>
                <a:cubicBezTo>
                  <a:pt x="3001437" y="1508238"/>
                  <a:pt x="2956882" y="1580993"/>
                  <a:pt x="2918729" y="1659188"/>
                </a:cubicBezTo>
                <a:lnTo>
                  <a:pt x="202648" y="1659188"/>
                </a:lnTo>
                <a:cubicBezTo>
                  <a:pt x="188127" y="1585004"/>
                  <a:pt x="156049" y="1510828"/>
                  <a:pt x="121102" y="1436888"/>
                </a:cubicBezTo>
                <a:close/>
                <a:moveTo>
                  <a:pt x="2814967" y="1119413"/>
                </a:moveTo>
                <a:lnTo>
                  <a:pt x="2814967" y="1227413"/>
                </a:lnTo>
                <a:lnTo>
                  <a:pt x="2922967" y="1227413"/>
                </a:lnTo>
                <a:lnTo>
                  <a:pt x="2922967" y="1119413"/>
                </a:lnTo>
                <a:close/>
                <a:moveTo>
                  <a:pt x="2600074" y="1119413"/>
                </a:moveTo>
                <a:lnTo>
                  <a:pt x="2600074" y="1227413"/>
                </a:lnTo>
                <a:lnTo>
                  <a:pt x="2708074" y="1227413"/>
                </a:lnTo>
                <a:lnTo>
                  <a:pt x="2708074" y="1119413"/>
                </a:lnTo>
                <a:close/>
                <a:moveTo>
                  <a:pt x="2385182" y="1119413"/>
                </a:moveTo>
                <a:lnTo>
                  <a:pt x="2385182" y="1227413"/>
                </a:lnTo>
                <a:lnTo>
                  <a:pt x="2493182" y="1227413"/>
                </a:lnTo>
                <a:lnTo>
                  <a:pt x="2493182" y="1119413"/>
                </a:lnTo>
                <a:close/>
                <a:moveTo>
                  <a:pt x="1716569" y="1119413"/>
                </a:moveTo>
                <a:lnTo>
                  <a:pt x="1716569" y="1227413"/>
                </a:lnTo>
                <a:lnTo>
                  <a:pt x="1824569" y="1227413"/>
                </a:lnTo>
                <a:lnTo>
                  <a:pt x="1824569" y="1119413"/>
                </a:lnTo>
                <a:close/>
                <a:moveTo>
                  <a:pt x="1501676" y="1119413"/>
                </a:moveTo>
                <a:lnTo>
                  <a:pt x="1501676" y="1227413"/>
                </a:lnTo>
                <a:lnTo>
                  <a:pt x="1609676" y="1227413"/>
                </a:lnTo>
                <a:lnTo>
                  <a:pt x="1609676" y="1119413"/>
                </a:lnTo>
                <a:close/>
                <a:moveTo>
                  <a:pt x="1286784" y="1119413"/>
                </a:moveTo>
                <a:lnTo>
                  <a:pt x="1286784" y="1227413"/>
                </a:lnTo>
                <a:lnTo>
                  <a:pt x="1394784" y="1227413"/>
                </a:lnTo>
                <a:lnTo>
                  <a:pt x="1394784" y="1119413"/>
                </a:lnTo>
                <a:close/>
                <a:moveTo>
                  <a:pt x="1071892" y="1119413"/>
                </a:moveTo>
                <a:lnTo>
                  <a:pt x="1071892" y="1227413"/>
                </a:lnTo>
                <a:lnTo>
                  <a:pt x="1179892" y="1227413"/>
                </a:lnTo>
                <a:lnTo>
                  <a:pt x="1179892" y="1119413"/>
                </a:lnTo>
                <a:close/>
                <a:moveTo>
                  <a:pt x="857000" y="1119413"/>
                </a:moveTo>
                <a:lnTo>
                  <a:pt x="857000" y="1227413"/>
                </a:lnTo>
                <a:lnTo>
                  <a:pt x="965000" y="1227413"/>
                </a:lnTo>
                <a:lnTo>
                  <a:pt x="965000" y="1119413"/>
                </a:lnTo>
                <a:close/>
                <a:moveTo>
                  <a:pt x="642108" y="1119413"/>
                </a:moveTo>
                <a:lnTo>
                  <a:pt x="642108" y="1227413"/>
                </a:lnTo>
                <a:lnTo>
                  <a:pt x="750108" y="1227413"/>
                </a:lnTo>
                <a:lnTo>
                  <a:pt x="750108" y="1119413"/>
                </a:lnTo>
                <a:close/>
                <a:moveTo>
                  <a:pt x="427216" y="1119413"/>
                </a:moveTo>
                <a:lnTo>
                  <a:pt x="427216" y="1227413"/>
                </a:lnTo>
                <a:lnTo>
                  <a:pt x="535216" y="1227413"/>
                </a:lnTo>
                <a:lnTo>
                  <a:pt x="535216" y="1119413"/>
                </a:lnTo>
                <a:close/>
                <a:moveTo>
                  <a:pt x="356387" y="794045"/>
                </a:moveTo>
                <a:lnTo>
                  <a:pt x="310667" y="896924"/>
                </a:lnTo>
                <a:lnTo>
                  <a:pt x="2620886" y="908354"/>
                </a:lnTo>
                <a:lnTo>
                  <a:pt x="2540130" y="801665"/>
                </a:lnTo>
                <a:close/>
                <a:moveTo>
                  <a:pt x="382676" y="631248"/>
                </a:moveTo>
                <a:lnTo>
                  <a:pt x="363625" y="730317"/>
                </a:lnTo>
                <a:lnTo>
                  <a:pt x="2492522" y="737937"/>
                </a:lnTo>
                <a:lnTo>
                  <a:pt x="2418771" y="631248"/>
                </a:lnTo>
                <a:close/>
                <a:moveTo>
                  <a:pt x="1756650" y="318899"/>
                </a:moveTo>
                <a:lnTo>
                  <a:pt x="1756650" y="477608"/>
                </a:lnTo>
                <a:lnTo>
                  <a:pt x="1900650" y="477608"/>
                </a:lnTo>
                <a:lnTo>
                  <a:pt x="1900650" y="318899"/>
                </a:lnTo>
                <a:close/>
                <a:moveTo>
                  <a:pt x="1470038" y="318899"/>
                </a:moveTo>
                <a:lnTo>
                  <a:pt x="1470038" y="477608"/>
                </a:lnTo>
                <a:lnTo>
                  <a:pt x="1614038" y="477608"/>
                </a:lnTo>
                <a:lnTo>
                  <a:pt x="1614038" y="318899"/>
                </a:lnTo>
                <a:close/>
                <a:moveTo>
                  <a:pt x="1183427" y="318899"/>
                </a:moveTo>
                <a:lnTo>
                  <a:pt x="1183427" y="477608"/>
                </a:lnTo>
                <a:lnTo>
                  <a:pt x="1327427" y="477608"/>
                </a:lnTo>
                <a:lnTo>
                  <a:pt x="1327427" y="318899"/>
                </a:lnTo>
                <a:close/>
                <a:moveTo>
                  <a:pt x="896816" y="318899"/>
                </a:moveTo>
                <a:lnTo>
                  <a:pt x="896816" y="477608"/>
                </a:lnTo>
                <a:lnTo>
                  <a:pt x="1040816" y="477608"/>
                </a:lnTo>
                <a:lnTo>
                  <a:pt x="1040816" y="318899"/>
                </a:lnTo>
                <a:close/>
                <a:moveTo>
                  <a:pt x="1190618" y="0"/>
                </a:moveTo>
                <a:lnTo>
                  <a:pt x="1271830" y="0"/>
                </a:lnTo>
                <a:lnTo>
                  <a:pt x="1308266" y="193836"/>
                </a:lnTo>
                <a:lnTo>
                  <a:pt x="1977660" y="193836"/>
                </a:lnTo>
                <a:lnTo>
                  <a:pt x="2138144" y="525639"/>
                </a:lnTo>
                <a:lnTo>
                  <a:pt x="2421400" y="525639"/>
                </a:lnTo>
                <a:lnTo>
                  <a:pt x="2750195" y="950920"/>
                </a:lnTo>
                <a:lnTo>
                  <a:pt x="3261500" y="937238"/>
                </a:lnTo>
                <a:cubicBezTo>
                  <a:pt x="3244841" y="1097170"/>
                  <a:pt x="3172191" y="1230845"/>
                  <a:pt x="3089450" y="1364888"/>
                </a:cubicBezTo>
                <a:lnTo>
                  <a:pt x="88044" y="1364888"/>
                </a:lnTo>
                <a:cubicBezTo>
                  <a:pt x="35437" y="1251413"/>
                  <a:pt x="-11245" y="1137942"/>
                  <a:pt x="2399" y="1024450"/>
                </a:cubicBezTo>
                <a:lnTo>
                  <a:pt x="197767" y="1019222"/>
                </a:lnTo>
                <a:lnTo>
                  <a:pt x="321162" y="525639"/>
                </a:lnTo>
                <a:lnTo>
                  <a:pt x="681951" y="525639"/>
                </a:lnTo>
                <a:lnTo>
                  <a:pt x="764901" y="193836"/>
                </a:lnTo>
                <a:lnTo>
                  <a:pt x="930048" y="193836"/>
                </a:lnTo>
                <a:lnTo>
                  <a:pt x="966373" y="588"/>
                </a:lnTo>
                <a:lnTo>
                  <a:pt x="1047585" y="588"/>
                </a:lnTo>
                <a:lnTo>
                  <a:pt x="1083910" y="193836"/>
                </a:lnTo>
                <a:lnTo>
                  <a:pt x="1154183" y="1938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4" name="Freeform 53">
            <a:extLst>
              <a:ext uri="{FF2B5EF4-FFF2-40B4-BE49-F238E27FC236}">
                <a16:creationId xmlns:a16="http://schemas.microsoft.com/office/drawing/2014/main" id="{FE07BEE4-0B59-4D06-8B24-FE3D83416B69}"/>
              </a:ext>
            </a:extLst>
          </p:cNvPr>
          <p:cNvSpPr/>
          <p:nvPr/>
        </p:nvSpPr>
        <p:spPr>
          <a:xfrm>
            <a:off x="4742118" y="4344137"/>
            <a:ext cx="459341" cy="470945"/>
          </a:xfrm>
          <a:custGeom>
            <a:avLst/>
            <a:gdLst>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38125 w 2305050"/>
              <a:gd name="connsiteY16" fmla="*/ 217170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60071 w 2305050"/>
              <a:gd name="connsiteY16" fmla="*/ 2087575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6647 w 2305050"/>
              <a:gd name="connsiteY16" fmla="*/ 209489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81480 w 2305050"/>
              <a:gd name="connsiteY2" fmla="*/ 476174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04671 w 2305050"/>
              <a:gd name="connsiteY2" fmla="*/ 468859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70609 w 2305050"/>
              <a:gd name="connsiteY3" fmla="*/ 649910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82725 w 2305050"/>
              <a:gd name="connsiteY2" fmla="*/ 494463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294077"/>
              <a:gd name="connsiteY0" fmla="*/ 0 h 2363647"/>
              <a:gd name="connsiteX1" fmla="*/ 760552 w 2294077"/>
              <a:gd name="connsiteY1" fmla="*/ 572947 h 2363647"/>
              <a:gd name="connsiteX2" fmla="*/ 2030273 w 2294077"/>
              <a:gd name="connsiteY2" fmla="*/ 509092 h 2363647"/>
              <a:gd name="connsiteX3" fmla="*/ 2285239 w 2294077"/>
              <a:gd name="connsiteY3" fmla="*/ 657224 h 2363647"/>
              <a:gd name="connsiteX4" fmla="*/ 1132027 w 2294077"/>
              <a:gd name="connsiteY4" fmla="*/ 1020622 h 2363647"/>
              <a:gd name="connsiteX5" fmla="*/ 1617802 w 2294077"/>
              <a:gd name="connsiteY5" fmla="*/ 1544497 h 2363647"/>
              <a:gd name="connsiteX6" fmla="*/ 2065477 w 2294077"/>
              <a:gd name="connsiteY6" fmla="*/ 1544497 h 2363647"/>
              <a:gd name="connsiteX7" fmla="*/ 2294077 w 2294077"/>
              <a:gd name="connsiteY7" fmla="*/ 1734997 h 2363647"/>
              <a:gd name="connsiteX8" fmla="*/ 1827352 w 2294077"/>
              <a:gd name="connsiteY8" fmla="*/ 1868347 h 2363647"/>
              <a:gd name="connsiteX9" fmla="*/ 1998802 w 2294077"/>
              <a:gd name="connsiteY9" fmla="*/ 2115997 h 2363647"/>
              <a:gd name="connsiteX10" fmla="*/ 1722577 w 2294077"/>
              <a:gd name="connsiteY10" fmla="*/ 1982647 h 2363647"/>
              <a:gd name="connsiteX11" fmla="*/ 1532077 w 2294077"/>
              <a:gd name="connsiteY11" fmla="*/ 2363647 h 2363647"/>
              <a:gd name="connsiteX12" fmla="*/ 1303477 w 2294077"/>
              <a:gd name="connsiteY12" fmla="*/ 2144572 h 2363647"/>
              <a:gd name="connsiteX13" fmla="*/ 1436827 w 2294077"/>
              <a:gd name="connsiteY13" fmla="*/ 1782622 h 2363647"/>
              <a:gd name="connsiteX14" fmla="*/ 912952 w 2294077"/>
              <a:gd name="connsiteY14" fmla="*/ 1201597 h 2363647"/>
              <a:gd name="connsiteX15" fmla="*/ 403784 w 2294077"/>
              <a:gd name="connsiteY15" fmla="*/ 2316707 h 2363647"/>
              <a:gd name="connsiteX16" fmla="*/ 282017 w 2294077"/>
              <a:gd name="connsiteY16" fmla="*/ 2047340 h 2363647"/>
              <a:gd name="connsiteX17" fmla="*/ 509244 w 2294077"/>
              <a:gd name="connsiteY17" fmla="*/ 761923 h 2363647"/>
              <a:gd name="connsiteX18" fmla="*/ 0 w 2294077"/>
              <a:gd name="connsiteY18" fmla="*/ 0 h 2363647"/>
              <a:gd name="connsiteX0" fmla="*/ 6569 w 2300646"/>
              <a:gd name="connsiteY0" fmla="*/ 0 h 2363647"/>
              <a:gd name="connsiteX1" fmla="*/ 767121 w 2300646"/>
              <a:gd name="connsiteY1" fmla="*/ 572947 h 2363647"/>
              <a:gd name="connsiteX2" fmla="*/ 2036842 w 2300646"/>
              <a:gd name="connsiteY2" fmla="*/ 509092 h 2363647"/>
              <a:gd name="connsiteX3" fmla="*/ 2291808 w 2300646"/>
              <a:gd name="connsiteY3" fmla="*/ 657224 h 2363647"/>
              <a:gd name="connsiteX4" fmla="*/ 1138596 w 2300646"/>
              <a:gd name="connsiteY4" fmla="*/ 1020622 h 2363647"/>
              <a:gd name="connsiteX5" fmla="*/ 1624371 w 2300646"/>
              <a:gd name="connsiteY5" fmla="*/ 1544497 h 2363647"/>
              <a:gd name="connsiteX6" fmla="*/ 2072046 w 2300646"/>
              <a:gd name="connsiteY6" fmla="*/ 1544497 h 2363647"/>
              <a:gd name="connsiteX7" fmla="*/ 2300646 w 2300646"/>
              <a:gd name="connsiteY7" fmla="*/ 1734997 h 2363647"/>
              <a:gd name="connsiteX8" fmla="*/ 1833921 w 2300646"/>
              <a:gd name="connsiteY8" fmla="*/ 1868347 h 2363647"/>
              <a:gd name="connsiteX9" fmla="*/ 2005371 w 2300646"/>
              <a:gd name="connsiteY9" fmla="*/ 2115997 h 2363647"/>
              <a:gd name="connsiteX10" fmla="*/ 1729146 w 2300646"/>
              <a:gd name="connsiteY10" fmla="*/ 1982647 h 2363647"/>
              <a:gd name="connsiteX11" fmla="*/ 1538646 w 2300646"/>
              <a:gd name="connsiteY11" fmla="*/ 2363647 h 2363647"/>
              <a:gd name="connsiteX12" fmla="*/ 1310046 w 2300646"/>
              <a:gd name="connsiteY12" fmla="*/ 2144572 h 2363647"/>
              <a:gd name="connsiteX13" fmla="*/ 1443396 w 2300646"/>
              <a:gd name="connsiteY13" fmla="*/ 1782622 h 2363647"/>
              <a:gd name="connsiteX14" fmla="*/ 919521 w 2300646"/>
              <a:gd name="connsiteY14" fmla="*/ 1201597 h 2363647"/>
              <a:gd name="connsiteX15" fmla="*/ 410353 w 2300646"/>
              <a:gd name="connsiteY15" fmla="*/ 2316707 h 2363647"/>
              <a:gd name="connsiteX16" fmla="*/ 288586 w 2300646"/>
              <a:gd name="connsiteY16" fmla="*/ 2047340 h 2363647"/>
              <a:gd name="connsiteX17" fmla="*/ 515813 w 2300646"/>
              <a:gd name="connsiteY17" fmla="*/ 761923 h 2363647"/>
              <a:gd name="connsiteX18" fmla="*/ 6569 w 2300646"/>
              <a:gd name="connsiteY18" fmla="*/ 0 h 2363647"/>
              <a:gd name="connsiteX0" fmla="*/ 6569 w 2300646"/>
              <a:gd name="connsiteY0" fmla="*/ 5505 h 2369152"/>
              <a:gd name="connsiteX1" fmla="*/ 767121 w 2300646"/>
              <a:gd name="connsiteY1" fmla="*/ 578452 h 2369152"/>
              <a:gd name="connsiteX2" fmla="*/ 2036842 w 2300646"/>
              <a:gd name="connsiteY2" fmla="*/ 514597 h 2369152"/>
              <a:gd name="connsiteX3" fmla="*/ 2291808 w 2300646"/>
              <a:gd name="connsiteY3" fmla="*/ 662729 h 2369152"/>
              <a:gd name="connsiteX4" fmla="*/ 1138596 w 2300646"/>
              <a:gd name="connsiteY4" fmla="*/ 1026127 h 2369152"/>
              <a:gd name="connsiteX5" fmla="*/ 1624371 w 2300646"/>
              <a:gd name="connsiteY5" fmla="*/ 1550002 h 2369152"/>
              <a:gd name="connsiteX6" fmla="*/ 2072046 w 2300646"/>
              <a:gd name="connsiteY6" fmla="*/ 1550002 h 2369152"/>
              <a:gd name="connsiteX7" fmla="*/ 2300646 w 2300646"/>
              <a:gd name="connsiteY7" fmla="*/ 1740502 h 2369152"/>
              <a:gd name="connsiteX8" fmla="*/ 1833921 w 2300646"/>
              <a:gd name="connsiteY8" fmla="*/ 1873852 h 2369152"/>
              <a:gd name="connsiteX9" fmla="*/ 2005371 w 2300646"/>
              <a:gd name="connsiteY9" fmla="*/ 2121502 h 2369152"/>
              <a:gd name="connsiteX10" fmla="*/ 1729146 w 2300646"/>
              <a:gd name="connsiteY10" fmla="*/ 1988152 h 2369152"/>
              <a:gd name="connsiteX11" fmla="*/ 1538646 w 2300646"/>
              <a:gd name="connsiteY11" fmla="*/ 2369152 h 2369152"/>
              <a:gd name="connsiteX12" fmla="*/ 1310046 w 2300646"/>
              <a:gd name="connsiteY12" fmla="*/ 2150077 h 2369152"/>
              <a:gd name="connsiteX13" fmla="*/ 1443396 w 2300646"/>
              <a:gd name="connsiteY13" fmla="*/ 1788127 h 2369152"/>
              <a:gd name="connsiteX14" fmla="*/ 919521 w 2300646"/>
              <a:gd name="connsiteY14" fmla="*/ 1207102 h 2369152"/>
              <a:gd name="connsiteX15" fmla="*/ 410353 w 2300646"/>
              <a:gd name="connsiteY15" fmla="*/ 2322212 h 2369152"/>
              <a:gd name="connsiteX16" fmla="*/ 288586 w 2300646"/>
              <a:gd name="connsiteY16" fmla="*/ 2052845 h 2369152"/>
              <a:gd name="connsiteX17" fmla="*/ 515813 w 2300646"/>
              <a:gd name="connsiteY17" fmla="*/ 767428 h 2369152"/>
              <a:gd name="connsiteX18" fmla="*/ 6569 w 2300646"/>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24119 w 2305244"/>
              <a:gd name="connsiteY14" fmla="*/ 1207102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73597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513830 w 2305244"/>
              <a:gd name="connsiteY13" fmla="*/ 1784469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50914 w 2305244"/>
              <a:gd name="connsiteY5" fmla="*/ 1597551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32752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24192 w 2305244"/>
              <a:gd name="connsiteY17" fmla="*/ 1641442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02246 w 2305244"/>
              <a:gd name="connsiteY17" fmla="*/ 1579262 h 2369152"/>
              <a:gd name="connsiteX0" fmla="*/ 2275983 w 2296406"/>
              <a:gd name="connsiteY0" fmla="*/ 1747817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7707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57695 w 2296406"/>
              <a:gd name="connsiteY0" fmla="*/ 1755133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9145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80482 w 2296406"/>
              <a:gd name="connsiteY5" fmla="*/ 2120816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54521"/>
              <a:gd name="connsiteX1" fmla="*/ 1838519 w 2296406"/>
              <a:gd name="connsiteY1" fmla="*/ 1873852 h 2354521"/>
              <a:gd name="connsiteX2" fmla="*/ 2009969 w 2296406"/>
              <a:gd name="connsiteY2" fmla="*/ 2121502 h 2354521"/>
              <a:gd name="connsiteX3" fmla="*/ 1733744 w 2296406"/>
              <a:gd name="connsiteY3" fmla="*/ 1988152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38519 w 2296406"/>
              <a:gd name="connsiteY1" fmla="*/ 1873852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91681 w 2296406"/>
              <a:gd name="connsiteY2" fmla="*/ 2136133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42887 w 2296406"/>
              <a:gd name="connsiteY2" fmla="*/ 2194655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3889 w 2296406"/>
              <a:gd name="connsiteY1" fmla="*/ 183727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7546 w 2296406"/>
              <a:gd name="connsiteY1" fmla="*/ 1826304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80220 w 2296986"/>
              <a:gd name="connsiteY0" fmla="*/ 1747818 h 2354521"/>
              <a:gd name="connsiteX1" fmla="*/ 1828126 w 2296986"/>
              <a:gd name="connsiteY1" fmla="*/ 1826304 h 2354521"/>
              <a:gd name="connsiteX2" fmla="*/ 1955684 w 2296986"/>
              <a:gd name="connsiteY2" fmla="*/ 2095900 h 2354521"/>
              <a:gd name="connsiteX3" fmla="*/ 1683117 w 2296986"/>
              <a:gd name="connsiteY3" fmla="*/ 1962549 h 2354521"/>
              <a:gd name="connsiteX4" fmla="*/ 1529193 w 2296986"/>
              <a:gd name="connsiteY4" fmla="*/ 2354521 h 2354521"/>
              <a:gd name="connsiteX5" fmla="*/ 1381062 w 2296986"/>
              <a:gd name="connsiteY5" fmla="*/ 2120816 h 2354521"/>
              <a:gd name="connsiteX6" fmla="*/ 1496122 w 2296986"/>
              <a:gd name="connsiteY6" fmla="*/ 1788127 h 2354521"/>
              <a:gd name="connsiteX7" fmla="*/ 910069 w 2296986"/>
              <a:gd name="connsiteY7" fmla="*/ 1225390 h 2354521"/>
              <a:gd name="connsiteX8" fmla="*/ 415531 w 2296986"/>
              <a:gd name="connsiteY8" fmla="*/ 2322212 h 2354521"/>
              <a:gd name="connsiteX9" fmla="*/ 293764 w 2296986"/>
              <a:gd name="connsiteY9" fmla="*/ 2052845 h 2354521"/>
              <a:gd name="connsiteX10" fmla="*/ 497994 w 2296986"/>
              <a:gd name="connsiteY10" fmla="*/ 836420 h 2354521"/>
              <a:gd name="connsiteX11" fmla="*/ 11747 w 2296986"/>
              <a:gd name="connsiteY11" fmla="*/ 5505 h 2354521"/>
              <a:gd name="connsiteX12" fmla="*/ 772299 w 2296986"/>
              <a:gd name="connsiteY12" fmla="*/ 578452 h 2354521"/>
              <a:gd name="connsiteX13" fmla="*/ 2042020 w 2296986"/>
              <a:gd name="connsiteY13" fmla="*/ 514597 h 2354521"/>
              <a:gd name="connsiteX14" fmla="*/ 2296986 w 2296986"/>
              <a:gd name="connsiteY14" fmla="*/ 662729 h 2354521"/>
              <a:gd name="connsiteX15" fmla="*/ 1125486 w 2296986"/>
              <a:gd name="connsiteY15" fmla="*/ 1004182 h 2354521"/>
              <a:gd name="connsiteX16" fmla="*/ 1677097 w 2296986"/>
              <a:gd name="connsiteY16" fmla="*/ 1608523 h 2354521"/>
              <a:gd name="connsiteX17" fmla="*/ 2095511 w 2296986"/>
              <a:gd name="connsiteY17" fmla="*/ 1557316 h 2354521"/>
              <a:gd name="connsiteX0" fmla="*/ 2280220 w 2296986"/>
              <a:gd name="connsiteY0" fmla="*/ 1747911 h 2354614"/>
              <a:gd name="connsiteX1" fmla="*/ 1828126 w 2296986"/>
              <a:gd name="connsiteY1" fmla="*/ 1826397 h 2354614"/>
              <a:gd name="connsiteX2" fmla="*/ 1955684 w 2296986"/>
              <a:gd name="connsiteY2" fmla="*/ 2095993 h 2354614"/>
              <a:gd name="connsiteX3" fmla="*/ 1683117 w 2296986"/>
              <a:gd name="connsiteY3" fmla="*/ 1962642 h 2354614"/>
              <a:gd name="connsiteX4" fmla="*/ 1529193 w 2296986"/>
              <a:gd name="connsiteY4" fmla="*/ 2354614 h 2354614"/>
              <a:gd name="connsiteX5" fmla="*/ 1381062 w 2296986"/>
              <a:gd name="connsiteY5" fmla="*/ 2120909 h 2354614"/>
              <a:gd name="connsiteX6" fmla="*/ 1496122 w 2296986"/>
              <a:gd name="connsiteY6" fmla="*/ 1788220 h 2354614"/>
              <a:gd name="connsiteX7" fmla="*/ 910069 w 2296986"/>
              <a:gd name="connsiteY7" fmla="*/ 1225483 h 2354614"/>
              <a:gd name="connsiteX8" fmla="*/ 415531 w 2296986"/>
              <a:gd name="connsiteY8" fmla="*/ 2322305 h 2354614"/>
              <a:gd name="connsiteX9" fmla="*/ 293764 w 2296986"/>
              <a:gd name="connsiteY9" fmla="*/ 2052938 h 2354614"/>
              <a:gd name="connsiteX10" fmla="*/ 497994 w 2296986"/>
              <a:gd name="connsiteY10" fmla="*/ 836513 h 2354614"/>
              <a:gd name="connsiteX11" fmla="*/ 11747 w 2296986"/>
              <a:gd name="connsiteY11" fmla="*/ 5598 h 2354614"/>
              <a:gd name="connsiteX12" fmla="*/ 841291 w 2296986"/>
              <a:gd name="connsiteY12" fmla="*/ 570880 h 2354614"/>
              <a:gd name="connsiteX13" fmla="*/ 2042020 w 2296986"/>
              <a:gd name="connsiteY13" fmla="*/ 514690 h 2354614"/>
              <a:gd name="connsiteX14" fmla="*/ 2296986 w 2296986"/>
              <a:gd name="connsiteY14" fmla="*/ 662822 h 2354614"/>
              <a:gd name="connsiteX15" fmla="*/ 1125486 w 2296986"/>
              <a:gd name="connsiteY15" fmla="*/ 1004275 h 2354614"/>
              <a:gd name="connsiteX16" fmla="*/ 1677097 w 2296986"/>
              <a:gd name="connsiteY16" fmla="*/ 1608616 h 2354614"/>
              <a:gd name="connsiteX17" fmla="*/ 2095511 w 2296986"/>
              <a:gd name="connsiteY17" fmla="*/ 1557409 h 2354614"/>
              <a:gd name="connsiteX0" fmla="*/ 2280220 w 2296986"/>
              <a:gd name="connsiteY0" fmla="*/ 1747911 h 2354614"/>
              <a:gd name="connsiteX1" fmla="*/ 1828126 w 2296986"/>
              <a:gd name="connsiteY1" fmla="*/ 1826397 h 2354614"/>
              <a:gd name="connsiteX2" fmla="*/ 1955684 w 2296986"/>
              <a:gd name="connsiteY2" fmla="*/ 2095993 h 2354614"/>
              <a:gd name="connsiteX3" fmla="*/ 1683117 w 2296986"/>
              <a:gd name="connsiteY3" fmla="*/ 1962642 h 2354614"/>
              <a:gd name="connsiteX4" fmla="*/ 1529193 w 2296986"/>
              <a:gd name="connsiteY4" fmla="*/ 2354614 h 2354614"/>
              <a:gd name="connsiteX5" fmla="*/ 1381062 w 2296986"/>
              <a:gd name="connsiteY5" fmla="*/ 2120909 h 2354614"/>
              <a:gd name="connsiteX6" fmla="*/ 1496122 w 2296986"/>
              <a:gd name="connsiteY6" fmla="*/ 1788220 h 2354614"/>
              <a:gd name="connsiteX7" fmla="*/ 864075 w 2296986"/>
              <a:gd name="connsiteY7" fmla="*/ 1325138 h 2354614"/>
              <a:gd name="connsiteX8" fmla="*/ 415531 w 2296986"/>
              <a:gd name="connsiteY8" fmla="*/ 2322305 h 2354614"/>
              <a:gd name="connsiteX9" fmla="*/ 293764 w 2296986"/>
              <a:gd name="connsiteY9" fmla="*/ 2052938 h 2354614"/>
              <a:gd name="connsiteX10" fmla="*/ 497994 w 2296986"/>
              <a:gd name="connsiteY10" fmla="*/ 836513 h 2354614"/>
              <a:gd name="connsiteX11" fmla="*/ 11747 w 2296986"/>
              <a:gd name="connsiteY11" fmla="*/ 5598 h 2354614"/>
              <a:gd name="connsiteX12" fmla="*/ 841291 w 2296986"/>
              <a:gd name="connsiteY12" fmla="*/ 570880 h 2354614"/>
              <a:gd name="connsiteX13" fmla="*/ 2042020 w 2296986"/>
              <a:gd name="connsiteY13" fmla="*/ 514690 h 2354614"/>
              <a:gd name="connsiteX14" fmla="*/ 2296986 w 2296986"/>
              <a:gd name="connsiteY14" fmla="*/ 662822 h 2354614"/>
              <a:gd name="connsiteX15" fmla="*/ 1125486 w 2296986"/>
              <a:gd name="connsiteY15" fmla="*/ 1004275 h 2354614"/>
              <a:gd name="connsiteX16" fmla="*/ 1677097 w 2296986"/>
              <a:gd name="connsiteY16" fmla="*/ 1608616 h 2354614"/>
              <a:gd name="connsiteX17" fmla="*/ 2095511 w 2296986"/>
              <a:gd name="connsiteY17" fmla="*/ 1557409 h 2354614"/>
              <a:gd name="connsiteX0" fmla="*/ 2280220 w 2296986"/>
              <a:gd name="connsiteY0" fmla="*/ 1747911 h 2354614"/>
              <a:gd name="connsiteX1" fmla="*/ 1828126 w 2296986"/>
              <a:gd name="connsiteY1" fmla="*/ 1826397 h 2354614"/>
              <a:gd name="connsiteX2" fmla="*/ 1955684 w 2296986"/>
              <a:gd name="connsiteY2" fmla="*/ 2095993 h 2354614"/>
              <a:gd name="connsiteX3" fmla="*/ 1683117 w 2296986"/>
              <a:gd name="connsiteY3" fmla="*/ 1962642 h 2354614"/>
              <a:gd name="connsiteX4" fmla="*/ 1529193 w 2296986"/>
              <a:gd name="connsiteY4" fmla="*/ 2354614 h 2354614"/>
              <a:gd name="connsiteX5" fmla="*/ 1381062 w 2296986"/>
              <a:gd name="connsiteY5" fmla="*/ 2120909 h 2354614"/>
              <a:gd name="connsiteX6" fmla="*/ 1496122 w 2296986"/>
              <a:gd name="connsiteY6" fmla="*/ 1788220 h 2354614"/>
              <a:gd name="connsiteX7" fmla="*/ 864075 w 2296986"/>
              <a:gd name="connsiteY7" fmla="*/ 1325138 h 2354614"/>
              <a:gd name="connsiteX8" fmla="*/ 415531 w 2296986"/>
              <a:gd name="connsiteY8" fmla="*/ 2322305 h 2354614"/>
              <a:gd name="connsiteX9" fmla="*/ 293764 w 2296986"/>
              <a:gd name="connsiteY9" fmla="*/ 2052938 h 2354614"/>
              <a:gd name="connsiteX10" fmla="*/ 497994 w 2296986"/>
              <a:gd name="connsiteY10" fmla="*/ 836513 h 2354614"/>
              <a:gd name="connsiteX11" fmla="*/ 11747 w 2296986"/>
              <a:gd name="connsiteY11" fmla="*/ 5598 h 2354614"/>
              <a:gd name="connsiteX12" fmla="*/ 841291 w 2296986"/>
              <a:gd name="connsiteY12" fmla="*/ 570880 h 2354614"/>
              <a:gd name="connsiteX13" fmla="*/ 2042020 w 2296986"/>
              <a:gd name="connsiteY13" fmla="*/ 514690 h 2354614"/>
              <a:gd name="connsiteX14" fmla="*/ 2296986 w 2296986"/>
              <a:gd name="connsiteY14" fmla="*/ 662822 h 2354614"/>
              <a:gd name="connsiteX15" fmla="*/ 1209809 w 2296986"/>
              <a:gd name="connsiteY15" fmla="*/ 996610 h 2354614"/>
              <a:gd name="connsiteX16" fmla="*/ 1677097 w 2296986"/>
              <a:gd name="connsiteY16" fmla="*/ 1608616 h 2354614"/>
              <a:gd name="connsiteX17" fmla="*/ 2095511 w 2296986"/>
              <a:gd name="connsiteY17" fmla="*/ 1557409 h 2354614"/>
              <a:gd name="connsiteX0" fmla="*/ 2279828 w 2296594"/>
              <a:gd name="connsiteY0" fmla="*/ 1747911 h 2354614"/>
              <a:gd name="connsiteX1" fmla="*/ 1827734 w 2296594"/>
              <a:gd name="connsiteY1" fmla="*/ 1826397 h 2354614"/>
              <a:gd name="connsiteX2" fmla="*/ 1955292 w 2296594"/>
              <a:gd name="connsiteY2" fmla="*/ 2095993 h 2354614"/>
              <a:gd name="connsiteX3" fmla="*/ 1682725 w 2296594"/>
              <a:gd name="connsiteY3" fmla="*/ 1962642 h 2354614"/>
              <a:gd name="connsiteX4" fmla="*/ 1528801 w 2296594"/>
              <a:gd name="connsiteY4" fmla="*/ 2354614 h 2354614"/>
              <a:gd name="connsiteX5" fmla="*/ 1380670 w 2296594"/>
              <a:gd name="connsiteY5" fmla="*/ 2120909 h 2354614"/>
              <a:gd name="connsiteX6" fmla="*/ 1495730 w 2296594"/>
              <a:gd name="connsiteY6" fmla="*/ 1788220 h 2354614"/>
              <a:gd name="connsiteX7" fmla="*/ 863683 w 2296594"/>
              <a:gd name="connsiteY7" fmla="*/ 1325138 h 2354614"/>
              <a:gd name="connsiteX8" fmla="*/ 415139 w 2296594"/>
              <a:gd name="connsiteY8" fmla="*/ 2322305 h 2354614"/>
              <a:gd name="connsiteX9" fmla="*/ 293372 w 2296594"/>
              <a:gd name="connsiteY9" fmla="*/ 2052938 h 2354614"/>
              <a:gd name="connsiteX10" fmla="*/ 512934 w 2296594"/>
              <a:gd name="connsiteY10" fmla="*/ 874842 h 2354614"/>
              <a:gd name="connsiteX11" fmla="*/ 11355 w 2296594"/>
              <a:gd name="connsiteY11" fmla="*/ 5598 h 2354614"/>
              <a:gd name="connsiteX12" fmla="*/ 840899 w 2296594"/>
              <a:gd name="connsiteY12" fmla="*/ 570880 h 2354614"/>
              <a:gd name="connsiteX13" fmla="*/ 2041628 w 2296594"/>
              <a:gd name="connsiteY13" fmla="*/ 514690 h 2354614"/>
              <a:gd name="connsiteX14" fmla="*/ 2296594 w 2296594"/>
              <a:gd name="connsiteY14" fmla="*/ 662822 h 2354614"/>
              <a:gd name="connsiteX15" fmla="*/ 1209417 w 2296594"/>
              <a:gd name="connsiteY15" fmla="*/ 996610 h 2354614"/>
              <a:gd name="connsiteX16" fmla="*/ 1676705 w 2296594"/>
              <a:gd name="connsiteY16" fmla="*/ 1608616 h 2354614"/>
              <a:gd name="connsiteX17" fmla="*/ 2095119 w 2296594"/>
              <a:gd name="connsiteY17" fmla="*/ 1557409 h 2354614"/>
              <a:gd name="connsiteX0" fmla="*/ 2279828 w 2296594"/>
              <a:gd name="connsiteY0" fmla="*/ 1747911 h 2354614"/>
              <a:gd name="connsiteX1" fmla="*/ 1827734 w 2296594"/>
              <a:gd name="connsiteY1" fmla="*/ 1826397 h 2354614"/>
              <a:gd name="connsiteX2" fmla="*/ 1955292 w 2296594"/>
              <a:gd name="connsiteY2" fmla="*/ 2095993 h 2354614"/>
              <a:gd name="connsiteX3" fmla="*/ 1682725 w 2296594"/>
              <a:gd name="connsiteY3" fmla="*/ 1962642 h 2354614"/>
              <a:gd name="connsiteX4" fmla="*/ 1528801 w 2296594"/>
              <a:gd name="connsiteY4" fmla="*/ 2354614 h 2354614"/>
              <a:gd name="connsiteX5" fmla="*/ 1380670 w 2296594"/>
              <a:gd name="connsiteY5" fmla="*/ 2120909 h 2354614"/>
              <a:gd name="connsiteX6" fmla="*/ 1495730 w 2296594"/>
              <a:gd name="connsiteY6" fmla="*/ 1788220 h 2354614"/>
              <a:gd name="connsiteX7" fmla="*/ 856016 w 2296594"/>
              <a:gd name="connsiteY7" fmla="*/ 1302141 h 2354614"/>
              <a:gd name="connsiteX8" fmla="*/ 415139 w 2296594"/>
              <a:gd name="connsiteY8" fmla="*/ 2322305 h 2354614"/>
              <a:gd name="connsiteX9" fmla="*/ 293372 w 2296594"/>
              <a:gd name="connsiteY9" fmla="*/ 2052938 h 2354614"/>
              <a:gd name="connsiteX10" fmla="*/ 512934 w 2296594"/>
              <a:gd name="connsiteY10" fmla="*/ 874842 h 2354614"/>
              <a:gd name="connsiteX11" fmla="*/ 11355 w 2296594"/>
              <a:gd name="connsiteY11" fmla="*/ 5598 h 2354614"/>
              <a:gd name="connsiteX12" fmla="*/ 840899 w 2296594"/>
              <a:gd name="connsiteY12" fmla="*/ 570880 h 2354614"/>
              <a:gd name="connsiteX13" fmla="*/ 2041628 w 2296594"/>
              <a:gd name="connsiteY13" fmla="*/ 514690 h 2354614"/>
              <a:gd name="connsiteX14" fmla="*/ 2296594 w 2296594"/>
              <a:gd name="connsiteY14" fmla="*/ 662822 h 2354614"/>
              <a:gd name="connsiteX15" fmla="*/ 1209417 w 2296594"/>
              <a:gd name="connsiteY15" fmla="*/ 996610 h 2354614"/>
              <a:gd name="connsiteX16" fmla="*/ 1676705 w 2296594"/>
              <a:gd name="connsiteY16" fmla="*/ 1608616 h 2354614"/>
              <a:gd name="connsiteX17" fmla="*/ 2095119 w 2296594"/>
              <a:gd name="connsiteY17" fmla="*/ 1557409 h 235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96594" h="2354614">
                <a:moveTo>
                  <a:pt x="2279828" y="1747911"/>
                </a:moveTo>
                <a:lnTo>
                  <a:pt x="1827734" y="1826397"/>
                </a:lnTo>
                <a:cubicBezTo>
                  <a:pt x="1873911" y="1907728"/>
                  <a:pt x="1985925" y="2047581"/>
                  <a:pt x="1955292" y="2095993"/>
                </a:cubicBezTo>
                <a:cubicBezTo>
                  <a:pt x="1897354" y="2139325"/>
                  <a:pt x="1773581" y="2007092"/>
                  <a:pt x="1682725" y="1962642"/>
                </a:cubicBezTo>
                <a:lnTo>
                  <a:pt x="1528801" y="2354614"/>
                </a:lnTo>
                <a:lnTo>
                  <a:pt x="1380670" y="2120909"/>
                </a:lnTo>
                <a:lnTo>
                  <a:pt x="1495730" y="1788220"/>
                </a:lnTo>
                <a:lnTo>
                  <a:pt x="856016" y="1302141"/>
                </a:lnTo>
                <a:lnTo>
                  <a:pt x="415139" y="2322305"/>
                </a:lnTo>
                <a:lnTo>
                  <a:pt x="293372" y="2052938"/>
                </a:lnTo>
                <a:cubicBezTo>
                  <a:pt x="369114" y="1624466"/>
                  <a:pt x="437192" y="1303314"/>
                  <a:pt x="512934" y="874842"/>
                </a:cubicBezTo>
                <a:cubicBezTo>
                  <a:pt x="317583" y="650129"/>
                  <a:pt x="-71270" y="102295"/>
                  <a:pt x="11355" y="5598"/>
                </a:cubicBezTo>
                <a:cubicBezTo>
                  <a:pt x="111253" y="-52136"/>
                  <a:pt x="623957" y="350637"/>
                  <a:pt x="840899" y="570880"/>
                </a:cubicBezTo>
                <a:lnTo>
                  <a:pt x="2041628" y="514690"/>
                </a:lnTo>
                <a:lnTo>
                  <a:pt x="2296594" y="662822"/>
                </a:lnTo>
                <a:lnTo>
                  <a:pt x="1209417" y="996610"/>
                </a:lnTo>
                <a:lnTo>
                  <a:pt x="1676705" y="1608616"/>
                </a:lnTo>
                <a:cubicBezTo>
                  <a:pt x="1795450" y="1589109"/>
                  <a:pt x="2095119" y="1557409"/>
                  <a:pt x="2095119" y="1557409"/>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600" dirty="0">
              <a:latin typeface="Microsoft JhengHei" panose="020B0604030504040204" pitchFamily="34" charset="-120"/>
            </a:endParaRPr>
          </a:p>
        </p:txBody>
      </p:sp>
      <p:sp>
        <p:nvSpPr>
          <p:cNvPr id="12" name="文字方塊 11">
            <a:extLst>
              <a:ext uri="{FF2B5EF4-FFF2-40B4-BE49-F238E27FC236}">
                <a16:creationId xmlns:a16="http://schemas.microsoft.com/office/drawing/2014/main" id="{FD8B93A3-77B5-2252-5F18-28AE8CA868D4}"/>
              </a:ext>
            </a:extLst>
          </p:cNvPr>
          <p:cNvSpPr txBox="1"/>
          <p:nvPr/>
        </p:nvSpPr>
        <p:spPr>
          <a:xfrm>
            <a:off x="997978" y="1732386"/>
            <a:ext cx="12297295" cy="461665"/>
          </a:xfrm>
          <a:prstGeom prst="rect">
            <a:avLst/>
          </a:prstGeom>
          <a:noFill/>
        </p:spPr>
        <p:txBody>
          <a:bodyPr wrap="square">
            <a:spAutoFit/>
          </a:bodyPr>
          <a:lstStyle/>
          <a:p>
            <a:pPr algn="ctr"/>
            <a:r>
              <a:rPr lang="zh-TW" altLang="en-US" sz="2400" dirty="0">
                <a:latin typeface="Microsoft JhengHei" panose="020B0604030504040204" pitchFamily="34" charset="-120"/>
                <a:ea typeface="Microsoft JhengHei" panose="020B0604030504040204" pitchFamily="34" charset="-120"/>
              </a:rPr>
              <a:t>全球化下英語溝通力的重要性</a:t>
            </a:r>
            <a:endParaRPr lang="zh-TW" altLang="en-US" sz="1800" dirty="0">
              <a:latin typeface="Microsoft JhengHei" panose="020B0604030504040204" pitchFamily="34" charset="-120"/>
              <a:ea typeface="Microsoft JhengHei" panose="020B0604030504040204" pitchFamily="34" charset="-120"/>
            </a:endParaRPr>
          </a:p>
        </p:txBody>
      </p:sp>
      <p:sp>
        <p:nvSpPr>
          <p:cNvPr id="3" name="投影片編號版面配置區 2">
            <a:extLst>
              <a:ext uri="{FF2B5EF4-FFF2-40B4-BE49-F238E27FC236}">
                <a16:creationId xmlns:a16="http://schemas.microsoft.com/office/drawing/2014/main" id="{A32982E4-8554-C11F-124C-2C16AED9FE3B}"/>
              </a:ext>
            </a:extLst>
          </p:cNvPr>
          <p:cNvSpPr>
            <a:spLocks noGrp="1"/>
          </p:cNvSpPr>
          <p:nvPr>
            <p:ph type="sldNum" sz="quarter" idx="4"/>
          </p:nvPr>
        </p:nvSpPr>
        <p:spPr/>
        <p:txBody>
          <a:bodyPr/>
          <a:lstStyle/>
          <a:p>
            <a:fld id="{46198A0D-C119-49A8-AD21-4EA122FD909A}" type="slidenum">
              <a:rPr lang="zh-TW" altLang="en-US" smtClean="0"/>
              <a:t>4</a:t>
            </a:fld>
            <a:endParaRPr lang="zh-TW" altLang="en-US"/>
          </a:p>
        </p:txBody>
      </p:sp>
    </p:spTree>
    <p:extLst>
      <p:ext uri="{BB962C8B-B14F-4D97-AF65-F5344CB8AC3E}">
        <p14:creationId xmlns:p14="http://schemas.microsoft.com/office/powerpoint/2010/main" val="2969403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7F5018-5A1B-4348-B4C7-F90DA3E7FB84}"/>
              </a:ext>
            </a:extLst>
          </p:cNvPr>
          <p:cNvSpPr>
            <a:spLocks noGrp="1"/>
          </p:cNvSpPr>
          <p:nvPr>
            <p:ph type="body" sz="quarter" idx="4294967295"/>
          </p:nvPr>
        </p:nvSpPr>
        <p:spPr>
          <a:xfrm>
            <a:off x="273269" y="290338"/>
            <a:ext cx="2940841"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研究動機</a:t>
            </a:r>
            <a:endParaRPr lang="en-US" sz="5400" b="1" dirty="0">
              <a:latin typeface="Microsoft JhengHei" panose="020B0604030504040204" pitchFamily="34" charset="-120"/>
              <a:ea typeface="Microsoft JhengHei" panose="020B0604030504040204" pitchFamily="34" charset="-120"/>
            </a:endParaRPr>
          </a:p>
        </p:txBody>
      </p:sp>
      <p:grpSp>
        <p:nvGrpSpPr>
          <p:cNvPr id="4" name="Group 3">
            <a:extLst>
              <a:ext uri="{FF2B5EF4-FFF2-40B4-BE49-F238E27FC236}">
                <a16:creationId xmlns:a16="http://schemas.microsoft.com/office/drawing/2014/main" id="{21AF9A27-7FF1-4013-B095-48D090C511C6}"/>
              </a:ext>
            </a:extLst>
          </p:cNvPr>
          <p:cNvGrpSpPr/>
          <p:nvPr/>
        </p:nvGrpSpPr>
        <p:grpSpPr>
          <a:xfrm>
            <a:off x="4489411" y="2116555"/>
            <a:ext cx="5651578" cy="4468602"/>
            <a:chOff x="2228055" y="1971102"/>
            <a:chExt cx="4575969" cy="3618138"/>
          </a:xfrm>
        </p:grpSpPr>
        <p:sp>
          <p:nvSpPr>
            <p:cNvPr id="8" name="Freeform 18">
              <a:extLst>
                <a:ext uri="{FF2B5EF4-FFF2-40B4-BE49-F238E27FC236}">
                  <a16:creationId xmlns:a16="http://schemas.microsoft.com/office/drawing/2014/main" id="{8C2A3CAF-74F9-4B6E-841E-A026F21ACA9E}"/>
                </a:ext>
              </a:extLst>
            </p:cNvPr>
            <p:cNvSpPr>
              <a:spLocks/>
            </p:cNvSpPr>
            <p:nvPr/>
          </p:nvSpPr>
          <p:spPr bwMode="auto">
            <a:xfrm>
              <a:off x="2228055" y="1971102"/>
              <a:ext cx="3243960" cy="3618138"/>
            </a:xfrm>
            <a:custGeom>
              <a:avLst/>
              <a:gdLst/>
              <a:ahLst/>
              <a:cxnLst/>
              <a:rect l="l" t="t" r="r" b="b"/>
              <a:pathLst>
                <a:path w="3243960" h="3618138">
                  <a:moveTo>
                    <a:pt x="1764407" y="0"/>
                  </a:moveTo>
                  <a:lnTo>
                    <a:pt x="1913381" y="1203"/>
                  </a:lnTo>
                  <a:lnTo>
                    <a:pt x="2053042" y="12022"/>
                  </a:lnTo>
                  <a:lnTo>
                    <a:pt x="2185723" y="30056"/>
                  </a:lnTo>
                  <a:lnTo>
                    <a:pt x="2312583" y="56506"/>
                  </a:lnTo>
                  <a:lnTo>
                    <a:pt x="2433624" y="88967"/>
                  </a:lnTo>
                  <a:lnTo>
                    <a:pt x="2545354" y="131046"/>
                  </a:lnTo>
                  <a:lnTo>
                    <a:pt x="2653593" y="176731"/>
                  </a:lnTo>
                  <a:lnTo>
                    <a:pt x="2752521" y="230833"/>
                  </a:lnTo>
                  <a:lnTo>
                    <a:pt x="2763561" y="238103"/>
                  </a:lnTo>
                  <a:lnTo>
                    <a:pt x="2764776" y="236609"/>
                  </a:lnTo>
                  <a:cubicBezTo>
                    <a:pt x="3318761" y="687035"/>
                    <a:pt x="3404939" y="1500322"/>
                    <a:pt x="2957653" y="2056846"/>
                  </a:cubicBezTo>
                  <a:lnTo>
                    <a:pt x="2794867" y="1926012"/>
                  </a:lnTo>
                  <a:cubicBezTo>
                    <a:pt x="3170184" y="1459033"/>
                    <a:pt x="3097872" y="776605"/>
                    <a:pt x="2633024" y="398652"/>
                  </a:cubicBezTo>
                  <a:lnTo>
                    <a:pt x="2635535" y="395564"/>
                  </a:lnTo>
                  <a:cubicBezTo>
                    <a:pt x="2458856" y="294299"/>
                    <a:pt x="2250796" y="159602"/>
                    <a:pt x="1912553" y="162771"/>
                  </a:cubicBezTo>
                  <a:cubicBezTo>
                    <a:pt x="1018501" y="171149"/>
                    <a:pt x="651082" y="745769"/>
                    <a:pt x="651082" y="1464934"/>
                  </a:cubicBezTo>
                  <a:cubicBezTo>
                    <a:pt x="651082" y="2065638"/>
                    <a:pt x="1045124" y="2571338"/>
                    <a:pt x="1581345" y="2720212"/>
                  </a:cubicBezTo>
                  <a:cubicBezTo>
                    <a:pt x="2189761" y="2865156"/>
                    <a:pt x="2916596" y="3085457"/>
                    <a:pt x="3019039" y="3381117"/>
                  </a:cubicBezTo>
                  <a:lnTo>
                    <a:pt x="3030682" y="3420409"/>
                  </a:lnTo>
                  <a:lnTo>
                    <a:pt x="3049304" y="3486532"/>
                  </a:lnTo>
                  <a:lnTo>
                    <a:pt x="3067926" y="3553859"/>
                  </a:lnTo>
                  <a:lnTo>
                    <a:pt x="3088874" y="3615173"/>
                  </a:lnTo>
                  <a:lnTo>
                    <a:pt x="3090086" y="3618138"/>
                  </a:lnTo>
                  <a:lnTo>
                    <a:pt x="1487028" y="3618138"/>
                  </a:lnTo>
                  <a:lnTo>
                    <a:pt x="1482754" y="3594736"/>
                  </a:lnTo>
                  <a:lnTo>
                    <a:pt x="1471115" y="3529813"/>
                  </a:lnTo>
                  <a:lnTo>
                    <a:pt x="1458312" y="3466094"/>
                  </a:lnTo>
                  <a:lnTo>
                    <a:pt x="1443182" y="3404780"/>
                  </a:lnTo>
                  <a:lnTo>
                    <a:pt x="1428052" y="3345869"/>
                  </a:lnTo>
                  <a:lnTo>
                    <a:pt x="1409430" y="3294173"/>
                  </a:lnTo>
                  <a:lnTo>
                    <a:pt x="1389645" y="3249689"/>
                  </a:lnTo>
                  <a:lnTo>
                    <a:pt x="1368696" y="3214824"/>
                  </a:lnTo>
                  <a:lnTo>
                    <a:pt x="1345419" y="3193183"/>
                  </a:lnTo>
                  <a:lnTo>
                    <a:pt x="1319814" y="3182363"/>
                  </a:lnTo>
                  <a:lnTo>
                    <a:pt x="1290717" y="3177554"/>
                  </a:lnTo>
                  <a:lnTo>
                    <a:pt x="1256965" y="3179958"/>
                  </a:lnTo>
                  <a:lnTo>
                    <a:pt x="1223213" y="3184767"/>
                  </a:lnTo>
                  <a:lnTo>
                    <a:pt x="1191790" y="3193183"/>
                  </a:lnTo>
                  <a:lnTo>
                    <a:pt x="1161529" y="3201598"/>
                  </a:lnTo>
                  <a:lnTo>
                    <a:pt x="1133597" y="3210015"/>
                  </a:lnTo>
                  <a:lnTo>
                    <a:pt x="1112647" y="3217228"/>
                  </a:lnTo>
                  <a:lnTo>
                    <a:pt x="1062602" y="3234059"/>
                  </a:lnTo>
                  <a:lnTo>
                    <a:pt x="1005573" y="3249689"/>
                  </a:lnTo>
                  <a:lnTo>
                    <a:pt x="941560" y="3262914"/>
                  </a:lnTo>
                  <a:lnTo>
                    <a:pt x="874056" y="3271330"/>
                  </a:lnTo>
                  <a:lnTo>
                    <a:pt x="806552" y="3278543"/>
                  </a:lnTo>
                  <a:lnTo>
                    <a:pt x="737886" y="3280948"/>
                  </a:lnTo>
                  <a:lnTo>
                    <a:pt x="672709" y="3276139"/>
                  </a:lnTo>
                  <a:lnTo>
                    <a:pt x="611025" y="3265318"/>
                  </a:lnTo>
                  <a:lnTo>
                    <a:pt x="577273" y="3256902"/>
                  </a:lnTo>
                  <a:lnTo>
                    <a:pt x="543521" y="3241274"/>
                  </a:lnTo>
                  <a:lnTo>
                    <a:pt x="509769" y="3223240"/>
                  </a:lnTo>
                  <a:lnTo>
                    <a:pt x="480674" y="3201598"/>
                  </a:lnTo>
                  <a:lnTo>
                    <a:pt x="450413" y="3175149"/>
                  </a:lnTo>
                  <a:lnTo>
                    <a:pt x="427136" y="3147498"/>
                  </a:lnTo>
                  <a:lnTo>
                    <a:pt x="410841" y="3112633"/>
                  </a:lnTo>
                  <a:lnTo>
                    <a:pt x="398039" y="3072958"/>
                  </a:lnTo>
                  <a:lnTo>
                    <a:pt x="393384" y="3029676"/>
                  </a:lnTo>
                  <a:lnTo>
                    <a:pt x="398039" y="2981586"/>
                  </a:lnTo>
                  <a:lnTo>
                    <a:pt x="403859" y="2947924"/>
                  </a:lnTo>
                  <a:lnTo>
                    <a:pt x="412006" y="2910653"/>
                  </a:lnTo>
                  <a:lnTo>
                    <a:pt x="421316" y="2872182"/>
                  </a:lnTo>
                  <a:lnTo>
                    <a:pt x="424808" y="2834911"/>
                  </a:lnTo>
                  <a:lnTo>
                    <a:pt x="424808" y="2795237"/>
                  </a:lnTo>
                  <a:lnTo>
                    <a:pt x="414333" y="2760372"/>
                  </a:lnTo>
                  <a:lnTo>
                    <a:pt x="403859" y="2741136"/>
                  </a:lnTo>
                  <a:lnTo>
                    <a:pt x="385236" y="2723102"/>
                  </a:lnTo>
                  <a:lnTo>
                    <a:pt x="365452" y="2709877"/>
                  </a:lnTo>
                  <a:lnTo>
                    <a:pt x="344502" y="2699057"/>
                  </a:lnTo>
                  <a:lnTo>
                    <a:pt x="323552" y="2683427"/>
                  </a:lnTo>
                  <a:lnTo>
                    <a:pt x="307259" y="2666596"/>
                  </a:lnTo>
                  <a:lnTo>
                    <a:pt x="294455" y="2644956"/>
                  </a:lnTo>
                  <a:lnTo>
                    <a:pt x="289800" y="2620911"/>
                  </a:lnTo>
                  <a:lnTo>
                    <a:pt x="292128" y="2596866"/>
                  </a:lnTo>
                  <a:lnTo>
                    <a:pt x="300275" y="2574023"/>
                  </a:lnTo>
                  <a:lnTo>
                    <a:pt x="310750" y="2554786"/>
                  </a:lnTo>
                  <a:lnTo>
                    <a:pt x="317733" y="2535551"/>
                  </a:lnTo>
                  <a:lnTo>
                    <a:pt x="283982" y="2511505"/>
                  </a:lnTo>
                  <a:lnTo>
                    <a:pt x="260703" y="2487461"/>
                  </a:lnTo>
                  <a:lnTo>
                    <a:pt x="247901" y="2463416"/>
                  </a:lnTo>
                  <a:lnTo>
                    <a:pt x="245574" y="2436966"/>
                  </a:lnTo>
                  <a:lnTo>
                    <a:pt x="249066" y="2412922"/>
                  </a:lnTo>
                  <a:lnTo>
                    <a:pt x="258376" y="2386471"/>
                  </a:lnTo>
                  <a:lnTo>
                    <a:pt x="271178" y="2360023"/>
                  </a:lnTo>
                  <a:lnTo>
                    <a:pt x="285145" y="2333572"/>
                  </a:lnTo>
                  <a:lnTo>
                    <a:pt x="297948" y="2305921"/>
                  </a:lnTo>
                  <a:lnTo>
                    <a:pt x="310750" y="2279471"/>
                  </a:lnTo>
                  <a:lnTo>
                    <a:pt x="317733" y="2250617"/>
                  </a:lnTo>
                  <a:lnTo>
                    <a:pt x="294455" y="2228976"/>
                  </a:lnTo>
                  <a:lnTo>
                    <a:pt x="261868" y="2212145"/>
                  </a:lnTo>
                  <a:lnTo>
                    <a:pt x="225789" y="2196515"/>
                  </a:lnTo>
                  <a:lnTo>
                    <a:pt x="188545" y="2183290"/>
                  </a:lnTo>
                  <a:lnTo>
                    <a:pt x="150138" y="2170066"/>
                  </a:lnTo>
                  <a:lnTo>
                    <a:pt x="111731" y="2156841"/>
                  </a:lnTo>
                  <a:lnTo>
                    <a:pt x="75651" y="2141212"/>
                  </a:lnTo>
                  <a:lnTo>
                    <a:pt x="46554" y="2124381"/>
                  </a:lnTo>
                  <a:lnTo>
                    <a:pt x="20950" y="2100335"/>
                  </a:lnTo>
                  <a:lnTo>
                    <a:pt x="5820" y="2071482"/>
                  </a:lnTo>
                  <a:lnTo>
                    <a:pt x="0" y="2041425"/>
                  </a:lnTo>
                  <a:lnTo>
                    <a:pt x="4656" y="2012571"/>
                  </a:lnTo>
                  <a:lnTo>
                    <a:pt x="15130" y="1986122"/>
                  </a:lnTo>
                  <a:lnTo>
                    <a:pt x="31424" y="1964481"/>
                  </a:lnTo>
                  <a:lnTo>
                    <a:pt x="51209" y="1942841"/>
                  </a:lnTo>
                  <a:lnTo>
                    <a:pt x="69831" y="1924807"/>
                  </a:lnTo>
                  <a:lnTo>
                    <a:pt x="84961" y="1910380"/>
                  </a:lnTo>
                  <a:lnTo>
                    <a:pt x="129188" y="1857481"/>
                  </a:lnTo>
                  <a:lnTo>
                    <a:pt x="175742" y="1809391"/>
                  </a:lnTo>
                  <a:lnTo>
                    <a:pt x="222297" y="1761301"/>
                  </a:lnTo>
                  <a:lnTo>
                    <a:pt x="266523" y="1708402"/>
                  </a:lnTo>
                  <a:lnTo>
                    <a:pt x="308423" y="1656704"/>
                  </a:lnTo>
                  <a:lnTo>
                    <a:pt x="346829" y="1597795"/>
                  </a:lnTo>
                  <a:lnTo>
                    <a:pt x="378254" y="1534075"/>
                  </a:lnTo>
                  <a:lnTo>
                    <a:pt x="395711" y="1481176"/>
                  </a:lnTo>
                  <a:lnTo>
                    <a:pt x="401531" y="1429479"/>
                  </a:lnTo>
                  <a:lnTo>
                    <a:pt x="401531" y="1374175"/>
                  </a:lnTo>
                  <a:cubicBezTo>
                    <a:pt x="401143" y="1354538"/>
                    <a:pt x="400754" y="1334901"/>
                    <a:pt x="400367" y="1315264"/>
                  </a:cubicBezTo>
                  <a:lnTo>
                    <a:pt x="398039" y="1256355"/>
                  </a:lnTo>
                  <a:lnTo>
                    <a:pt x="400367" y="1192635"/>
                  </a:lnTo>
                  <a:lnTo>
                    <a:pt x="406186" y="1125309"/>
                  </a:lnTo>
                  <a:lnTo>
                    <a:pt x="471362" y="847589"/>
                  </a:lnTo>
                  <a:lnTo>
                    <a:pt x="512097" y="746600"/>
                  </a:lnTo>
                  <a:lnTo>
                    <a:pt x="560979" y="652824"/>
                  </a:lnTo>
                  <a:lnTo>
                    <a:pt x="618008" y="565059"/>
                  </a:lnTo>
                  <a:lnTo>
                    <a:pt x="683184" y="482103"/>
                  </a:lnTo>
                  <a:lnTo>
                    <a:pt x="755343" y="406361"/>
                  </a:lnTo>
                  <a:lnTo>
                    <a:pt x="833322" y="336631"/>
                  </a:lnTo>
                  <a:lnTo>
                    <a:pt x="918283" y="272912"/>
                  </a:lnTo>
                  <a:lnTo>
                    <a:pt x="1006736" y="216405"/>
                  </a:lnTo>
                  <a:lnTo>
                    <a:pt x="1102172" y="165911"/>
                  </a:lnTo>
                  <a:lnTo>
                    <a:pt x="1199936" y="123832"/>
                  </a:lnTo>
                  <a:lnTo>
                    <a:pt x="1298864" y="86563"/>
                  </a:lnTo>
                  <a:lnTo>
                    <a:pt x="1631727" y="10821"/>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endParaRPr lang="ko-KR" altLang="en-US" sz="5400" dirty="0">
                <a:latin typeface="Microsoft JhengHei" panose="020B0604030504040204" pitchFamily="34" charset="-120"/>
              </a:endParaRPr>
            </a:p>
          </p:txBody>
        </p:sp>
        <p:grpSp>
          <p:nvGrpSpPr>
            <p:cNvPr id="9" name="Group 8">
              <a:extLst>
                <a:ext uri="{FF2B5EF4-FFF2-40B4-BE49-F238E27FC236}">
                  <a16:creationId xmlns:a16="http://schemas.microsoft.com/office/drawing/2014/main" id="{3F7C7035-5F1B-4C77-B730-424AB094F28D}"/>
                </a:ext>
              </a:extLst>
            </p:cNvPr>
            <p:cNvGrpSpPr/>
            <p:nvPr/>
          </p:nvGrpSpPr>
          <p:grpSpPr>
            <a:xfrm>
              <a:off x="4023554" y="4019367"/>
              <a:ext cx="1008112" cy="734938"/>
              <a:chOff x="3509379" y="4293096"/>
              <a:chExt cx="1008112" cy="734938"/>
            </a:xfrm>
          </p:grpSpPr>
          <p:sp>
            <p:nvSpPr>
              <p:cNvPr id="11" name="Rounded Rectangle 10">
                <a:extLst>
                  <a:ext uri="{FF2B5EF4-FFF2-40B4-BE49-F238E27FC236}">
                    <a16:creationId xmlns:a16="http://schemas.microsoft.com/office/drawing/2014/main" id="{D01712F7-CEB8-4C93-84DB-52B85B3180E8}"/>
                  </a:ext>
                </a:extLst>
              </p:cNvPr>
              <p:cNvSpPr/>
              <p:nvPr/>
            </p:nvSpPr>
            <p:spPr>
              <a:xfrm>
                <a:off x="3509379" y="4293096"/>
                <a:ext cx="1008112" cy="180000"/>
              </a:xfrm>
              <a:prstGeom prst="roundRect">
                <a:avLst>
                  <a:gd name="adj" fmla="val 50000"/>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latin typeface="Microsoft JhengHei" panose="020B0604030504040204" pitchFamily="34" charset="-120"/>
                </a:endParaRPr>
              </a:p>
            </p:txBody>
          </p:sp>
          <p:sp>
            <p:nvSpPr>
              <p:cNvPr id="12" name="Rounded Rectangle 13">
                <a:extLst>
                  <a:ext uri="{FF2B5EF4-FFF2-40B4-BE49-F238E27FC236}">
                    <a16:creationId xmlns:a16="http://schemas.microsoft.com/office/drawing/2014/main" id="{B33C049F-3F98-4469-A8A6-833E19324A53}"/>
                  </a:ext>
                </a:extLst>
              </p:cNvPr>
              <p:cNvSpPr/>
              <p:nvPr/>
            </p:nvSpPr>
            <p:spPr>
              <a:xfrm>
                <a:off x="3581435" y="4537695"/>
                <a:ext cx="864000" cy="180000"/>
              </a:xfrm>
              <a:prstGeom prst="roundRect">
                <a:avLst>
                  <a:gd name="adj" fmla="val 50000"/>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latin typeface="Microsoft JhengHei" panose="020B0604030504040204" pitchFamily="34" charset="-120"/>
                </a:endParaRPr>
              </a:p>
            </p:txBody>
          </p:sp>
          <p:sp>
            <p:nvSpPr>
              <p:cNvPr id="13" name="Chord 12">
                <a:extLst>
                  <a:ext uri="{FF2B5EF4-FFF2-40B4-BE49-F238E27FC236}">
                    <a16:creationId xmlns:a16="http://schemas.microsoft.com/office/drawing/2014/main" id="{10043205-493D-4CE9-89E6-B7D715DFAA76}"/>
                  </a:ext>
                </a:extLst>
              </p:cNvPr>
              <p:cNvSpPr/>
              <p:nvPr/>
            </p:nvSpPr>
            <p:spPr>
              <a:xfrm>
                <a:off x="3766973" y="4535109"/>
                <a:ext cx="492925" cy="492925"/>
              </a:xfrm>
              <a:prstGeom prst="chord">
                <a:avLst>
                  <a:gd name="adj1" fmla="val 21471232"/>
                  <a:gd name="adj2" fmla="val 10878117"/>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latin typeface="Microsoft JhengHei" panose="020B0604030504040204" pitchFamily="34" charset="-120"/>
                </a:endParaRPr>
              </a:p>
            </p:txBody>
          </p:sp>
        </p:grpSp>
        <p:sp>
          <p:nvSpPr>
            <p:cNvPr id="10" name="Freeform 18">
              <a:extLst>
                <a:ext uri="{FF2B5EF4-FFF2-40B4-BE49-F238E27FC236}">
                  <a16:creationId xmlns:a16="http://schemas.microsoft.com/office/drawing/2014/main" id="{76A7136C-8599-42B6-8AEE-EBB40B43FFB3}"/>
                </a:ext>
              </a:extLst>
            </p:cNvPr>
            <p:cNvSpPr>
              <a:spLocks/>
            </p:cNvSpPr>
            <p:nvPr/>
          </p:nvSpPr>
          <p:spPr bwMode="auto">
            <a:xfrm flipH="1">
              <a:off x="3560064" y="1971102"/>
              <a:ext cx="3243960" cy="3618138"/>
            </a:xfrm>
            <a:custGeom>
              <a:avLst/>
              <a:gdLst/>
              <a:ahLst/>
              <a:cxnLst/>
              <a:rect l="l" t="t" r="r" b="b"/>
              <a:pathLst>
                <a:path w="3243960" h="3618138">
                  <a:moveTo>
                    <a:pt x="1764407" y="0"/>
                  </a:moveTo>
                  <a:lnTo>
                    <a:pt x="1631727" y="10821"/>
                  </a:lnTo>
                  <a:lnTo>
                    <a:pt x="1298864" y="86563"/>
                  </a:lnTo>
                  <a:lnTo>
                    <a:pt x="1199936" y="123832"/>
                  </a:lnTo>
                  <a:lnTo>
                    <a:pt x="1102172" y="165911"/>
                  </a:lnTo>
                  <a:lnTo>
                    <a:pt x="1006736" y="216405"/>
                  </a:lnTo>
                  <a:lnTo>
                    <a:pt x="918283" y="272912"/>
                  </a:lnTo>
                  <a:lnTo>
                    <a:pt x="833322" y="336631"/>
                  </a:lnTo>
                  <a:lnTo>
                    <a:pt x="755343" y="406361"/>
                  </a:lnTo>
                  <a:lnTo>
                    <a:pt x="683184" y="482103"/>
                  </a:lnTo>
                  <a:lnTo>
                    <a:pt x="618008" y="565059"/>
                  </a:lnTo>
                  <a:lnTo>
                    <a:pt x="560979" y="652824"/>
                  </a:lnTo>
                  <a:lnTo>
                    <a:pt x="512097" y="746600"/>
                  </a:lnTo>
                  <a:lnTo>
                    <a:pt x="471362" y="847589"/>
                  </a:lnTo>
                  <a:lnTo>
                    <a:pt x="406186" y="1125309"/>
                  </a:lnTo>
                  <a:lnTo>
                    <a:pt x="400367" y="1192635"/>
                  </a:lnTo>
                  <a:lnTo>
                    <a:pt x="398039" y="1256355"/>
                  </a:lnTo>
                  <a:lnTo>
                    <a:pt x="400367" y="1315264"/>
                  </a:lnTo>
                  <a:cubicBezTo>
                    <a:pt x="400754" y="1334901"/>
                    <a:pt x="401143" y="1354538"/>
                    <a:pt x="401531" y="1374175"/>
                  </a:cubicBezTo>
                  <a:lnTo>
                    <a:pt x="401531" y="1429479"/>
                  </a:lnTo>
                  <a:lnTo>
                    <a:pt x="395711" y="1481176"/>
                  </a:lnTo>
                  <a:lnTo>
                    <a:pt x="378254" y="1534075"/>
                  </a:lnTo>
                  <a:lnTo>
                    <a:pt x="346829" y="1597795"/>
                  </a:lnTo>
                  <a:lnTo>
                    <a:pt x="308423" y="1656704"/>
                  </a:lnTo>
                  <a:lnTo>
                    <a:pt x="266523" y="1708402"/>
                  </a:lnTo>
                  <a:lnTo>
                    <a:pt x="222297" y="1761301"/>
                  </a:lnTo>
                  <a:lnTo>
                    <a:pt x="175742" y="1809391"/>
                  </a:lnTo>
                  <a:lnTo>
                    <a:pt x="129188" y="1857481"/>
                  </a:lnTo>
                  <a:lnTo>
                    <a:pt x="84961" y="1910380"/>
                  </a:lnTo>
                  <a:lnTo>
                    <a:pt x="69831" y="1924807"/>
                  </a:lnTo>
                  <a:lnTo>
                    <a:pt x="51209" y="1942841"/>
                  </a:lnTo>
                  <a:lnTo>
                    <a:pt x="31424" y="1964481"/>
                  </a:lnTo>
                  <a:lnTo>
                    <a:pt x="15130" y="1986122"/>
                  </a:lnTo>
                  <a:lnTo>
                    <a:pt x="4656" y="2012571"/>
                  </a:lnTo>
                  <a:lnTo>
                    <a:pt x="0" y="2041425"/>
                  </a:lnTo>
                  <a:lnTo>
                    <a:pt x="5820" y="2071482"/>
                  </a:lnTo>
                  <a:lnTo>
                    <a:pt x="20950" y="2100335"/>
                  </a:lnTo>
                  <a:lnTo>
                    <a:pt x="46554" y="2124381"/>
                  </a:lnTo>
                  <a:lnTo>
                    <a:pt x="75651" y="2141212"/>
                  </a:lnTo>
                  <a:lnTo>
                    <a:pt x="111731" y="2156841"/>
                  </a:lnTo>
                  <a:lnTo>
                    <a:pt x="150138" y="2170066"/>
                  </a:lnTo>
                  <a:lnTo>
                    <a:pt x="188545" y="2183290"/>
                  </a:lnTo>
                  <a:lnTo>
                    <a:pt x="225789" y="2196515"/>
                  </a:lnTo>
                  <a:lnTo>
                    <a:pt x="261868" y="2212145"/>
                  </a:lnTo>
                  <a:lnTo>
                    <a:pt x="294455" y="2228976"/>
                  </a:lnTo>
                  <a:lnTo>
                    <a:pt x="317733" y="2250617"/>
                  </a:lnTo>
                  <a:lnTo>
                    <a:pt x="310750" y="2279471"/>
                  </a:lnTo>
                  <a:lnTo>
                    <a:pt x="297948" y="2305921"/>
                  </a:lnTo>
                  <a:lnTo>
                    <a:pt x="285145" y="2333572"/>
                  </a:lnTo>
                  <a:lnTo>
                    <a:pt x="271178" y="2360023"/>
                  </a:lnTo>
                  <a:lnTo>
                    <a:pt x="258376" y="2386471"/>
                  </a:lnTo>
                  <a:lnTo>
                    <a:pt x="249066" y="2412922"/>
                  </a:lnTo>
                  <a:lnTo>
                    <a:pt x="245574" y="2436966"/>
                  </a:lnTo>
                  <a:lnTo>
                    <a:pt x="247901" y="2463416"/>
                  </a:lnTo>
                  <a:lnTo>
                    <a:pt x="260703" y="2487461"/>
                  </a:lnTo>
                  <a:lnTo>
                    <a:pt x="283982" y="2511505"/>
                  </a:lnTo>
                  <a:lnTo>
                    <a:pt x="317733" y="2535551"/>
                  </a:lnTo>
                  <a:lnTo>
                    <a:pt x="310750" y="2554786"/>
                  </a:lnTo>
                  <a:lnTo>
                    <a:pt x="300275" y="2574023"/>
                  </a:lnTo>
                  <a:lnTo>
                    <a:pt x="292128" y="2596866"/>
                  </a:lnTo>
                  <a:lnTo>
                    <a:pt x="289800" y="2620911"/>
                  </a:lnTo>
                  <a:lnTo>
                    <a:pt x="294455" y="2644956"/>
                  </a:lnTo>
                  <a:lnTo>
                    <a:pt x="307259" y="2666596"/>
                  </a:lnTo>
                  <a:lnTo>
                    <a:pt x="323552" y="2683427"/>
                  </a:lnTo>
                  <a:lnTo>
                    <a:pt x="344502" y="2699057"/>
                  </a:lnTo>
                  <a:lnTo>
                    <a:pt x="365452" y="2709877"/>
                  </a:lnTo>
                  <a:lnTo>
                    <a:pt x="385236" y="2723102"/>
                  </a:lnTo>
                  <a:lnTo>
                    <a:pt x="403859" y="2741136"/>
                  </a:lnTo>
                  <a:lnTo>
                    <a:pt x="414333" y="2760372"/>
                  </a:lnTo>
                  <a:lnTo>
                    <a:pt x="424808" y="2795237"/>
                  </a:lnTo>
                  <a:lnTo>
                    <a:pt x="424808" y="2834911"/>
                  </a:lnTo>
                  <a:lnTo>
                    <a:pt x="421316" y="2872182"/>
                  </a:lnTo>
                  <a:lnTo>
                    <a:pt x="412006" y="2910653"/>
                  </a:lnTo>
                  <a:lnTo>
                    <a:pt x="403859" y="2947924"/>
                  </a:lnTo>
                  <a:lnTo>
                    <a:pt x="398039" y="2981586"/>
                  </a:lnTo>
                  <a:lnTo>
                    <a:pt x="393384" y="3029676"/>
                  </a:lnTo>
                  <a:lnTo>
                    <a:pt x="398039" y="3072958"/>
                  </a:lnTo>
                  <a:lnTo>
                    <a:pt x="410841" y="3112633"/>
                  </a:lnTo>
                  <a:lnTo>
                    <a:pt x="427136" y="3147498"/>
                  </a:lnTo>
                  <a:lnTo>
                    <a:pt x="450413" y="3175149"/>
                  </a:lnTo>
                  <a:lnTo>
                    <a:pt x="480674" y="3201598"/>
                  </a:lnTo>
                  <a:lnTo>
                    <a:pt x="509769" y="3223240"/>
                  </a:lnTo>
                  <a:lnTo>
                    <a:pt x="543521" y="3241274"/>
                  </a:lnTo>
                  <a:lnTo>
                    <a:pt x="577273" y="3256902"/>
                  </a:lnTo>
                  <a:lnTo>
                    <a:pt x="611025" y="3265318"/>
                  </a:lnTo>
                  <a:lnTo>
                    <a:pt x="672709" y="3276139"/>
                  </a:lnTo>
                  <a:lnTo>
                    <a:pt x="737886" y="3280948"/>
                  </a:lnTo>
                  <a:lnTo>
                    <a:pt x="806552" y="3278543"/>
                  </a:lnTo>
                  <a:lnTo>
                    <a:pt x="874056" y="3271330"/>
                  </a:lnTo>
                  <a:lnTo>
                    <a:pt x="941560" y="3262914"/>
                  </a:lnTo>
                  <a:lnTo>
                    <a:pt x="1005573" y="3249689"/>
                  </a:lnTo>
                  <a:lnTo>
                    <a:pt x="1062602" y="3234059"/>
                  </a:lnTo>
                  <a:lnTo>
                    <a:pt x="1112647" y="3217228"/>
                  </a:lnTo>
                  <a:lnTo>
                    <a:pt x="1133597" y="3210015"/>
                  </a:lnTo>
                  <a:lnTo>
                    <a:pt x="1161529" y="3201598"/>
                  </a:lnTo>
                  <a:lnTo>
                    <a:pt x="1191790" y="3193183"/>
                  </a:lnTo>
                  <a:lnTo>
                    <a:pt x="1223213" y="3184767"/>
                  </a:lnTo>
                  <a:lnTo>
                    <a:pt x="1256965" y="3179958"/>
                  </a:lnTo>
                  <a:lnTo>
                    <a:pt x="1290717" y="3177554"/>
                  </a:lnTo>
                  <a:lnTo>
                    <a:pt x="1319814" y="3182363"/>
                  </a:lnTo>
                  <a:lnTo>
                    <a:pt x="1345419" y="3193183"/>
                  </a:lnTo>
                  <a:lnTo>
                    <a:pt x="1368696" y="3214824"/>
                  </a:lnTo>
                  <a:lnTo>
                    <a:pt x="1389645" y="3249689"/>
                  </a:lnTo>
                  <a:lnTo>
                    <a:pt x="1409430" y="3294173"/>
                  </a:lnTo>
                  <a:lnTo>
                    <a:pt x="1428052" y="3345869"/>
                  </a:lnTo>
                  <a:lnTo>
                    <a:pt x="1443182" y="3404780"/>
                  </a:lnTo>
                  <a:lnTo>
                    <a:pt x="1458312" y="3466094"/>
                  </a:lnTo>
                  <a:lnTo>
                    <a:pt x="1471115" y="3529813"/>
                  </a:lnTo>
                  <a:lnTo>
                    <a:pt x="1482754" y="3594736"/>
                  </a:lnTo>
                  <a:lnTo>
                    <a:pt x="1487029" y="3618138"/>
                  </a:lnTo>
                  <a:lnTo>
                    <a:pt x="3090086" y="3618138"/>
                  </a:lnTo>
                  <a:lnTo>
                    <a:pt x="3088874" y="3615173"/>
                  </a:lnTo>
                  <a:lnTo>
                    <a:pt x="3067926" y="3553859"/>
                  </a:lnTo>
                  <a:lnTo>
                    <a:pt x="3049304" y="3486532"/>
                  </a:lnTo>
                  <a:lnTo>
                    <a:pt x="3030682" y="3420409"/>
                  </a:lnTo>
                  <a:lnTo>
                    <a:pt x="3019039" y="3381117"/>
                  </a:lnTo>
                  <a:cubicBezTo>
                    <a:pt x="2916596" y="3085457"/>
                    <a:pt x="2189761" y="2865156"/>
                    <a:pt x="1581345" y="2720212"/>
                  </a:cubicBezTo>
                  <a:cubicBezTo>
                    <a:pt x="1045124" y="2571338"/>
                    <a:pt x="651082" y="2065638"/>
                    <a:pt x="651082" y="1464934"/>
                  </a:cubicBezTo>
                  <a:cubicBezTo>
                    <a:pt x="651082" y="745769"/>
                    <a:pt x="1018501" y="171149"/>
                    <a:pt x="1912553" y="162771"/>
                  </a:cubicBezTo>
                  <a:cubicBezTo>
                    <a:pt x="2250796" y="159602"/>
                    <a:pt x="2458856" y="294299"/>
                    <a:pt x="2635535" y="395564"/>
                  </a:cubicBezTo>
                  <a:lnTo>
                    <a:pt x="2633024" y="398652"/>
                  </a:lnTo>
                  <a:cubicBezTo>
                    <a:pt x="3097872" y="776605"/>
                    <a:pt x="3170184" y="1459033"/>
                    <a:pt x="2794867" y="1926012"/>
                  </a:cubicBezTo>
                  <a:lnTo>
                    <a:pt x="2957653" y="2056846"/>
                  </a:lnTo>
                  <a:cubicBezTo>
                    <a:pt x="3404939" y="1500322"/>
                    <a:pt x="3318761" y="687035"/>
                    <a:pt x="2764776" y="236609"/>
                  </a:cubicBezTo>
                  <a:lnTo>
                    <a:pt x="2763561" y="238103"/>
                  </a:lnTo>
                  <a:lnTo>
                    <a:pt x="2752521" y="230833"/>
                  </a:lnTo>
                  <a:lnTo>
                    <a:pt x="2653593" y="176731"/>
                  </a:lnTo>
                  <a:lnTo>
                    <a:pt x="2545354" y="131046"/>
                  </a:lnTo>
                  <a:lnTo>
                    <a:pt x="2433624" y="88967"/>
                  </a:lnTo>
                  <a:lnTo>
                    <a:pt x="2312583" y="56506"/>
                  </a:lnTo>
                  <a:lnTo>
                    <a:pt x="2185723" y="30056"/>
                  </a:lnTo>
                  <a:lnTo>
                    <a:pt x="2053042" y="12022"/>
                  </a:lnTo>
                  <a:lnTo>
                    <a:pt x="1913381" y="1203"/>
                  </a:lnTo>
                  <a:close/>
                </a:path>
              </a:pathLst>
            </a:custGeom>
            <a:solidFill>
              <a:schemeClr val="accent3"/>
            </a:solidFill>
            <a:ln>
              <a:noFill/>
            </a:ln>
          </p:spPr>
          <p:txBody>
            <a:bodyPr vert="horz" wrap="square" lIns="109728" tIns="54864" rIns="109728" bIns="54864" numCol="1" anchor="t" anchorCtr="0" compatLnSpc="1">
              <a:prstTxWarp prst="textNoShape">
                <a:avLst/>
              </a:prstTxWarp>
            </a:bodyPr>
            <a:lstStyle/>
            <a:p>
              <a:endParaRPr lang="ko-KR" altLang="en-US" sz="5400" dirty="0">
                <a:latin typeface="Microsoft JhengHei" panose="020B0604030504040204" pitchFamily="34" charset="-120"/>
              </a:endParaRPr>
            </a:p>
          </p:txBody>
        </p:sp>
      </p:grpSp>
      <p:sp>
        <p:nvSpPr>
          <p:cNvPr id="16" name="TextBox 15">
            <a:extLst>
              <a:ext uri="{FF2B5EF4-FFF2-40B4-BE49-F238E27FC236}">
                <a16:creationId xmlns:a16="http://schemas.microsoft.com/office/drawing/2014/main" id="{30C10FE5-C25C-48B7-BCFD-76E2C4964244}"/>
              </a:ext>
            </a:extLst>
          </p:cNvPr>
          <p:cNvSpPr txBox="1"/>
          <p:nvPr/>
        </p:nvSpPr>
        <p:spPr>
          <a:xfrm>
            <a:off x="10492744" y="2860845"/>
            <a:ext cx="3173341" cy="1384995"/>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cs typeface="Arial" pitchFamily="34" charset="0"/>
              </a:rPr>
              <a:t>LINE</a:t>
            </a:r>
            <a:r>
              <a:rPr lang="zh-TW" altLang="en-US" sz="2800" dirty="0">
                <a:latin typeface="Microsoft JhengHei" panose="020B0604030504040204" pitchFamily="34" charset="-120"/>
                <a:ea typeface="Microsoft JhengHei" panose="020B0604030504040204" pitchFamily="34" charset="-120"/>
                <a:cs typeface="Arial" pitchFamily="34" charset="0"/>
              </a:rPr>
              <a:t>普及率高，若整合英語學習功能，可降低學習門檻。</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17" name="Oval 16">
            <a:extLst>
              <a:ext uri="{FF2B5EF4-FFF2-40B4-BE49-F238E27FC236}">
                <a16:creationId xmlns:a16="http://schemas.microsoft.com/office/drawing/2014/main" id="{00049849-4849-4F68-BE26-3FB6273CCA28}"/>
              </a:ext>
            </a:extLst>
          </p:cNvPr>
          <p:cNvSpPr/>
          <p:nvPr/>
        </p:nvSpPr>
        <p:spPr>
          <a:xfrm>
            <a:off x="11745484" y="1886793"/>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18" name="Rounded Rectangle 24">
            <a:extLst>
              <a:ext uri="{FF2B5EF4-FFF2-40B4-BE49-F238E27FC236}">
                <a16:creationId xmlns:a16="http://schemas.microsoft.com/office/drawing/2014/main" id="{23FD4401-13CD-470E-895D-436EF44DD147}"/>
              </a:ext>
            </a:extLst>
          </p:cNvPr>
          <p:cNvSpPr/>
          <p:nvPr/>
        </p:nvSpPr>
        <p:spPr>
          <a:xfrm>
            <a:off x="11913955" y="2095570"/>
            <a:ext cx="342487" cy="250320"/>
          </a:xfrm>
          <a:custGeom>
            <a:avLst/>
            <a:gdLst/>
            <a:ahLst/>
            <a:cxnLst/>
            <a:rect l="l" t="t" r="r" b="b"/>
            <a:pathLst>
              <a:path w="3960000" h="3064028">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latin typeface="Microsoft JhengHei" panose="020B0604030504040204" pitchFamily="34" charset="-120"/>
            </a:endParaRPr>
          </a:p>
        </p:txBody>
      </p:sp>
      <p:sp>
        <p:nvSpPr>
          <p:cNvPr id="21" name="TextBox 20">
            <a:extLst>
              <a:ext uri="{FF2B5EF4-FFF2-40B4-BE49-F238E27FC236}">
                <a16:creationId xmlns:a16="http://schemas.microsoft.com/office/drawing/2014/main" id="{D9A4AE10-8AB8-4BE7-A803-10C2A433858E}"/>
              </a:ext>
            </a:extLst>
          </p:cNvPr>
          <p:cNvSpPr txBox="1"/>
          <p:nvPr/>
        </p:nvSpPr>
        <p:spPr>
          <a:xfrm>
            <a:off x="10492744" y="5895418"/>
            <a:ext cx="3173341" cy="1384995"/>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cs typeface="Arial" pitchFamily="34" charset="0"/>
              </a:rPr>
              <a:t>LLM</a:t>
            </a:r>
            <a:r>
              <a:rPr lang="zh-TW" altLang="en-US" sz="2800" dirty="0">
                <a:latin typeface="Microsoft JhengHei" panose="020B0604030504040204" pitchFamily="34" charset="-120"/>
                <a:ea typeface="Microsoft JhengHei" panose="020B0604030504040204" pitchFamily="34" charset="-120"/>
                <a:cs typeface="Arial" pitchFamily="34" charset="0"/>
              </a:rPr>
              <a:t>與語音技術具備模擬真人互動、提供即時回饋能力。</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22" name="Oval 21">
            <a:extLst>
              <a:ext uri="{FF2B5EF4-FFF2-40B4-BE49-F238E27FC236}">
                <a16:creationId xmlns:a16="http://schemas.microsoft.com/office/drawing/2014/main" id="{EA7A5ADD-8B1C-4FF5-9A49-C4F5B0E8A660}"/>
              </a:ext>
            </a:extLst>
          </p:cNvPr>
          <p:cNvSpPr/>
          <p:nvPr/>
        </p:nvSpPr>
        <p:spPr>
          <a:xfrm>
            <a:off x="11745484" y="4921366"/>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25" name="TextBox 24">
            <a:extLst>
              <a:ext uri="{FF2B5EF4-FFF2-40B4-BE49-F238E27FC236}">
                <a16:creationId xmlns:a16="http://schemas.microsoft.com/office/drawing/2014/main" id="{0C86D4BE-13AF-4987-914A-4CDEFEFCBFD5}"/>
              </a:ext>
            </a:extLst>
          </p:cNvPr>
          <p:cNvSpPr txBox="1"/>
          <p:nvPr/>
        </p:nvSpPr>
        <p:spPr>
          <a:xfrm>
            <a:off x="1008670" y="2871515"/>
            <a:ext cx="3173341"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cs typeface="Arial" pitchFamily="34" charset="0"/>
              </a:rPr>
              <a:t>科技進展提供模擬語言環境的可能</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26" name="Oval 25">
            <a:extLst>
              <a:ext uri="{FF2B5EF4-FFF2-40B4-BE49-F238E27FC236}">
                <a16:creationId xmlns:a16="http://schemas.microsoft.com/office/drawing/2014/main" id="{ADDB96A4-5224-4635-970A-C297E383EE10}"/>
              </a:ext>
            </a:extLst>
          </p:cNvPr>
          <p:cNvSpPr/>
          <p:nvPr/>
        </p:nvSpPr>
        <p:spPr>
          <a:xfrm>
            <a:off x="2261411" y="1897463"/>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29" name="TextBox 28">
            <a:extLst>
              <a:ext uri="{FF2B5EF4-FFF2-40B4-BE49-F238E27FC236}">
                <a16:creationId xmlns:a16="http://schemas.microsoft.com/office/drawing/2014/main" id="{CCC97A67-6BCE-4760-9302-D12B978997E0}"/>
              </a:ext>
            </a:extLst>
          </p:cNvPr>
          <p:cNvSpPr txBox="1"/>
          <p:nvPr/>
        </p:nvSpPr>
        <p:spPr>
          <a:xfrm>
            <a:off x="1008670" y="5906090"/>
            <a:ext cx="3173341" cy="1384995"/>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cs typeface="Arial" pitchFamily="34" charset="0"/>
              </a:rPr>
              <a:t>AI</a:t>
            </a:r>
            <a:r>
              <a:rPr lang="zh-TW" altLang="en-US" sz="2800" dirty="0">
                <a:latin typeface="Microsoft JhengHei" panose="020B0604030504040204" pitchFamily="34" charset="-120"/>
                <a:ea typeface="Microsoft JhengHei" panose="020B0604030504040204" pitchFamily="34" charset="-120"/>
                <a:cs typeface="Arial" pitchFamily="34" charset="0"/>
              </a:rPr>
              <a:t>技術促進個人化、高的學習模式，有潛力翻轉英語學習。</a:t>
            </a:r>
            <a:endParaRPr lang="en-US" altLang="ko-KR" sz="2800" dirty="0">
              <a:latin typeface="Microsoft JhengHei" panose="020B0604030504040204" pitchFamily="34" charset="-120"/>
              <a:ea typeface="Microsoft JhengHei" panose="020B0604030504040204" pitchFamily="34" charset="-120"/>
              <a:cs typeface="Arial" pitchFamily="34" charset="0"/>
            </a:endParaRPr>
          </a:p>
        </p:txBody>
      </p:sp>
      <p:sp>
        <p:nvSpPr>
          <p:cNvPr id="30" name="Oval 29">
            <a:extLst>
              <a:ext uri="{FF2B5EF4-FFF2-40B4-BE49-F238E27FC236}">
                <a16:creationId xmlns:a16="http://schemas.microsoft.com/office/drawing/2014/main" id="{B6CF30B0-5494-4834-89D2-62FCB761512B}"/>
              </a:ext>
            </a:extLst>
          </p:cNvPr>
          <p:cNvSpPr/>
          <p:nvPr/>
        </p:nvSpPr>
        <p:spPr>
          <a:xfrm>
            <a:off x="2261411" y="4932037"/>
            <a:ext cx="679430" cy="6794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0">
              <a:solidFill>
                <a:schemeClr val="accent1"/>
              </a:solidFill>
              <a:latin typeface="Microsoft JhengHei" panose="020B0604030504040204" pitchFamily="34" charset="-120"/>
            </a:endParaRPr>
          </a:p>
        </p:txBody>
      </p:sp>
      <p:sp>
        <p:nvSpPr>
          <p:cNvPr id="31" name="Oval 21">
            <a:extLst>
              <a:ext uri="{FF2B5EF4-FFF2-40B4-BE49-F238E27FC236}">
                <a16:creationId xmlns:a16="http://schemas.microsoft.com/office/drawing/2014/main" id="{895FF4DC-99EB-4987-81C5-A50AE7F0EA41}"/>
              </a:ext>
            </a:extLst>
          </p:cNvPr>
          <p:cNvSpPr/>
          <p:nvPr/>
        </p:nvSpPr>
        <p:spPr>
          <a:xfrm rot="20700000">
            <a:off x="2398765" y="5083725"/>
            <a:ext cx="404732" cy="354719"/>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latin typeface="Microsoft JhengHei" panose="020B0604030504040204" pitchFamily="34" charset="-120"/>
            </a:endParaRPr>
          </a:p>
        </p:txBody>
      </p:sp>
      <p:sp>
        <p:nvSpPr>
          <p:cNvPr id="32" name="Pie 2">
            <a:extLst>
              <a:ext uri="{FF2B5EF4-FFF2-40B4-BE49-F238E27FC236}">
                <a16:creationId xmlns:a16="http://schemas.microsoft.com/office/drawing/2014/main" id="{DC5347CC-61F4-483C-A692-D14FEAD58663}"/>
              </a:ext>
            </a:extLst>
          </p:cNvPr>
          <p:cNvSpPr/>
          <p:nvPr/>
        </p:nvSpPr>
        <p:spPr>
          <a:xfrm>
            <a:off x="11881872" y="5061157"/>
            <a:ext cx="406660" cy="399850"/>
          </a:xfrm>
          <a:custGeom>
            <a:avLst/>
            <a:gdLst/>
            <a:ahLst/>
            <a:cxnLst/>
            <a:rect l="l" t="t" r="r" b="b"/>
            <a:pathLst>
              <a:path w="3851322" h="3786842">
                <a:moveTo>
                  <a:pt x="3845029" y="1629937"/>
                </a:moveTo>
                <a:lnTo>
                  <a:pt x="3851322" y="1762720"/>
                </a:lnTo>
                <a:lnTo>
                  <a:pt x="3812477" y="1776859"/>
                </a:lnTo>
                <a:lnTo>
                  <a:pt x="3444864" y="1775585"/>
                </a:lnTo>
                <a:close/>
                <a:moveTo>
                  <a:pt x="3791299" y="1322869"/>
                </a:moveTo>
                <a:cubicBezTo>
                  <a:pt x="3804294" y="1363489"/>
                  <a:pt x="3813753" y="1405089"/>
                  <a:pt x="3820726" y="1447230"/>
                </a:cubicBezTo>
                <a:lnTo>
                  <a:pt x="2923542" y="1773779"/>
                </a:lnTo>
                <a:lnTo>
                  <a:pt x="2555935" y="1772505"/>
                </a:lnTo>
                <a:close/>
                <a:moveTo>
                  <a:pt x="3686733" y="1034305"/>
                </a:moveTo>
                <a:cubicBezTo>
                  <a:pt x="3706467" y="1071934"/>
                  <a:pt x="3722972" y="1111031"/>
                  <a:pt x="3736130" y="1151397"/>
                </a:cubicBezTo>
                <a:lnTo>
                  <a:pt x="2052009" y="1764367"/>
                </a:lnTo>
                <a:lnTo>
                  <a:pt x="2052009" y="1629296"/>
                </a:lnTo>
                <a:close/>
                <a:moveTo>
                  <a:pt x="3531650" y="764128"/>
                </a:moveTo>
                <a:cubicBezTo>
                  <a:pt x="3557479" y="799119"/>
                  <a:pt x="3581112" y="835525"/>
                  <a:pt x="3601539" y="873761"/>
                </a:cubicBezTo>
                <a:lnTo>
                  <a:pt x="2052009" y="1437744"/>
                </a:lnTo>
                <a:lnTo>
                  <a:pt x="2052009" y="1302673"/>
                </a:lnTo>
                <a:close/>
                <a:moveTo>
                  <a:pt x="3320179" y="514474"/>
                </a:moveTo>
                <a:lnTo>
                  <a:pt x="3414136" y="615348"/>
                </a:lnTo>
                <a:lnTo>
                  <a:pt x="2052009" y="1111121"/>
                </a:lnTo>
                <a:lnTo>
                  <a:pt x="2052009" y="976050"/>
                </a:lnTo>
                <a:close/>
                <a:moveTo>
                  <a:pt x="3038975" y="290201"/>
                </a:moveTo>
                <a:cubicBezTo>
                  <a:pt x="3082160" y="317774"/>
                  <a:pt x="3124087" y="347421"/>
                  <a:pt x="3164106" y="379728"/>
                </a:cubicBezTo>
                <a:lnTo>
                  <a:pt x="2052009" y="784498"/>
                </a:lnTo>
                <a:lnTo>
                  <a:pt x="2052009" y="649428"/>
                </a:lnTo>
                <a:close/>
                <a:moveTo>
                  <a:pt x="1800000" y="186842"/>
                </a:moveTo>
                <a:lnTo>
                  <a:pt x="1800000" y="1986842"/>
                </a:lnTo>
                <a:lnTo>
                  <a:pt x="3600000" y="1986842"/>
                </a:lnTo>
                <a:cubicBezTo>
                  <a:pt x="3600000" y="2980955"/>
                  <a:pt x="2794113" y="3786842"/>
                  <a:pt x="1800000" y="3786842"/>
                </a:cubicBezTo>
                <a:cubicBezTo>
                  <a:pt x="805887" y="3786842"/>
                  <a:pt x="0" y="2980955"/>
                  <a:pt x="0" y="1986842"/>
                </a:cubicBezTo>
                <a:cubicBezTo>
                  <a:pt x="0" y="992729"/>
                  <a:pt x="805887" y="186842"/>
                  <a:pt x="1800000" y="186842"/>
                </a:cubicBezTo>
                <a:close/>
                <a:moveTo>
                  <a:pt x="2653345" y="103936"/>
                </a:moveTo>
                <a:cubicBezTo>
                  <a:pt x="2713623" y="122781"/>
                  <a:pt x="2772066" y="146664"/>
                  <a:pt x="2828252" y="175345"/>
                </a:cubicBezTo>
                <a:lnTo>
                  <a:pt x="2052009" y="457876"/>
                </a:lnTo>
                <a:lnTo>
                  <a:pt x="2052009" y="322805"/>
                </a:lnTo>
                <a:close/>
                <a:moveTo>
                  <a:pt x="2052009" y="0"/>
                </a:moveTo>
                <a:cubicBezTo>
                  <a:pt x="2150315" y="0"/>
                  <a:pt x="2247800" y="7911"/>
                  <a:pt x="2343281" y="25238"/>
                </a:cubicBezTo>
                <a:lnTo>
                  <a:pt x="2052009" y="1312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solidFill>
                <a:schemeClr val="bg1"/>
              </a:solidFill>
              <a:latin typeface="Microsoft JhengHei" panose="020B0604030504040204" pitchFamily="34" charset="-120"/>
            </a:endParaRPr>
          </a:p>
        </p:txBody>
      </p:sp>
      <p:sp>
        <p:nvSpPr>
          <p:cNvPr id="33" name="Donut 15">
            <a:extLst>
              <a:ext uri="{FF2B5EF4-FFF2-40B4-BE49-F238E27FC236}">
                <a16:creationId xmlns:a16="http://schemas.microsoft.com/office/drawing/2014/main" id="{3F1472E7-B90B-48D0-A48D-1FE9C3218613}"/>
              </a:ext>
            </a:extLst>
          </p:cNvPr>
          <p:cNvSpPr/>
          <p:nvPr/>
        </p:nvSpPr>
        <p:spPr>
          <a:xfrm>
            <a:off x="2385039" y="2006146"/>
            <a:ext cx="432179" cy="429170"/>
          </a:xfrm>
          <a:custGeom>
            <a:avLst/>
            <a:gdLst/>
            <a:ahLst/>
            <a:cxnLst/>
            <a:rect l="l" t="t" r="r" b="b"/>
            <a:pathLst>
              <a:path w="3821708" h="3795110">
                <a:moveTo>
                  <a:pt x="1910854" y="903842"/>
                </a:moveTo>
                <a:lnTo>
                  <a:pt x="1793831" y="1129420"/>
                </a:lnTo>
                <a:lnTo>
                  <a:pt x="1791613" y="1129420"/>
                </a:lnTo>
                <a:lnTo>
                  <a:pt x="1791892" y="1133157"/>
                </a:lnTo>
                <a:lnTo>
                  <a:pt x="1791613" y="1133695"/>
                </a:lnTo>
                <a:lnTo>
                  <a:pt x="1791933" y="1133695"/>
                </a:lnTo>
                <a:lnTo>
                  <a:pt x="1833002" y="1683464"/>
                </a:lnTo>
                <a:cubicBezTo>
                  <a:pt x="1744939" y="1714584"/>
                  <a:pt x="1682254" y="1798749"/>
                  <a:pt x="1682254" y="1897555"/>
                </a:cubicBezTo>
                <a:cubicBezTo>
                  <a:pt x="1682254" y="2023808"/>
                  <a:pt x="1784602" y="2126156"/>
                  <a:pt x="1910855" y="2126156"/>
                </a:cubicBezTo>
                <a:cubicBezTo>
                  <a:pt x="1975561" y="2126156"/>
                  <a:pt x="2033988" y="2099273"/>
                  <a:pt x="2075304" y="2055803"/>
                </a:cubicBezTo>
                <a:lnTo>
                  <a:pt x="2443125" y="2288080"/>
                </a:lnTo>
                <a:lnTo>
                  <a:pt x="2443003" y="2288309"/>
                </a:lnTo>
                <a:lnTo>
                  <a:pt x="2443494" y="2288314"/>
                </a:lnTo>
                <a:lnTo>
                  <a:pt x="2446061" y="2289935"/>
                </a:lnTo>
                <a:lnTo>
                  <a:pt x="2446904" y="2288348"/>
                </a:lnTo>
                <a:lnTo>
                  <a:pt x="2652725" y="2290436"/>
                </a:lnTo>
                <a:lnTo>
                  <a:pt x="2535900" y="2120971"/>
                </a:lnTo>
                <a:lnTo>
                  <a:pt x="2536744" y="2119385"/>
                </a:lnTo>
                <a:lnTo>
                  <a:pt x="2533964" y="2118163"/>
                </a:lnTo>
                <a:lnTo>
                  <a:pt x="2533686" y="2117759"/>
                </a:lnTo>
                <a:lnTo>
                  <a:pt x="2533565" y="2117988"/>
                </a:lnTo>
                <a:lnTo>
                  <a:pt x="2134900" y="1942755"/>
                </a:lnTo>
                <a:cubicBezTo>
                  <a:pt x="2137918" y="1928156"/>
                  <a:pt x="2139456" y="1913035"/>
                  <a:pt x="2139456" y="1897555"/>
                </a:cubicBezTo>
                <a:cubicBezTo>
                  <a:pt x="2139456" y="1798748"/>
                  <a:pt x="2076770" y="1714583"/>
                  <a:pt x="1988706" y="1683463"/>
                </a:cubicBezTo>
                <a:lnTo>
                  <a:pt x="2029775" y="1133695"/>
                </a:lnTo>
                <a:lnTo>
                  <a:pt x="2030094" y="1133695"/>
                </a:lnTo>
                <a:lnTo>
                  <a:pt x="2029815" y="1133157"/>
                </a:lnTo>
                <a:lnTo>
                  <a:pt x="2030094" y="1129420"/>
                </a:lnTo>
                <a:lnTo>
                  <a:pt x="2027877" y="1129420"/>
                </a:lnTo>
                <a:close/>
                <a:moveTo>
                  <a:pt x="1910854" y="565406"/>
                </a:moveTo>
                <a:cubicBezTo>
                  <a:pt x="2646579" y="565406"/>
                  <a:pt x="3243002" y="1161829"/>
                  <a:pt x="3243002" y="1897554"/>
                </a:cubicBezTo>
                <a:cubicBezTo>
                  <a:pt x="3243002" y="2633279"/>
                  <a:pt x="2646579" y="3229702"/>
                  <a:pt x="1910854" y="3229702"/>
                </a:cubicBezTo>
                <a:cubicBezTo>
                  <a:pt x="1175129" y="3229702"/>
                  <a:pt x="578706" y="2633279"/>
                  <a:pt x="578706" y="1897554"/>
                </a:cubicBezTo>
                <a:cubicBezTo>
                  <a:pt x="578706" y="1161829"/>
                  <a:pt x="1175129" y="565406"/>
                  <a:pt x="1910854" y="565406"/>
                </a:cubicBezTo>
                <a:close/>
                <a:moveTo>
                  <a:pt x="1766837" y="367010"/>
                </a:moveTo>
                <a:cubicBezTo>
                  <a:pt x="1050362" y="432397"/>
                  <a:pt x="475174" y="981146"/>
                  <a:pt x="377476" y="1681610"/>
                </a:cubicBezTo>
                <a:lnTo>
                  <a:pt x="426306" y="1681610"/>
                </a:lnTo>
                <a:cubicBezTo>
                  <a:pt x="510474" y="1681610"/>
                  <a:pt x="578706" y="1746088"/>
                  <a:pt x="578706" y="1825626"/>
                </a:cubicBezTo>
                <a:cubicBezTo>
                  <a:pt x="578706" y="1905164"/>
                  <a:pt x="510474" y="1969642"/>
                  <a:pt x="426306" y="1969642"/>
                </a:cubicBezTo>
                <a:lnTo>
                  <a:pt x="364094" y="1969642"/>
                </a:lnTo>
                <a:cubicBezTo>
                  <a:pt x="398055" y="2738400"/>
                  <a:pt x="1003246" y="3359660"/>
                  <a:pt x="1769417" y="3427809"/>
                </a:cubicBezTo>
                <a:lnTo>
                  <a:pt x="1769417" y="3382101"/>
                </a:lnTo>
                <a:cubicBezTo>
                  <a:pt x="1769417" y="3297933"/>
                  <a:pt x="1833895" y="3229701"/>
                  <a:pt x="1913433" y="3229701"/>
                </a:cubicBezTo>
                <a:cubicBezTo>
                  <a:pt x="1992971" y="3229701"/>
                  <a:pt x="2057449" y="3297933"/>
                  <a:pt x="2057449" y="3382101"/>
                </a:cubicBezTo>
                <a:lnTo>
                  <a:pt x="2057449" y="3427707"/>
                </a:lnTo>
                <a:cubicBezTo>
                  <a:pt x="2804164" y="3358467"/>
                  <a:pt x="3396856" y="2764020"/>
                  <a:pt x="3455018" y="2020616"/>
                </a:cubicBezTo>
                <a:lnTo>
                  <a:pt x="3395402" y="2020616"/>
                </a:lnTo>
                <a:cubicBezTo>
                  <a:pt x="3311234" y="2020616"/>
                  <a:pt x="3243002" y="1956138"/>
                  <a:pt x="3243002" y="1876600"/>
                </a:cubicBezTo>
                <a:cubicBezTo>
                  <a:pt x="3243002" y="1797062"/>
                  <a:pt x="3311234" y="1732584"/>
                  <a:pt x="3395402" y="1732584"/>
                </a:cubicBezTo>
                <a:lnTo>
                  <a:pt x="3451747" y="1732584"/>
                </a:lnTo>
                <a:cubicBezTo>
                  <a:pt x="3374444" y="1008025"/>
                  <a:pt x="2788738" y="434055"/>
                  <a:pt x="2054869" y="367632"/>
                </a:cubicBezTo>
                <a:lnTo>
                  <a:pt x="2054869" y="407296"/>
                </a:lnTo>
                <a:cubicBezTo>
                  <a:pt x="2054869" y="491464"/>
                  <a:pt x="1990391" y="559696"/>
                  <a:pt x="1910853" y="559696"/>
                </a:cubicBezTo>
                <a:cubicBezTo>
                  <a:pt x="1831315" y="559696"/>
                  <a:pt x="1766837" y="491464"/>
                  <a:pt x="1766837" y="407296"/>
                </a:cubicBezTo>
                <a:close/>
                <a:moveTo>
                  <a:pt x="1910854" y="0"/>
                </a:moveTo>
                <a:cubicBezTo>
                  <a:pt x="2966190" y="0"/>
                  <a:pt x="3821708" y="849564"/>
                  <a:pt x="3821708" y="1897555"/>
                </a:cubicBezTo>
                <a:cubicBezTo>
                  <a:pt x="3821708" y="2945546"/>
                  <a:pt x="2966190" y="3795110"/>
                  <a:pt x="1910854" y="3795110"/>
                </a:cubicBezTo>
                <a:cubicBezTo>
                  <a:pt x="855518" y="3795110"/>
                  <a:pt x="0" y="2945546"/>
                  <a:pt x="0" y="1897555"/>
                </a:cubicBezTo>
                <a:cubicBezTo>
                  <a:pt x="0" y="849564"/>
                  <a:pt x="855518" y="0"/>
                  <a:pt x="191085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5400">
              <a:solidFill>
                <a:schemeClr val="tx1"/>
              </a:solidFill>
              <a:latin typeface="Microsoft JhengHei" panose="020B0604030504040204" pitchFamily="34" charset="-120"/>
            </a:endParaRPr>
          </a:p>
        </p:txBody>
      </p:sp>
      <p:grpSp>
        <p:nvGrpSpPr>
          <p:cNvPr id="34" name="Graphic 33">
            <a:extLst>
              <a:ext uri="{FF2B5EF4-FFF2-40B4-BE49-F238E27FC236}">
                <a16:creationId xmlns:a16="http://schemas.microsoft.com/office/drawing/2014/main" id="{EA9DF64B-3709-4045-8225-E2F437E83AA5}"/>
              </a:ext>
            </a:extLst>
          </p:cNvPr>
          <p:cNvGrpSpPr/>
          <p:nvPr/>
        </p:nvGrpSpPr>
        <p:grpSpPr>
          <a:xfrm>
            <a:off x="6490118" y="2853274"/>
            <a:ext cx="1647635" cy="1523620"/>
            <a:chOff x="7424910" y="2405641"/>
            <a:chExt cx="1771650" cy="1638300"/>
          </a:xfrm>
          <a:solidFill>
            <a:schemeClr val="accent4"/>
          </a:solidFill>
        </p:grpSpPr>
        <p:sp>
          <p:nvSpPr>
            <p:cNvPr id="35" name="Freeform: Shape 34">
              <a:extLst>
                <a:ext uri="{FF2B5EF4-FFF2-40B4-BE49-F238E27FC236}">
                  <a16:creationId xmlns:a16="http://schemas.microsoft.com/office/drawing/2014/main" id="{515535C6-8C0B-4095-A7BE-4ACD534AA53C}"/>
                </a:ext>
              </a:extLst>
            </p:cNvPr>
            <p:cNvSpPr/>
            <p:nvPr/>
          </p:nvSpPr>
          <p:spPr>
            <a:xfrm>
              <a:off x="7417766" y="2398092"/>
              <a:ext cx="885825" cy="1647825"/>
            </a:xfrm>
            <a:custGeom>
              <a:avLst/>
              <a:gdLst>
                <a:gd name="connsiteX0" fmla="*/ 749141 w 885825"/>
                <a:gd name="connsiteY0" fmla="*/ 1281042 h 1647825"/>
                <a:gd name="connsiteX1" fmla="*/ 858679 w 885825"/>
                <a:gd name="connsiteY1" fmla="*/ 1312474 h 1647825"/>
                <a:gd name="connsiteX2" fmla="*/ 858679 w 885825"/>
                <a:gd name="connsiteY2" fmla="*/ 1287709 h 1647825"/>
                <a:gd name="connsiteX3" fmla="*/ 861536 w 885825"/>
                <a:gd name="connsiteY3" fmla="*/ 1006722 h 1647825"/>
                <a:gd name="connsiteX4" fmla="*/ 855821 w 885825"/>
                <a:gd name="connsiteY4" fmla="*/ 975289 h 1647825"/>
                <a:gd name="connsiteX5" fmla="*/ 791051 w 885825"/>
                <a:gd name="connsiteY5" fmla="*/ 885754 h 1647825"/>
                <a:gd name="connsiteX6" fmla="*/ 770096 w 885825"/>
                <a:gd name="connsiteY6" fmla="*/ 880039 h 1647825"/>
                <a:gd name="connsiteX7" fmla="*/ 745331 w 885825"/>
                <a:gd name="connsiteY7" fmla="*/ 880039 h 1647825"/>
                <a:gd name="connsiteX8" fmla="*/ 718661 w 885825"/>
                <a:gd name="connsiteY8" fmla="*/ 884802 h 1647825"/>
                <a:gd name="connsiteX9" fmla="*/ 630079 w 885825"/>
                <a:gd name="connsiteY9" fmla="*/ 1042917 h 1647825"/>
                <a:gd name="connsiteX10" fmla="*/ 618649 w 885825"/>
                <a:gd name="connsiteY10" fmla="*/ 1060062 h 1647825"/>
                <a:gd name="connsiteX11" fmla="*/ 604361 w 885825"/>
                <a:gd name="connsiteY11" fmla="*/ 1049584 h 1647825"/>
                <a:gd name="connsiteX12" fmla="*/ 711041 w 885825"/>
                <a:gd name="connsiteY12" fmla="*/ 859084 h 1647825"/>
                <a:gd name="connsiteX13" fmla="*/ 737711 w 885825"/>
                <a:gd name="connsiteY13" fmla="*/ 854322 h 1647825"/>
                <a:gd name="connsiteX14" fmla="*/ 768191 w 885825"/>
                <a:gd name="connsiteY14" fmla="*/ 857179 h 1647825"/>
                <a:gd name="connsiteX15" fmla="*/ 846296 w 885825"/>
                <a:gd name="connsiteY15" fmla="*/ 891469 h 1647825"/>
                <a:gd name="connsiteX16" fmla="*/ 855821 w 885825"/>
                <a:gd name="connsiteY16" fmla="*/ 707637 h 1647825"/>
                <a:gd name="connsiteX17" fmla="*/ 856774 w 885825"/>
                <a:gd name="connsiteY17" fmla="*/ 681919 h 1647825"/>
                <a:gd name="connsiteX18" fmla="*/ 863441 w 885825"/>
                <a:gd name="connsiteY18" fmla="*/ 650487 h 1647825"/>
                <a:gd name="connsiteX19" fmla="*/ 868204 w 885825"/>
                <a:gd name="connsiteY19" fmla="*/ 619054 h 1647825"/>
                <a:gd name="connsiteX20" fmla="*/ 856774 w 885825"/>
                <a:gd name="connsiteY20" fmla="*/ 311397 h 1647825"/>
                <a:gd name="connsiteX21" fmla="*/ 856774 w 885825"/>
                <a:gd name="connsiteY21" fmla="*/ 280917 h 1647825"/>
                <a:gd name="connsiteX22" fmla="*/ 856774 w 885825"/>
                <a:gd name="connsiteY22" fmla="*/ 220909 h 1647825"/>
                <a:gd name="connsiteX23" fmla="*/ 854869 w 885825"/>
                <a:gd name="connsiteY23" fmla="*/ 221862 h 1647825"/>
                <a:gd name="connsiteX24" fmla="*/ 776764 w 885825"/>
                <a:gd name="connsiteY24" fmla="*/ 71367 h 1647825"/>
                <a:gd name="connsiteX25" fmla="*/ 750094 w 885825"/>
                <a:gd name="connsiteY25" fmla="*/ 50412 h 1647825"/>
                <a:gd name="connsiteX26" fmla="*/ 656749 w 885825"/>
                <a:gd name="connsiteY26" fmla="*/ 12312 h 1647825"/>
                <a:gd name="connsiteX27" fmla="*/ 623411 w 885825"/>
                <a:gd name="connsiteY27" fmla="*/ 8502 h 1647825"/>
                <a:gd name="connsiteX28" fmla="*/ 391954 w 885825"/>
                <a:gd name="connsiteY28" fmla="*/ 227577 h 1647825"/>
                <a:gd name="connsiteX29" fmla="*/ 405289 w 885825"/>
                <a:gd name="connsiteY29" fmla="*/ 253294 h 1647825"/>
                <a:gd name="connsiteX30" fmla="*/ 520541 w 885825"/>
                <a:gd name="connsiteY30" fmla="*/ 332352 h 1647825"/>
                <a:gd name="connsiteX31" fmla="*/ 551021 w 885825"/>
                <a:gd name="connsiteY31" fmla="*/ 335209 h 1647825"/>
                <a:gd name="connsiteX32" fmla="*/ 718661 w 885825"/>
                <a:gd name="connsiteY32" fmla="*/ 198049 h 1647825"/>
                <a:gd name="connsiteX33" fmla="*/ 722471 w 885825"/>
                <a:gd name="connsiteY33" fmla="*/ 163759 h 1647825"/>
                <a:gd name="connsiteX34" fmla="*/ 743426 w 885825"/>
                <a:gd name="connsiteY34" fmla="*/ 146614 h 1647825"/>
                <a:gd name="connsiteX35" fmla="*/ 758666 w 885825"/>
                <a:gd name="connsiteY35" fmla="*/ 164712 h 1647825"/>
                <a:gd name="connsiteX36" fmla="*/ 635794 w 885825"/>
                <a:gd name="connsiteY36" fmla="*/ 353307 h 1647825"/>
                <a:gd name="connsiteX37" fmla="*/ 708184 w 885825"/>
                <a:gd name="connsiteY37" fmla="*/ 407599 h 1647825"/>
                <a:gd name="connsiteX38" fmla="*/ 726281 w 885825"/>
                <a:gd name="connsiteY38" fmla="*/ 432364 h 1647825"/>
                <a:gd name="connsiteX39" fmla="*/ 757714 w 885825"/>
                <a:gd name="connsiteY39" fmla="*/ 584764 h 1647825"/>
                <a:gd name="connsiteX40" fmla="*/ 751046 w 885825"/>
                <a:gd name="connsiteY40" fmla="*/ 611434 h 1647825"/>
                <a:gd name="connsiteX41" fmla="*/ 741521 w 885825"/>
                <a:gd name="connsiteY41" fmla="*/ 637152 h 1647825"/>
                <a:gd name="connsiteX42" fmla="*/ 727234 w 885825"/>
                <a:gd name="connsiteY42" fmla="*/ 661917 h 1647825"/>
                <a:gd name="connsiteX43" fmla="*/ 687229 w 885825"/>
                <a:gd name="connsiteY43" fmla="*/ 706684 h 1647825"/>
                <a:gd name="connsiteX44" fmla="*/ 737711 w 885825"/>
                <a:gd name="connsiteY44" fmla="*/ 786694 h 1647825"/>
                <a:gd name="connsiteX45" fmla="*/ 760571 w 885825"/>
                <a:gd name="connsiteY45" fmla="*/ 796219 h 1647825"/>
                <a:gd name="connsiteX46" fmla="*/ 788194 w 885825"/>
                <a:gd name="connsiteY46" fmla="*/ 799077 h 1647825"/>
                <a:gd name="connsiteX47" fmla="*/ 783431 w 885825"/>
                <a:gd name="connsiteY47" fmla="*/ 835272 h 1647825"/>
                <a:gd name="connsiteX48" fmla="*/ 752951 w 885825"/>
                <a:gd name="connsiteY48" fmla="*/ 830509 h 1647825"/>
                <a:gd name="connsiteX49" fmla="*/ 724376 w 885825"/>
                <a:gd name="connsiteY49" fmla="*/ 820032 h 1647825"/>
                <a:gd name="connsiteX50" fmla="*/ 653891 w 885825"/>
                <a:gd name="connsiteY50" fmla="*/ 728592 h 1647825"/>
                <a:gd name="connsiteX51" fmla="*/ 381476 w 885825"/>
                <a:gd name="connsiteY51" fmla="*/ 658107 h 1647825"/>
                <a:gd name="connsiteX52" fmla="*/ 384334 w 885825"/>
                <a:gd name="connsiteY52" fmla="*/ 635247 h 1647825"/>
                <a:gd name="connsiteX53" fmla="*/ 411004 w 885825"/>
                <a:gd name="connsiteY53" fmla="*/ 639057 h 1647825"/>
                <a:gd name="connsiteX54" fmla="*/ 541496 w 885825"/>
                <a:gd name="connsiteY54" fmla="*/ 717162 h 1647825"/>
                <a:gd name="connsiteX55" fmla="*/ 552926 w 885825"/>
                <a:gd name="connsiteY55" fmla="*/ 716209 h 1647825"/>
                <a:gd name="connsiteX56" fmla="*/ 693896 w 885825"/>
                <a:gd name="connsiteY56" fmla="*/ 638104 h 1647825"/>
                <a:gd name="connsiteX57" fmla="*/ 710089 w 885825"/>
                <a:gd name="connsiteY57" fmla="*/ 608577 h 1647825"/>
                <a:gd name="connsiteX58" fmla="*/ 710089 w 885825"/>
                <a:gd name="connsiteY58" fmla="*/ 475227 h 1647825"/>
                <a:gd name="connsiteX59" fmla="*/ 693896 w 885825"/>
                <a:gd name="connsiteY59" fmla="*/ 445699 h 1647825"/>
                <a:gd name="connsiteX60" fmla="*/ 551974 w 885825"/>
                <a:gd name="connsiteY60" fmla="*/ 370452 h 1647825"/>
                <a:gd name="connsiteX61" fmla="*/ 532924 w 885825"/>
                <a:gd name="connsiteY61" fmla="*/ 368547 h 1647825"/>
                <a:gd name="connsiteX62" fmla="*/ 397669 w 885825"/>
                <a:gd name="connsiteY62" fmla="*/ 301872 h 1647825"/>
                <a:gd name="connsiteX63" fmla="*/ 371951 w 885825"/>
                <a:gd name="connsiteY63" fmla="*/ 293299 h 1647825"/>
                <a:gd name="connsiteX64" fmla="*/ 180499 w 885825"/>
                <a:gd name="connsiteY64" fmla="*/ 376167 h 1647825"/>
                <a:gd name="connsiteX65" fmla="*/ 175736 w 885825"/>
                <a:gd name="connsiteY65" fmla="*/ 505707 h 1647825"/>
                <a:gd name="connsiteX66" fmla="*/ 181451 w 885825"/>
                <a:gd name="connsiteY66" fmla="*/ 532377 h 1647825"/>
                <a:gd name="connsiteX67" fmla="*/ 202406 w 885825"/>
                <a:gd name="connsiteY67" fmla="*/ 580954 h 1647825"/>
                <a:gd name="connsiteX68" fmla="*/ 217646 w 885825"/>
                <a:gd name="connsiteY68" fmla="*/ 581907 h 1647825"/>
                <a:gd name="connsiteX69" fmla="*/ 239554 w 885825"/>
                <a:gd name="connsiteY69" fmla="*/ 580002 h 1647825"/>
                <a:gd name="connsiteX70" fmla="*/ 260509 w 885825"/>
                <a:gd name="connsiteY70" fmla="*/ 575239 h 1647825"/>
                <a:gd name="connsiteX71" fmla="*/ 344329 w 885825"/>
                <a:gd name="connsiteY71" fmla="*/ 490467 h 1647825"/>
                <a:gd name="connsiteX72" fmla="*/ 351949 w 885825"/>
                <a:gd name="connsiteY72" fmla="*/ 465702 h 1647825"/>
                <a:gd name="connsiteX73" fmla="*/ 361474 w 885825"/>
                <a:gd name="connsiteY73" fmla="*/ 415219 h 1647825"/>
                <a:gd name="connsiteX74" fmla="*/ 390049 w 885825"/>
                <a:gd name="connsiteY74" fmla="*/ 424744 h 1647825"/>
                <a:gd name="connsiteX75" fmla="*/ 325279 w 885825"/>
                <a:gd name="connsiteY75" fmla="*/ 580954 h 1647825"/>
                <a:gd name="connsiteX76" fmla="*/ 301466 w 885825"/>
                <a:gd name="connsiteY76" fmla="*/ 597147 h 1647825"/>
                <a:gd name="connsiteX77" fmla="*/ 218599 w 885825"/>
                <a:gd name="connsiteY77" fmla="*/ 618102 h 1647825"/>
                <a:gd name="connsiteX78" fmla="*/ 145256 w 885825"/>
                <a:gd name="connsiteY78" fmla="*/ 600957 h 1647825"/>
                <a:gd name="connsiteX79" fmla="*/ 7144 w 885825"/>
                <a:gd name="connsiteY79" fmla="*/ 817174 h 1647825"/>
                <a:gd name="connsiteX80" fmla="*/ 164306 w 885825"/>
                <a:gd name="connsiteY80" fmla="*/ 1041964 h 1647825"/>
                <a:gd name="connsiteX81" fmla="*/ 174784 w 885825"/>
                <a:gd name="connsiteY81" fmla="*/ 1041964 h 1647825"/>
                <a:gd name="connsiteX82" fmla="*/ 346234 w 885825"/>
                <a:gd name="connsiteY82" fmla="*/ 870514 h 1647825"/>
                <a:gd name="connsiteX83" fmla="*/ 367189 w 885825"/>
                <a:gd name="connsiteY83" fmla="*/ 853369 h 1647825"/>
                <a:gd name="connsiteX84" fmla="*/ 382429 w 885825"/>
                <a:gd name="connsiteY84" fmla="*/ 871467 h 1647825"/>
                <a:gd name="connsiteX85" fmla="*/ 346234 w 885825"/>
                <a:gd name="connsiteY85" fmla="*/ 987672 h 1647825"/>
                <a:gd name="connsiteX86" fmla="*/ 350044 w 885825"/>
                <a:gd name="connsiteY86" fmla="*/ 1021009 h 1647825"/>
                <a:gd name="connsiteX87" fmla="*/ 360521 w 885825"/>
                <a:gd name="connsiteY87" fmla="*/ 1052442 h 1647825"/>
                <a:gd name="connsiteX88" fmla="*/ 451009 w 885825"/>
                <a:gd name="connsiteY88" fmla="*/ 1141024 h 1647825"/>
                <a:gd name="connsiteX89" fmla="*/ 482441 w 885825"/>
                <a:gd name="connsiteY89" fmla="*/ 1150549 h 1647825"/>
                <a:gd name="connsiteX90" fmla="*/ 516731 w 885825"/>
                <a:gd name="connsiteY90" fmla="*/ 1154359 h 1647825"/>
                <a:gd name="connsiteX91" fmla="*/ 688181 w 885825"/>
                <a:gd name="connsiteY91" fmla="*/ 982909 h 1647825"/>
                <a:gd name="connsiteX92" fmla="*/ 709136 w 885825"/>
                <a:gd name="connsiteY92" fmla="*/ 965764 h 1647825"/>
                <a:gd name="connsiteX93" fmla="*/ 724376 w 885825"/>
                <a:gd name="connsiteY93" fmla="*/ 983862 h 1647825"/>
                <a:gd name="connsiteX94" fmla="*/ 721519 w 885825"/>
                <a:gd name="connsiteY94" fmla="*/ 1017199 h 1647825"/>
                <a:gd name="connsiteX95" fmla="*/ 684371 w 885825"/>
                <a:gd name="connsiteY95" fmla="*/ 1105782 h 1647825"/>
                <a:gd name="connsiteX96" fmla="*/ 663416 w 885825"/>
                <a:gd name="connsiteY96" fmla="*/ 1129595 h 1647825"/>
                <a:gd name="connsiteX97" fmla="*/ 517684 w 885825"/>
                <a:gd name="connsiteY97" fmla="*/ 1189602 h 1647825"/>
                <a:gd name="connsiteX98" fmla="*/ 488156 w 885825"/>
                <a:gd name="connsiteY98" fmla="*/ 1187697 h 1647825"/>
                <a:gd name="connsiteX99" fmla="*/ 459581 w 885825"/>
                <a:gd name="connsiteY99" fmla="*/ 1181982 h 1647825"/>
                <a:gd name="connsiteX100" fmla="*/ 315754 w 885825"/>
                <a:gd name="connsiteY100" fmla="*/ 1023867 h 1647825"/>
                <a:gd name="connsiteX101" fmla="*/ 172879 w 885825"/>
                <a:gd name="connsiteY101" fmla="*/ 1185792 h 1647825"/>
                <a:gd name="connsiteX102" fmla="*/ 341471 w 885825"/>
                <a:gd name="connsiteY102" fmla="*/ 1345812 h 1647825"/>
                <a:gd name="connsiteX103" fmla="*/ 373856 w 885825"/>
                <a:gd name="connsiteY103" fmla="*/ 1348670 h 1647825"/>
                <a:gd name="connsiteX104" fmla="*/ 386239 w 885825"/>
                <a:gd name="connsiteY104" fmla="*/ 1348670 h 1647825"/>
                <a:gd name="connsiteX105" fmla="*/ 383381 w 885825"/>
                <a:gd name="connsiteY105" fmla="*/ 1369624 h 1647825"/>
                <a:gd name="connsiteX106" fmla="*/ 382429 w 885825"/>
                <a:gd name="connsiteY106" fmla="*/ 1391532 h 1647825"/>
                <a:gd name="connsiteX107" fmla="*/ 527209 w 885825"/>
                <a:gd name="connsiteY107" fmla="*/ 1625847 h 1647825"/>
                <a:gd name="connsiteX108" fmla="*/ 558641 w 885825"/>
                <a:gd name="connsiteY108" fmla="*/ 1636324 h 1647825"/>
                <a:gd name="connsiteX109" fmla="*/ 756761 w 885825"/>
                <a:gd name="connsiteY109" fmla="*/ 1596320 h 1647825"/>
                <a:gd name="connsiteX110" fmla="*/ 777716 w 885825"/>
                <a:gd name="connsiteY110" fmla="*/ 1584890 h 1647825"/>
                <a:gd name="connsiteX111" fmla="*/ 858679 w 885825"/>
                <a:gd name="connsiteY111" fmla="*/ 1491545 h 1647825"/>
                <a:gd name="connsiteX112" fmla="*/ 791051 w 885825"/>
                <a:gd name="connsiteY112" fmla="*/ 1321999 h 1647825"/>
                <a:gd name="connsiteX113" fmla="*/ 771049 w 885825"/>
                <a:gd name="connsiteY113" fmla="*/ 1318190 h 1647825"/>
                <a:gd name="connsiteX114" fmla="*/ 750094 w 885825"/>
                <a:gd name="connsiteY114" fmla="*/ 1317237 h 1647825"/>
                <a:gd name="connsiteX115" fmla="*/ 608171 w 885825"/>
                <a:gd name="connsiteY115" fmla="*/ 1392484 h 1647825"/>
                <a:gd name="connsiteX116" fmla="*/ 591979 w 885825"/>
                <a:gd name="connsiteY116" fmla="*/ 1422012 h 1647825"/>
                <a:gd name="connsiteX117" fmla="*/ 576739 w 885825"/>
                <a:gd name="connsiteY117" fmla="*/ 1497259 h 1647825"/>
                <a:gd name="connsiteX118" fmla="*/ 552926 w 885825"/>
                <a:gd name="connsiteY118" fmla="*/ 1501070 h 1647825"/>
                <a:gd name="connsiteX119" fmla="*/ 546259 w 885825"/>
                <a:gd name="connsiteY119" fmla="*/ 1447729 h 1647825"/>
                <a:gd name="connsiteX120" fmla="*/ 552926 w 885825"/>
                <a:gd name="connsiteY120" fmla="*/ 1422965 h 1647825"/>
                <a:gd name="connsiteX121" fmla="*/ 565309 w 885825"/>
                <a:gd name="connsiteY121" fmla="*/ 1393437 h 1647825"/>
                <a:gd name="connsiteX122" fmla="*/ 749141 w 885825"/>
                <a:gd name="connsiteY122" fmla="*/ 1281042 h 1647825"/>
                <a:gd name="connsiteX123" fmla="*/ 164306 w 885825"/>
                <a:gd name="connsiteY123" fmla="*/ 969574 h 1647825"/>
                <a:gd name="connsiteX124" fmla="*/ 140494 w 885825"/>
                <a:gd name="connsiteY124" fmla="*/ 968622 h 1647825"/>
                <a:gd name="connsiteX125" fmla="*/ 118586 w 885825"/>
                <a:gd name="connsiteY125" fmla="*/ 678109 h 1647825"/>
                <a:gd name="connsiteX126" fmla="*/ 133826 w 885825"/>
                <a:gd name="connsiteY126" fmla="*/ 661917 h 1647825"/>
                <a:gd name="connsiteX127" fmla="*/ 134779 w 885825"/>
                <a:gd name="connsiteY127" fmla="*/ 661917 h 1647825"/>
                <a:gd name="connsiteX128" fmla="*/ 153829 w 885825"/>
                <a:gd name="connsiteY128" fmla="*/ 691444 h 1647825"/>
                <a:gd name="connsiteX129" fmla="*/ 153829 w 885825"/>
                <a:gd name="connsiteY129" fmla="*/ 692397 h 1647825"/>
                <a:gd name="connsiteX130" fmla="*/ 146209 w 885825"/>
                <a:gd name="connsiteY130" fmla="*/ 700969 h 1647825"/>
                <a:gd name="connsiteX131" fmla="*/ 165259 w 885825"/>
                <a:gd name="connsiteY131" fmla="*/ 942904 h 1647825"/>
                <a:gd name="connsiteX132" fmla="*/ 164306 w 885825"/>
                <a:gd name="connsiteY132" fmla="*/ 969574 h 164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85825" h="1647825">
                  <a:moveTo>
                    <a:pt x="749141" y="1281042"/>
                  </a:moveTo>
                  <a:cubicBezTo>
                    <a:pt x="789146" y="1281042"/>
                    <a:pt x="827246" y="1292472"/>
                    <a:pt x="858679" y="1312474"/>
                  </a:cubicBezTo>
                  <a:cubicBezTo>
                    <a:pt x="858679" y="1312474"/>
                    <a:pt x="858679" y="1302949"/>
                    <a:pt x="858679" y="1287709"/>
                  </a:cubicBezTo>
                  <a:cubicBezTo>
                    <a:pt x="874871" y="1196270"/>
                    <a:pt x="875824" y="1101972"/>
                    <a:pt x="861536" y="1006722"/>
                  </a:cubicBezTo>
                  <a:cubicBezTo>
                    <a:pt x="859631" y="996244"/>
                    <a:pt x="857726" y="985767"/>
                    <a:pt x="855821" y="975289"/>
                  </a:cubicBezTo>
                  <a:cubicBezTo>
                    <a:pt x="847249" y="938142"/>
                    <a:pt x="828199" y="900042"/>
                    <a:pt x="791051" y="885754"/>
                  </a:cubicBezTo>
                  <a:cubicBezTo>
                    <a:pt x="784384" y="882897"/>
                    <a:pt x="777716" y="880992"/>
                    <a:pt x="770096" y="880039"/>
                  </a:cubicBezTo>
                  <a:cubicBezTo>
                    <a:pt x="762476" y="879087"/>
                    <a:pt x="753904" y="879087"/>
                    <a:pt x="745331" y="880039"/>
                  </a:cubicBezTo>
                  <a:cubicBezTo>
                    <a:pt x="736759" y="880992"/>
                    <a:pt x="727234" y="881944"/>
                    <a:pt x="718661" y="884802"/>
                  </a:cubicBezTo>
                  <a:cubicBezTo>
                    <a:pt x="651034" y="903852"/>
                    <a:pt x="611029" y="975289"/>
                    <a:pt x="630079" y="1042917"/>
                  </a:cubicBezTo>
                  <a:cubicBezTo>
                    <a:pt x="631984" y="1050537"/>
                    <a:pt x="627221" y="1059109"/>
                    <a:pt x="618649" y="1060062"/>
                  </a:cubicBezTo>
                  <a:cubicBezTo>
                    <a:pt x="611981" y="1061014"/>
                    <a:pt x="606266" y="1056252"/>
                    <a:pt x="604361" y="1049584"/>
                  </a:cubicBezTo>
                  <a:cubicBezTo>
                    <a:pt x="581501" y="967669"/>
                    <a:pt x="629126" y="881944"/>
                    <a:pt x="711041" y="859084"/>
                  </a:cubicBezTo>
                  <a:cubicBezTo>
                    <a:pt x="719614" y="856227"/>
                    <a:pt x="729139" y="855274"/>
                    <a:pt x="737711" y="854322"/>
                  </a:cubicBezTo>
                  <a:cubicBezTo>
                    <a:pt x="748189" y="854322"/>
                    <a:pt x="758666" y="855274"/>
                    <a:pt x="768191" y="857179"/>
                  </a:cubicBezTo>
                  <a:cubicBezTo>
                    <a:pt x="798671" y="853369"/>
                    <a:pt x="817721" y="891469"/>
                    <a:pt x="846296" y="891469"/>
                  </a:cubicBezTo>
                  <a:cubicBezTo>
                    <a:pt x="827246" y="834319"/>
                    <a:pt x="855821" y="767644"/>
                    <a:pt x="855821" y="707637"/>
                  </a:cubicBezTo>
                  <a:cubicBezTo>
                    <a:pt x="856774" y="699064"/>
                    <a:pt x="856774" y="690492"/>
                    <a:pt x="856774" y="681919"/>
                  </a:cubicBezTo>
                  <a:cubicBezTo>
                    <a:pt x="859631" y="671442"/>
                    <a:pt x="861536" y="660964"/>
                    <a:pt x="863441" y="650487"/>
                  </a:cubicBezTo>
                  <a:cubicBezTo>
                    <a:pt x="865346" y="640009"/>
                    <a:pt x="866299" y="629532"/>
                    <a:pt x="868204" y="619054"/>
                  </a:cubicBezTo>
                  <a:cubicBezTo>
                    <a:pt x="893921" y="510469"/>
                    <a:pt x="865346" y="415219"/>
                    <a:pt x="856774" y="311397"/>
                  </a:cubicBezTo>
                  <a:cubicBezTo>
                    <a:pt x="856774" y="300919"/>
                    <a:pt x="856774" y="290442"/>
                    <a:pt x="856774" y="280917"/>
                  </a:cubicBezTo>
                  <a:cubicBezTo>
                    <a:pt x="856774" y="243769"/>
                    <a:pt x="856774" y="220909"/>
                    <a:pt x="856774" y="220909"/>
                  </a:cubicBezTo>
                  <a:lnTo>
                    <a:pt x="854869" y="221862"/>
                  </a:lnTo>
                  <a:cubicBezTo>
                    <a:pt x="848201" y="162807"/>
                    <a:pt x="819626" y="109467"/>
                    <a:pt x="776764" y="71367"/>
                  </a:cubicBezTo>
                  <a:cubicBezTo>
                    <a:pt x="768191" y="63747"/>
                    <a:pt x="759619" y="57079"/>
                    <a:pt x="750094" y="50412"/>
                  </a:cubicBezTo>
                  <a:cubicBezTo>
                    <a:pt x="721519" y="31362"/>
                    <a:pt x="690086" y="18027"/>
                    <a:pt x="656749" y="12312"/>
                  </a:cubicBezTo>
                  <a:cubicBezTo>
                    <a:pt x="645319" y="10407"/>
                    <a:pt x="634841" y="9454"/>
                    <a:pt x="623411" y="8502"/>
                  </a:cubicBezTo>
                  <a:cubicBezTo>
                    <a:pt x="502444" y="-4833"/>
                    <a:pt x="359569" y="80892"/>
                    <a:pt x="391954" y="227577"/>
                  </a:cubicBezTo>
                  <a:cubicBezTo>
                    <a:pt x="395764" y="236149"/>
                    <a:pt x="399574" y="244722"/>
                    <a:pt x="405289" y="253294"/>
                  </a:cubicBezTo>
                  <a:cubicBezTo>
                    <a:pt x="427196" y="290442"/>
                    <a:pt x="474821" y="328542"/>
                    <a:pt x="520541" y="332352"/>
                  </a:cubicBezTo>
                  <a:cubicBezTo>
                    <a:pt x="530066" y="334257"/>
                    <a:pt x="540544" y="335209"/>
                    <a:pt x="551021" y="335209"/>
                  </a:cubicBezTo>
                  <a:cubicBezTo>
                    <a:pt x="633889" y="335209"/>
                    <a:pt x="702469" y="276154"/>
                    <a:pt x="718661" y="198049"/>
                  </a:cubicBezTo>
                  <a:cubicBezTo>
                    <a:pt x="720566" y="186619"/>
                    <a:pt x="722471" y="175189"/>
                    <a:pt x="722471" y="163759"/>
                  </a:cubicBezTo>
                  <a:cubicBezTo>
                    <a:pt x="722471" y="153282"/>
                    <a:pt x="731996" y="144709"/>
                    <a:pt x="743426" y="146614"/>
                  </a:cubicBezTo>
                  <a:cubicBezTo>
                    <a:pt x="751999" y="147567"/>
                    <a:pt x="758666" y="156139"/>
                    <a:pt x="758666" y="164712"/>
                  </a:cubicBezTo>
                  <a:cubicBezTo>
                    <a:pt x="758666" y="248532"/>
                    <a:pt x="708184" y="320922"/>
                    <a:pt x="635794" y="353307"/>
                  </a:cubicBezTo>
                  <a:cubicBezTo>
                    <a:pt x="664369" y="365689"/>
                    <a:pt x="689134" y="384739"/>
                    <a:pt x="708184" y="407599"/>
                  </a:cubicBezTo>
                  <a:cubicBezTo>
                    <a:pt x="714851" y="415219"/>
                    <a:pt x="720566" y="423792"/>
                    <a:pt x="726281" y="432364"/>
                  </a:cubicBezTo>
                  <a:cubicBezTo>
                    <a:pt x="771049" y="473322"/>
                    <a:pt x="761524" y="530472"/>
                    <a:pt x="757714" y="584764"/>
                  </a:cubicBezTo>
                  <a:cubicBezTo>
                    <a:pt x="755809" y="593337"/>
                    <a:pt x="753904" y="602862"/>
                    <a:pt x="751046" y="611434"/>
                  </a:cubicBezTo>
                  <a:cubicBezTo>
                    <a:pt x="748189" y="620007"/>
                    <a:pt x="745331" y="628579"/>
                    <a:pt x="741521" y="637152"/>
                  </a:cubicBezTo>
                  <a:cubicBezTo>
                    <a:pt x="737711" y="645724"/>
                    <a:pt x="732949" y="654297"/>
                    <a:pt x="727234" y="661917"/>
                  </a:cubicBezTo>
                  <a:cubicBezTo>
                    <a:pt x="716756" y="678109"/>
                    <a:pt x="703421" y="693349"/>
                    <a:pt x="687229" y="706684"/>
                  </a:cubicBezTo>
                  <a:cubicBezTo>
                    <a:pt x="689134" y="740974"/>
                    <a:pt x="709136" y="771454"/>
                    <a:pt x="737711" y="786694"/>
                  </a:cubicBezTo>
                  <a:cubicBezTo>
                    <a:pt x="744379" y="790504"/>
                    <a:pt x="752951" y="794314"/>
                    <a:pt x="760571" y="796219"/>
                  </a:cubicBezTo>
                  <a:cubicBezTo>
                    <a:pt x="771049" y="791457"/>
                    <a:pt x="780574" y="794314"/>
                    <a:pt x="788194" y="799077"/>
                  </a:cubicBezTo>
                  <a:cubicBezTo>
                    <a:pt x="810101" y="816222"/>
                    <a:pt x="800576" y="825747"/>
                    <a:pt x="783431" y="835272"/>
                  </a:cubicBezTo>
                  <a:cubicBezTo>
                    <a:pt x="773906" y="838129"/>
                    <a:pt x="762476" y="837177"/>
                    <a:pt x="752951" y="830509"/>
                  </a:cubicBezTo>
                  <a:cubicBezTo>
                    <a:pt x="743426" y="827652"/>
                    <a:pt x="733901" y="824794"/>
                    <a:pt x="724376" y="820032"/>
                  </a:cubicBezTo>
                  <a:cubicBezTo>
                    <a:pt x="689134" y="801934"/>
                    <a:pt x="662464" y="768597"/>
                    <a:pt x="653891" y="728592"/>
                  </a:cubicBezTo>
                  <a:cubicBezTo>
                    <a:pt x="559594" y="780027"/>
                    <a:pt x="439579" y="750499"/>
                    <a:pt x="381476" y="658107"/>
                  </a:cubicBezTo>
                  <a:cubicBezTo>
                    <a:pt x="376714" y="650487"/>
                    <a:pt x="377666" y="640962"/>
                    <a:pt x="384334" y="635247"/>
                  </a:cubicBezTo>
                  <a:cubicBezTo>
                    <a:pt x="392906" y="627627"/>
                    <a:pt x="405289" y="629532"/>
                    <a:pt x="411004" y="639057"/>
                  </a:cubicBezTo>
                  <a:cubicBezTo>
                    <a:pt x="440531" y="685729"/>
                    <a:pt x="490061" y="713352"/>
                    <a:pt x="541496" y="717162"/>
                  </a:cubicBezTo>
                  <a:cubicBezTo>
                    <a:pt x="545306" y="715257"/>
                    <a:pt x="548164" y="716209"/>
                    <a:pt x="552926" y="716209"/>
                  </a:cubicBezTo>
                  <a:cubicBezTo>
                    <a:pt x="611981" y="716209"/>
                    <a:pt x="663416" y="684777"/>
                    <a:pt x="693896" y="638104"/>
                  </a:cubicBezTo>
                  <a:cubicBezTo>
                    <a:pt x="699611" y="628579"/>
                    <a:pt x="705326" y="619054"/>
                    <a:pt x="710089" y="608577"/>
                  </a:cubicBezTo>
                  <a:cubicBezTo>
                    <a:pt x="732949" y="557142"/>
                    <a:pt x="723424" y="519042"/>
                    <a:pt x="710089" y="475227"/>
                  </a:cubicBezTo>
                  <a:cubicBezTo>
                    <a:pt x="705326" y="464749"/>
                    <a:pt x="700564" y="455224"/>
                    <a:pt x="693896" y="445699"/>
                  </a:cubicBezTo>
                  <a:cubicBezTo>
                    <a:pt x="663416" y="399979"/>
                    <a:pt x="611029" y="370452"/>
                    <a:pt x="551974" y="370452"/>
                  </a:cubicBezTo>
                  <a:cubicBezTo>
                    <a:pt x="546259" y="370452"/>
                    <a:pt x="539591" y="369499"/>
                    <a:pt x="532924" y="368547"/>
                  </a:cubicBezTo>
                  <a:cubicBezTo>
                    <a:pt x="485299" y="347592"/>
                    <a:pt x="440531" y="319017"/>
                    <a:pt x="397669" y="301872"/>
                  </a:cubicBezTo>
                  <a:cubicBezTo>
                    <a:pt x="389096" y="298062"/>
                    <a:pt x="380524" y="295204"/>
                    <a:pt x="371951" y="293299"/>
                  </a:cubicBezTo>
                  <a:cubicBezTo>
                    <a:pt x="294799" y="280917"/>
                    <a:pt x="209074" y="299967"/>
                    <a:pt x="180499" y="376167"/>
                  </a:cubicBezTo>
                  <a:cubicBezTo>
                    <a:pt x="170974" y="423792"/>
                    <a:pt x="161449" y="461892"/>
                    <a:pt x="175736" y="505707"/>
                  </a:cubicBezTo>
                  <a:cubicBezTo>
                    <a:pt x="177641" y="515232"/>
                    <a:pt x="179546" y="523804"/>
                    <a:pt x="181451" y="532377"/>
                  </a:cubicBezTo>
                  <a:cubicBezTo>
                    <a:pt x="186214" y="549522"/>
                    <a:pt x="193834" y="565714"/>
                    <a:pt x="202406" y="580954"/>
                  </a:cubicBezTo>
                  <a:cubicBezTo>
                    <a:pt x="207169" y="581907"/>
                    <a:pt x="211931" y="581907"/>
                    <a:pt x="217646" y="581907"/>
                  </a:cubicBezTo>
                  <a:cubicBezTo>
                    <a:pt x="225266" y="581907"/>
                    <a:pt x="231934" y="580954"/>
                    <a:pt x="239554" y="580002"/>
                  </a:cubicBezTo>
                  <a:cubicBezTo>
                    <a:pt x="247174" y="579049"/>
                    <a:pt x="253841" y="577144"/>
                    <a:pt x="260509" y="575239"/>
                  </a:cubicBezTo>
                  <a:cubicBezTo>
                    <a:pt x="305276" y="563809"/>
                    <a:pt x="330041" y="530472"/>
                    <a:pt x="344329" y="490467"/>
                  </a:cubicBezTo>
                  <a:cubicBezTo>
                    <a:pt x="347186" y="482847"/>
                    <a:pt x="350044" y="474274"/>
                    <a:pt x="351949" y="465702"/>
                  </a:cubicBezTo>
                  <a:cubicBezTo>
                    <a:pt x="361474" y="443794"/>
                    <a:pt x="361474" y="434269"/>
                    <a:pt x="361474" y="415219"/>
                  </a:cubicBezTo>
                  <a:cubicBezTo>
                    <a:pt x="370999" y="415219"/>
                    <a:pt x="390049" y="415219"/>
                    <a:pt x="390049" y="424744"/>
                  </a:cubicBezTo>
                  <a:cubicBezTo>
                    <a:pt x="399574" y="481894"/>
                    <a:pt x="361474" y="539044"/>
                    <a:pt x="325279" y="580954"/>
                  </a:cubicBezTo>
                  <a:cubicBezTo>
                    <a:pt x="317659" y="587622"/>
                    <a:pt x="310039" y="592384"/>
                    <a:pt x="301466" y="597147"/>
                  </a:cubicBezTo>
                  <a:cubicBezTo>
                    <a:pt x="276701" y="610482"/>
                    <a:pt x="248126" y="618102"/>
                    <a:pt x="218599" y="618102"/>
                  </a:cubicBezTo>
                  <a:cubicBezTo>
                    <a:pt x="191929" y="618102"/>
                    <a:pt x="168116" y="611434"/>
                    <a:pt x="145256" y="600957"/>
                  </a:cubicBezTo>
                  <a:cubicBezTo>
                    <a:pt x="64294" y="638104"/>
                    <a:pt x="7144" y="720972"/>
                    <a:pt x="7144" y="817174"/>
                  </a:cubicBezTo>
                  <a:cubicBezTo>
                    <a:pt x="7144" y="920044"/>
                    <a:pt x="72866" y="1008627"/>
                    <a:pt x="164306" y="1041964"/>
                  </a:cubicBezTo>
                  <a:cubicBezTo>
                    <a:pt x="168116" y="1041964"/>
                    <a:pt x="170974" y="1041964"/>
                    <a:pt x="174784" y="1041964"/>
                  </a:cubicBezTo>
                  <a:cubicBezTo>
                    <a:pt x="269081" y="1041964"/>
                    <a:pt x="346234" y="964812"/>
                    <a:pt x="346234" y="870514"/>
                  </a:cubicBezTo>
                  <a:cubicBezTo>
                    <a:pt x="346234" y="860037"/>
                    <a:pt x="355759" y="851464"/>
                    <a:pt x="367189" y="853369"/>
                  </a:cubicBezTo>
                  <a:cubicBezTo>
                    <a:pt x="375761" y="854322"/>
                    <a:pt x="382429" y="862894"/>
                    <a:pt x="382429" y="871467"/>
                  </a:cubicBezTo>
                  <a:cubicBezTo>
                    <a:pt x="382429" y="914329"/>
                    <a:pt x="369094" y="954334"/>
                    <a:pt x="346234" y="987672"/>
                  </a:cubicBezTo>
                  <a:cubicBezTo>
                    <a:pt x="346234" y="999102"/>
                    <a:pt x="348139" y="1010532"/>
                    <a:pt x="350044" y="1021009"/>
                  </a:cubicBezTo>
                  <a:cubicBezTo>
                    <a:pt x="352901" y="1031487"/>
                    <a:pt x="355759" y="1041964"/>
                    <a:pt x="360521" y="1052442"/>
                  </a:cubicBezTo>
                  <a:cubicBezTo>
                    <a:pt x="372904" y="1100067"/>
                    <a:pt x="401479" y="1128642"/>
                    <a:pt x="451009" y="1141024"/>
                  </a:cubicBezTo>
                  <a:cubicBezTo>
                    <a:pt x="461486" y="1144834"/>
                    <a:pt x="471964" y="1148645"/>
                    <a:pt x="482441" y="1150549"/>
                  </a:cubicBezTo>
                  <a:cubicBezTo>
                    <a:pt x="493871" y="1152454"/>
                    <a:pt x="504349" y="1154359"/>
                    <a:pt x="516731" y="1154359"/>
                  </a:cubicBezTo>
                  <a:cubicBezTo>
                    <a:pt x="611029" y="1154359"/>
                    <a:pt x="688181" y="1077207"/>
                    <a:pt x="688181" y="982909"/>
                  </a:cubicBezTo>
                  <a:cubicBezTo>
                    <a:pt x="688181" y="972432"/>
                    <a:pt x="697706" y="963859"/>
                    <a:pt x="709136" y="965764"/>
                  </a:cubicBezTo>
                  <a:cubicBezTo>
                    <a:pt x="717709" y="966717"/>
                    <a:pt x="724376" y="975289"/>
                    <a:pt x="724376" y="983862"/>
                  </a:cubicBezTo>
                  <a:cubicBezTo>
                    <a:pt x="724376" y="995292"/>
                    <a:pt x="723424" y="1006722"/>
                    <a:pt x="721519" y="1017199"/>
                  </a:cubicBezTo>
                  <a:cubicBezTo>
                    <a:pt x="725329" y="1052442"/>
                    <a:pt x="696754" y="1071492"/>
                    <a:pt x="684371" y="1105782"/>
                  </a:cubicBezTo>
                  <a:cubicBezTo>
                    <a:pt x="677704" y="1114354"/>
                    <a:pt x="671036" y="1121974"/>
                    <a:pt x="663416" y="1129595"/>
                  </a:cubicBezTo>
                  <a:cubicBezTo>
                    <a:pt x="626269" y="1166742"/>
                    <a:pt x="574834" y="1189602"/>
                    <a:pt x="517684" y="1189602"/>
                  </a:cubicBezTo>
                  <a:cubicBezTo>
                    <a:pt x="507206" y="1189602"/>
                    <a:pt x="497681" y="1188649"/>
                    <a:pt x="488156" y="1187697"/>
                  </a:cubicBezTo>
                  <a:cubicBezTo>
                    <a:pt x="478631" y="1186745"/>
                    <a:pt x="469106" y="1183887"/>
                    <a:pt x="459581" y="1181982"/>
                  </a:cubicBezTo>
                  <a:cubicBezTo>
                    <a:pt x="382429" y="1166742"/>
                    <a:pt x="334804" y="1100067"/>
                    <a:pt x="315754" y="1023867"/>
                  </a:cubicBezTo>
                  <a:cubicBezTo>
                    <a:pt x="249079" y="1071492"/>
                    <a:pt x="153829" y="1071492"/>
                    <a:pt x="172879" y="1185792"/>
                  </a:cubicBezTo>
                  <a:cubicBezTo>
                    <a:pt x="191929" y="1271517"/>
                    <a:pt x="258604" y="1338192"/>
                    <a:pt x="341471" y="1345812"/>
                  </a:cubicBezTo>
                  <a:cubicBezTo>
                    <a:pt x="351949" y="1347717"/>
                    <a:pt x="362426" y="1348670"/>
                    <a:pt x="373856" y="1348670"/>
                  </a:cubicBezTo>
                  <a:cubicBezTo>
                    <a:pt x="377666" y="1348670"/>
                    <a:pt x="381476" y="1348670"/>
                    <a:pt x="386239" y="1348670"/>
                  </a:cubicBezTo>
                  <a:cubicBezTo>
                    <a:pt x="385286" y="1355337"/>
                    <a:pt x="384334" y="1362957"/>
                    <a:pt x="383381" y="1369624"/>
                  </a:cubicBezTo>
                  <a:cubicBezTo>
                    <a:pt x="382429" y="1376292"/>
                    <a:pt x="382429" y="1383912"/>
                    <a:pt x="382429" y="1391532"/>
                  </a:cubicBezTo>
                  <a:cubicBezTo>
                    <a:pt x="373856" y="1500117"/>
                    <a:pt x="421481" y="1595367"/>
                    <a:pt x="527209" y="1625847"/>
                  </a:cubicBezTo>
                  <a:cubicBezTo>
                    <a:pt x="537686" y="1629657"/>
                    <a:pt x="548164" y="1633467"/>
                    <a:pt x="558641" y="1636324"/>
                  </a:cubicBezTo>
                  <a:cubicBezTo>
                    <a:pt x="623411" y="1652517"/>
                    <a:pt x="698659" y="1636324"/>
                    <a:pt x="756761" y="1596320"/>
                  </a:cubicBezTo>
                  <a:cubicBezTo>
                    <a:pt x="764381" y="1592509"/>
                    <a:pt x="771049" y="1588699"/>
                    <a:pt x="777716" y="1584890"/>
                  </a:cubicBezTo>
                  <a:cubicBezTo>
                    <a:pt x="812006" y="1563934"/>
                    <a:pt x="841534" y="1533454"/>
                    <a:pt x="858679" y="1491545"/>
                  </a:cubicBezTo>
                  <a:cubicBezTo>
                    <a:pt x="887254" y="1424870"/>
                    <a:pt x="877729" y="1339145"/>
                    <a:pt x="791051" y="1321999"/>
                  </a:cubicBezTo>
                  <a:cubicBezTo>
                    <a:pt x="784384" y="1320095"/>
                    <a:pt x="777716" y="1319142"/>
                    <a:pt x="771049" y="1318190"/>
                  </a:cubicBezTo>
                  <a:cubicBezTo>
                    <a:pt x="764381" y="1317237"/>
                    <a:pt x="757714" y="1317237"/>
                    <a:pt x="750094" y="1317237"/>
                  </a:cubicBezTo>
                  <a:cubicBezTo>
                    <a:pt x="691039" y="1317237"/>
                    <a:pt x="638651" y="1347717"/>
                    <a:pt x="608171" y="1392484"/>
                  </a:cubicBezTo>
                  <a:cubicBezTo>
                    <a:pt x="602456" y="1402009"/>
                    <a:pt x="596741" y="1411534"/>
                    <a:pt x="591979" y="1422012"/>
                  </a:cubicBezTo>
                  <a:cubicBezTo>
                    <a:pt x="577691" y="1445824"/>
                    <a:pt x="590074" y="1483924"/>
                    <a:pt x="576739" y="1497259"/>
                  </a:cubicBezTo>
                  <a:cubicBezTo>
                    <a:pt x="571976" y="1502022"/>
                    <a:pt x="565309" y="1503927"/>
                    <a:pt x="552926" y="1501070"/>
                  </a:cubicBezTo>
                  <a:cubicBezTo>
                    <a:pt x="543401" y="1482020"/>
                    <a:pt x="543401" y="1462970"/>
                    <a:pt x="546259" y="1447729"/>
                  </a:cubicBezTo>
                  <a:cubicBezTo>
                    <a:pt x="548164" y="1439157"/>
                    <a:pt x="551021" y="1430584"/>
                    <a:pt x="552926" y="1422965"/>
                  </a:cubicBezTo>
                  <a:cubicBezTo>
                    <a:pt x="556736" y="1412487"/>
                    <a:pt x="560546" y="1402962"/>
                    <a:pt x="565309" y="1393437"/>
                  </a:cubicBezTo>
                  <a:cubicBezTo>
                    <a:pt x="600551" y="1326762"/>
                    <a:pt x="669131" y="1281042"/>
                    <a:pt x="749141" y="1281042"/>
                  </a:cubicBezTo>
                  <a:close/>
                  <a:moveTo>
                    <a:pt x="164306" y="969574"/>
                  </a:moveTo>
                  <a:cubicBezTo>
                    <a:pt x="157639" y="975289"/>
                    <a:pt x="147161" y="975289"/>
                    <a:pt x="140494" y="968622"/>
                  </a:cubicBezTo>
                  <a:cubicBezTo>
                    <a:pt x="54769" y="894327"/>
                    <a:pt x="45244" y="763834"/>
                    <a:pt x="118586" y="678109"/>
                  </a:cubicBezTo>
                  <a:cubicBezTo>
                    <a:pt x="123349" y="672394"/>
                    <a:pt x="129064" y="667632"/>
                    <a:pt x="133826" y="661917"/>
                  </a:cubicBezTo>
                  <a:cubicBezTo>
                    <a:pt x="133826" y="661917"/>
                    <a:pt x="134779" y="661917"/>
                    <a:pt x="134779" y="661917"/>
                  </a:cubicBezTo>
                  <a:lnTo>
                    <a:pt x="153829" y="691444"/>
                  </a:lnTo>
                  <a:cubicBezTo>
                    <a:pt x="153829" y="691444"/>
                    <a:pt x="153829" y="691444"/>
                    <a:pt x="153829" y="692397"/>
                  </a:cubicBezTo>
                  <a:cubicBezTo>
                    <a:pt x="150971" y="695254"/>
                    <a:pt x="148114" y="698112"/>
                    <a:pt x="146209" y="700969"/>
                  </a:cubicBezTo>
                  <a:cubicBezTo>
                    <a:pt x="84296" y="772407"/>
                    <a:pt x="92869" y="880992"/>
                    <a:pt x="165259" y="942904"/>
                  </a:cubicBezTo>
                  <a:cubicBezTo>
                    <a:pt x="172879" y="949572"/>
                    <a:pt x="172879" y="961954"/>
                    <a:pt x="164306" y="969574"/>
                  </a:cubicBezTo>
                  <a:close/>
                </a:path>
              </a:pathLst>
            </a:custGeom>
            <a:grpFill/>
            <a:ln w="9525" cap="flat">
              <a:noFill/>
              <a:prstDash val="solid"/>
              <a:miter/>
            </a:ln>
          </p:spPr>
          <p:txBody>
            <a:bodyPr rtlCol="0" anchor="ctr"/>
            <a:lstStyle/>
            <a:p>
              <a:endParaRPr lang="en-US" sz="4000">
                <a:latin typeface="Microsoft JhengHei" panose="020B0604030504040204" pitchFamily="34" charset="-120"/>
                <a:ea typeface="Microsoft JhengHei" panose="020B0604030504040204" pitchFamily="34" charset="-120"/>
              </a:endParaRPr>
            </a:p>
          </p:txBody>
        </p:sp>
        <p:sp>
          <p:nvSpPr>
            <p:cNvPr id="36" name="Freeform: Shape 35">
              <a:extLst>
                <a:ext uri="{FF2B5EF4-FFF2-40B4-BE49-F238E27FC236}">
                  <a16:creationId xmlns:a16="http://schemas.microsoft.com/office/drawing/2014/main" id="{5D0BD4CB-B29D-469B-BA05-B472758C801F}"/>
                </a:ext>
              </a:extLst>
            </p:cNvPr>
            <p:cNvSpPr/>
            <p:nvPr/>
          </p:nvSpPr>
          <p:spPr>
            <a:xfrm>
              <a:off x="8319409" y="2396187"/>
              <a:ext cx="885825" cy="1647825"/>
            </a:xfrm>
            <a:custGeom>
              <a:avLst/>
              <a:gdLst>
                <a:gd name="connsiteX0" fmla="*/ 320891 w 885825"/>
                <a:gd name="connsiteY0" fmla="*/ 1394389 h 1647825"/>
                <a:gd name="connsiteX1" fmla="*/ 333274 w 885825"/>
                <a:gd name="connsiteY1" fmla="*/ 1423917 h 1647825"/>
                <a:gd name="connsiteX2" fmla="*/ 339941 w 885825"/>
                <a:gd name="connsiteY2" fmla="*/ 1448682 h 1647825"/>
                <a:gd name="connsiteX3" fmla="*/ 333274 w 885825"/>
                <a:gd name="connsiteY3" fmla="*/ 1502022 h 1647825"/>
                <a:gd name="connsiteX4" fmla="*/ 309461 w 885825"/>
                <a:gd name="connsiteY4" fmla="*/ 1498212 h 1647825"/>
                <a:gd name="connsiteX5" fmla="*/ 294221 w 885825"/>
                <a:gd name="connsiteY5" fmla="*/ 1422964 h 1647825"/>
                <a:gd name="connsiteX6" fmla="*/ 278029 w 885825"/>
                <a:gd name="connsiteY6" fmla="*/ 1393437 h 1647825"/>
                <a:gd name="connsiteX7" fmla="*/ 136106 w 885825"/>
                <a:gd name="connsiteY7" fmla="*/ 1318189 h 1647825"/>
                <a:gd name="connsiteX8" fmla="*/ 115151 w 885825"/>
                <a:gd name="connsiteY8" fmla="*/ 1319142 h 1647825"/>
                <a:gd name="connsiteX9" fmla="*/ 95149 w 885825"/>
                <a:gd name="connsiteY9" fmla="*/ 1322952 h 1647825"/>
                <a:gd name="connsiteX10" fmla="*/ 27521 w 885825"/>
                <a:gd name="connsiteY10" fmla="*/ 1492497 h 1647825"/>
                <a:gd name="connsiteX11" fmla="*/ 108484 w 885825"/>
                <a:gd name="connsiteY11" fmla="*/ 1585842 h 1647825"/>
                <a:gd name="connsiteX12" fmla="*/ 129439 w 885825"/>
                <a:gd name="connsiteY12" fmla="*/ 1597272 h 1647825"/>
                <a:gd name="connsiteX13" fmla="*/ 327559 w 885825"/>
                <a:gd name="connsiteY13" fmla="*/ 1637277 h 1647825"/>
                <a:gd name="connsiteX14" fmla="*/ 358991 w 885825"/>
                <a:gd name="connsiteY14" fmla="*/ 1626800 h 1647825"/>
                <a:gd name="connsiteX15" fmla="*/ 503771 w 885825"/>
                <a:gd name="connsiteY15" fmla="*/ 1392484 h 1647825"/>
                <a:gd name="connsiteX16" fmla="*/ 502819 w 885825"/>
                <a:gd name="connsiteY16" fmla="*/ 1370577 h 1647825"/>
                <a:gd name="connsiteX17" fmla="*/ 499961 w 885825"/>
                <a:gd name="connsiteY17" fmla="*/ 1349622 h 1647825"/>
                <a:gd name="connsiteX18" fmla="*/ 512344 w 885825"/>
                <a:gd name="connsiteY18" fmla="*/ 1349622 h 1647825"/>
                <a:gd name="connsiteX19" fmla="*/ 544729 w 885825"/>
                <a:gd name="connsiteY19" fmla="*/ 1346764 h 1647825"/>
                <a:gd name="connsiteX20" fmla="*/ 713321 w 885825"/>
                <a:gd name="connsiteY20" fmla="*/ 1186744 h 1647825"/>
                <a:gd name="connsiteX21" fmla="*/ 570446 w 885825"/>
                <a:gd name="connsiteY21" fmla="*/ 1024819 h 1647825"/>
                <a:gd name="connsiteX22" fmla="*/ 426619 w 885825"/>
                <a:gd name="connsiteY22" fmla="*/ 1182934 h 1647825"/>
                <a:gd name="connsiteX23" fmla="*/ 398044 w 885825"/>
                <a:gd name="connsiteY23" fmla="*/ 1188650 h 1647825"/>
                <a:gd name="connsiteX24" fmla="*/ 368516 w 885825"/>
                <a:gd name="connsiteY24" fmla="*/ 1190554 h 1647825"/>
                <a:gd name="connsiteX25" fmla="*/ 222784 w 885825"/>
                <a:gd name="connsiteY25" fmla="*/ 1130547 h 1647825"/>
                <a:gd name="connsiteX26" fmla="*/ 201829 w 885825"/>
                <a:gd name="connsiteY26" fmla="*/ 1106734 h 1647825"/>
                <a:gd name="connsiteX27" fmla="*/ 164681 w 885825"/>
                <a:gd name="connsiteY27" fmla="*/ 1018152 h 1647825"/>
                <a:gd name="connsiteX28" fmla="*/ 161824 w 885825"/>
                <a:gd name="connsiteY28" fmla="*/ 984814 h 1647825"/>
                <a:gd name="connsiteX29" fmla="*/ 177064 w 885825"/>
                <a:gd name="connsiteY29" fmla="*/ 966717 h 1647825"/>
                <a:gd name="connsiteX30" fmla="*/ 198019 w 885825"/>
                <a:gd name="connsiteY30" fmla="*/ 983862 h 1647825"/>
                <a:gd name="connsiteX31" fmla="*/ 369469 w 885825"/>
                <a:gd name="connsiteY31" fmla="*/ 1155312 h 1647825"/>
                <a:gd name="connsiteX32" fmla="*/ 403759 w 885825"/>
                <a:gd name="connsiteY32" fmla="*/ 1151502 h 1647825"/>
                <a:gd name="connsiteX33" fmla="*/ 435191 w 885825"/>
                <a:gd name="connsiteY33" fmla="*/ 1141977 h 1647825"/>
                <a:gd name="connsiteX34" fmla="*/ 525679 w 885825"/>
                <a:gd name="connsiteY34" fmla="*/ 1053394 h 1647825"/>
                <a:gd name="connsiteX35" fmla="*/ 536156 w 885825"/>
                <a:gd name="connsiteY35" fmla="*/ 1021962 h 1647825"/>
                <a:gd name="connsiteX36" fmla="*/ 539966 w 885825"/>
                <a:gd name="connsiteY36" fmla="*/ 988624 h 1647825"/>
                <a:gd name="connsiteX37" fmla="*/ 503771 w 885825"/>
                <a:gd name="connsiteY37" fmla="*/ 872419 h 1647825"/>
                <a:gd name="connsiteX38" fmla="*/ 519011 w 885825"/>
                <a:gd name="connsiteY38" fmla="*/ 854322 h 1647825"/>
                <a:gd name="connsiteX39" fmla="*/ 539966 w 885825"/>
                <a:gd name="connsiteY39" fmla="*/ 871467 h 1647825"/>
                <a:gd name="connsiteX40" fmla="*/ 711416 w 885825"/>
                <a:gd name="connsiteY40" fmla="*/ 1042917 h 1647825"/>
                <a:gd name="connsiteX41" fmla="*/ 721894 w 885825"/>
                <a:gd name="connsiteY41" fmla="*/ 1042917 h 1647825"/>
                <a:gd name="connsiteX42" fmla="*/ 879056 w 885825"/>
                <a:gd name="connsiteY42" fmla="*/ 818127 h 1647825"/>
                <a:gd name="connsiteX43" fmla="*/ 739991 w 885825"/>
                <a:gd name="connsiteY43" fmla="*/ 600957 h 1647825"/>
                <a:gd name="connsiteX44" fmla="*/ 666649 w 885825"/>
                <a:gd name="connsiteY44" fmla="*/ 618102 h 1647825"/>
                <a:gd name="connsiteX45" fmla="*/ 583781 w 885825"/>
                <a:gd name="connsiteY45" fmla="*/ 597147 h 1647825"/>
                <a:gd name="connsiteX46" fmla="*/ 559969 w 885825"/>
                <a:gd name="connsiteY46" fmla="*/ 580954 h 1647825"/>
                <a:gd name="connsiteX47" fmla="*/ 495199 w 885825"/>
                <a:gd name="connsiteY47" fmla="*/ 424744 h 1647825"/>
                <a:gd name="connsiteX48" fmla="*/ 523774 w 885825"/>
                <a:gd name="connsiteY48" fmla="*/ 415219 h 1647825"/>
                <a:gd name="connsiteX49" fmla="*/ 533299 w 885825"/>
                <a:gd name="connsiteY49" fmla="*/ 465702 h 1647825"/>
                <a:gd name="connsiteX50" fmla="*/ 540919 w 885825"/>
                <a:gd name="connsiteY50" fmla="*/ 490467 h 1647825"/>
                <a:gd name="connsiteX51" fmla="*/ 624739 w 885825"/>
                <a:gd name="connsiteY51" fmla="*/ 575239 h 1647825"/>
                <a:gd name="connsiteX52" fmla="*/ 645694 w 885825"/>
                <a:gd name="connsiteY52" fmla="*/ 580002 h 1647825"/>
                <a:gd name="connsiteX53" fmla="*/ 667601 w 885825"/>
                <a:gd name="connsiteY53" fmla="*/ 581907 h 1647825"/>
                <a:gd name="connsiteX54" fmla="*/ 682841 w 885825"/>
                <a:gd name="connsiteY54" fmla="*/ 580954 h 1647825"/>
                <a:gd name="connsiteX55" fmla="*/ 703796 w 885825"/>
                <a:gd name="connsiteY55" fmla="*/ 532377 h 1647825"/>
                <a:gd name="connsiteX56" fmla="*/ 709511 w 885825"/>
                <a:gd name="connsiteY56" fmla="*/ 505707 h 1647825"/>
                <a:gd name="connsiteX57" fmla="*/ 704749 w 885825"/>
                <a:gd name="connsiteY57" fmla="*/ 376167 h 1647825"/>
                <a:gd name="connsiteX58" fmla="*/ 513296 w 885825"/>
                <a:gd name="connsiteY58" fmla="*/ 293299 h 1647825"/>
                <a:gd name="connsiteX59" fmla="*/ 487579 w 885825"/>
                <a:gd name="connsiteY59" fmla="*/ 301872 h 1647825"/>
                <a:gd name="connsiteX60" fmla="*/ 352324 w 885825"/>
                <a:gd name="connsiteY60" fmla="*/ 368547 h 1647825"/>
                <a:gd name="connsiteX61" fmla="*/ 333274 w 885825"/>
                <a:gd name="connsiteY61" fmla="*/ 370452 h 1647825"/>
                <a:gd name="connsiteX62" fmla="*/ 191351 w 885825"/>
                <a:gd name="connsiteY62" fmla="*/ 445699 h 1647825"/>
                <a:gd name="connsiteX63" fmla="*/ 175159 w 885825"/>
                <a:gd name="connsiteY63" fmla="*/ 475227 h 1647825"/>
                <a:gd name="connsiteX64" fmla="*/ 175159 w 885825"/>
                <a:gd name="connsiteY64" fmla="*/ 608577 h 1647825"/>
                <a:gd name="connsiteX65" fmla="*/ 191351 w 885825"/>
                <a:gd name="connsiteY65" fmla="*/ 638104 h 1647825"/>
                <a:gd name="connsiteX66" fmla="*/ 332321 w 885825"/>
                <a:gd name="connsiteY66" fmla="*/ 716209 h 1647825"/>
                <a:gd name="connsiteX67" fmla="*/ 343751 w 885825"/>
                <a:gd name="connsiteY67" fmla="*/ 717162 h 1647825"/>
                <a:gd name="connsiteX68" fmla="*/ 474244 w 885825"/>
                <a:gd name="connsiteY68" fmla="*/ 639057 h 1647825"/>
                <a:gd name="connsiteX69" fmla="*/ 500914 w 885825"/>
                <a:gd name="connsiteY69" fmla="*/ 635247 h 1647825"/>
                <a:gd name="connsiteX70" fmla="*/ 503771 w 885825"/>
                <a:gd name="connsiteY70" fmla="*/ 658107 h 1647825"/>
                <a:gd name="connsiteX71" fmla="*/ 231356 w 885825"/>
                <a:gd name="connsiteY71" fmla="*/ 728592 h 1647825"/>
                <a:gd name="connsiteX72" fmla="*/ 160871 w 885825"/>
                <a:gd name="connsiteY72" fmla="*/ 820032 h 1647825"/>
                <a:gd name="connsiteX73" fmla="*/ 132296 w 885825"/>
                <a:gd name="connsiteY73" fmla="*/ 830509 h 1647825"/>
                <a:gd name="connsiteX74" fmla="*/ 101816 w 885825"/>
                <a:gd name="connsiteY74" fmla="*/ 835272 h 1647825"/>
                <a:gd name="connsiteX75" fmla="*/ 97054 w 885825"/>
                <a:gd name="connsiteY75" fmla="*/ 799077 h 1647825"/>
                <a:gd name="connsiteX76" fmla="*/ 124676 w 885825"/>
                <a:gd name="connsiteY76" fmla="*/ 796219 h 1647825"/>
                <a:gd name="connsiteX77" fmla="*/ 147536 w 885825"/>
                <a:gd name="connsiteY77" fmla="*/ 786694 h 1647825"/>
                <a:gd name="connsiteX78" fmla="*/ 198019 w 885825"/>
                <a:gd name="connsiteY78" fmla="*/ 706684 h 1647825"/>
                <a:gd name="connsiteX79" fmla="*/ 158014 w 885825"/>
                <a:gd name="connsiteY79" fmla="*/ 661917 h 1647825"/>
                <a:gd name="connsiteX80" fmla="*/ 143726 w 885825"/>
                <a:gd name="connsiteY80" fmla="*/ 637152 h 1647825"/>
                <a:gd name="connsiteX81" fmla="*/ 134201 w 885825"/>
                <a:gd name="connsiteY81" fmla="*/ 611434 h 1647825"/>
                <a:gd name="connsiteX82" fmla="*/ 127534 w 885825"/>
                <a:gd name="connsiteY82" fmla="*/ 584764 h 1647825"/>
                <a:gd name="connsiteX83" fmla="*/ 158966 w 885825"/>
                <a:gd name="connsiteY83" fmla="*/ 432364 h 1647825"/>
                <a:gd name="connsiteX84" fmla="*/ 177064 w 885825"/>
                <a:gd name="connsiteY84" fmla="*/ 407599 h 1647825"/>
                <a:gd name="connsiteX85" fmla="*/ 249454 w 885825"/>
                <a:gd name="connsiteY85" fmla="*/ 353307 h 1647825"/>
                <a:gd name="connsiteX86" fmla="*/ 126581 w 885825"/>
                <a:gd name="connsiteY86" fmla="*/ 164712 h 1647825"/>
                <a:gd name="connsiteX87" fmla="*/ 141821 w 885825"/>
                <a:gd name="connsiteY87" fmla="*/ 146614 h 1647825"/>
                <a:gd name="connsiteX88" fmla="*/ 162776 w 885825"/>
                <a:gd name="connsiteY88" fmla="*/ 163759 h 1647825"/>
                <a:gd name="connsiteX89" fmla="*/ 166586 w 885825"/>
                <a:gd name="connsiteY89" fmla="*/ 198049 h 1647825"/>
                <a:gd name="connsiteX90" fmla="*/ 334226 w 885825"/>
                <a:gd name="connsiteY90" fmla="*/ 335209 h 1647825"/>
                <a:gd name="connsiteX91" fmla="*/ 364706 w 885825"/>
                <a:gd name="connsiteY91" fmla="*/ 332352 h 1647825"/>
                <a:gd name="connsiteX92" fmla="*/ 479959 w 885825"/>
                <a:gd name="connsiteY92" fmla="*/ 253294 h 1647825"/>
                <a:gd name="connsiteX93" fmla="*/ 493294 w 885825"/>
                <a:gd name="connsiteY93" fmla="*/ 227577 h 1647825"/>
                <a:gd name="connsiteX94" fmla="*/ 261836 w 885825"/>
                <a:gd name="connsiteY94" fmla="*/ 8502 h 1647825"/>
                <a:gd name="connsiteX95" fmla="*/ 228499 w 885825"/>
                <a:gd name="connsiteY95" fmla="*/ 12312 h 1647825"/>
                <a:gd name="connsiteX96" fmla="*/ 135154 w 885825"/>
                <a:gd name="connsiteY96" fmla="*/ 50412 h 1647825"/>
                <a:gd name="connsiteX97" fmla="*/ 108484 w 885825"/>
                <a:gd name="connsiteY97" fmla="*/ 71367 h 1647825"/>
                <a:gd name="connsiteX98" fmla="*/ 30379 w 885825"/>
                <a:gd name="connsiteY98" fmla="*/ 221862 h 1647825"/>
                <a:gd name="connsiteX99" fmla="*/ 28474 w 885825"/>
                <a:gd name="connsiteY99" fmla="*/ 220909 h 1647825"/>
                <a:gd name="connsiteX100" fmla="*/ 28474 w 885825"/>
                <a:gd name="connsiteY100" fmla="*/ 280917 h 1647825"/>
                <a:gd name="connsiteX101" fmla="*/ 28474 w 885825"/>
                <a:gd name="connsiteY101" fmla="*/ 311397 h 1647825"/>
                <a:gd name="connsiteX102" fmla="*/ 17044 w 885825"/>
                <a:gd name="connsiteY102" fmla="*/ 619054 h 1647825"/>
                <a:gd name="connsiteX103" fmla="*/ 21806 w 885825"/>
                <a:gd name="connsiteY103" fmla="*/ 650487 h 1647825"/>
                <a:gd name="connsiteX104" fmla="*/ 28474 w 885825"/>
                <a:gd name="connsiteY104" fmla="*/ 681919 h 1647825"/>
                <a:gd name="connsiteX105" fmla="*/ 29426 w 885825"/>
                <a:gd name="connsiteY105" fmla="*/ 707637 h 1647825"/>
                <a:gd name="connsiteX106" fmla="*/ 38951 w 885825"/>
                <a:gd name="connsiteY106" fmla="*/ 891469 h 1647825"/>
                <a:gd name="connsiteX107" fmla="*/ 117056 w 885825"/>
                <a:gd name="connsiteY107" fmla="*/ 857179 h 1647825"/>
                <a:gd name="connsiteX108" fmla="*/ 147536 w 885825"/>
                <a:gd name="connsiteY108" fmla="*/ 854322 h 1647825"/>
                <a:gd name="connsiteX109" fmla="*/ 174206 w 885825"/>
                <a:gd name="connsiteY109" fmla="*/ 859084 h 1647825"/>
                <a:gd name="connsiteX110" fmla="*/ 280886 w 885825"/>
                <a:gd name="connsiteY110" fmla="*/ 1049584 h 1647825"/>
                <a:gd name="connsiteX111" fmla="*/ 266599 w 885825"/>
                <a:gd name="connsiteY111" fmla="*/ 1060062 h 1647825"/>
                <a:gd name="connsiteX112" fmla="*/ 255169 w 885825"/>
                <a:gd name="connsiteY112" fmla="*/ 1042917 h 1647825"/>
                <a:gd name="connsiteX113" fmla="*/ 166586 w 885825"/>
                <a:gd name="connsiteY113" fmla="*/ 884802 h 1647825"/>
                <a:gd name="connsiteX114" fmla="*/ 139916 w 885825"/>
                <a:gd name="connsiteY114" fmla="*/ 880039 h 1647825"/>
                <a:gd name="connsiteX115" fmla="*/ 115151 w 885825"/>
                <a:gd name="connsiteY115" fmla="*/ 880039 h 1647825"/>
                <a:gd name="connsiteX116" fmla="*/ 94196 w 885825"/>
                <a:gd name="connsiteY116" fmla="*/ 885754 h 1647825"/>
                <a:gd name="connsiteX117" fmla="*/ 29426 w 885825"/>
                <a:gd name="connsiteY117" fmla="*/ 975289 h 1647825"/>
                <a:gd name="connsiteX118" fmla="*/ 23711 w 885825"/>
                <a:gd name="connsiteY118" fmla="*/ 1006722 h 1647825"/>
                <a:gd name="connsiteX119" fmla="*/ 26569 w 885825"/>
                <a:gd name="connsiteY119" fmla="*/ 1287709 h 1647825"/>
                <a:gd name="connsiteX120" fmla="*/ 26569 w 885825"/>
                <a:gd name="connsiteY120" fmla="*/ 1312475 h 1647825"/>
                <a:gd name="connsiteX121" fmla="*/ 136106 w 885825"/>
                <a:gd name="connsiteY121" fmla="*/ 1281042 h 1647825"/>
                <a:gd name="connsiteX122" fmla="*/ 320891 w 885825"/>
                <a:gd name="connsiteY122" fmla="*/ 1394389 h 1647825"/>
                <a:gd name="connsiteX123" fmla="*/ 721894 w 885825"/>
                <a:gd name="connsiteY123" fmla="*/ 944809 h 1647825"/>
                <a:gd name="connsiteX124" fmla="*/ 740944 w 885825"/>
                <a:gd name="connsiteY124" fmla="*/ 702874 h 1647825"/>
                <a:gd name="connsiteX125" fmla="*/ 733324 w 885825"/>
                <a:gd name="connsiteY125" fmla="*/ 694302 h 1647825"/>
                <a:gd name="connsiteX126" fmla="*/ 733324 w 885825"/>
                <a:gd name="connsiteY126" fmla="*/ 693349 h 1647825"/>
                <a:gd name="connsiteX127" fmla="*/ 752374 w 885825"/>
                <a:gd name="connsiteY127" fmla="*/ 663822 h 1647825"/>
                <a:gd name="connsiteX128" fmla="*/ 753326 w 885825"/>
                <a:gd name="connsiteY128" fmla="*/ 663822 h 1647825"/>
                <a:gd name="connsiteX129" fmla="*/ 768566 w 885825"/>
                <a:gd name="connsiteY129" fmla="*/ 680014 h 1647825"/>
                <a:gd name="connsiteX130" fmla="*/ 746659 w 885825"/>
                <a:gd name="connsiteY130" fmla="*/ 970527 h 1647825"/>
                <a:gd name="connsiteX131" fmla="*/ 722846 w 885825"/>
                <a:gd name="connsiteY131" fmla="*/ 971479 h 1647825"/>
                <a:gd name="connsiteX132" fmla="*/ 721894 w 885825"/>
                <a:gd name="connsiteY132" fmla="*/ 944809 h 164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85825" h="1647825">
                  <a:moveTo>
                    <a:pt x="320891" y="1394389"/>
                  </a:moveTo>
                  <a:cubicBezTo>
                    <a:pt x="325654" y="1403914"/>
                    <a:pt x="330416" y="1413439"/>
                    <a:pt x="333274" y="1423917"/>
                  </a:cubicBezTo>
                  <a:cubicBezTo>
                    <a:pt x="336131" y="1431537"/>
                    <a:pt x="338036" y="1440109"/>
                    <a:pt x="339941" y="1448682"/>
                  </a:cubicBezTo>
                  <a:cubicBezTo>
                    <a:pt x="342799" y="1463922"/>
                    <a:pt x="342799" y="1482972"/>
                    <a:pt x="333274" y="1502022"/>
                  </a:cubicBezTo>
                  <a:cubicBezTo>
                    <a:pt x="320891" y="1503927"/>
                    <a:pt x="314224" y="1502022"/>
                    <a:pt x="309461" y="1498212"/>
                  </a:cubicBezTo>
                  <a:cubicBezTo>
                    <a:pt x="296126" y="1484877"/>
                    <a:pt x="308509" y="1446777"/>
                    <a:pt x="294221" y="1422964"/>
                  </a:cubicBezTo>
                  <a:cubicBezTo>
                    <a:pt x="289459" y="1412487"/>
                    <a:pt x="284696" y="1402962"/>
                    <a:pt x="278029" y="1393437"/>
                  </a:cubicBezTo>
                  <a:cubicBezTo>
                    <a:pt x="247549" y="1347717"/>
                    <a:pt x="195161" y="1318189"/>
                    <a:pt x="136106" y="1318189"/>
                  </a:cubicBezTo>
                  <a:cubicBezTo>
                    <a:pt x="129439" y="1318189"/>
                    <a:pt x="121819" y="1318189"/>
                    <a:pt x="115151" y="1319142"/>
                  </a:cubicBezTo>
                  <a:cubicBezTo>
                    <a:pt x="108484" y="1320095"/>
                    <a:pt x="101816" y="1321047"/>
                    <a:pt x="95149" y="1322952"/>
                  </a:cubicBezTo>
                  <a:cubicBezTo>
                    <a:pt x="8471" y="1340097"/>
                    <a:pt x="-1054" y="1425822"/>
                    <a:pt x="27521" y="1492497"/>
                  </a:cubicBezTo>
                  <a:cubicBezTo>
                    <a:pt x="45619" y="1534407"/>
                    <a:pt x="74194" y="1564887"/>
                    <a:pt x="108484" y="1585842"/>
                  </a:cubicBezTo>
                  <a:cubicBezTo>
                    <a:pt x="115151" y="1589652"/>
                    <a:pt x="122771" y="1593462"/>
                    <a:pt x="129439" y="1597272"/>
                  </a:cubicBezTo>
                  <a:cubicBezTo>
                    <a:pt x="187541" y="1637277"/>
                    <a:pt x="262789" y="1653470"/>
                    <a:pt x="327559" y="1637277"/>
                  </a:cubicBezTo>
                  <a:cubicBezTo>
                    <a:pt x="338036" y="1634420"/>
                    <a:pt x="348514" y="1631562"/>
                    <a:pt x="358991" y="1626800"/>
                  </a:cubicBezTo>
                  <a:cubicBezTo>
                    <a:pt x="464719" y="1596320"/>
                    <a:pt x="512344" y="1501070"/>
                    <a:pt x="503771" y="1392484"/>
                  </a:cubicBezTo>
                  <a:cubicBezTo>
                    <a:pt x="503771" y="1384864"/>
                    <a:pt x="503771" y="1378197"/>
                    <a:pt x="502819" y="1370577"/>
                  </a:cubicBezTo>
                  <a:cubicBezTo>
                    <a:pt x="501866" y="1362957"/>
                    <a:pt x="500914" y="1356289"/>
                    <a:pt x="499961" y="1349622"/>
                  </a:cubicBezTo>
                  <a:cubicBezTo>
                    <a:pt x="503771" y="1349622"/>
                    <a:pt x="507581" y="1349622"/>
                    <a:pt x="512344" y="1349622"/>
                  </a:cubicBezTo>
                  <a:cubicBezTo>
                    <a:pt x="522821" y="1349622"/>
                    <a:pt x="534251" y="1348670"/>
                    <a:pt x="544729" y="1346764"/>
                  </a:cubicBezTo>
                  <a:cubicBezTo>
                    <a:pt x="627596" y="1339145"/>
                    <a:pt x="694271" y="1272470"/>
                    <a:pt x="713321" y="1186744"/>
                  </a:cubicBezTo>
                  <a:cubicBezTo>
                    <a:pt x="732371" y="1072444"/>
                    <a:pt x="637121" y="1072444"/>
                    <a:pt x="570446" y="1024819"/>
                  </a:cubicBezTo>
                  <a:cubicBezTo>
                    <a:pt x="551396" y="1101019"/>
                    <a:pt x="503771" y="1167694"/>
                    <a:pt x="426619" y="1182934"/>
                  </a:cubicBezTo>
                  <a:cubicBezTo>
                    <a:pt x="417094" y="1185792"/>
                    <a:pt x="407569" y="1187697"/>
                    <a:pt x="398044" y="1188650"/>
                  </a:cubicBezTo>
                  <a:cubicBezTo>
                    <a:pt x="388519" y="1189602"/>
                    <a:pt x="378994" y="1190554"/>
                    <a:pt x="368516" y="1190554"/>
                  </a:cubicBezTo>
                  <a:cubicBezTo>
                    <a:pt x="311366" y="1190554"/>
                    <a:pt x="259931" y="1167694"/>
                    <a:pt x="222784" y="1130547"/>
                  </a:cubicBezTo>
                  <a:cubicBezTo>
                    <a:pt x="215164" y="1122927"/>
                    <a:pt x="208496" y="1115307"/>
                    <a:pt x="201829" y="1106734"/>
                  </a:cubicBezTo>
                  <a:cubicBezTo>
                    <a:pt x="189446" y="1072444"/>
                    <a:pt x="160871" y="1053394"/>
                    <a:pt x="164681" y="1018152"/>
                  </a:cubicBezTo>
                  <a:cubicBezTo>
                    <a:pt x="162776" y="1007674"/>
                    <a:pt x="161824" y="996244"/>
                    <a:pt x="161824" y="984814"/>
                  </a:cubicBezTo>
                  <a:cubicBezTo>
                    <a:pt x="161824" y="976242"/>
                    <a:pt x="168491" y="967669"/>
                    <a:pt x="177064" y="966717"/>
                  </a:cubicBezTo>
                  <a:cubicBezTo>
                    <a:pt x="188494" y="964812"/>
                    <a:pt x="198019" y="973384"/>
                    <a:pt x="198019" y="983862"/>
                  </a:cubicBezTo>
                  <a:cubicBezTo>
                    <a:pt x="198019" y="1078159"/>
                    <a:pt x="275171" y="1155312"/>
                    <a:pt x="369469" y="1155312"/>
                  </a:cubicBezTo>
                  <a:cubicBezTo>
                    <a:pt x="380899" y="1155312"/>
                    <a:pt x="392329" y="1154359"/>
                    <a:pt x="403759" y="1151502"/>
                  </a:cubicBezTo>
                  <a:cubicBezTo>
                    <a:pt x="415189" y="1149597"/>
                    <a:pt x="425666" y="1145787"/>
                    <a:pt x="435191" y="1141977"/>
                  </a:cubicBezTo>
                  <a:cubicBezTo>
                    <a:pt x="485674" y="1129594"/>
                    <a:pt x="514249" y="1101019"/>
                    <a:pt x="525679" y="1053394"/>
                  </a:cubicBezTo>
                  <a:cubicBezTo>
                    <a:pt x="530441" y="1042917"/>
                    <a:pt x="533299" y="1032439"/>
                    <a:pt x="536156" y="1021962"/>
                  </a:cubicBezTo>
                  <a:cubicBezTo>
                    <a:pt x="539014" y="1011484"/>
                    <a:pt x="539966" y="1000054"/>
                    <a:pt x="539966" y="988624"/>
                  </a:cubicBezTo>
                  <a:cubicBezTo>
                    <a:pt x="517106" y="955287"/>
                    <a:pt x="503771" y="915282"/>
                    <a:pt x="503771" y="872419"/>
                  </a:cubicBezTo>
                  <a:cubicBezTo>
                    <a:pt x="503771" y="863847"/>
                    <a:pt x="510439" y="855274"/>
                    <a:pt x="519011" y="854322"/>
                  </a:cubicBezTo>
                  <a:cubicBezTo>
                    <a:pt x="530441" y="852417"/>
                    <a:pt x="539966" y="860989"/>
                    <a:pt x="539966" y="871467"/>
                  </a:cubicBezTo>
                  <a:cubicBezTo>
                    <a:pt x="539966" y="965764"/>
                    <a:pt x="617119" y="1042917"/>
                    <a:pt x="711416" y="1042917"/>
                  </a:cubicBezTo>
                  <a:cubicBezTo>
                    <a:pt x="715226" y="1042917"/>
                    <a:pt x="718084" y="1042917"/>
                    <a:pt x="721894" y="1042917"/>
                  </a:cubicBezTo>
                  <a:cubicBezTo>
                    <a:pt x="813334" y="1009579"/>
                    <a:pt x="879056" y="921949"/>
                    <a:pt x="879056" y="818127"/>
                  </a:cubicBezTo>
                  <a:cubicBezTo>
                    <a:pt x="879056" y="721924"/>
                    <a:pt x="821906" y="639057"/>
                    <a:pt x="739991" y="600957"/>
                  </a:cubicBezTo>
                  <a:cubicBezTo>
                    <a:pt x="718084" y="612387"/>
                    <a:pt x="693319" y="618102"/>
                    <a:pt x="666649" y="618102"/>
                  </a:cubicBezTo>
                  <a:cubicBezTo>
                    <a:pt x="637121" y="618102"/>
                    <a:pt x="608546" y="610482"/>
                    <a:pt x="583781" y="597147"/>
                  </a:cubicBezTo>
                  <a:cubicBezTo>
                    <a:pt x="575209" y="592384"/>
                    <a:pt x="567589" y="587622"/>
                    <a:pt x="559969" y="580954"/>
                  </a:cubicBezTo>
                  <a:cubicBezTo>
                    <a:pt x="523774" y="539044"/>
                    <a:pt x="485674" y="481894"/>
                    <a:pt x="495199" y="424744"/>
                  </a:cubicBezTo>
                  <a:cubicBezTo>
                    <a:pt x="495199" y="415219"/>
                    <a:pt x="514249" y="415219"/>
                    <a:pt x="523774" y="415219"/>
                  </a:cubicBezTo>
                  <a:cubicBezTo>
                    <a:pt x="523774" y="434269"/>
                    <a:pt x="523774" y="443794"/>
                    <a:pt x="533299" y="465702"/>
                  </a:cubicBezTo>
                  <a:cubicBezTo>
                    <a:pt x="535204" y="474274"/>
                    <a:pt x="538061" y="482847"/>
                    <a:pt x="540919" y="490467"/>
                  </a:cubicBezTo>
                  <a:cubicBezTo>
                    <a:pt x="555206" y="530472"/>
                    <a:pt x="579019" y="564762"/>
                    <a:pt x="624739" y="575239"/>
                  </a:cubicBezTo>
                  <a:cubicBezTo>
                    <a:pt x="631406" y="577144"/>
                    <a:pt x="639026" y="579049"/>
                    <a:pt x="645694" y="580002"/>
                  </a:cubicBezTo>
                  <a:cubicBezTo>
                    <a:pt x="653314" y="580954"/>
                    <a:pt x="659981" y="581907"/>
                    <a:pt x="667601" y="581907"/>
                  </a:cubicBezTo>
                  <a:cubicBezTo>
                    <a:pt x="672364" y="581907"/>
                    <a:pt x="677126" y="581907"/>
                    <a:pt x="682841" y="580954"/>
                  </a:cubicBezTo>
                  <a:cubicBezTo>
                    <a:pt x="692366" y="565714"/>
                    <a:pt x="699034" y="549522"/>
                    <a:pt x="703796" y="532377"/>
                  </a:cubicBezTo>
                  <a:cubicBezTo>
                    <a:pt x="706654" y="523804"/>
                    <a:pt x="708559" y="515232"/>
                    <a:pt x="709511" y="505707"/>
                  </a:cubicBezTo>
                  <a:cubicBezTo>
                    <a:pt x="723799" y="461892"/>
                    <a:pt x="714274" y="423792"/>
                    <a:pt x="704749" y="376167"/>
                  </a:cubicBezTo>
                  <a:cubicBezTo>
                    <a:pt x="676174" y="299967"/>
                    <a:pt x="590449" y="280917"/>
                    <a:pt x="513296" y="293299"/>
                  </a:cubicBezTo>
                  <a:cubicBezTo>
                    <a:pt x="504724" y="295204"/>
                    <a:pt x="496151" y="299014"/>
                    <a:pt x="487579" y="301872"/>
                  </a:cubicBezTo>
                  <a:cubicBezTo>
                    <a:pt x="444716" y="319017"/>
                    <a:pt x="399949" y="347592"/>
                    <a:pt x="352324" y="368547"/>
                  </a:cubicBezTo>
                  <a:cubicBezTo>
                    <a:pt x="345656" y="369499"/>
                    <a:pt x="338989" y="370452"/>
                    <a:pt x="333274" y="370452"/>
                  </a:cubicBezTo>
                  <a:cubicBezTo>
                    <a:pt x="274219" y="370452"/>
                    <a:pt x="221831" y="400932"/>
                    <a:pt x="191351" y="445699"/>
                  </a:cubicBezTo>
                  <a:cubicBezTo>
                    <a:pt x="185636" y="455224"/>
                    <a:pt x="179921" y="464749"/>
                    <a:pt x="175159" y="475227"/>
                  </a:cubicBezTo>
                  <a:cubicBezTo>
                    <a:pt x="161824" y="519042"/>
                    <a:pt x="152299" y="557142"/>
                    <a:pt x="175159" y="608577"/>
                  </a:cubicBezTo>
                  <a:cubicBezTo>
                    <a:pt x="179921" y="619054"/>
                    <a:pt x="184684" y="628579"/>
                    <a:pt x="191351" y="638104"/>
                  </a:cubicBezTo>
                  <a:cubicBezTo>
                    <a:pt x="221831" y="684777"/>
                    <a:pt x="274219" y="715257"/>
                    <a:pt x="332321" y="716209"/>
                  </a:cubicBezTo>
                  <a:cubicBezTo>
                    <a:pt x="336131" y="716209"/>
                    <a:pt x="339941" y="714304"/>
                    <a:pt x="343751" y="717162"/>
                  </a:cubicBezTo>
                  <a:cubicBezTo>
                    <a:pt x="395186" y="712399"/>
                    <a:pt x="444716" y="685729"/>
                    <a:pt x="474244" y="639057"/>
                  </a:cubicBezTo>
                  <a:cubicBezTo>
                    <a:pt x="479959" y="630484"/>
                    <a:pt x="492341" y="627627"/>
                    <a:pt x="500914" y="635247"/>
                  </a:cubicBezTo>
                  <a:cubicBezTo>
                    <a:pt x="507581" y="640962"/>
                    <a:pt x="508534" y="651439"/>
                    <a:pt x="503771" y="658107"/>
                  </a:cubicBezTo>
                  <a:cubicBezTo>
                    <a:pt x="444716" y="749547"/>
                    <a:pt x="325654" y="779074"/>
                    <a:pt x="231356" y="728592"/>
                  </a:cubicBezTo>
                  <a:cubicBezTo>
                    <a:pt x="222784" y="768597"/>
                    <a:pt x="196114" y="801934"/>
                    <a:pt x="160871" y="820032"/>
                  </a:cubicBezTo>
                  <a:cubicBezTo>
                    <a:pt x="152299" y="824794"/>
                    <a:pt x="142774" y="828604"/>
                    <a:pt x="132296" y="830509"/>
                  </a:cubicBezTo>
                  <a:cubicBezTo>
                    <a:pt x="123724" y="837177"/>
                    <a:pt x="111341" y="838129"/>
                    <a:pt x="101816" y="835272"/>
                  </a:cubicBezTo>
                  <a:cubicBezTo>
                    <a:pt x="85624" y="824794"/>
                    <a:pt x="76099" y="815269"/>
                    <a:pt x="97054" y="799077"/>
                  </a:cubicBezTo>
                  <a:cubicBezTo>
                    <a:pt x="104674" y="794314"/>
                    <a:pt x="114199" y="791457"/>
                    <a:pt x="124676" y="796219"/>
                  </a:cubicBezTo>
                  <a:cubicBezTo>
                    <a:pt x="132296" y="794314"/>
                    <a:pt x="140869" y="790504"/>
                    <a:pt x="147536" y="786694"/>
                  </a:cubicBezTo>
                  <a:cubicBezTo>
                    <a:pt x="176111" y="770502"/>
                    <a:pt x="196114" y="740974"/>
                    <a:pt x="198019" y="706684"/>
                  </a:cubicBezTo>
                  <a:cubicBezTo>
                    <a:pt x="181826" y="693349"/>
                    <a:pt x="168491" y="678109"/>
                    <a:pt x="158014" y="661917"/>
                  </a:cubicBezTo>
                  <a:cubicBezTo>
                    <a:pt x="152299" y="653344"/>
                    <a:pt x="147536" y="645724"/>
                    <a:pt x="143726" y="637152"/>
                  </a:cubicBezTo>
                  <a:cubicBezTo>
                    <a:pt x="139916" y="628579"/>
                    <a:pt x="137059" y="620007"/>
                    <a:pt x="134201" y="611434"/>
                  </a:cubicBezTo>
                  <a:cubicBezTo>
                    <a:pt x="131344" y="602862"/>
                    <a:pt x="129439" y="593337"/>
                    <a:pt x="127534" y="584764"/>
                  </a:cubicBezTo>
                  <a:cubicBezTo>
                    <a:pt x="123724" y="530472"/>
                    <a:pt x="114199" y="473322"/>
                    <a:pt x="158966" y="432364"/>
                  </a:cubicBezTo>
                  <a:cubicBezTo>
                    <a:pt x="164681" y="423792"/>
                    <a:pt x="170396" y="415219"/>
                    <a:pt x="177064" y="407599"/>
                  </a:cubicBezTo>
                  <a:cubicBezTo>
                    <a:pt x="197066" y="384739"/>
                    <a:pt x="221831" y="365689"/>
                    <a:pt x="249454" y="353307"/>
                  </a:cubicBezTo>
                  <a:cubicBezTo>
                    <a:pt x="177064" y="320922"/>
                    <a:pt x="126581" y="248532"/>
                    <a:pt x="126581" y="164712"/>
                  </a:cubicBezTo>
                  <a:cubicBezTo>
                    <a:pt x="126581" y="156139"/>
                    <a:pt x="133249" y="147567"/>
                    <a:pt x="141821" y="146614"/>
                  </a:cubicBezTo>
                  <a:cubicBezTo>
                    <a:pt x="153251" y="144709"/>
                    <a:pt x="162776" y="153282"/>
                    <a:pt x="162776" y="163759"/>
                  </a:cubicBezTo>
                  <a:cubicBezTo>
                    <a:pt x="162776" y="175189"/>
                    <a:pt x="163729" y="187572"/>
                    <a:pt x="166586" y="198049"/>
                  </a:cubicBezTo>
                  <a:cubicBezTo>
                    <a:pt x="182779" y="276154"/>
                    <a:pt x="251359" y="335209"/>
                    <a:pt x="334226" y="335209"/>
                  </a:cubicBezTo>
                  <a:cubicBezTo>
                    <a:pt x="344704" y="335209"/>
                    <a:pt x="354229" y="334257"/>
                    <a:pt x="364706" y="332352"/>
                  </a:cubicBezTo>
                  <a:cubicBezTo>
                    <a:pt x="410426" y="328542"/>
                    <a:pt x="458051" y="290442"/>
                    <a:pt x="479959" y="253294"/>
                  </a:cubicBezTo>
                  <a:cubicBezTo>
                    <a:pt x="484721" y="244722"/>
                    <a:pt x="489484" y="236149"/>
                    <a:pt x="493294" y="227577"/>
                  </a:cubicBezTo>
                  <a:cubicBezTo>
                    <a:pt x="524726" y="80892"/>
                    <a:pt x="381851" y="-4833"/>
                    <a:pt x="261836" y="8502"/>
                  </a:cubicBezTo>
                  <a:cubicBezTo>
                    <a:pt x="250406" y="8502"/>
                    <a:pt x="239929" y="10407"/>
                    <a:pt x="228499" y="12312"/>
                  </a:cubicBezTo>
                  <a:cubicBezTo>
                    <a:pt x="195161" y="18027"/>
                    <a:pt x="163729" y="30409"/>
                    <a:pt x="135154" y="50412"/>
                  </a:cubicBezTo>
                  <a:cubicBezTo>
                    <a:pt x="125629" y="57079"/>
                    <a:pt x="117056" y="63747"/>
                    <a:pt x="108484" y="71367"/>
                  </a:cubicBezTo>
                  <a:cubicBezTo>
                    <a:pt x="66574" y="109467"/>
                    <a:pt x="37046" y="161854"/>
                    <a:pt x="30379" y="221862"/>
                  </a:cubicBezTo>
                  <a:lnTo>
                    <a:pt x="28474" y="220909"/>
                  </a:lnTo>
                  <a:cubicBezTo>
                    <a:pt x="28474" y="220909"/>
                    <a:pt x="28474" y="243769"/>
                    <a:pt x="28474" y="280917"/>
                  </a:cubicBezTo>
                  <a:cubicBezTo>
                    <a:pt x="28474" y="290442"/>
                    <a:pt x="28474" y="299967"/>
                    <a:pt x="28474" y="311397"/>
                  </a:cubicBezTo>
                  <a:cubicBezTo>
                    <a:pt x="20854" y="415219"/>
                    <a:pt x="-7721" y="510469"/>
                    <a:pt x="17044" y="619054"/>
                  </a:cubicBezTo>
                  <a:cubicBezTo>
                    <a:pt x="17996" y="629532"/>
                    <a:pt x="19901" y="640009"/>
                    <a:pt x="21806" y="650487"/>
                  </a:cubicBezTo>
                  <a:cubicBezTo>
                    <a:pt x="23711" y="660964"/>
                    <a:pt x="25616" y="671442"/>
                    <a:pt x="28474" y="681919"/>
                  </a:cubicBezTo>
                  <a:cubicBezTo>
                    <a:pt x="28474" y="690492"/>
                    <a:pt x="29426" y="699064"/>
                    <a:pt x="29426" y="707637"/>
                  </a:cubicBezTo>
                  <a:cubicBezTo>
                    <a:pt x="29426" y="767644"/>
                    <a:pt x="58001" y="834319"/>
                    <a:pt x="38951" y="891469"/>
                  </a:cubicBezTo>
                  <a:cubicBezTo>
                    <a:pt x="67526" y="891469"/>
                    <a:pt x="86576" y="853369"/>
                    <a:pt x="117056" y="857179"/>
                  </a:cubicBezTo>
                  <a:cubicBezTo>
                    <a:pt x="126581" y="855274"/>
                    <a:pt x="137059" y="854322"/>
                    <a:pt x="147536" y="854322"/>
                  </a:cubicBezTo>
                  <a:cubicBezTo>
                    <a:pt x="156109" y="855274"/>
                    <a:pt x="165634" y="857179"/>
                    <a:pt x="174206" y="859084"/>
                  </a:cubicBezTo>
                  <a:cubicBezTo>
                    <a:pt x="256121" y="881944"/>
                    <a:pt x="303746" y="967669"/>
                    <a:pt x="280886" y="1049584"/>
                  </a:cubicBezTo>
                  <a:cubicBezTo>
                    <a:pt x="278981" y="1056252"/>
                    <a:pt x="273266" y="1060062"/>
                    <a:pt x="266599" y="1060062"/>
                  </a:cubicBezTo>
                  <a:cubicBezTo>
                    <a:pt x="258026" y="1059109"/>
                    <a:pt x="253264" y="1050537"/>
                    <a:pt x="255169" y="1042917"/>
                  </a:cubicBezTo>
                  <a:cubicBezTo>
                    <a:pt x="274219" y="974337"/>
                    <a:pt x="235166" y="903852"/>
                    <a:pt x="166586" y="884802"/>
                  </a:cubicBezTo>
                  <a:cubicBezTo>
                    <a:pt x="158014" y="881944"/>
                    <a:pt x="148489" y="880992"/>
                    <a:pt x="139916" y="880039"/>
                  </a:cubicBezTo>
                  <a:cubicBezTo>
                    <a:pt x="131344" y="879087"/>
                    <a:pt x="122771" y="879087"/>
                    <a:pt x="115151" y="880039"/>
                  </a:cubicBezTo>
                  <a:cubicBezTo>
                    <a:pt x="107531" y="880992"/>
                    <a:pt x="99911" y="882897"/>
                    <a:pt x="94196" y="885754"/>
                  </a:cubicBezTo>
                  <a:cubicBezTo>
                    <a:pt x="57049" y="900042"/>
                    <a:pt x="37999" y="938142"/>
                    <a:pt x="29426" y="975289"/>
                  </a:cubicBezTo>
                  <a:cubicBezTo>
                    <a:pt x="27521" y="985767"/>
                    <a:pt x="25616" y="996244"/>
                    <a:pt x="23711" y="1006722"/>
                  </a:cubicBezTo>
                  <a:cubicBezTo>
                    <a:pt x="9424" y="1101019"/>
                    <a:pt x="11329" y="1195317"/>
                    <a:pt x="26569" y="1287709"/>
                  </a:cubicBezTo>
                  <a:cubicBezTo>
                    <a:pt x="26569" y="1302950"/>
                    <a:pt x="26569" y="1312475"/>
                    <a:pt x="26569" y="1312475"/>
                  </a:cubicBezTo>
                  <a:cubicBezTo>
                    <a:pt x="58001" y="1292472"/>
                    <a:pt x="96101" y="1281042"/>
                    <a:pt x="136106" y="1281042"/>
                  </a:cubicBezTo>
                  <a:cubicBezTo>
                    <a:pt x="217069" y="1282947"/>
                    <a:pt x="285649" y="1328667"/>
                    <a:pt x="320891" y="1394389"/>
                  </a:cubicBezTo>
                  <a:close/>
                  <a:moveTo>
                    <a:pt x="721894" y="944809"/>
                  </a:moveTo>
                  <a:cubicBezTo>
                    <a:pt x="793331" y="882897"/>
                    <a:pt x="801904" y="775264"/>
                    <a:pt x="740944" y="702874"/>
                  </a:cubicBezTo>
                  <a:cubicBezTo>
                    <a:pt x="738086" y="700017"/>
                    <a:pt x="736181" y="697159"/>
                    <a:pt x="733324" y="694302"/>
                  </a:cubicBezTo>
                  <a:cubicBezTo>
                    <a:pt x="733324" y="694302"/>
                    <a:pt x="733324" y="694302"/>
                    <a:pt x="733324" y="693349"/>
                  </a:cubicBezTo>
                  <a:lnTo>
                    <a:pt x="752374" y="663822"/>
                  </a:lnTo>
                  <a:cubicBezTo>
                    <a:pt x="752374" y="663822"/>
                    <a:pt x="753326" y="663822"/>
                    <a:pt x="753326" y="663822"/>
                  </a:cubicBezTo>
                  <a:cubicBezTo>
                    <a:pt x="759041" y="668584"/>
                    <a:pt x="763804" y="674299"/>
                    <a:pt x="768566" y="680014"/>
                  </a:cubicBezTo>
                  <a:cubicBezTo>
                    <a:pt x="842861" y="766692"/>
                    <a:pt x="832384" y="896232"/>
                    <a:pt x="746659" y="970527"/>
                  </a:cubicBezTo>
                  <a:cubicBezTo>
                    <a:pt x="739991" y="976242"/>
                    <a:pt x="729514" y="977194"/>
                    <a:pt x="722846" y="971479"/>
                  </a:cubicBezTo>
                  <a:cubicBezTo>
                    <a:pt x="713321" y="963859"/>
                    <a:pt x="714274" y="951477"/>
                    <a:pt x="721894" y="944809"/>
                  </a:cubicBezTo>
                  <a:close/>
                </a:path>
              </a:pathLst>
            </a:custGeom>
            <a:grpFill/>
            <a:ln w="9525" cap="flat">
              <a:noFill/>
              <a:prstDash val="solid"/>
              <a:miter/>
            </a:ln>
          </p:spPr>
          <p:txBody>
            <a:bodyPr rtlCol="0" anchor="ctr"/>
            <a:lstStyle/>
            <a:p>
              <a:endParaRPr lang="en-US" sz="4000">
                <a:latin typeface="Microsoft JhengHei" panose="020B0604030504040204" pitchFamily="34" charset="-120"/>
                <a:ea typeface="Microsoft JhengHei" panose="020B0604030504040204" pitchFamily="34" charset="-120"/>
              </a:endParaRPr>
            </a:p>
          </p:txBody>
        </p:sp>
      </p:grpSp>
      <p:sp>
        <p:nvSpPr>
          <p:cNvPr id="3" name="投影片編號版面配置區 2">
            <a:extLst>
              <a:ext uri="{FF2B5EF4-FFF2-40B4-BE49-F238E27FC236}">
                <a16:creationId xmlns:a16="http://schemas.microsoft.com/office/drawing/2014/main" id="{B33013ED-6B98-96C2-18AD-29A4118F7B55}"/>
              </a:ext>
            </a:extLst>
          </p:cNvPr>
          <p:cNvSpPr>
            <a:spLocks noGrp="1"/>
          </p:cNvSpPr>
          <p:nvPr>
            <p:ph type="sldNum" sz="quarter" idx="4"/>
          </p:nvPr>
        </p:nvSpPr>
        <p:spPr/>
        <p:txBody>
          <a:bodyPr/>
          <a:lstStyle/>
          <a:p>
            <a:fld id="{46198A0D-C119-49A8-AD21-4EA122FD909A}" type="slidenum">
              <a:rPr lang="zh-TW" altLang="en-US" smtClean="0"/>
              <a:t>5</a:t>
            </a:fld>
            <a:endParaRPr lang="zh-TW" altLang="en-US"/>
          </a:p>
        </p:txBody>
      </p:sp>
    </p:spTree>
    <p:extLst>
      <p:ext uri="{BB962C8B-B14F-4D97-AF65-F5344CB8AC3E}">
        <p14:creationId xmlns:p14="http://schemas.microsoft.com/office/powerpoint/2010/main" val="2256992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7F910652-1ED7-4779-AADE-C6DB10809118}"/>
              </a:ext>
            </a:extLst>
          </p:cNvPr>
          <p:cNvGrpSpPr/>
          <p:nvPr/>
        </p:nvGrpSpPr>
        <p:grpSpPr>
          <a:xfrm>
            <a:off x="5937044" y="2726034"/>
            <a:ext cx="2924861" cy="1908980"/>
            <a:chOff x="700575" y="477868"/>
            <a:chExt cx="9072285" cy="5921241"/>
          </a:xfrm>
        </p:grpSpPr>
        <p:sp>
          <p:nvSpPr>
            <p:cNvPr id="38" name="Freeform: Shape 37">
              <a:extLst>
                <a:ext uri="{FF2B5EF4-FFF2-40B4-BE49-F238E27FC236}">
                  <a16:creationId xmlns:a16="http://schemas.microsoft.com/office/drawing/2014/main" id="{99C6C1B3-47E0-4764-B0C3-13B7AB43E420}"/>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sp>
          <p:nvSpPr>
            <p:cNvPr id="39" name="Freeform: Shape 38">
              <a:extLst>
                <a:ext uri="{FF2B5EF4-FFF2-40B4-BE49-F238E27FC236}">
                  <a16:creationId xmlns:a16="http://schemas.microsoft.com/office/drawing/2014/main" id="{6136AD7B-C6A3-4D0B-A90E-4BEE2F2E6E43}"/>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00B050"/>
            </a:solidFill>
            <a:ln w="9525" cap="flat">
              <a:noFill/>
              <a:prstDash val="solid"/>
              <a:miter/>
            </a:ln>
          </p:spPr>
          <p:txBody>
            <a:bodyPr rtlCol="0" anchor="ctr"/>
            <a:lstStyle/>
            <a:p>
              <a:endParaRPr lang="en-US" sz="2000" dirty="0">
                <a:latin typeface="Microsoft JhengHei" panose="020B0604030504040204" pitchFamily="34" charset="-120"/>
                <a:ea typeface="Microsoft JhengHei" panose="020B0604030504040204" pitchFamily="34" charset="-120"/>
              </a:endParaRPr>
            </a:p>
          </p:txBody>
        </p:sp>
        <p:sp>
          <p:nvSpPr>
            <p:cNvPr id="41" name="Freeform: Shape 40">
              <a:extLst>
                <a:ext uri="{FF2B5EF4-FFF2-40B4-BE49-F238E27FC236}">
                  <a16:creationId xmlns:a16="http://schemas.microsoft.com/office/drawing/2014/main" id="{8E2C9CF7-D331-4068-9F83-D439FA291463}"/>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gr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4294967295"/>
          </p:nvPr>
        </p:nvSpPr>
        <p:spPr>
          <a:xfrm>
            <a:off x="274885" y="260843"/>
            <a:ext cx="3408568"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研究目的</a:t>
            </a:r>
            <a:endParaRPr lang="en-US" sz="5400" b="1" dirty="0">
              <a:latin typeface="Microsoft JhengHei" panose="020B0604030504040204" pitchFamily="34" charset="-120"/>
              <a:ea typeface="Microsoft JhengHei" panose="020B0604030504040204" pitchFamily="34" charset="-120"/>
            </a:endParaRPr>
          </a:p>
        </p:txBody>
      </p:sp>
      <p:cxnSp>
        <p:nvCxnSpPr>
          <p:cNvPr id="4" name="Elbow Connector 53">
            <a:extLst>
              <a:ext uri="{FF2B5EF4-FFF2-40B4-BE49-F238E27FC236}">
                <a16:creationId xmlns:a16="http://schemas.microsoft.com/office/drawing/2014/main" id="{BFCE1F58-BC50-4DB3-BC06-3D77B9BBDEBB}"/>
              </a:ext>
            </a:extLst>
          </p:cNvPr>
          <p:cNvCxnSpPr/>
          <p:nvPr/>
        </p:nvCxnSpPr>
        <p:spPr>
          <a:xfrm rot="10800000" flipV="1">
            <a:off x="8784168" y="5573964"/>
            <a:ext cx="1813126" cy="321024"/>
          </a:xfrm>
          <a:prstGeom prst="bentConnector3">
            <a:avLst>
              <a:gd name="adj1" fmla="val 198"/>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6" name="Freeform 39">
            <a:extLst>
              <a:ext uri="{FF2B5EF4-FFF2-40B4-BE49-F238E27FC236}">
                <a16:creationId xmlns:a16="http://schemas.microsoft.com/office/drawing/2014/main" id="{09D152F6-C50C-41BB-9CC7-1A4FF74FA573}"/>
              </a:ext>
            </a:extLst>
          </p:cNvPr>
          <p:cNvSpPr>
            <a:spLocks noChangeAspect="1"/>
          </p:cNvSpPr>
          <p:nvPr/>
        </p:nvSpPr>
        <p:spPr>
          <a:xfrm>
            <a:off x="6062093" y="4969014"/>
            <a:ext cx="2730256" cy="1471018"/>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223511" y="1089813"/>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accent1"/>
          </a:solidFill>
          <a:ln w="88900">
            <a:solidFill>
              <a:schemeClr val="bg1"/>
            </a:solidFill>
          </a:ln>
          <a:effectLst>
            <a:innerShdw blurRad="127000" dist="1270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2000">
              <a:solidFill>
                <a:schemeClr val="tx1"/>
              </a:solidFill>
              <a:latin typeface="Microsoft JhengHei" panose="020B0604030504040204" pitchFamily="34" charset="-120"/>
            </a:endParaRPr>
          </a:p>
        </p:txBody>
      </p:sp>
      <p:sp>
        <p:nvSpPr>
          <p:cNvPr id="12" name="Freeform 44">
            <a:extLst>
              <a:ext uri="{FF2B5EF4-FFF2-40B4-BE49-F238E27FC236}">
                <a16:creationId xmlns:a16="http://schemas.microsoft.com/office/drawing/2014/main" id="{690A250C-1C13-490D-BF9F-41A656A23763}"/>
              </a:ext>
            </a:extLst>
          </p:cNvPr>
          <p:cNvSpPr>
            <a:spLocks noChangeAspect="1"/>
          </p:cNvSpPr>
          <p:nvPr/>
        </p:nvSpPr>
        <p:spPr>
          <a:xfrm>
            <a:off x="2448981" y="1863949"/>
            <a:ext cx="2730256" cy="1471018"/>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accent2"/>
          </a:solidFill>
          <a:ln w="88900">
            <a:solidFill>
              <a:schemeClr val="bg1"/>
            </a:solidFill>
          </a:ln>
          <a:effectLst>
            <a:innerShdw blurRad="127000" dist="1270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2000" dirty="0">
              <a:solidFill>
                <a:schemeClr val="tx1"/>
              </a:solidFill>
              <a:latin typeface="Microsoft JhengHei" panose="020B0604030504040204" pitchFamily="34" charset="-120"/>
            </a:endParaRPr>
          </a:p>
        </p:txBody>
      </p:sp>
      <p:sp>
        <p:nvSpPr>
          <p:cNvPr id="14" name="Freeform 46">
            <a:extLst>
              <a:ext uri="{FF2B5EF4-FFF2-40B4-BE49-F238E27FC236}">
                <a16:creationId xmlns:a16="http://schemas.microsoft.com/office/drawing/2014/main" id="{95C182BE-B7CE-4FBE-9A37-F22C63AFC163}"/>
              </a:ext>
            </a:extLst>
          </p:cNvPr>
          <p:cNvSpPr>
            <a:spLocks noChangeAspect="1"/>
          </p:cNvSpPr>
          <p:nvPr/>
        </p:nvSpPr>
        <p:spPr>
          <a:xfrm>
            <a:off x="9728387" y="1827276"/>
            <a:ext cx="2730256" cy="1471018"/>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82686" y="108164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accent4"/>
          </a:solidFill>
          <a:ln w="88900">
            <a:solidFill>
              <a:schemeClr val="bg1"/>
            </a:solidFill>
          </a:ln>
          <a:effectLst>
            <a:innerShdw blurRad="127000" dist="1270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2000">
              <a:solidFill>
                <a:schemeClr val="tx1"/>
              </a:solidFill>
              <a:latin typeface="Microsoft JhengHei" panose="020B0604030504040204" pitchFamily="34" charset="-120"/>
            </a:endParaRPr>
          </a:p>
        </p:txBody>
      </p:sp>
      <p:sp>
        <p:nvSpPr>
          <p:cNvPr id="16" name="TextBox 15">
            <a:extLst>
              <a:ext uri="{FF2B5EF4-FFF2-40B4-BE49-F238E27FC236}">
                <a16:creationId xmlns:a16="http://schemas.microsoft.com/office/drawing/2014/main" id="{B86F8104-B47B-44CC-9E0F-D7D5E3DA71B1}"/>
              </a:ext>
            </a:extLst>
          </p:cNvPr>
          <p:cNvSpPr txBox="1"/>
          <p:nvPr/>
        </p:nvSpPr>
        <p:spPr>
          <a:xfrm>
            <a:off x="6516414" y="5704523"/>
            <a:ext cx="1978644" cy="400110"/>
          </a:xfrm>
          <a:prstGeom prst="rect">
            <a:avLst/>
          </a:prstGeom>
          <a:noFill/>
        </p:spPr>
        <p:txBody>
          <a:bodyPr wrap="square" rtlCol="0" anchor="ctr">
            <a:spAutoFit/>
          </a:bodyPr>
          <a:lstStyle/>
          <a:p>
            <a:pPr algn="ctr"/>
            <a:r>
              <a:rPr lang="zh-TW" altLang="en-US" sz="2000" b="1" dirty="0">
                <a:solidFill>
                  <a:schemeClr val="bg1"/>
                </a:solidFill>
                <a:latin typeface="Microsoft JhengHei" panose="020B0604030504040204" pitchFamily="34" charset="-120"/>
                <a:ea typeface="Microsoft JhengHei" panose="020B0604030504040204" pitchFamily="34" charset="-120"/>
                <a:cs typeface="Arial" pitchFamily="34" charset="0"/>
              </a:rPr>
              <a:t>提示工程</a:t>
            </a:r>
            <a:endParaRPr lang="ko-KR" altLang="en-US" sz="2000" b="1" dirty="0">
              <a:solidFill>
                <a:schemeClr val="bg1"/>
              </a:solidFill>
              <a:latin typeface="Microsoft JhengHei" panose="020B0604030504040204" pitchFamily="34" charset="-120"/>
              <a:cs typeface="Arial" pitchFamily="34" charset="0"/>
            </a:endParaRPr>
          </a:p>
        </p:txBody>
      </p:sp>
      <p:sp>
        <p:nvSpPr>
          <p:cNvPr id="17" name="TextBox 16">
            <a:extLst>
              <a:ext uri="{FF2B5EF4-FFF2-40B4-BE49-F238E27FC236}">
                <a16:creationId xmlns:a16="http://schemas.microsoft.com/office/drawing/2014/main" id="{8CCE2869-3487-4060-98F9-7A3F2AD6364A}"/>
              </a:ext>
            </a:extLst>
          </p:cNvPr>
          <p:cNvSpPr txBox="1"/>
          <p:nvPr/>
        </p:nvSpPr>
        <p:spPr>
          <a:xfrm>
            <a:off x="2943076" y="2602861"/>
            <a:ext cx="1662228" cy="400110"/>
          </a:xfrm>
          <a:prstGeom prst="rect">
            <a:avLst/>
          </a:prstGeom>
          <a:noFill/>
        </p:spPr>
        <p:txBody>
          <a:bodyPr wrap="square" rtlCol="0" anchor="ctr">
            <a:spAutoFit/>
          </a:bodyPr>
          <a:lstStyle/>
          <a:p>
            <a:pPr algn="ctr"/>
            <a:r>
              <a:rPr lang="zh-TW" altLang="en-US" sz="2000" b="1" dirty="0">
                <a:solidFill>
                  <a:schemeClr val="bg1"/>
                </a:solidFill>
                <a:latin typeface="Microsoft JhengHei" panose="020B0604030504040204" pitchFamily="34" charset="-120"/>
                <a:ea typeface="Microsoft JhengHei" panose="020B0604030504040204" pitchFamily="34" charset="-120"/>
                <a:cs typeface="Arial" pitchFamily="34" charset="0"/>
              </a:rPr>
              <a:t>四大功能</a:t>
            </a:r>
            <a:endParaRPr lang="ko-KR" altLang="en-US" sz="2000" b="1" dirty="0">
              <a:solidFill>
                <a:schemeClr val="bg1"/>
              </a:solidFill>
              <a:latin typeface="Microsoft JhengHei" panose="020B0604030504040204" pitchFamily="34" charset="-120"/>
              <a:cs typeface="Arial" pitchFamily="34" charset="0"/>
            </a:endParaRPr>
          </a:p>
        </p:txBody>
      </p:sp>
      <p:sp>
        <p:nvSpPr>
          <p:cNvPr id="19" name="TextBox 18">
            <a:extLst>
              <a:ext uri="{FF2B5EF4-FFF2-40B4-BE49-F238E27FC236}">
                <a16:creationId xmlns:a16="http://schemas.microsoft.com/office/drawing/2014/main" id="{CDB3CAE7-0513-4CD7-B966-375301219B51}"/>
              </a:ext>
            </a:extLst>
          </p:cNvPr>
          <p:cNvSpPr txBox="1"/>
          <p:nvPr/>
        </p:nvSpPr>
        <p:spPr>
          <a:xfrm>
            <a:off x="10167407" y="2604479"/>
            <a:ext cx="1846603" cy="400110"/>
          </a:xfrm>
          <a:prstGeom prst="rect">
            <a:avLst/>
          </a:prstGeom>
          <a:noFill/>
        </p:spPr>
        <p:txBody>
          <a:bodyPr wrap="square" rtlCol="0" anchor="ctr">
            <a:spAutoFit/>
          </a:bodyPr>
          <a:lstStyle/>
          <a:p>
            <a:pPr algn="ctr"/>
            <a:r>
              <a:rPr lang="zh-TW" altLang="en-US" sz="2000" b="1" dirty="0">
                <a:solidFill>
                  <a:schemeClr val="bg1"/>
                </a:solidFill>
                <a:latin typeface="Microsoft JhengHei" panose="020B0604030504040204" pitchFamily="34" charset="-120"/>
                <a:ea typeface="Microsoft JhengHei" panose="020B0604030504040204" pitchFamily="34" charset="-120"/>
                <a:cs typeface="Arial" pitchFamily="34" charset="0"/>
              </a:rPr>
              <a:t>評估系統成效</a:t>
            </a:r>
            <a:endParaRPr lang="ko-KR" altLang="en-US" sz="2000" b="1" dirty="0">
              <a:solidFill>
                <a:schemeClr val="bg1"/>
              </a:solidFill>
              <a:latin typeface="Microsoft JhengHei" panose="020B0604030504040204" pitchFamily="34" charset="-120"/>
              <a:cs typeface="Arial" pitchFamily="34" charset="0"/>
            </a:endParaRPr>
          </a:p>
        </p:txBody>
      </p:sp>
      <p:sp>
        <p:nvSpPr>
          <p:cNvPr id="26" name="TextBox 25">
            <a:extLst>
              <a:ext uri="{FF2B5EF4-FFF2-40B4-BE49-F238E27FC236}">
                <a16:creationId xmlns:a16="http://schemas.microsoft.com/office/drawing/2014/main" id="{54079EC9-2092-4F16-96AA-059F8843BBC4}"/>
              </a:ext>
            </a:extLst>
          </p:cNvPr>
          <p:cNvSpPr txBox="1"/>
          <p:nvPr/>
        </p:nvSpPr>
        <p:spPr>
          <a:xfrm>
            <a:off x="9728387" y="3498348"/>
            <a:ext cx="3906634" cy="1323439"/>
          </a:xfrm>
          <a:prstGeom prst="rect">
            <a:avLst/>
          </a:prstGeom>
          <a:noFill/>
        </p:spPr>
        <p:txBody>
          <a:bodyPr wrap="square" rtlCol="0">
            <a:spAutoFit/>
          </a:bodyPr>
          <a:lstStyle/>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分析教育效果與使用者接受度</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提出優化建議</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為</a:t>
            </a:r>
            <a:r>
              <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AI</a:t>
            </a:r>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應用於語言教育提供實務參考</a:t>
            </a:r>
            <a:endParaRPr lang="en-US" altLang="ko-KR"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32" name="TextBox 31">
            <a:extLst>
              <a:ext uri="{FF2B5EF4-FFF2-40B4-BE49-F238E27FC236}">
                <a16:creationId xmlns:a16="http://schemas.microsoft.com/office/drawing/2014/main" id="{6614350B-2F21-4965-A954-B2BA9CD7600E}"/>
              </a:ext>
            </a:extLst>
          </p:cNvPr>
          <p:cNvSpPr txBox="1"/>
          <p:nvPr/>
        </p:nvSpPr>
        <p:spPr>
          <a:xfrm>
            <a:off x="2465665" y="3498348"/>
            <a:ext cx="2730256" cy="707886"/>
          </a:xfrm>
          <a:prstGeom prst="rect">
            <a:avLst/>
          </a:prstGeom>
          <a:noFill/>
        </p:spPr>
        <p:txBody>
          <a:bodyPr wrap="square" rtlCol="0">
            <a:spAutoFit/>
          </a:bodyPr>
          <a:lstStyle/>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對話、單字造句、　</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跟讀、聽力練習</a:t>
            </a:r>
            <a:endParaRPr lang="en-US" altLang="ko-KR"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35" name="TextBox 34">
            <a:extLst>
              <a:ext uri="{FF2B5EF4-FFF2-40B4-BE49-F238E27FC236}">
                <a16:creationId xmlns:a16="http://schemas.microsoft.com/office/drawing/2014/main" id="{05CFC999-091F-4021-AE51-787DED20AEBB}"/>
              </a:ext>
            </a:extLst>
          </p:cNvPr>
          <p:cNvSpPr txBox="1"/>
          <p:nvPr/>
        </p:nvSpPr>
        <p:spPr>
          <a:xfrm>
            <a:off x="6327227" y="6680022"/>
            <a:ext cx="2534677" cy="1015663"/>
          </a:xfrm>
          <a:prstGeom prst="rect">
            <a:avLst/>
          </a:prstGeom>
          <a:noFill/>
        </p:spPr>
        <p:txBody>
          <a:bodyPr wrap="square" rtlCol="0">
            <a:spAutoFit/>
          </a:bodyPr>
          <a:lstStyle/>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優化</a:t>
            </a:r>
            <a:r>
              <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AI</a:t>
            </a:r>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提示設計</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控制語法難度</a:t>
            </a:r>
            <a:endParaRPr lang="en-US" altLang="zh-TW"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a:p>
            <a:r>
              <a:rPr lang="zh-TW" altLang="en-US"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詞彙選擇與回饋方式</a:t>
            </a:r>
            <a:endParaRPr lang="en-US" altLang="ko-KR" sz="20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1" name="TextBox 22">
            <a:extLst>
              <a:ext uri="{FF2B5EF4-FFF2-40B4-BE49-F238E27FC236}">
                <a16:creationId xmlns:a16="http://schemas.microsoft.com/office/drawing/2014/main" id="{318DC7D0-D0D5-7920-E2E2-5A83DD53A186}"/>
              </a:ext>
            </a:extLst>
          </p:cNvPr>
          <p:cNvSpPr txBox="1"/>
          <p:nvPr/>
        </p:nvSpPr>
        <p:spPr>
          <a:xfrm>
            <a:off x="6107484" y="3298294"/>
            <a:ext cx="2625135" cy="707886"/>
          </a:xfrm>
          <a:prstGeom prst="rect">
            <a:avLst/>
          </a:prstGeom>
          <a:noFill/>
        </p:spPr>
        <p:txBody>
          <a:bodyPr wrap="square" rtlCol="0">
            <a:spAutoFit/>
          </a:bodyPr>
          <a:lstStyle/>
          <a:p>
            <a:pPr algn="ctr"/>
            <a:r>
              <a:rPr lang="en-US" altLang="ko-KR" sz="2000" b="1" dirty="0">
                <a:solidFill>
                  <a:schemeClr val="bg1"/>
                </a:solidFill>
                <a:latin typeface="Microsoft JhengHei" panose="020B0604030504040204" pitchFamily="34" charset="-120"/>
                <a:ea typeface="Microsoft JhengHei" panose="020B0604030504040204" pitchFamily="34" charset="-120"/>
                <a:cs typeface="Arial" pitchFamily="34" charset="0"/>
              </a:rPr>
              <a:t>Learn English </a:t>
            </a:r>
          </a:p>
          <a:p>
            <a:pPr algn="ctr"/>
            <a:r>
              <a:rPr lang="en-US" altLang="ko-KR" sz="2000" b="1" dirty="0" err="1">
                <a:solidFill>
                  <a:schemeClr val="bg1"/>
                </a:solidFill>
                <a:latin typeface="Microsoft JhengHei" panose="020B0604030504040204" pitchFamily="34" charset="-120"/>
                <a:ea typeface="Microsoft JhengHei" panose="020B0604030504040204" pitchFamily="34" charset="-120"/>
                <a:cs typeface="Arial" pitchFamily="34" charset="0"/>
              </a:rPr>
              <a:t>Linebot</a:t>
            </a:r>
            <a:endParaRPr lang="en-US" altLang="ko-KR" sz="2000" b="1" dirty="0">
              <a:solidFill>
                <a:schemeClr val="bg1"/>
              </a:solidFill>
              <a:latin typeface="Microsoft JhengHei" panose="020B0604030504040204" pitchFamily="34" charset="-120"/>
              <a:ea typeface="Microsoft JhengHei" panose="020B0604030504040204" pitchFamily="34" charset="-120"/>
              <a:cs typeface="Arial" pitchFamily="34" charset="0"/>
            </a:endParaRPr>
          </a:p>
        </p:txBody>
      </p:sp>
      <p:sp>
        <p:nvSpPr>
          <p:cNvPr id="3" name="投影片編號版面配置區 2">
            <a:extLst>
              <a:ext uri="{FF2B5EF4-FFF2-40B4-BE49-F238E27FC236}">
                <a16:creationId xmlns:a16="http://schemas.microsoft.com/office/drawing/2014/main" id="{D9CDE93B-796D-7BF1-8726-0E79F2E74179}"/>
              </a:ext>
            </a:extLst>
          </p:cNvPr>
          <p:cNvSpPr>
            <a:spLocks noGrp="1"/>
          </p:cNvSpPr>
          <p:nvPr>
            <p:ph type="sldNum" sz="quarter" idx="4"/>
          </p:nvPr>
        </p:nvSpPr>
        <p:spPr/>
        <p:txBody>
          <a:bodyPr/>
          <a:lstStyle/>
          <a:p>
            <a:fld id="{46198A0D-C119-49A8-AD21-4EA122FD909A}" type="slidenum">
              <a:rPr lang="zh-TW" altLang="en-US" smtClean="0"/>
              <a:t>6</a:t>
            </a:fld>
            <a:endParaRPr lang="zh-TW" altLang="en-US"/>
          </a:p>
        </p:txBody>
      </p:sp>
    </p:spTree>
    <p:extLst>
      <p:ext uri="{BB962C8B-B14F-4D97-AF65-F5344CB8AC3E}">
        <p14:creationId xmlns:p14="http://schemas.microsoft.com/office/powerpoint/2010/main" val="1193403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B1419320-FF8A-F2FD-ACA6-19E59E1B5ACD}"/>
            </a:ext>
          </a:extLst>
        </p:cNvPr>
        <p:cNvGrpSpPr/>
        <p:nvPr/>
      </p:nvGrpSpPr>
      <p:grpSpPr>
        <a:xfrm>
          <a:off x="0" y="0"/>
          <a:ext cx="0" cy="0"/>
          <a:chOff x="0" y="0"/>
          <a:chExt cx="0" cy="0"/>
        </a:xfrm>
      </p:grpSpPr>
      <p:sp>
        <p:nvSpPr>
          <p:cNvPr id="659" name="Google Shape;659;p46">
            <a:extLst>
              <a:ext uri="{FF2B5EF4-FFF2-40B4-BE49-F238E27FC236}">
                <a16:creationId xmlns:a16="http://schemas.microsoft.com/office/drawing/2014/main" id="{849F9A1E-1991-34F1-F8A7-9E73910C93F0}"/>
              </a:ext>
            </a:extLst>
          </p:cNvPr>
          <p:cNvSpPr txBox="1">
            <a:spLocks noGrp="1"/>
          </p:cNvSpPr>
          <p:nvPr>
            <p:ph type="title"/>
          </p:nvPr>
        </p:nvSpPr>
        <p:spPr>
          <a:xfrm>
            <a:off x="4031159" y="2097760"/>
            <a:ext cx="8108703" cy="1885920"/>
          </a:xfrm>
          <a:prstGeom prst="rect">
            <a:avLst/>
          </a:prstGeom>
        </p:spPr>
        <p:txBody>
          <a:bodyPr spcFirstLastPara="1" wrap="square" lIns="146280" tIns="146280" rIns="146280" bIns="146280" anchor="b" anchorCtr="0">
            <a:noAutofit/>
          </a:bodyPr>
          <a:lstStyle/>
          <a:p>
            <a:pPr algn="l"/>
            <a:r>
              <a:rPr lang="zh-TW" altLang="en-US" sz="6000" b="1" dirty="0">
                <a:latin typeface="微軟正黑體" panose="020B0604030504040204" pitchFamily="34" charset="-120"/>
                <a:ea typeface="微軟正黑體" panose="020B0604030504040204" pitchFamily="34" charset="-120"/>
              </a:rPr>
              <a:t>系統核心功能</a:t>
            </a:r>
          </a:p>
        </p:txBody>
      </p:sp>
      <p:cxnSp>
        <p:nvCxnSpPr>
          <p:cNvPr id="661" name="Google Shape;661;p46">
            <a:extLst>
              <a:ext uri="{FF2B5EF4-FFF2-40B4-BE49-F238E27FC236}">
                <a16:creationId xmlns:a16="http://schemas.microsoft.com/office/drawing/2014/main" id="{BC79AFDB-FA7A-BCD8-68D3-52D0B2E4B012}"/>
              </a:ext>
            </a:extLst>
          </p:cNvPr>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552443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4929785" y="2340555"/>
            <a:ext cx="851033" cy="851033"/>
          </a:xfrm>
          <a:prstGeom prst="ellipse">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cs typeface="Arial" pitchFamily="34" charset="0"/>
            </a:endParaRPr>
          </a:p>
        </p:txBody>
      </p:sp>
      <p:grpSp>
        <p:nvGrpSpPr>
          <p:cNvPr id="7" name="그룹 6">
            <a:extLst>
              <a:ext uri="{FF2B5EF4-FFF2-40B4-BE49-F238E27FC236}">
                <a16:creationId xmlns:a16="http://schemas.microsoft.com/office/drawing/2014/main" id="{60CFBC39-F118-4C40-8D0A-A00A01832B51}"/>
              </a:ext>
            </a:extLst>
          </p:cNvPr>
          <p:cNvGrpSpPr/>
          <p:nvPr/>
        </p:nvGrpSpPr>
        <p:grpSpPr>
          <a:xfrm>
            <a:off x="5927510" y="2104215"/>
            <a:ext cx="3326401" cy="1877437"/>
            <a:chOff x="4903822" y="3840016"/>
            <a:chExt cx="2772001" cy="1564532"/>
          </a:xfrm>
        </p:grpSpPr>
        <p:sp>
          <p:nvSpPr>
            <p:cNvPr id="11" name="TextBox 10"/>
            <p:cNvSpPr txBox="1"/>
            <p:nvPr/>
          </p:nvSpPr>
          <p:spPr>
            <a:xfrm>
              <a:off x="4903823" y="4173441"/>
              <a:ext cx="2772000" cy="1231107"/>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Microsoft JhengHei" panose="020B0604030504040204" pitchFamily="34" charset="-120"/>
                  <a:ea typeface="Microsoft JhengHei" panose="020B0604030504040204" pitchFamily="34" charset="-120"/>
                </a:rPr>
                <a:t>LINE Rich Menu</a:t>
              </a:r>
              <a:r>
                <a:rPr lang="zh-TW" altLang="en-US" dirty="0">
                  <a:latin typeface="Microsoft JhengHei" panose="020B0604030504040204" pitchFamily="34" charset="-120"/>
                  <a:ea typeface="Microsoft JhengHei" panose="020B0604030504040204" pitchFamily="34" charset="-120"/>
                </a:rPr>
                <a:t>提供視覺化又便利功能入口</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四大功能區塊</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一鍵快速切換，無需記憶指令或文字輸入</a:t>
              </a:r>
              <a:endParaRPr lang="en-US" altLang="zh-TW" dirty="0">
                <a:latin typeface="Microsoft JhengHei" panose="020B0604030504040204" pitchFamily="34" charset="-120"/>
                <a:ea typeface="Microsoft JhengHei" panose="020B0604030504040204" pitchFamily="34" charset="-120"/>
              </a:endParaRPr>
            </a:p>
          </p:txBody>
        </p:sp>
        <p:sp>
          <p:nvSpPr>
            <p:cNvPr id="34" name="TextBox 33"/>
            <p:cNvSpPr txBox="1"/>
            <p:nvPr/>
          </p:nvSpPr>
          <p:spPr>
            <a:xfrm>
              <a:off x="4903822" y="3840016"/>
              <a:ext cx="2772000" cy="333425"/>
            </a:xfrm>
            <a:prstGeom prst="rect">
              <a:avLst/>
            </a:prstGeom>
            <a:noFill/>
          </p:spPr>
          <p:txBody>
            <a:bodyPr wrap="square" rtlCol="0">
              <a:spAutoFit/>
            </a:bodyPr>
            <a:lstStyle/>
            <a:p>
              <a:r>
                <a:rPr lang="zh-TW" altLang="en-US" sz="2000" b="1" dirty="0">
                  <a:latin typeface="Microsoft JhengHei" panose="020B0604030504040204" pitchFamily="34" charset="-120"/>
                  <a:ea typeface="Microsoft JhengHei" panose="020B0604030504040204" pitchFamily="34" charset="-120"/>
                  <a:cs typeface="Arial" pitchFamily="34" charset="0"/>
                </a:rPr>
                <a:t>圖文選單設計</a:t>
              </a:r>
              <a:endParaRPr lang="en-US" altLang="ko-KR" sz="2000" b="1" dirty="0">
                <a:latin typeface="Microsoft JhengHei" panose="020B0604030504040204" pitchFamily="34" charset="-120"/>
                <a:ea typeface="Microsoft JhengHei" panose="020B0604030504040204" pitchFamily="34" charset="-120"/>
                <a:cs typeface="Arial" pitchFamily="34" charset="0"/>
              </a:endParaRPr>
            </a:p>
          </p:txBody>
        </p:sp>
      </p:grpSp>
      <p:sp>
        <p:nvSpPr>
          <p:cNvPr id="37" name="Oval 36"/>
          <p:cNvSpPr/>
          <p:nvPr/>
        </p:nvSpPr>
        <p:spPr>
          <a:xfrm>
            <a:off x="9514219" y="2340555"/>
            <a:ext cx="851033" cy="851033"/>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cs typeface="Arial" pitchFamily="34" charset="0"/>
            </a:endParaRPr>
          </a:p>
        </p:txBody>
      </p:sp>
      <p:grpSp>
        <p:nvGrpSpPr>
          <p:cNvPr id="8" name="그룹 7">
            <a:extLst>
              <a:ext uri="{FF2B5EF4-FFF2-40B4-BE49-F238E27FC236}">
                <a16:creationId xmlns:a16="http://schemas.microsoft.com/office/drawing/2014/main" id="{4C65A623-F28B-4F05-802A-0E801E155392}"/>
              </a:ext>
            </a:extLst>
          </p:cNvPr>
          <p:cNvGrpSpPr/>
          <p:nvPr/>
        </p:nvGrpSpPr>
        <p:grpSpPr>
          <a:xfrm>
            <a:off x="10494041" y="2104220"/>
            <a:ext cx="3344304" cy="1358488"/>
            <a:chOff x="8606712" y="3839869"/>
            <a:chExt cx="2786920" cy="1132073"/>
          </a:xfrm>
        </p:grpSpPr>
        <p:sp>
          <p:nvSpPr>
            <p:cNvPr id="38" name="TextBox 37"/>
            <p:cNvSpPr txBox="1"/>
            <p:nvPr/>
          </p:nvSpPr>
          <p:spPr>
            <a:xfrm>
              <a:off x="8606712" y="4202500"/>
              <a:ext cx="2772000" cy="769442"/>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初級</a:t>
              </a:r>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A1-A2</a:t>
              </a: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中級</a:t>
              </a:r>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B1-B2</a:t>
              </a: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高級</a:t>
              </a:r>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C1-C2</a:t>
              </a:r>
              <a:endParaRPr lang="ko-KR" altLang="en-US" sz="1600" dirty="0">
                <a:solidFill>
                  <a:schemeClr val="tx1">
                    <a:lumMod val="75000"/>
                    <a:lumOff val="25000"/>
                  </a:schemeClr>
                </a:solidFill>
                <a:latin typeface="Microsoft JhengHei" panose="020B0604030504040204" pitchFamily="34" charset="-120"/>
                <a:cs typeface="Arial" pitchFamily="34" charset="0"/>
              </a:endParaRPr>
            </a:p>
          </p:txBody>
        </p:sp>
        <p:sp>
          <p:nvSpPr>
            <p:cNvPr id="39" name="TextBox 38"/>
            <p:cNvSpPr txBox="1"/>
            <p:nvPr/>
          </p:nvSpPr>
          <p:spPr>
            <a:xfrm>
              <a:off x="8621632" y="3839869"/>
              <a:ext cx="2772000" cy="333425"/>
            </a:xfrm>
            <a:prstGeom prst="rect">
              <a:avLst/>
            </a:prstGeom>
            <a:noFill/>
          </p:spPr>
          <p:txBody>
            <a:bodyPr wrap="square" rtlCol="0">
              <a:spAutoFit/>
            </a:bodyPr>
            <a:lstStyle/>
            <a:p>
              <a:r>
                <a:rPr lang="en-US" altLang="zh-TW" sz="2000" dirty="0">
                  <a:latin typeface="Microsoft JhengHei" panose="020B0604030504040204" pitchFamily="34" charset="-120"/>
                  <a:ea typeface="Microsoft JhengHei" panose="020B0604030504040204" pitchFamily="34" charset="-120"/>
                </a:rPr>
                <a:t>CEFR</a:t>
              </a:r>
              <a:r>
                <a:rPr lang="zh-TW" altLang="en-US" sz="2000" dirty="0">
                  <a:latin typeface="Microsoft JhengHei" panose="020B0604030504040204" pitchFamily="34" charset="-120"/>
                  <a:ea typeface="Microsoft JhengHei" panose="020B0604030504040204" pitchFamily="34" charset="-120"/>
                </a:rPr>
                <a:t>國際標準分級</a:t>
              </a:r>
              <a:endParaRPr lang="ko-KR" altLang="en-US" b="1" dirty="0">
                <a:solidFill>
                  <a:schemeClr val="tx1">
                    <a:lumMod val="75000"/>
                    <a:lumOff val="25000"/>
                  </a:schemeClr>
                </a:solidFill>
                <a:latin typeface="Microsoft JhengHei" panose="020B0604030504040204" pitchFamily="34" charset="-120"/>
                <a:cs typeface="Arial" pitchFamily="34" charset="0"/>
              </a:endParaRPr>
            </a:p>
          </p:txBody>
        </p:sp>
      </p:grpSp>
      <p:sp>
        <p:nvSpPr>
          <p:cNvPr id="41" name="Oval 40"/>
          <p:cNvSpPr/>
          <p:nvPr/>
        </p:nvSpPr>
        <p:spPr>
          <a:xfrm>
            <a:off x="4937815" y="5274349"/>
            <a:ext cx="851033" cy="851033"/>
          </a:xfrm>
          <a:prstGeom prst="ellipse">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cs typeface="Arial" pitchFamily="34" charset="0"/>
            </a:endParaRPr>
          </a:p>
        </p:txBody>
      </p:sp>
      <p:grpSp>
        <p:nvGrpSpPr>
          <p:cNvPr id="6" name="그룹 5">
            <a:extLst>
              <a:ext uri="{FF2B5EF4-FFF2-40B4-BE49-F238E27FC236}">
                <a16:creationId xmlns:a16="http://schemas.microsoft.com/office/drawing/2014/main" id="{FCFA42CD-23F9-4BA0-88A4-52A346A9ED9A}"/>
              </a:ext>
            </a:extLst>
          </p:cNvPr>
          <p:cNvGrpSpPr/>
          <p:nvPr/>
        </p:nvGrpSpPr>
        <p:grpSpPr>
          <a:xfrm>
            <a:off x="5919211" y="5038013"/>
            <a:ext cx="3334701" cy="1415776"/>
            <a:chOff x="4896906" y="4915303"/>
            <a:chExt cx="2778917" cy="1179813"/>
          </a:xfrm>
        </p:grpSpPr>
        <p:sp>
          <p:nvSpPr>
            <p:cNvPr id="42" name="TextBox 41"/>
            <p:cNvSpPr txBox="1"/>
            <p:nvPr/>
          </p:nvSpPr>
          <p:spPr>
            <a:xfrm>
              <a:off x="4896906" y="5248730"/>
              <a:ext cx="2772000" cy="846386"/>
            </a:xfrm>
            <a:prstGeom prst="rect">
              <a:avLst/>
            </a:prstGeom>
            <a:noFill/>
          </p:spPr>
          <p:txBody>
            <a:bodyPr wrap="square" rtlCol="0">
              <a:spAutoFit/>
            </a:bodyPr>
            <a:lstStyle/>
            <a:p>
              <a:pPr marL="342900" indent="-342900">
                <a:buFont typeface="Arial" panose="020B0604020202020204" pitchFamily="34" charset="0"/>
                <a:buChar char="•"/>
              </a:pPr>
              <a:r>
                <a:rPr lang="en-US" altLang="zh-TW" sz="2000" dirty="0">
                  <a:latin typeface="Microsoft JhengHei" panose="020B0604030504040204" pitchFamily="34" charset="-120"/>
                  <a:ea typeface="Microsoft JhengHei" panose="020B0604030504040204" pitchFamily="34" charset="-120"/>
                </a:rPr>
                <a:t>GPT-3.5</a:t>
              </a:r>
            </a:p>
            <a:p>
              <a:pPr marL="342900" indent="-342900">
                <a:buFont typeface="Arial" panose="020B0604020202020204" pitchFamily="34" charset="0"/>
                <a:buChar char="•"/>
              </a:pPr>
              <a:r>
                <a:rPr lang="en-US" altLang="zh-TW" sz="2000" dirty="0">
                  <a:latin typeface="Microsoft JhengHei" panose="020B0604030504040204" pitchFamily="34" charset="-120"/>
                  <a:ea typeface="Microsoft JhengHei" panose="020B0604030504040204" pitchFamily="34" charset="-120"/>
                </a:rPr>
                <a:t>Whisper</a:t>
              </a:r>
            </a:p>
            <a:p>
              <a:pPr marL="342900" indent="-342900">
                <a:buFont typeface="Arial" panose="020B0604020202020204" pitchFamily="34" charset="0"/>
                <a:buChar char="•"/>
              </a:pPr>
              <a:r>
                <a:rPr lang="en-US" altLang="zh-TW" sz="2000" dirty="0" err="1">
                  <a:latin typeface="Microsoft JhengHei" panose="020B0604030504040204" pitchFamily="34" charset="-120"/>
                  <a:ea typeface="Microsoft JhengHei" panose="020B0604030504040204" pitchFamily="34" charset="-120"/>
                </a:rPr>
                <a:t>gTTS</a:t>
              </a:r>
              <a:endParaRPr lang="en-US" altLang="ko-KR"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43" name="TextBox 42"/>
            <p:cNvSpPr txBox="1"/>
            <p:nvPr/>
          </p:nvSpPr>
          <p:spPr>
            <a:xfrm>
              <a:off x="4903823" y="4915303"/>
              <a:ext cx="2772000" cy="333425"/>
            </a:xfrm>
            <a:prstGeom prst="rect">
              <a:avLst/>
            </a:prstGeom>
            <a:noFill/>
          </p:spPr>
          <p:txBody>
            <a:bodyPr wrap="square" rtlCol="0">
              <a:spAutoFit/>
            </a:bodyPr>
            <a:lstStyle/>
            <a:p>
              <a:r>
                <a:rPr lang="zh-TW" altLang="en-US" sz="2000" b="1"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整合技術</a:t>
              </a:r>
              <a:endParaRPr lang="ko-KR" altLang="en-US" sz="2000" b="1" dirty="0">
                <a:solidFill>
                  <a:schemeClr val="tx1">
                    <a:lumMod val="75000"/>
                    <a:lumOff val="25000"/>
                  </a:schemeClr>
                </a:solidFill>
                <a:latin typeface="Microsoft JhengHei" panose="020B0604030504040204" pitchFamily="34" charset="-120"/>
                <a:cs typeface="Arial" pitchFamily="34" charset="0"/>
              </a:endParaRPr>
            </a:p>
          </p:txBody>
        </p:sp>
      </p:grpSp>
      <p:sp>
        <p:nvSpPr>
          <p:cNvPr id="45" name="Oval 44"/>
          <p:cNvSpPr/>
          <p:nvPr/>
        </p:nvSpPr>
        <p:spPr>
          <a:xfrm>
            <a:off x="9522250" y="5274349"/>
            <a:ext cx="851033" cy="851033"/>
          </a:xfrm>
          <a:prstGeom prst="ellipse">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cs typeface="Arial" pitchFamily="34" charset="0"/>
            </a:endParaRPr>
          </a:p>
        </p:txBody>
      </p:sp>
      <p:grpSp>
        <p:nvGrpSpPr>
          <p:cNvPr id="9" name="그룹 8">
            <a:extLst>
              <a:ext uri="{FF2B5EF4-FFF2-40B4-BE49-F238E27FC236}">
                <a16:creationId xmlns:a16="http://schemas.microsoft.com/office/drawing/2014/main" id="{A727B846-75DD-4CA8-9B36-661A62F2123C}"/>
              </a:ext>
            </a:extLst>
          </p:cNvPr>
          <p:cNvGrpSpPr/>
          <p:nvPr/>
        </p:nvGrpSpPr>
        <p:grpSpPr>
          <a:xfrm>
            <a:off x="10511944" y="5038012"/>
            <a:ext cx="3577541" cy="2213809"/>
            <a:chOff x="8621632" y="4933374"/>
            <a:chExt cx="2772000" cy="1844842"/>
          </a:xfrm>
        </p:grpSpPr>
        <p:sp>
          <p:nvSpPr>
            <p:cNvPr id="46" name="TextBox 45"/>
            <p:cNvSpPr txBox="1"/>
            <p:nvPr/>
          </p:nvSpPr>
          <p:spPr>
            <a:xfrm>
              <a:off x="8621632" y="5316277"/>
              <a:ext cx="2772000" cy="1461939"/>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雙語支持策略（英文學習 </a:t>
              </a:r>
              <a:r>
                <a:rPr lang="en-US" altLang="zh-TW" dirty="0">
                  <a:latin typeface="Microsoft JhengHei" panose="020B0604030504040204" pitchFamily="34" charset="-120"/>
                  <a:ea typeface="Microsoft JhengHei" panose="020B0604030504040204" pitchFamily="34" charset="-120"/>
                </a:rPr>
                <a:t>+ </a:t>
              </a:r>
              <a:r>
                <a:rPr lang="zh-TW" altLang="en-US" dirty="0">
                  <a:latin typeface="Microsoft JhengHei" panose="020B0604030504040204" pitchFamily="34" charset="-120"/>
                  <a:ea typeface="Microsoft JhengHei" panose="020B0604030504040204" pitchFamily="34" charset="-120"/>
                </a:rPr>
                <a:t>中文回饋）</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零學習成本，無需適應新平台</a:t>
              </a:r>
              <a:endParaRPr lang="en-US" altLang="zh-TW"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zh-TW" altLang="en-US" dirty="0">
                  <a:latin typeface="Microsoft JhengHei" panose="020B0604030504040204" pitchFamily="34" charset="-120"/>
                  <a:ea typeface="Microsoft JhengHei" panose="020B0604030504040204" pitchFamily="34" charset="-120"/>
                </a:rPr>
                <a:t>無縫整合體驗，在日常社交平台中進行學習</a:t>
              </a:r>
              <a:endParaRPr lang="ko-KR" altLang="en-US" sz="1600" dirty="0">
                <a:latin typeface="Microsoft JhengHei" panose="020B0604030504040204" pitchFamily="34" charset="-120"/>
                <a:cs typeface="Arial" pitchFamily="34" charset="0"/>
              </a:endParaRPr>
            </a:p>
          </p:txBody>
        </p:sp>
        <p:sp>
          <p:nvSpPr>
            <p:cNvPr id="47" name="TextBox 46"/>
            <p:cNvSpPr txBox="1"/>
            <p:nvPr/>
          </p:nvSpPr>
          <p:spPr>
            <a:xfrm>
              <a:off x="8621632" y="4933374"/>
              <a:ext cx="2772000" cy="333425"/>
            </a:xfrm>
            <a:prstGeom prst="rect">
              <a:avLst/>
            </a:prstGeom>
            <a:noFill/>
          </p:spPr>
          <p:txBody>
            <a:bodyPr wrap="square" rtlCol="0">
              <a:spAutoFit/>
            </a:bodyPr>
            <a:lstStyle/>
            <a:p>
              <a:r>
                <a:rPr lang="zh-TW" altLang="en-US" sz="2000" dirty="0">
                  <a:latin typeface="Microsoft JhengHei" panose="020B0604030504040204" pitchFamily="34" charset="-120"/>
                  <a:ea typeface="Microsoft JhengHei" panose="020B0604030504040204" pitchFamily="34" charset="-120"/>
                </a:rPr>
                <a:t>使用者界面優勢</a:t>
              </a:r>
              <a:endParaRPr lang="ko-KR" altLang="en-US" b="1" dirty="0">
                <a:latin typeface="Microsoft JhengHei" panose="020B0604030504040204" pitchFamily="34" charset="-120"/>
                <a:cs typeface="Arial" pitchFamily="34" charset="0"/>
              </a:endParaRPr>
            </a:p>
          </p:txBody>
        </p:sp>
      </p:grpSp>
      <p:sp>
        <p:nvSpPr>
          <p:cNvPr id="36" name="Rounded Rectangle 27">
            <a:extLst>
              <a:ext uri="{FF2B5EF4-FFF2-40B4-BE49-F238E27FC236}">
                <a16:creationId xmlns:a16="http://schemas.microsoft.com/office/drawing/2014/main" id="{371D73E6-33D9-43A7-AE69-F4C127AEFE6D}"/>
              </a:ext>
            </a:extLst>
          </p:cNvPr>
          <p:cNvSpPr/>
          <p:nvPr/>
        </p:nvSpPr>
        <p:spPr>
          <a:xfrm>
            <a:off x="5142441" y="5524786"/>
            <a:ext cx="420752" cy="323195"/>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40" name="Rounded Rectangle 7">
            <a:extLst>
              <a:ext uri="{FF2B5EF4-FFF2-40B4-BE49-F238E27FC236}">
                <a16:creationId xmlns:a16="http://schemas.microsoft.com/office/drawing/2014/main" id="{CD7C4185-B102-4289-9C5F-11C2839FB9D3}"/>
              </a:ext>
            </a:extLst>
          </p:cNvPr>
          <p:cNvSpPr/>
          <p:nvPr/>
        </p:nvSpPr>
        <p:spPr>
          <a:xfrm>
            <a:off x="5142439" y="2539376"/>
            <a:ext cx="427774" cy="369164"/>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44" name="Rectangle 16">
            <a:extLst>
              <a:ext uri="{FF2B5EF4-FFF2-40B4-BE49-F238E27FC236}">
                <a16:creationId xmlns:a16="http://schemas.microsoft.com/office/drawing/2014/main" id="{4097C796-6926-423A-A7D5-AB30714B83E4}"/>
              </a:ext>
            </a:extLst>
          </p:cNvPr>
          <p:cNvSpPr/>
          <p:nvPr/>
        </p:nvSpPr>
        <p:spPr>
          <a:xfrm rot="2700000">
            <a:off x="9789482" y="2458080"/>
            <a:ext cx="300515" cy="538768"/>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sp>
        <p:nvSpPr>
          <p:cNvPr id="48" name="Rectangle 9">
            <a:extLst>
              <a:ext uri="{FF2B5EF4-FFF2-40B4-BE49-F238E27FC236}">
                <a16:creationId xmlns:a16="http://schemas.microsoft.com/office/drawing/2014/main" id="{B96BED6D-4D7D-4C72-96EE-C9CDD6B72B5A}"/>
              </a:ext>
            </a:extLst>
          </p:cNvPr>
          <p:cNvSpPr/>
          <p:nvPr/>
        </p:nvSpPr>
        <p:spPr>
          <a:xfrm>
            <a:off x="9741948" y="5511080"/>
            <a:ext cx="406976" cy="380966"/>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sp>
        <p:nvSpPr>
          <p:cNvPr id="2" name="Text Placeholder 1">
            <a:extLst>
              <a:ext uri="{FF2B5EF4-FFF2-40B4-BE49-F238E27FC236}">
                <a16:creationId xmlns:a16="http://schemas.microsoft.com/office/drawing/2014/main" id="{1F9FA3AD-2750-ADBA-D79B-5F60D81E6C80}"/>
              </a:ext>
            </a:extLst>
          </p:cNvPr>
          <p:cNvSpPr txBox="1">
            <a:spLocks/>
          </p:cNvSpPr>
          <p:nvPr/>
        </p:nvSpPr>
        <p:spPr>
          <a:xfrm>
            <a:off x="274885" y="260843"/>
            <a:ext cx="4321178" cy="95091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zh-TW" altLang="en-US" sz="5400" b="1" dirty="0">
                <a:latin typeface="Microsoft JhengHei" panose="020B0604030504040204" pitchFamily="34" charset="-120"/>
                <a:ea typeface="Microsoft JhengHei" panose="020B0604030504040204" pitchFamily="34" charset="-120"/>
              </a:rPr>
              <a:t>整合特色</a:t>
            </a:r>
            <a:endParaRPr lang="en-US" sz="5400" b="1" dirty="0">
              <a:latin typeface="Microsoft JhengHei" panose="020B0604030504040204" pitchFamily="34" charset="-120"/>
              <a:ea typeface="Microsoft JhengHei" panose="020B0604030504040204" pitchFamily="34" charset="-120"/>
            </a:endParaRPr>
          </a:p>
        </p:txBody>
      </p:sp>
      <p:grpSp>
        <p:nvGrpSpPr>
          <p:cNvPr id="14" name="群組 13">
            <a:extLst>
              <a:ext uri="{FF2B5EF4-FFF2-40B4-BE49-F238E27FC236}">
                <a16:creationId xmlns:a16="http://schemas.microsoft.com/office/drawing/2014/main" id="{4F422E5C-2EFA-1CC1-5CBA-10DAC6FA4091}"/>
              </a:ext>
            </a:extLst>
          </p:cNvPr>
          <p:cNvGrpSpPr/>
          <p:nvPr/>
        </p:nvGrpSpPr>
        <p:grpSpPr>
          <a:xfrm>
            <a:off x="540914" y="1619403"/>
            <a:ext cx="3453570" cy="6477849"/>
            <a:chOff x="2168827" y="111212"/>
            <a:chExt cx="4689178" cy="7908324"/>
          </a:xfrm>
        </p:grpSpPr>
        <p:grpSp>
          <p:nvGrpSpPr>
            <p:cNvPr id="15" name="Group 25">
              <a:extLst>
                <a:ext uri="{FF2B5EF4-FFF2-40B4-BE49-F238E27FC236}">
                  <a16:creationId xmlns:a16="http://schemas.microsoft.com/office/drawing/2014/main" id="{509FD9C7-D788-95C0-3813-ACBC315E3A1F}"/>
                </a:ext>
              </a:extLst>
            </p:cNvPr>
            <p:cNvGrpSpPr/>
            <p:nvPr/>
          </p:nvGrpSpPr>
          <p:grpSpPr>
            <a:xfrm>
              <a:off x="2168827" y="111212"/>
              <a:ext cx="4689178" cy="7908324"/>
              <a:chOff x="445712" y="1449040"/>
              <a:chExt cx="2113018" cy="3924176"/>
            </a:xfrm>
          </p:grpSpPr>
          <p:sp>
            <p:nvSpPr>
              <p:cNvPr id="18" name="Rounded Rectangle 17">
                <a:extLst>
                  <a:ext uri="{FF2B5EF4-FFF2-40B4-BE49-F238E27FC236}">
                    <a16:creationId xmlns:a16="http://schemas.microsoft.com/office/drawing/2014/main" id="{611CFCC6-8BC3-E8DC-9461-A63150C94CE4}"/>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Rectangle 19">
                <a:extLst>
                  <a:ext uri="{FF2B5EF4-FFF2-40B4-BE49-F238E27FC236}">
                    <a16:creationId xmlns:a16="http://schemas.microsoft.com/office/drawing/2014/main" id="{E4DC3BFD-FF5F-F47D-6CD3-A990DB38C36E}"/>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20" name="Group 24">
                <a:extLst>
                  <a:ext uri="{FF2B5EF4-FFF2-40B4-BE49-F238E27FC236}">
                    <a16:creationId xmlns:a16="http://schemas.microsoft.com/office/drawing/2014/main" id="{73D921F7-BD02-EC41-F8D5-BCACBC0E29B9}"/>
                  </a:ext>
                </a:extLst>
              </p:cNvPr>
              <p:cNvGrpSpPr/>
              <p:nvPr userDrawn="1"/>
            </p:nvGrpSpPr>
            <p:grpSpPr>
              <a:xfrm>
                <a:off x="1407705" y="5045834"/>
                <a:ext cx="211967" cy="211967"/>
                <a:chOff x="1549420" y="5712364"/>
                <a:chExt cx="312583" cy="312583"/>
              </a:xfrm>
            </p:grpSpPr>
            <p:sp>
              <p:nvSpPr>
                <p:cNvPr id="21" name="Oval 22">
                  <a:extLst>
                    <a:ext uri="{FF2B5EF4-FFF2-40B4-BE49-F238E27FC236}">
                      <a16:creationId xmlns:a16="http://schemas.microsoft.com/office/drawing/2014/main" id="{984265B1-FC06-E3BB-B611-C2758BBB1FAA}"/>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2" name="Rounded Rectangle 23">
                  <a:extLst>
                    <a:ext uri="{FF2B5EF4-FFF2-40B4-BE49-F238E27FC236}">
                      <a16:creationId xmlns:a16="http://schemas.microsoft.com/office/drawing/2014/main" id="{17126564-04C0-13F7-8C3F-C184D35E0885}"/>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pic>
          <p:nvPicPr>
            <p:cNvPr id="16" name="圖片 15">
              <a:extLst>
                <a:ext uri="{FF2B5EF4-FFF2-40B4-BE49-F238E27FC236}">
                  <a16:creationId xmlns:a16="http://schemas.microsoft.com/office/drawing/2014/main" id="{3600B600-60FF-07E0-88C2-200A93727879}"/>
                </a:ext>
              </a:extLst>
            </p:cNvPr>
            <p:cNvPicPr>
              <a:picLocks noChangeAspect="1"/>
            </p:cNvPicPr>
            <p:nvPr/>
          </p:nvPicPr>
          <p:blipFill>
            <a:blip r:embed="rId3"/>
            <a:srcRect t="36819"/>
            <a:stretch/>
          </p:blipFill>
          <p:spPr>
            <a:xfrm>
              <a:off x="2360148" y="1414902"/>
              <a:ext cx="4300337" cy="5887278"/>
            </a:xfrm>
            <a:prstGeom prst="rect">
              <a:avLst/>
            </a:prstGeom>
          </p:spPr>
        </p:pic>
        <p:pic>
          <p:nvPicPr>
            <p:cNvPr id="17" name="圖片 16">
              <a:extLst>
                <a:ext uri="{FF2B5EF4-FFF2-40B4-BE49-F238E27FC236}">
                  <a16:creationId xmlns:a16="http://schemas.microsoft.com/office/drawing/2014/main" id="{666374A5-E47A-5DF1-7946-DE71E1052131}"/>
                </a:ext>
              </a:extLst>
            </p:cNvPr>
            <p:cNvPicPr>
              <a:picLocks noChangeAspect="1"/>
            </p:cNvPicPr>
            <p:nvPr/>
          </p:nvPicPr>
          <p:blipFill>
            <a:blip r:embed="rId3"/>
            <a:srcRect t="3904" b="88588"/>
            <a:stretch/>
          </p:blipFill>
          <p:spPr>
            <a:xfrm>
              <a:off x="2360147" y="733505"/>
              <a:ext cx="4300337" cy="699567"/>
            </a:xfrm>
            <a:prstGeom prst="rect">
              <a:avLst/>
            </a:prstGeom>
          </p:spPr>
        </p:pic>
      </p:grpSp>
    </p:spTree>
    <p:extLst>
      <p:ext uri="{BB962C8B-B14F-4D97-AF65-F5344CB8AC3E}">
        <p14:creationId xmlns:p14="http://schemas.microsoft.com/office/powerpoint/2010/main" val="3956899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88236" y="407412"/>
            <a:ext cx="1753385" cy="869096"/>
          </a:xfrm>
        </p:spPr>
        <p:txBody>
          <a:bodyPr/>
          <a:lstStyle/>
          <a:p>
            <a:pPr algn="l"/>
            <a:r>
              <a:rPr lang="zh-TW" altLang="en-US" sz="5400" b="1" dirty="0">
                <a:latin typeface="Microsoft JhengHei" panose="020B0604030504040204" pitchFamily="34" charset="-120"/>
                <a:ea typeface="Microsoft JhengHei" panose="020B0604030504040204" pitchFamily="34" charset="-120"/>
              </a:rPr>
              <a:t>功能</a:t>
            </a:r>
            <a:endParaRPr lang="en-US" sz="5400" b="1" dirty="0">
              <a:latin typeface="Microsoft JhengHei" panose="020B0604030504040204" pitchFamily="34" charset="-120"/>
              <a:ea typeface="Microsoft JhengHei" panose="020B0604030504040204" pitchFamily="34" charset="-120"/>
            </a:endParaRPr>
          </a:p>
        </p:txBody>
      </p:sp>
      <p:sp>
        <p:nvSpPr>
          <p:cNvPr id="4" name="Rounded Rectangle 1">
            <a:extLst>
              <a:ext uri="{FF2B5EF4-FFF2-40B4-BE49-F238E27FC236}">
                <a16:creationId xmlns:a16="http://schemas.microsoft.com/office/drawing/2014/main" id="{D18310E7-4BC8-40A1-8457-34B19B0B2781}"/>
              </a:ext>
            </a:extLst>
          </p:cNvPr>
          <p:cNvSpPr/>
          <p:nvPr/>
        </p:nvSpPr>
        <p:spPr>
          <a:xfrm>
            <a:off x="1095006" y="4843474"/>
            <a:ext cx="6134400" cy="2462400"/>
          </a:xfrm>
          <a:prstGeom prst="roundRect">
            <a:avLst>
              <a:gd name="adj" fmla="val 10788"/>
            </a:avLst>
          </a:prstGeom>
          <a:solidFill>
            <a:srgbClr val="EE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6" name="Rounded Rectangle 2">
            <a:extLst>
              <a:ext uri="{FF2B5EF4-FFF2-40B4-BE49-F238E27FC236}">
                <a16:creationId xmlns:a16="http://schemas.microsoft.com/office/drawing/2014/main" id="{82731B22-B471-47B8-BC8C-16848B9C1FC0}"/>
              </a:ext>
            </a:extLst>
          </p:cNvPr>
          <p:cNvSpPr/>
          <p:nvPr/>
        </p:nvSpPr>
        <p:spPr>
          <a:xfrm>
            <a:off x="7400995" y="4795368"/>
            <a:ext cx="6134400" cy="2462400"/>
          </a:xfrm>
          <a:prstGeom prst="roundRect">
            <a:avLst>
              <a:gd name="adj" fmla="val 1078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8" name="Rounded Rectangle 3">
            <a:extLst>
              <a:ext uri="{FF2B5EF4-FFF2-40B4-BE49-F238E27FC236}">
                <a16:creationId xmlns:a16="http://schemas.microsoft.com/office/drawing/2014/main" id="{3F1D8C70-7CE7-4740-A658-15400A2DCB6F}"/>
              </a:ext>
            </a:extLst>
          </p:cNvPr>
          <p:cNvSpPr/>
          <p:nvPr/>
        </p:nvSpPr>
        <p:spPr>
          <a:xfrm>
            <a:off x="7444181" y="2200590"/>
            <a:ext cx="6134400" cy="2462400"/>
          </a:xfrm>
          <a:prstGeom prst="roundRect">
            <a:avLst>
              <a:gd name="adj" fmla="val 107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0" name="Rounded Rectangle 4">
            <a:extLst>
              <a:ext uri="{FF2B5EF4-FFF2-40B4-BE49-F238E27FC236}">
                <a16:creationId xmlns:a16="http://schemas.microsoft.com/office/drawing/2014/main" id="{EF68B4F4-A0AA-4701-AE1E-F20B0E62D57E}"/>
              </a:ext>
            </a:extLst>
          </p:cNvPr>
          <p:cNvSpPr/>
          <p:nvPr/>
        </p:nvSpPr>
        <p:spPr>
          <a:xfrm>
            <a:off x="1086730" y="2189741"/>
            <a:ext cx="6134400" cy="2462400"/>
          </a:xfrm>
          <a:prstGeom prst="roundRect">
            <a:avLst>
              <a:gd name="adj" fmla="val 107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40" dirty="0"/>
          </a:p>
        </p:txBody>
      </p:sp>
      <p:sp>
        <p:nvSpPr>
          <p:cNvPr id="12" name="TextBox 11">
            <a:extLst>
              <a:ext uri="{FF2B5EF4-FFF2-40B4-BE49-F238E27FC236}">
                <a16:creationId xmlns:a16="http://schemas.microsoft.com/office/drawing/2014/main" id="{1DB7A0B3-ED9B-414E-9B79-B706EEDC6C6C}"/>
              </a:ext>
            </a:extLst>
          </p:cNvPr>
          <p:cNvSpPr txBox="1"/>
          <p:nvPr/>
        </p:nvSpPr>
        <p:spPr>
          <a:xfrm>
            <a:off x="1462908" y="2451445"/>
            <a:ext cx="4918731" cy="1477328"/>
          </a:xfrm>
          <a:prstGeom prst="rect">
            <a:avLst/>
          </a:prstGeom>
          <a:noFill/>
        </p:spPr>
        <p:txBody>
          <a:bodyPr wrap="square" rtlCol="0">
            <a:spAutoFit/>
          </a:bodyPr>
          <a:lstStyle/>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浸入式語言學習理論</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角色扮演架構：</a:t>
            </a:r>
            <a:r>
              <a:rPr lang="en-US" altLang="zh-TW" dirty="0">
                <a:solidFill>
                  <a:schemeClr val="bg1"/>
                </a:solidFill>
                <a:latin typeface="Microsoft JhengHei" panose="020B0604030504040204" pitchFamily="34" charset="-120"/>
                <a:ea typeface="Microsoft JhengHei" panose="020B0604030504040204" pitchFamily="34" charset="-120"/>
              </a:rPr>
              <a:t>AI</a:t>
            </a:r>
            <a:r>
              <a:rPr lang="zh-TW" altLang="en-US" dirty="0">
                <a:solidFill>
                  <a:schemeClr val="bg1"/>
                </a:solidFill>
                <a:latin typeface="Microsoft JhengHei" panose="020B0604030504040204" pitchFamily="34" charset="-120"/>
                <a:ea typeface="Microsoft JhengHei" panose="020B0604030504040204" pitchFamily="34" charset="-120"/>
              </a:rPr>
              <a:t>扮演真實對話夥伴（非教學工具），降低情感過濾器</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技術架構：五大日常主題、參數化提示設計</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教育創新：深度對話策略、隱性糾錯機制：</a:t>
            </a:r>
          </a:p>
        </p:txBody>
      </p:sp>
      <p:sp>
        <p:nvSpPr>
          <p:cNvPr id="14" name="TextBox 13">
            <a:extLst>
              <a:ext uri="{FF2B5EF4-FFF2-40B4-BE49-F238E27FC236}">
                <a16:creationId xmlns:a16="http://schemas.microsoft.com/office/drawing/2014/main" id="{34AE4588-6A72-415D-B89E-5B380235C1AF}"/>
              </a:ext>
            </a:extLst>
          </p:cNvPr>
          <p:cNvSpPr txBox="1"/>
          <p:nvPr/>
        </p:nvSpPr>
        <p:spPr>
          <a:xfrm>
            <a:off x="1376435" y="5059011"/>
            <a:ext cx="5274667" cy="2031325"/>
          </a:xfrm>
          <a:prstGeom prst="rect">
            <a:avLst/>
          </a:prstGeom>
          <a:noFill/>
        </p:spPr>
        <p:txBody>
          <a:bodyPr wrap="square" rtlCol="0">
            <a:spAutoFit/>
          </a:bodyPr>
          <a:lstStyle/>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輸出假說理論</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結構化學習：「展示</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練習</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回饋」，促進詞彙內化</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分級體系：預設詞庫備份機制</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雙語教學策略：中英文、符合認知負荷理論</a:t>
            </a:r>
            <a:endPar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endParaRPr>
          </a:p>
          <a:p>
            <a:pPr marL="342900" indent="-342900">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多維評估機制：詞彙準確性 </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 </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句法正確性 </a:t>
            </a:r>
            <a:r>
              <a:rPr lang="en-US" altLang="zh-TW" dirty="0">
                <a:solidFill>
                  <a:schemeClr val="bg1"/>
                </a:solidFill>
                <a:latin typeface="Microsoft JhengHei" panose="020B0604030504040204" pitchFamily="34" charset="-120"/>
                <a:ea typeface="Microsoft JhengHei" panose="020B0604030504040204" pitchFamily="34" charset="-120"/>
                <a:cs typeface="Arial" pitchFamily="34" charset="0"/>
              </a:rPr>
              <a:t>+ </a:t>
            </a:r>
            <a:r>
              <a:rPr lang="zh-TW" altLang="en-US" dirty="0">
                <a:solidFill>
                  <a:schemeClr val="bg1"/>
                </a:solidFill>
                <a:latin typeface="Microsoft JhengHei" panose="020B0604030504040204" pitchFamily="34" charset="-120"/>
                <a:ea typeface="Microsoft JhengHei" panose="020B0604030504040204" pitchFamily="34" charset="-120"/>
                <a:cs typeface="Arial" pitchFamily="34" charset="0"/>
              </a:rPr>
              <a:t>表達自然度分析</a:t>
            </a:r>
            <a:endParaRPr lang="ko-KR" altLang="en-US" dirty="0">
              <a:solidFill>
                <a:schemeClr val="bg1"/>
              </a:solidFill>
              <a:latin typeface="Microsoft JhengHei" panose="020B0604030504040204" pitchFamily="34" charset="-120"/>
              <a:cs typeface="Arial" pitchFamily="34" charset="0"/>
            </a:endParaRPr>
          </a:p>
        </p:txBody>
      </p:sp>
      <p:sp>
        <p:nvSpPr>
          <p:cNvPr id="16" name="TextBox 15">
            <a:extLst>
              <a:ext uri="{FF2B5EF4-FFF2-40B4-BE49-F238E27FC236}">
                <a16:creationId xmlns:a16="http://schemas.microsoft.com/office/drawing/2014/main" id="{EA46056B-E578-4528-B575-30A116E5F270}"/>
              </a:ext>
            </a:extLst>
          </p:cNvPr>
          <p:cNvSpPr txBox="1"/>
          <p:nvPr/>
        </p:nvSpPr>
        <p:spPr>
          <a:xfrm>
            <a:off x="8227153" y="5032442"/>
            <a:ext cx="5204642" cy="1754326"/>
          </a:xfrm>
          <a:prstGeom prst="rect">
            <a:avLst/>
          </a:prstGeom>
          <a:noFill/>
        </p:spPr>
        <p:txBody>
          <a:bodyPr wrap="square" rtlCol="0">
            <a:spAutoFit/>
          </a:bodyPr>
          <a:lstStyle/>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聽力理解理論與自然順序假說</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專業語言助手定位：專注創建符合教育目標的聽力訓練內容</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內容生成機制：精確長度控制、日常主題</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智能評估系統：自動問題生成算法、混合評估模式、難度適應性</a:t>
            </a:r>
          </a:p>
        </p:txBody>
      </p:sp>
      <p:sp>
        <p:nvSpPr>
          <p:cNvPr id="18" name="TextBox 17">
            <a:extLst>
              <a:ext uri="{FF2B5EF4-FFF2-40B4-BE49-F238E27FC236}">
                <a16:creationId xmlns:a16="http://schemas.microsoft.com/office/drawing/2014/main" id="{915EED31-C798-4A44-9DAC-5F76455F90A5}"/>
              </a:ext>
            </a:extLst>
          </p:cNvPr>
          <p:cNvSpPr txBox="1"/>
          <p:nvPr/>
        </p:nvSpPr>
        <p:spPr>
          <a:xfrm>
            <a:off x="8307370" y="2473035"/>
            <a:ext cx="5095746" cy="1754326"/>
          </a:xfrm>
          <a:prstGeom prst="rect">
            <a:avLst/>
          </a:prstGeom>
          <a:noFill/>
        </p:spPr>
        <p:txBody>
          <a:bodyPr wrap="square" rtlCol="0">
            <a:spAutoFit/>
          </a:bodyPr>
          <a:lstStyle/>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模仿學習理論與支架式教學</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母語角色：語言表達範例，標準化語音模型</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語音評估技術：</a:t>
            </a:r>
            <a:r>
              <a:rPr lang="en-US" altLang="zh-TW" dirty="0">
                <a:solidFill>
                  <a:schemeClr val="bg1"/>
                </a:solidFill>
                <a:latin typeface="Microsoft JhengHei" panose="020B0604030504040204" pitchFamily="34" charset="-120"/>
                <a:ea typeface="Microsoft JhengHei" panose="020B0604030504040204" pitchFamily="34" charset="-120"/>
              </a:rPr>
              <a:t>Whisper+ </a:t>
            </a:r>
            <a:r>
              <a:rPr lang="en-US" altLang="zh-TW" dirty="0" err="1">
                <a:solidFill>
                  <a:schemeClr val="bg1"/>
                </a:solidFill>
                <a:latin typeface="Microsoft JhengHei" panose="020B0604030504040204" pitchFamily="34" charset="-120"/>
                <a:ea typeface="Microsoft JhengHei" panose="020B0604030504040204" pitchFamily="34" charset="-120"/>
              </a:rPr>
              <a:t>Levenshtein</a:t>
            </a:r>
            <a:r>
              <a:rPr lang="zh-TW" altLang="en-US" dirty="0">
                <a:solidFill>
                  <a:schemeClr val="bg1"/>
                </a:solidFill>
                <a:latin typeface="Microsoft JhengHei" panose="020B0604030504040204" pitchFamily="34" charset="-120"/>
                <a:ea typeface="Microsoft JhengHei" panose="020B0604030504040204" pitchFamily="34" charset="-120"/>
              </a:rPr>
              <a:t>距離算法、發音進行權重處理、語音相似度評估</a:t>
            </a:r>
            <a:endParaRPr lang="en-US" altLang="zh-TW" dirty="0">
              <a:solidFill>
                <a:schemeClr val="bg1"/>
              </a:solidFill>
              <a:latin typeface="Microsoft JhengHei" panose="020B0604030504040204" pitchFamily="34" charset="-120"/>
              <a:ea typeface="Microsoft JhengHei" panose="020B0604030504040204" pitchFamily="34" charset="-120"/>
            </a:endParaRPr>
          </a:p>
          <a:p>
            <a:pPr>
              <a:buFont typeface="Arial" panose="020B0604020202020204" pitchFamily="34" charset="0"/>
              <a:buChar char="•"/>
            </a:pPr>
            <a:r>
              <a:rPr lang="zh-TW" altLang="en-US" dirty="0">
                <a:solidFill>
                  <a:schemeClr val="bg1"/>
                </a:solidFill>
                <a:latin typeface="Microsoft JhengHei" panose="020B0604030504040204" pitchFamily="34" charset="-120"/>
                <a:ea typeface="Microsoft JhengHei" panose="020B0604030504040204" pitchFamily="34" charset="-120"/>
              </a:rPr>
              <a:t> 場景化設計：五大生活場景、難度等級、基於任務型語言教學法</a:t>
            </a:r>
          </a:p>
        </p:txBody>
      </p:sp>
      <p:sp>
        <p:nvSpPr>
          <p:cNvPr id="20" name="TextBox 19">
            <a:extLst>
              <a:ext uri="{FF2B5EF4-FFF2-40B4-BE49-F238E27FC236}">
                <a16:creationId xmlns:a16="http://schemas.microsoft.com/office/drawing/2014/main" id="{7AAB538D-E14C-4806-B87D-2DA8E942F579}"/>
              </a:ext>
            </a:extLst>
          </p:cNvPr>
          <p:cNvSpPr txBox="1"/>
          <p:nvPr/>
        </p:nvSpPr>
        <p:spPr>
          <a:xfrm>
            <a:off x="6475710" y="2343817"/>
            <a:ext cx="1054970" cy="2308324"/>
          </a:xfrm>
          <a:prstGeom prst="rect">
            <a:avLst/>
          </a:prstGeom>
          <a:noFill/>
        </p:spPr>
        <p:txBody>
          <a:bodyPr wrap="square" rtlCol="0" anchor="ctr">
            <a:spAutoFit/>
          </a:bodyPr>
          <a:lstStyle/>
          <a:p>
            <a:r>
              <a:rPr lang="zh-TW" altLang="en-US" sz="3600" b="1" dirty="0">
                <a:solidFill>
                  <a:schemeClr val="bg1"/>
                </a:solidFill>
                <a:latin typeface="Microsoft JhengHei" panose="020B0604030504040204" pitchFamily="34" charset="-120"/>
                <a:ea typeface="Microsoft JhengHei" panose="020B0604030504040204" pitchFamily="34" charset="-120"/>
              </a:rPr>
              <a:t>對話練習</a:t>
            </a:r>
            <a:endParaRPr lang="zh-TW" altLang="en-US" sz="3600" dirty="0">
              <a:solidFill>
                <a:schemeClr val="bg1"/>
              </a:solidFill>
              <a:latin typeface="Microsoft JhengHei" panose="020B0604030504040204" pitchFamily="34" charset="-120"/>
              <a:ea typeface="Microsoft JhengHei" panose="020B0604030504040204" pitchFamily="34" charset="-120"/>
            </a:endParaRPr>
          </a:p>
        </p:txBody>
      </p:sp>
      <p:sp>
        <p:nvSpPr>
          <p:cNvPr id="22" name="TextBox 21">
            <a:extLst>
              <a:ext uri="{FF2B5EF4-FFF2-40B4-BE49-F238E27FC236}">
                <a16:creationId xmlns:a16="http://schemas.microsoft.com/office/drawing/2014/main" id="{EB5F1ECC-8DD8-41E1-B3D2-56445BAC96E1}"/>
              </a:ext>
            </a:extLst>
          </p:cNvPr>
          <p:cNvSpPr txBox="1"/>
          <p:nvPr/>
        </p:nvSpPr>
        <p:spPr>
          <a:xfrm>
            <a:off x="6303128" y="4947946"/>
            <a:ext cx="1054970" cy="2308324"/>
          </a:xfrm>
          <a:prstGeom prst="rect">
            <a:avLst/>
          </a:prstGeom>
          <a:noFill/>
        </p:spPr>
        <p:txBody>
          <a:bodyPr wrap="square" rtlCol="0" anchor="ctr">
            <a:spAutoFit/>
          </a:bodyPr>
          <a:lstStyle/>
          <a:p>
            <a:pPr algn="ctr"/>
            <a:r>
              <a:rPr lang="zh-TW" altLang="en-US" sz="3600" b="1" dirty="0">
                <a:solidFill>
                  <a:schemeClr val="bg1"/>
                </a:solidFill>
                <a:latin typeface="Microsoft JhengHei" panose="020B0604030504040204" pitchFamily="34" charset="-120"/>
                <a:ea typeface="Microsoft JhengHei" panose="020B0604030504040204" pitchFamily="34" charset="-120"/>
                <a:cs typeface="Arial" pitchFamily="34" charset="0"/>
              </a:rPr>
              <a:t>單字造句</a:t>
            </a:r>
            <a:endParaRPr lang="ko-KR" altLang="en-US" sz="3600" b="1" dirty="0">
              <a:solidFill>
                <a:schemeClr val="bg1"/>
              </a:solidFill>
              <a:latin typeface="Microsoft JhengHei" panose="020B0604030504040204" pitchFamily="34" charset="-120"/>
              <a:cs typeface="Arial" pitchFamily="34" charset="0"/>
            </a:endParaRPr>
          </a:p>
        </p:txBody>
      </p:sp>
      <p:sp>
        <p:nvSpPr>
          <p:cNvPr id="24" name="TextBox 23">
            <a:extLst>
              <a:ext uri="{FF2B5EF4-FFF2-40B4-BE49-F238E27FC236}">
                <a16:creationId xmlns:a16="http://schemas.microsoft.com/office/drawing/2014/main" id="{F65ED0CA-B76F-47EE-9222-89CC78186A79}"/>
              </a:ext>
            </a:extLst>
          </p:cNvPr>
          <p:cNvSpPr txBox="1"/>
          <p:nvPr/>
        </p:nvSpPr>
        <p:spPr>
          <a:xfrm>
            <a:off x="7398546" y="2272782"/>
            <a:ext cx="1054970" cy="2308324"/>
          </a:xfrm>
          <a:prstGeom prst="rect">
            <a:avLst/>
          </a:prstGeom>
          <a:noFill/>
        </p:spPr>
        <p:txBody>
          <a:bodyPr wrap="square" rtlCol="0" anchor="ctr">
            <a:spAutoFit/>
          </a:bodyPr>
          <a:lstStyle/>
          <a:p>
            <a:pPr algn="ctr"/>
            <a:r>
              <a:rPr lang="zh-TW" altLang="en-US" sz="3600" b="1" dirty="0">
                <a:solidFill>
                  <a:schemeClr val="bg1"/>
                </a:solidFill>
                <a:latin typeface="Microsoft JhengHei" panose="020B0604030504040204" pitchFamily="34" charset="-120"/>
                <a:ea typeface="Microsoft JhengHei" panose="020B0604030504040204" pitchFamily="34" charset="-120"/>
                <a:cs typeface="Arial" pitchFamily="34" charset="0"/>
              </a:rPr>
              <a:t>跟讀練習</a:t>
            </a:r>
            <a:endParaRPr lang="ko-KR" altLang="en-US" sz="3600" b="1" dirty="0">
              <a:solidFill>
                <a:schemeClr val="bg1"/>
              </a:solidFill>
              <a:latin typeface="Microsoft JhengHei" panose="020B0604030504040204" pitchFamily="34" charset="-120"/>
              <a:cs typeface="Arial" pitchFamily="34" charset="0"/>
            </a:endParaRPr>
          </a:p>
        </p:txBody>
      </p:sp>
      <p:sp>
        <p:nvSpPr>
          <p:cNvPr id="26" name="TextBox 25">
            <a:extLst>
              <a:ext uri="{FF2B5EF4-FFF2-40B4-BE49-F238E27FC236}">
                <a16:creationId xmlns:a16="http://schemas.microsoft.com/office/drawing/2014/main" id="{80D8A6AB-E680-4B6D-A235-7FBF698D8D16}"/>
              </a:ext>
            </a:extLst>
          </p:cNvPr>
          <p:cNvSpPr txBox="1"/>
          <p:nvPr/>
        </p:nvSpPr>
        <p:spPr>
          <a:xfrm>
            <a:off x="7315200" y="4881533"/>
            <a:ext cx="1054970" cy="2308324"/>
          </a:xfrm>
          <a:prstGeom prst="rect">
            <a:avLst/>
          </a:prstGeom>
          <a:noFill/>
        </p:spPr>
        <p:txBody>
          <a:bodyPr wrap="square" rtlCol="0" anchor="ctr">
            <a:spAutoFit/>
          </a:bodyPr>
          <a:lstStyle/>
          <a:p>
            <a:pPr algn="ctr"/>
            <a:r>
              <a:rPr lang="zh-TW" altLang="en-US" sz="3600" b="1" dirty="0">
                <a:solidFill>
                  <a:schemeClr val="bg1"/>
                </a:solidFill>
                <a:latin typeface="Microsoft JhengHei" panose="020B0604030504040204" pitchFamily="34" charset="-120"/>
                <a:ea typeface="Microsoft JhengHei" panose="020B0604030504040204" pitchFamily="34" charset="-120"/>
                <a:cs typeface="Arial" pitchFamily="34" charset="0"/>
              </a:rPr>
              <a:t>聽力練習</a:t>
            </a:r>
            <a:endParaRPr lang="ko-KR" altLang="en-US" sz="3600" b="1" dirty="0">
              <a:solidFill>
                <a:schemeClr val="bg1"/>
              </a:solidFill>
              <a:latin typeface="Microsoft JhengHei" panose="020B0604030504040204" pitchFamily="34" charset="-120"/>
              <a:cs typeface="Arial" pitchFamily="34" charset="0"/>
            </a:endParaRPr>
          </a:p>
        </p:txBody>
      </p:sp>
    </p:spTree>
    <p:extLst>
      <p:ext uri="{BB962C8B-B14F-4D97-AF65-F5344CB8AC3E}">
        <p14:creationId xmlns:p14="http://schemas.microsoft.com/office/powerpoint/2010/main" val="4005271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E37BB967-A501-E613-CB15-ACAB7B8300AF}"/>
            </a:ext>
          </a:extLst>
        </p:cNvPr>
        <p:cNvGrpSpPr/>
        <p:nvPr/>
      </p:nvGrpSpPr>
      <p:grpSpPr>
        <a:xfrm>
          <a:off x="0" y="0"/>
          <a:ext cx="0" cy="0"/>
          <a:chOff x="0" y="0"/>
          <a:chExt cx="0" cy="0"/>
        </a:xfrm>
      </p:grpSpPr>
      <p:sp>
        <p:nvSpPr>
          <p:cNvPr id="659" name="Google Shape;659;p46">
            <a:extLst>
              <a:ext uri="{FF2B5EF4-FFF2-40B4-BE49-F238E27FC236}">
                <a16:creationId xmlns:a16="http://schemas.microsoft.com/office/drawing/2014/main" id="{1AF018D5-B601-592E-1744-744D24290B99}"/>
              </a:ext>
            </a:extLst>
          </p:cNvPr>
          <p:cNvSpPr txBox="1">
            <a:spLocks noGrp="1"/>
          </p:cNvSpPr>
          <p:nvPr>
            <p:ph type="title"/>
          </p:nvPr>
        </p:nvSpPr>
        <p:spPr>
          <a:xfrm>
            <a:off x="4031159" y="2097760"/>
            <a:ext cx="8108703" cy="1885920"/>
          </a:xfrm>
          <a:prstGeom prst="rect">
            <a:avLst/>
          </a:prstGeom>
        </p:spPr>
        <p:txBody>
          <a:bodyPr spcFirstLastPara="1" wrap="square" lIns="146280" tIns="146280" rIns="146280" bIns="146280" anchor="b" anchorCtr="0">
            <a:noAutofit/>
          </a:bodyPr>
          <a:lstStyle/>
          <a:p>
            <a:pPr algn="l"/>
            <a:r>
              <a:rPr lang="zh-TW" altLang="en-US" sz="6000" b="1" dirty="0">
                <a:latin typeface="微軟正黑體" panose="020B0604030504040204" pitchFamily="34" charset="-120"/>
                <a:ea typeface="微軟正黑體" panose="020B0604030504040204" pitchFamily="34" charset="-120"/>
              </a:rPr>
              <a:t>系統功能展示</a:t>
            </a:r>
          </a:p>
        </p:txBody>
      </p:sp>
      <p:cxnSp>
        <p:nvCxnSpPr>
          <p:cNvPr id="661" name="Google Shape;661;p46">
            <a:extLst>
              <a:ext uri="{FF2B5EF4-FFF2-40B4-BE49-F238E27FC236}">
                <a16:creationId xmlns:a16="http://schemas.microsoft.com/office/drawing/2014/main" id="{A1731428-C024-8B01-3D05-DF3DCCE820F4}"/>
              </a:ext>
            </a:extLst>
          </p:cNvPr>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66666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43D4551-4C53-7640-1732-325C0837BDFC}"/>
              </a:ext>
            </a:extLst>
          </p:cNvPr>
          <p:cNvPicPr>
            <a:picLocks noChangeAspect="1"/>
          </p:cNvPicPr>
          <p:nvPr/>
        </p:nvPicPr>
        <p:blipFill>
          <a:blip r:embed="rId3"/>
          <a:stretch>
            <a:fillRect/>
          </a:stretch>
        </p:blipFill>
        <p:spPr>
          <a:xfrm>
            <a:off x="12606233" y="6904304"/>
            <a:ext cx="1896020" cy="1280271"/>
          </a:xfrm>
          <a:prstGeom prst="rect">
            <a:avLst/>
          </a:prstGeom>
        </p:spPr>
      </p:pic>
      <p:sp>
        <p:nvSpPr>
          <p:cNvPr id="2" name="Text Placeholder 1">
            <a:extLst>
              <a:ext uri="{FF2B5EF4-FFF2-40B4-BE49-F238E27FC236}">
                <a16:creationId xmlns:a16="http://schemas.microsoft.com/office/drawing/2014/main" id="{D9B85F3A-0D98-4AE5-8CED-AA4A4CF82188}"/>
              </a:ext>
            </a:extLst>
          </p:cNvPr>
          <p:cNvSpPr>
            <a:spLocks noGrp="1"/>
          </p:cNvSpPr>
          <p:nvPr>
            <p:ph type="body" sz="quarter" idx="4294967295"/>
          </p:nvPr>
        </p:nvSpPr>
        <p:spPr>
          <a:xfrm>
            <a:off x="0" y="254000"/>
            <a:ext cx="12611100" cy="950913"/>
          </a:xfrm>
          <a:prstGeom prst="rect">
            <a:avLst/>
          </a:prstGeom>
        </p:spPr>
        <p:txBody>
          <a:bodyPr/>
          <a:lstStyle/>
          <a:p>
            <a:pPr marL="0" indent="0">
              <a:buNone/>
            </a:pPr>
            <a:r>
              <a:rPr lang="en-US" sz="5400" b="1" dirty="0" err="1">
                <a:latin typeface="Microsoft JhengHei" panose="020B0604030504040204" pitchFamily="34" charset="-120"/>
                <a:ea typeface="Microsoft JhengHei" panose="020B0604030504040204" pitchFamily="34" charset="-120"/>
              </a:rPr>
              <a:t>英語對話練習功能</a:t>
            </a:r>
            <a:endParaRPr lang="en-US" sz="5400" b="1" dirty="0">
              <a:latin typeface="Microsoft JhengHei" panose="020B0604030504040204" pitchFamily="34" charset="-120"/>
              <a:ea typeface="Microsoft JhengHei" panose="020B0604030504040204" pitchFamily="34" charset="-120"/>
            </a:endParaRPr>
          </a:p>
        </p:txBody>
      </p:sp>
      <p:grpSp>
        <p:nvGrpSpPr>
          <p:cNvPr id="67" name="Group 66">
            <a:extLst>
              <a:ext uri="{FF2B5EF4-FFF2-40B4-BE49-F238E27FC236}">
                <a16:creationId xmlns:a16="http://schemas.microsoft.com/office/drawing/2014/main" id="{85030F3C-3F14-4280-AA6C-19204206B3E0}"/>
              </a:ext>
            </a:extLst>
          </p:cNvPr>
          <p:cNvGrpSpPr/>
          <p:nvPr/>
        </p:nvGrpSpPr>
        <p:grpSpPr>
          <a:xfrm rot="16200000">
            <a:off x="9448901" y="2939386"/>
            <a:ext cx="7164977" cy="2045129"/>
            <a:chOff x="3960971" y="2767117"/>
            <a:chExt cx="4267200" cy="1321489"/>
          </a:xfrm>
        </p:grpSpPr>
        <p:sp>
          <p:nvSpPr>
            <p:cNvPr id="68" name="Freeform: Shape 67">
              <a:extLst>
                <a:ext uri="{FF2B5EF4-FFF2-40B4-BE49-F238E27FC236}">
                  <a16:creationId xmlns:a16="http://schemas.microsoft.com/office/drawing/2014/main" id="{500CC3D4-3213-44FE-AEA1-D00F01745FC6}"/>
                </a:ext>
              </a:extLst>
            </p:cNvPr>
            <p:cNvSpPr/>
            <p:nvPr/>
          </p:nvSpPr>
          <p:spPr>
            <a:xfrm>
              <a:off x="4049553" y="3359522"/>
              <a:ext cx="4086225" cy="657225"/>
            </a:xfrm>
            <a:custGeom>
              <a:avLst/>
              <a:gdLst>
                <a:gd name="connsiteX0" fmla="*/ 3881914 w 4086225"/>
                <a:gd name="connsiteY0" fmla="*/ 86622 h 657225"/>
                <a:gd name="connsiteX1" fmla="*/ 2049304 w 4086225"/>
                <a:gd name="connsiteY1" fmla="*/ 319032 h 657225"/>
                <a:gd name="connsiteX2" fmla="*/ 2049304 w 4086225"/>
                <a:gd name="connsiteY2" fmla="*/ 313317 h 657225"/>
                <a:gd name="connsiteX3" fmla="*/ 210979 w 4086225"/>
                <a:gd name="connsiteY3" fmla="*/ 78050 h 657225"/>
                <a:gd name="connsiteX4" fmla="*/ 7144 w 4086225"/>
                <a:gd name="connsiteY4" fmla="*/ 603830 h 657225"/>
                <a:gd name="connsiteX5" fmla="*/ 1779746 w 4086225"/>
                <a:gd name="connsiteY5" fmla="*/ 375230 h 657225"/>
                <a:gd name="connsiteX6" fmla="*/ 2043589 w 4086225"/>
                <a:gd name="connsiteY6" fmla="*/ 643835 h 657225"/>
                <a:gd name="connsiteX7" fmla="*/ 2043589 w 4086225"/>
                <a:gd name="connsiteY7" fmla="*/ 652407 h 657225"/>
                <a:gd name="connsiteX8" fmla="*/ 2312194 w 4086225"/>
                <a:gd name="connsiteY8" fmla="*/ 383802 h 657225"/>
                <a:gd name="connsiteX9" fmla="*/ 4084796 w 4086225"/>
                <a:gd name="connsiteY9" fmla="*/ 612402 h 657225"/>
                <a:gd name="connsiteX10" fmla="*/ 3881914 w 4086225"/>
                <a:gd name="connsiteY10" fmla="*/ 86622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86225" h="657225">
                  <a:moveTo>
                    <a:pt x="3881914" y="86622"/>
                  </a:moveTo>
                  <a:cubicBezTo>
                    <a:pt x="3555206" y="-1960"/>
                    <a:pt x="2711291" y="-80065"/>
                    <a:pt x="2049304" y="319032"/>
                  </a:cubicBezTo>
                  <a:lnTo>
                    <a:pt x="2049304" y="313317"/>
                  </a:lnTo>
                  <a:cubicBezTo>
                    <a:pt x="1385411" y="-88638"/>
                    <a:pt x="538639" y="-9580"/>
                    <a:pt x="210979" y="78050"/>
                  </a:cubicBezTo>
                  <a:cubicBezTo>
                    <a:pt x="210979" y="78050"/>
                    <a:pt x="17621" y="294267"/>
                    <a:pt x="7144" y="603830"/>
                  </a:cubicBezTo>
                  <a:lnTo>
                    <a:pt x="1779746" y="375230"/>
                  </a:lnTo>
                  <a:cubicBezTo>
                    <a:pt x="1779746" y="521915"/>
                    <a:pt x="1897856" y="640977"/>
                    <a:pt x="2043589" y="643835"/>
                  </a:cubicBezTo>
                  <a:lnTo>
                    <a:pt x="2043589" y="652407"/>
                  </a:lnTo>
                  <a:cubicBezTo>
                    <a:pt x="2192179" y="652407"/>
                    <a:pt x="2312194" y="532392"/>
                    <a:pt x="2312194" y="383802"/>
                  </a:cubicBezTo>
                  <a:lnTo>
                    <a:pt x="4084796" y="612402"/>
                  </a:lnTo>
                  <a:cubicBezTo>
                    <a:pt x="4076224" y="302840"/>
                    <a:pt x="3881914" y="86622"/>
                    <a:pt x="3881914" y="86622"/>
                  </a:cubicBezTo>
                  <a:close/>
                </a:path>
              </a:pathLst>
            </a:custGeom>
            <a:solidFill>
              <a:schemeClr val="accent5"/>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sp>
          <p:nvSpPr>
            <p:cNvPr id="69" name="Freeform: Shape 68">
              <a:extLst>
                <a:ext uri="{FF2B5EF4-FFF2-40B4-BE49-F238E27FC236}">
                  <a16:creationId xmlns:a16="http://schemas.microsoft.com/office/drawing/2014/main" id="{F3D9FB98-AB9C-4644-A8E5-20D1B7786152}"/>
                </a:ext>
              </a:extLst>
            </p:cNvPr>
            <p:cNvSpPr/>
            <p:nvPr/>
          </p:nvSpPr>
          <p:spPr>
            <a:xfrm>
              <a:off x="3960971" y="3698081"/>
              <a:ext cx="4267200" cy="390525"/>
            </a:xfrm>
            <a:custGeom>
              <a:avLst/>
              <a:gdLst>
                <a:gd name="connsiteX0" fmla="*/ 2127409 w 4267200"/>
                <a:gd name="connsiteY0" fmla="*/ 389096 h 390525"/>
                <a:gd name="connsiteX1" fmla="*/ 1806416 w 4267200"/>
                <a:gd name="connsiteY1" fmla="*/ 120491 h 390525"/>
                <a:gd name="connsiteX2" fmla="*/ 51911 w 4267200"/>
                <a:gd name="connsiteY2" fmla="*/ 330041 h 390525"/>
                <a:gd name="connsiteX3" fmla="*/ 7144 w 4267200"/>
                <a:gd name="connsiteY3" fmla="*/ 294799 h 390525"/>
                <a:gd name="connsiteX4" fmla="*/ 7144 w 4267200"/>
                <a:gd name="connsiteY4" fmla="*/ 251936 h 390525"/>
                <a:gd name="connsiteX5" fmla="*/ 51911 w 4267200"/>
                <a:gd name="connsiteY5" fmla="*/ 216694 h 390525"/>
                <a:gd name="connsiteX6" fmla="*/ 1859756 w 4267200"/>
                <a:gd name="connsiteY6" fmla="*/ 7144 h 390525"/>
                <a:gd name="connsiteX7" fmla="*/ 1915954 w 4267200"/>
                <a:gd name="connsiteY7" fmla="*/ 65246 h 390525"/>
                <a:gd name="connsiteX8" fmla="*/ 2127409 w 4267200"/>
                <a:gd name="connsiteY8" fmla="*/ 275749 h 390525"/>
                <a:gd name="connsiteX9" fmla="*/ 2338864 w 4267200"/>
                <a:gd name="connsiteY9" fmla="*/ 65246 h 390525"/>
                <a:gd name="connsiteX10" fmla="*/ 2395061 w 4267200"/>
                <a:gd name="connsiteY10" fmla="*/ 7144 h 390525"/>
                <a:gd name="connsiteX11" fmla="*/ 4231482 w 4267200"/>
                <a:gd name="connsiteY11" fmla="*/ 216694 h 390525"/>
                <a:gd name="connsiteX12" fmla="*/ 4266724 w 4267200"/>
                <a:gd name="connsiteY12" fmla="*/ 251936 h 390525"/>
                <a:gd name="connsiteX13" fmla="*/ 4266724 w 4267200"/>
                <a:gd name="connsiteY13" fmla="*/ 294799 h 390525"/>
                <a:gd name="connsiteX14" fmla="*/ 4231482 w 4267200"/>
                <a:gd name="connsiteY14" fmla="*/ 330041 h 390525"/>
                <a:gd name="connsiteX15" fmla="*/ 2448401 w 4267200"/>
                <a:gd name="connsiteY15" fmla="*/ 120491 h 390525"/>
                <a:gd name="connsiteX16" fmla="*/ 2127409 w 4267200"/>
                <a:gd name="connsiteY16" fmla="*/ 389096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67200" h="390525">
                  <a:moveTo>
                    <a:pt x="2127409" y="389096"/>
                  </a:moveTo>
                  <a:cubicBezTo>
                    <a:pt x="1967389" y="389096"/>
                    <a:pt x="1834039" y="272891"/>
                    <a:pt x="1806416" y="120491"/>
                  </a:cubicBezTo>
                  <a:lnTo>
                    <a:pt x="51911" y="330041"/>
                  </a:lnTo>
                  <a:cubicBezTo>
                    <a:pt x="31909" y="330041"/>
                    <a:pt x="7144" y="313849"/>
                    <a:pt x="7144" y="294799"/>
                  </a:cubicBezTo>
                  <a:lnTo>
                    <a:pt x="7144" y="251936"/>
                  </a:lnTo>
                  <a:cubicBezTo>
                    <a:pt x="7144" y="231934"/>
                    <a:pt x="32861" y="216694"/>
                    <a:pt x="51911" y="216694"/>
                  </a:cubicBezTo>
                  <a:lnTo>
                    <a:pt x="1859756" y="7144"/>
                  </a:lnTo>
                  <a:cubicBezTo>
                    <a:pt x="1891189" y="7144"/>
                    <a:pt x="1915954" y="32861"/>
                    <a:pt x="1915954" y="65246"/>
                  </a:cubicBezTo>
                  <a:cubicBezTo>
                    <a:pt x="1915954" y="181451"/>
                    <a:pt x="2011204" y="275749"/>
                    <a:pt x="2127409" y="275749"/>
                  </a:cubicBezTo>
                  <a:cubicBezTo>
                    <a:pt x="2243614" y="275749"/>
                    <a:pt x="2338864" y="181451"/>
                    <a:pt x="2338864" y="65246"/>
                  </a:cubicBezTo>
                  <a:cubicBezTo>
                    <a:pt x="2338864" y="33814"/>
                    <a:pt x="2363629" y="7144"/>
                    <a:pt x="2395061" y="7144"/>
                  </a:cubicBezTo>
                  <a:lnTo>
                    <a:pt x="4231482" y="216694"/>
                  </a:lnTo>
                  <a:cubicBezTo>
                    <a:pt x="4251484" y="216694"/>
                    <a:pt x="4266724" y="232886"/>
                    <a:pt x="4266724" y="251936"/>
                  </a:cubicBezTo>
                  <a:lnTo>
                    <a:pt x="4266724" y="294799"/>
                  </a:lnTo>
                  <a:cubicBezTo>
                    <a:pt x="4266724" y="314801"/>
                    <a:pt x="4250532" y="330041"/>
                    <a:pt x="4231482" y="330041"/>
                  </a:cubicBezTo>
                  <a:lnTo>
                    <a:pt x="2448401" y="120491"/>
                  </a:lnTo>
                  <a:cubicBezTo>
                    <a:pt x="2420779" y="272891"/>
                    <a:pt x="2287429" y="389096"/>
                    <a:pt x="2127409" y="389096"/>
                  </a:cubicBezTo>
                  <a:close/>
                </a:path>
              </a:pathLst>
            </a:custGeom>
            <a:solidFill>
              <a:schemeClr val="tx1"/>
            </a:solidFill>
            <a:ln w="9525" cap="flat">
              <a:noFill/>
              <a:prstDash val="solid"/>
              <a:miter/>
            </a:ln>
          </p:spPr>
          <p:txBody>
            <a:bodyPr rtlCol="0" anchor="ctr"/>
            <a:lstStyle/>
            <a:p>
              <a:endParaRPr lang="en-US" sz="2000" dirty="0">
                <a:latin typeface="Microsoft JhengHei" panose="020B0604030504040204" pitchFamily="34" charset="-120"/>
                <a:ea typeface="Microsoft JhengHei" panose="020B0604030504040204" pitchFamily="34" charset="-120"/>
              </a:endParaRPr>
            </a:p>
          </p:txBody>
        </p:sp>
        <p:sp>
          <p:nvSpPr>
            <p:cNvPr id="70" name="Freeform: Shape 69">
              <a:extLst>
                <a:ext uri="{FF2B5EF4-FFF2-40B4-BE49-F238E27FC236}">
                  <a16:creationId xmlns:a16="http://schemas.microsoft.com/office/drawing/2014/main" id="{16388DEA-7EFF-4878-98F7-417A594FE6FF}"/>
                </a:ext>
              </a:extLst>
            </p:cNvPr>
            <p:cNvSpPr/>
            <p:nvPr/>
          </p:nvSpPr>
          <p:spPr>
            <a:xfrm>
              <a:off x="6068849" y="2857621"/>
              <a:ext cx="1809750" cy="857250"/>
            </a:xfrm>
            <a:custGeom>
              <a:avLst/>
              <a:gdLst>
                <a:gd name="connsiteX0" fmla="*/ 1806416 w 1809750"/>
                <a:gd name="connsiteY0" fmla="*/ 463748 h 857250"/>
                <a:gd name="connsiteX1" fmla="*/ 423386 w 1809750"/>
                <a:gd name="connsiteY1" fmla="*/ 638056 h 857250"/>
                <a:gd name="connsiteX2" fmla="*/ 437674 w 1809750"/>
                <a:gd name="connsiteY2" fmla="*/ 632341 h 857250"/>
                <a:gd name="connsiteX3" fmla="*/ 1751171 w 1809750"/>
                <a:gd name="connsiteY3" fmla="*/ 395168 h 857250"/>
                <a:gd name="connsiteX4" fmla="*/ 1769269 w 1809750"/>
                <a:gd name="connsiteY4" fmla="*/ 375166 h 857250"/>
                <a:gd name="connsiteX5" fmla="*/ 1749266 w 1809750"/>
                <a:gd name="connsiteY5" fmla="*/ 357068 h 857250"/>
                <a:gd name="connsiteX6" fmla="*/ 421481 w 1809750"/>
                <a:gd name="connsiteY6" fmla="*/ 598051 h 857250"/>
                <a:gd name="connsiteX7" fmla="*/ 343376 w 1809750"/>
                <a:gd name="connsiteY7" fmla="*/ 631388 h 857250"/>
                <a:gd name="connsiteX8" fmla="*/ 1721644 w 1809750"/>
                <a:gd name="connsiteY8" fmla="*/ 305633 h 857250"/>
                <a:gd name="connsiteX9" fmla="*/ 1726406 w 1809750"/>
                <a:gd name="connsiteY9" fmla="*/ 300871 h 857250"/>
                <a:gd name="connsiteX10" fmla="*/ 1721644 w 1809750"/>
                <a:gd name="connsiteY10" fmla="*/ 296108 h 857250"/>
                <a:gd name="connsiteX11" fmla="*/ 381476 w 1809750"/>
                <a:gd name="connsiteY11" fmla="*/ 603766 h 857250"/>
                <a:gd name="connsiteX12" fmla="*/ 454819 w 1809750"/>
                <a:gd name="connsiteY12" fmla="*/ 566618 h 857250"/>
                <a:gd name="connsiteX13" fmla="*/ 1654016 w 1809750"/>
                <a:gd name="connsiteY13" fmla="*/ 252293 h 857250"/>
                <a:gd name="connsiteX14" fmla="*/ 1671161 w 1809750"/>
                <a:gd name="connsiteY14" fmla="*/ 232291 h 857250"/>
                <a:gd name="connsiteX15" fmla="*/ 1650206 w 1809750"/>
                <a:gd name="connsiteY15" fmla="*/ 214193 h 857250"/>
                <a:gd name="connsiteX16" fmla="*/ 435769 w 1809750"/>
                <a:gd name="connsiteY16" fmla="*/ 532328 h 857250"/>
                <a:gd name="connsiteX17" fmla="*/ 104299 w 1809750"/>
                <a:gd name="connsiteY17" fmla="*/ 725686 h 857250"/>
                <a:gd name="connsiteX18" fmla="*/ 1428274 w 1809750"/>
                <a:gd name="connsiteY18" fmla="*/ 17026 h 857250"/>
                <a:gd name="connsiteX19" fmla="*/ 1431131 w 1809750"/>
                <a:gd name="connsiteY19" fmla="*/ 10358 h 857250"/>
                <a:gd name="connsiteX20" fmla="*/ 1424464 w 1809750"/>
                <a:gd name="connsiteY20" fmla="*/ 7501 h 857250"/>
                <a:gd name="connsiteX21" fmla="*/ 57626 w 1809750"/>
                <a:gd name="connsiteY21" fmla="*/ 759023 h 857250"/>
                <a:gd name="connsiteX22" fmla="*/ 9049 w 1809750"/>
                <a:gd name="connsiteY22" fmla="*/ 799028 h 857250"/>
                <a:gd name="connsiteX23" fmla="*/ 21431 w 1809750"/>
                <a:gd name="connsiteY23" fmla="*/ 812363 h 857250"/>
                <a:gd name="connsiteX24" fmla="*/ 7144 w 1809750"/>
                <a:gd name="connsiteY24" fmla="*/ 823793 h 857250"/>
                <a:gd name="connsiteX25" fmla="*/ 31909 w 1809750"/>
                <a:gd name="connsiteY25" fmla="*/ 852368 h 857250"/>
                <a:gd name="connsiteX26" fmla="*/ 327184 w 1809750"/>
                <a:gd name="connsiteY26" fmla="*/ 679013 h 857250"/>
                <a:gd name="connsiteX27" fmla="*/ 330994 w 1809750"/>
                <a:gd name="connsiteY27" fmla="*/ 681871 h 857250"/>
                <a:gd name="connsiteX28" fmla="*/ 332899 w 1809750"/>
                <a:gd name="connsiteY28" fmla="*/ 681871 h 857250"/>
                <a:gd name="connsiteX29" fmla="*/ 1805464 w 1809750"/>
                <a:gd name="connsiteY29" fmla="*/ 472321 h 857250"/>
                <a:gd name="connsiteX30" fmla="*/ 1810226 w 1809750"/>
                <a:gd name="connsiteY30" fmla="*/ 467558 h 857250"/>
                <a:gd name="connsiteX31" fmla="*/ 1806416 w 1809750"/>
                <a:gd name="connsiteY31" fmla="*/ 463748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09750" h="857250">
                  <a:moveTo>
                    <a:pt x="1806416" y="463748"/>
                  </a:moveTo>
                  <a:cubicBezTo>
                    <a:pt x="1798796" y="463748"/>
                    <a:pt x="1060609" y="411361"/>
                    <a:pt x="423386" y="638056"/>
                  </a:cubicBezTo>
                  <a:cubicBezTo>
                    <a:pt x="428149" y="636151"/>
                    <a:pt x="432911" y="634246"/>
                    <a:pt x="437674" y="632341"/>
                  </a:cubicBezTo>
                  <a:cubicBezTo>
                    <a:pt x="691039" y="529471"/>
                    <a:pt x="1122521" y="420886"/>
                    <a:pt x="1751171" y="395168"/>
                  </a:cubicBezTo>
                  <a:cubicBezTo>
                    <a:pt x="1761649" y="395168"/>
                    <a:pt x="1770221" y="385643"/>
                    <a:pt x="1769269" y="375166"/>
                  </a:cubicBezTo>
                  <a:cubicBezTo>
                    <a:pt x="1769269" y="364688"/>
                    <a:pt x="1759744" y="356116"/>
                    <a:pt x="1749266" y="357068"/>
                  </a:cubicBezTo>
                  <a:cubicBezTo>
                    <a:pt x="1114901" y="383738"/>
                    <a:pt x="676751" y="494228"/>
                    <a:pt x="421481" y="598051"/>
                  </a:cubicBezTo>
                  <a:cubicBezTo>
                    <a:pt x="393859" y="609481"/>
                    <a:pt x="368141" y="619958"/>
                    <a:pt x="343376" y="631388"/>
                  </a:cubicBezTo>
                  <a:cubicBezTo>
                    <a:pt x="999649" y="316111"/>
                    <a:pt x="1713071" y="305633"/>
                    <a:pt x="1721644" y="305633"/>
                  </a:cubicBezTo>
                  <a:cubicBezTo>
                    <a:pt x="1724501" y="305633"/>
                    <a:pt x="1726406" y="303728"/>
                    <a:pt x="1726406" y="300871"/>
                  </a:cubicBezTo>
                  <a:cubicBezTo>
                    <a:pt x="1726406" y="298013"/>
                    <a:pt x="1724501" y="296108"/>
                    <a:pt x="1721644" y="296108"/>
                  </a:cubicBezTo>
                  <a:cubicBezTo>
                    <a:pt x="1713071" y="296108"/>
                    <a:pt x="1027271" y="306586"/>
                    <a:pt x="381476" y="603766"/>
                  </a:cubicBezTo>
                  <a:cubicBezTo>
                    <a:pt x="404336" y="591383"/>
                    <a:pt x="429101" y="579001"/>
                    <a:pt x="454819" y="566618"/>
                  </a:cubicBezTo>
                  <a:cubicBezTo>
                    <a:pt x="708184" y="443746"/>
                    <a:pt x="1073944" y="298013"/>
                    <a:pt x="1654016" y="252293"/>
                  </a:cubicBezTo>
                  <a:cubicBezTo>
                    <a:pt x="1664494" y="251341"/>
                    <a:pt x="1672114" y="242768"/>
                    <a:pt x="1671161" y="232291"/>
                  </a:cubicBezTo>
                  <a:cubicBezTo>
                    <a:pt x="1670209" y="221813"/>
                    <a:pt x="1660684" y="214193"/>
                    <a:pt x="1650206" y="214193"/>
                  </a:cubicBezTo>
                  <a:cubicBezTo>
                    <a:pt x="1062514" y="259913"/>
                    <a:pt x="691991" y="407551"/>
                    <a:pt x="435769" y="532328"/>
                  </a:cubicBezTo>
                  <a:cubicBezTo>
                    <a:pt x="284321" y="605671"/>
                    <a:pt x="174784" y="676156"/>
                    <a:pt x="104299" y="725686"/>
                  </a:cubicBezTo>
                  <a:cubicBezTo>
                    <a:pt x="620554" y="206573"/>
                    <a:pt x="1420654" y="19883"/>
                    <a:pt x="1428274" y="17026"/>
                  </a:cubicBezTo>
                  <a:cubicBezTo>
                    <a:pt x="1431131" y="16073"/>
                    <a:pt x="1432084" y="13216"/>
                    <a:pt x="1431131" y="10358"/>
                  </a:cubicBezTo>
                  <a:cubicBezTo>
                    <a:pt x="1430179" y="7501"/>
                    <a:pt x="1427321" y="6548"/>
                    <a:pt x="1424464" y="7501"/>
                  </a:cubicBezTo>
                  <a:cubicBezTo>
                    <a:pt x="1415891" y="11311"/>
                    <a:pt x="573881" y="207526"/>
                    <a:pt x="57626" y="759023"/>
                  </a:cubicBezTo>
                  <a:cubicBezTo>
                    <a:pt x="27146" y="782836"/>
                    <a:pt x="10954" y="797123"/>
                    <a:pt x="9049" y="799028"/>
                  </a:cubicBezTo>
                  <a:lnTo>
                    <a:pt x="21431" y="812363"/>
                  </a:lnTo>
                  <a:cubicBezTo>
                    <a:pt x="12859" y="819031"/>
                    <a:pt x="8096" y="822841"/>
                    <a:pt x="7144" y="823793"/>
                  </a:cubicBezTo>
                  <a:lnTo>
                    <a:pt x="31909" y="852368"/>
                  </a:lnTo>
                  <a:cubicBezTo>
                    <a:pt x="32861" y="851416"/>
                    <a:pt x="126206" y="772358"/>
                    <a:pt x="327184" y="679013"/>
                  </a:cubicBezTo>
                  <a:cubicBezTo>
                    <a:pt x="328136" y="680918"/>
                    <a:pt x="329089" y="681871"/>
                    <a:pt x="330994" y="681871"/>
                  </a:cubicBezTo>
                  <a:cubicBezTo>
                    <a:pt x="331946" y="681871"/>
                    <a:pt x="332899" y="681871"/>
                    <a:pt x="332899" y="681871"/>
                  </a:cubicBezTo>
                  <a:cubicBezTo>
                    <a:pt x="986314" y="414218"/>
                    <a:pt x="1797844" y="472321"/>
                    <a:pt x="1805464" y="472321"/>
                  </a:cubicBezTo>
                  <a:cubicBezTo>
                    <a:pt x="1808321" y="472321"/>
                    <a:pt x="1810226" y="470416"/>
                    <a:pt x="1810226" y="467558"/>
                  </a:cubicBezTo>
                  <a:cubicBezTo>
                    <a:pt x="1811179" y="465653"/>
                    <a:pt x="1808321" y="463748"/>
                    <a:pt x="1806416" y="463748"/>
                  </a:cubicBezTo>
                  <a:close/>
                </a:path>
              </a:pathLst>
            </a:custGeom>
            <a:solidFill>
              <a:schemeClr val="accent5"/>
            </a:solidFill>
            <a:ln w="9525" cap="flat">
              <a:noFill/>
              <a:prstDash val="solid"/>
              <a:miter/>
            </a:ln>
          </p:spPr>
          <p:txBody>
            <a:bodyPr rtlCol="0" anchor="ctr"/>
            <a:lstStyle/>
            <a:p>
              <a:endParaRPr lang="en-US" sz="2000" dirty="0">
                <a:latin typeface="Microsoft JhengHei" panose="020B0604030504040204" pitchFamily="34" charset="-120"/>
                <a:ea typeface="Microsoft JhengHei" panose="020B0604030504040204" pitchFamily="34" charset="-120"/>
              </a:endParaRPr>
            </a:p>
          </p:txBody>
        </p:sp>
        <p:sp>
          <p:nvSpPr>
            <p:cNvPr id="71" name="Freeform: Shape 70">
              <a:extLst>
                <a:ext uri="{FF2B5EF4-FFF2-40B4-BE49-F238E27FC236}">
                  <a16:creationId xmlns:a16="http://schemas.microsoft.com/office/drawing/2014/main" id="{BDB4C64B-2027-487F-AE96-A7A3A8516637}"/>
                </a:ext>
              </a:extLst>
            </p:cNvPr>
            <p:cNvSpPr/>
            <p:nvPr/>
          </p:nvSpPr>
          <p:spPr>
            <a:xfrm>
              <a:off x="4297199" y="2767117"/>
              <a:ext cx="1809750" cy="942975"/>
            </a:xfrm>
            <a:custGeom>
              <a:avLst/>
              <a:gdLst>
                <a:gd name="connsiteX0" fmla="*/ 1811179 w 1809750"/>
                <a:gd name="connsiteY0" fmla="*/ 915250 h 942975"/>
                <a:gd name="connsiteX1" fmla="*/ 1796891 w 1809750"/>
                <a:gd name="connsiteY1" fmla="*/ 903820 h 942975"/>
                <a:gd name="connsiteX2" fmla="*/ 1809274 w 1809750"/>
                <a:gd name="connsiteY2" fmla="*/ 890485 h 942975"/>
                <a:gd name="connsiteX3" fmla="*/ 1779746 w 1809750"/>
                <a:gd name="connsiteY3" fmla="*/ 865720 h 942975"/>
                <a:gd name="connsiteX4" fmla="*/ 451009 w 1809750"/>
                <a:gd name="connsiteY4" fmla="*/ 7517 h 942975"/>
                <a:gd name="connsiteX5" fmla="*/ 444341 w 1809750"/>
                <a:gd name="connsiteY5" fmla="*/ 9422 h 942975"/>
                <a:gd name="connsiteX6" fmla="*/ 446246 w 1809750"/>
                <a:gd name="connsiteY6" fmla="*/ 16090 h 942975"/>
                <a:gd name="connsiteX7" fmla="*/ 1745456 w 1809750"/>
                <a:gd name="connsiteY7" fmla="*/ 839050 h 942975"/>
                <a:gd name="connsiteX8" fmla="*/ 1381601 w 1809750"/>
                <a:gd name="connsiteY8" fmla="*/ 621880 h 942975"/>
                <a:gd name="connsiteX9" fmla="*/ 168116 w 1809750"/>
                <a:gd name="connsiteY9" fmla="*/ 304697 h 942975"/>
                <a:gd name="connsiteX10" fmla="*/ 147161 w 1809750"/>
                <a:gd name="connsiteY10" fmla="*/ 322795 h 942975"/>
                <a:gd name="connsiteX11" fmla="*/ 164306 w 1809750"/>
                <a:gd name="connsiteY11" fmla="*/ 342797 h 942975"/>
                <a:gd name="connsiteX12" fmla="*/ 1363504 w 1809750"/>
                <a:gd name="connsiteY12" fmla="*/ 657122 h 942975"/>
                <a:gd name="connsiteX13" fmla="*/ 1436846 w 1809750"/>
                <a:gd name="connsiteY13" fmla="*/ 694270 h 942975"/>
                <a:gd name="connsiteX14" fmla="*/ 97631 w 1809750"/>
                <a:gd name="connsiteY14" fmla="*/ 385660 h 942975"/>
                <a:gd name="connsiteX15" fmla="*/ 92869 w 1809750"/>
                <a:gd name="connsiteY15" fmla="*/ 390422 h 942975"/>
                <a:gd name="connsiteX16" fmla="*/ 97631 w 1809750"/>
                <a:gd name="connsiteY16" fmla="*/ 395185 h 942975"/>
                <a:gd name="connsiteX17" fmla="*/ 1475899 w 1809750"/>
                <a:gd name="connsiteY17" fmla="*/ 720940 h 942975"/>
                <a:gd name="connsiteX18" fmla="*/ 1397794 w 1809750"/>
                <a:gd name="connsiteY18" fmla="*/ 687602 h 942975"/>
                <a:gd name="connsiteX19" fmla="*/ 70009 w 1809750"/>
                <a:gd name="connsiteY19" fmla="*/ 446620 h 942975"/>
                <a:gd name="connsiteX20" fmla="*/ 50006 w 1809750"/>
                <a:gd name="connsiteY20" fmla="*/ 464717 h 942975"/>
                <a:gd name="connsiteX21" fmla="*/ 68104 w 1809750"/>
                <a:gd name="connsiteY21" fmla="*/ 484720 h 942975"/>
                <a:gd name="connsiteX22" fmla="*/ 1381601 w 1809750"/>
                <a:gd name="connsiteY22" fmla="*/ 721892 h 942975"/>
                <a:gd name="connsiteX23" fmla="*/ 1395889 w 1809750"/>
                <a:gd name="connsiteY23" fmla="*/ 727607 h 942975"/>
                <a:gd name="connsiteX24" fmla="*/ 11906 w 1809750"/>
                <a:gd name="connsiteY24" fmla="*/ 554252 h 942975"/>
                <a:gd name="connsiteX25" fmla="*/ 7144 w 1809750"/>
                <a:gd name="connsiteY25" fmla="*/ 559015 h 942975"/>
                <a:gd name="connsiteX26" fmla="*/ 11906 w 1809750"/>
                <a:gd name="connsiteY26" fmla="*/ 563777 h 942975"/>
                <a:gd name="connsiteX27" fmla="*/ 1484471 w 1809750"/>
                <a:gd name="connsiteY27" fmla="*/ 773327 h 942975"/>
                <a:gd name="connsiteX28" fmla="*/ 1486376 w 1809750"/>
                <a:gd name="connsiteY28" fmla="*/ 773327 h 942975"/>
                <a:gd name="connsiteX29" fmla="*/ 1490186 w 1809750"/>
                <a:gd name="connsiteY29" fmla="*/ 770470 h 942975"/>
                <a:gd name="connsiteX30" fmla="*/ 1785461 w 1809750"/>
                <a:gd name="connsiteY30" fmla="*/ 943825 h 942975"/>
                <a:gd name="connsiteX31" fmla="*/ 1811179 w 1809750"/>
                <a:gd name="connsiteY31" fmla="*/ 91525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09750" h="942975">
                  <a:moveTo>
                    <a:pt x="1811179" y="915250"/>
                  </a:moveTo>
                  <a:cubicBezTo>
                    <a:pt x="1810226" y="914297"/>
                    <a:pt x="1805464" y="910487"/>
                    <a:pt x="1796891" y="903820"/>
                  </a:cubicBezTo>
                  <a:lnTo>
                    <a:pt x="1809274" y="890485"/>
                  </a:lnTo>
                  <a:cubicBezTo>
                    <a:pt x="1807369" y="889532"/>
                    <a:pt x="1797844" y="880007"/>
                    <a:pt x="1779746" y="865720"/>
                  </a:cubicBezTo>
                  <a:cubicBezTo>
                    <a:pt x="1303496" y="268502"/>
                    <a:pt x="459581" y="12280"/>
                    <a:pt x="451009" y="7517"/>
                  </a:cubicBezTo>
                  <a:cubicBezTo>
                    <a:pt x="448151" y="6565"/>
                    <a:pt x="446246" y="7517"/>
                    <a:pt x="444341" y="9422"/>
                  </a:cubicBezTo>
                  <a:cubicBezTo>
                    <a:pt x="443389" y="11327"/>
                    <a:pt x="444341" y="14185"/>
                    <a:pt x="446246" y="16090"/>
                  </a:cubicBezTo>
                  <a:cubicBezTo>
                    <a:pt x="453866" y="19900"/>
                    <a:pt x="1267301" y="266597"/>
                    <a:pt x="1745456" y="839050"/>
                  </a:cubicBezTo>
                  <a:cubicBezTo>
                    <a:pt x="1678781" y="789520"/>
                    <a:pt x="1558766" y="707605"/>
                    <a:pt x="1381601" y="621880"/>
                  </a:cubicBezTo>
                  <a:cubicBezTo>
                    <a:pt x="1126331" y="498055"/>
                    <a:pt x="754856" y="350417"/>
                    <a:pt x="168116" y="304697"/>
                  </a:cubicBezTo>
                  <a:cubicBezTo>
                    <a:pt x="157639" y="303745"/>
                    <a:pt x="148114" y="311365"/>
                    <a:pt x="147161" y="322795"/>
                  </a:cubicBezTo>
                  <a:cubicBezTo>
                    <a:pt x="146209" y="333272"/>
                    <a:pt x="153829" y="341845"/>
                    <a:pt x="164306" y="342797"/>
                  </a:cubicBezTo>
                  <a:cubicBezTo>
                    <a:pt x="744379" y="388517"/>
                    <a:pt x="1110139" y="534250"/>
                    <a:pt x="1363504" y="657122"/>
                  </a:cubicBezTo>
                  <a:cubicBezTo>
                    <a:pt x="1389221" y="669505"/>
                    <a:pt x="1413986" y="681887"/>
                    <a:pt x="1436846" y="694270"/>
                  </a:cubicBezTo>
                  <a:cubicBezTo>
                    <a:pt x="791051" y="396137"/>
                    <a:pt x="105251" y="385660"/>
                    <a:pt x="97631" y="385660"/>
                  </a:cubicBezTo>
                  <a:cubicBezTo>
                    <a:pt x="94774" y="385660"/>
                    <a:pt x="92869" y="387565"/>
                    <a:pt x="92869" y="390422"/>
                  </a:cubicBezTo>
                  <a:cubicBezTo>
                    <a:pt x="92869" y="393280"/>
                    <a:pt x="94774" y="395185"/>
                    <a:pt x="97631" y="395185"/>
                  </a:cubicBezTo>
                  <a:cubicBezTo>
                    <a:pt x="106204" y="395185"/>
                    <a:pt x="819626" y="405662"/>
                    <a:pt x="1475899" y="720940"/>
                  </a:cubicBezTo>
                  <a:cubicBezTo>
                    <a:pt x="1451134" y="710462"/>
                    <a:pt x="1425416" y="699032"/>
                    <a:pt x="1397794" y="687602"/>
                  </a:cubicBezTo>
                  <a:cubicBezTo>
                    <a:pt x="1141571" y="582827"/>
                    <a:pt x="704374" y="473290"/>
                    <a:pt x="70009" y="446620"/>
                  </a:cubicBezTo>
                  <a:cubicBezTo>
                    <a:pt x="59531" y="446620"/>
                    <a:pt x="50959" y="454240"/>
                    <a:pt x="50006" y="464717"/>
                  </a:cubicBezTo>
                  <a:cubicBezTo>
                    <a:pt x="50006" y="475195"/>
                    <a:pt x="57626" y="483767"/>
                    <a:pt x="68104" y="484720"/>
                  </a:cubicBezTo>
                  <a:cubicBezTo>
                    <a:pt x="695801" y="511390"/>
                    <a:pt x="1128236" y="619975"/>
                    <a:pt x="1381601" y="721892"/>
                  </a:cubicBezTo>
                  <a:cubicBezTo>
                    <a:pt x="1386364" y="723797"/>
                    <a:pt x="1391126" y="725702"/>
                    <a:pt x="1395889" y="727607"/>
                  </a:cubicBezTo>
                  <a:cubicBezTo>
                    <a:pt x="758666" y="501865"/>
                    <a:pt x="19526" y="554252"/>
                    <a:pt x="11906" y="554252"/>
                  </a:cubicBezTo>
                  <a:cubicBezTo>
                    <a:pt x="9049" y="554252"/>
                    <a:pt x="7144" y="556157"/>
                    <a:pt x="7144" y="559015"/>
                  </a:cubicBezTo>
                  <a:cubicBezTo>
                    <a:pt x="7144" y="561872"/>
                    <a:pt x="9049" y="563777"/>
                    <a:pt x="11906" y="563777"/>
                  </a:cubicBezTo>
                  <a:cubicBezTo>
                    <a:pt x="20479" y="563777"/>
                    <a:pt x="831056" y="505675"/>
                    <a:pt x="1484471" y="773327"/>
                  </a:cubicBezTo>
                  <a:cubicBezTo>
                    <a:pt x="1485424" y="773327"/>
                    <a:pt x="1486376" y="773327"/>
                    <a:pt x="1486376" y="773327"/>
                  </a:cubicBezTo>
                  <a:cubicBezTo>
                    <a:pt x="1488281" y="773327"/>
                    <a:pt x="1489234" y="772375"/>
                    <a:pt x="1490186" y="770470"/>
                  </a:cubicBezTo>
                  <a:cubicBezTo>
                    <a:pt x="1690211" y="863815"/>
                    <a:pt x="1783556" y="942872"/>
                    <a:pt x="1785461" y="943825"/>
                  </a:cubicBezTo>
                  <a:lnTo>
                    <a:pt x="1811179" y="915250"/>
                  </a:lnTo>
                  <a:close/>
                </a:path>
              </a:pathLst>
            </a:custGeom>
            <a:solidFill>
              <a:schemeClr val="accent5"/>
            </a:solidFill>
            <a:ln w="9525" cap="flat">
              <a:noFill/>
              <a:prstDash val="solid"/>
              <a:miter/>
            </a:ln>
          </p:spPr>
          <p:txBody>
            <a:bodyPr rtlCol="0" anchor="ctr"/>
            <a:lstStyle/>
            <a:p>
              <a:endParaRPr lang="en-US" sz="2000">
                <a:latin typeface="Microsoft JhengHei" panose="020B0604030504040204" pitchFamily="34" charset="-120"/>
                <a:ea typeface="Microsoft JhengHei" panose="020B0604030504040204" pitchFamily="34" charset="-120"/>
              </a:endParaRPr>
            </a:p>
          </p:txBody>
        </p:sp>
      </p:grpSp>
      <p:grpSp>
        <p:nvGrpSpPr>
          <p:cNvPr id="83" name="Graphic 3">
            <a:extLst>
              <a:ext uri="{FF2B5EF4-FFF2-40B4-BE49-F238E27FC236}">
                <a16:creationId xmlns:a16="http://schemas.microsoft.com/office/drawing/2014/main" id="{19C4EF18-7F43-4D6E-ACAF-E47946F46669}"/>
              </a:ext>
            </a:extLst>
          </p:cNvPr>
          <p:cNvGrpSpPr/>
          <p:nvPr/>
        </p:nvGrpSpPr>
        <p:grpSpPr>
          <a:xfrm rot="21305829" flipH="1">
            <a:off x="337513" y="3263695"/>
            <a:ext cx="1667642" cy="1348264"/>
            <a:chOff x="8338752" y="1211990"/>
            <a:chExt cx="3851961" cy="3114252"/>
          </a:xfrm>
        </p:grpSpPr>
        <p:sp>
          <p:nvSpPr>
            <p:cNvPr id="84" name="Freeform: Shape 83">
              <a:extLst>
                <a:ext uri="{FF2B5EF4-FFF2-40B4-BE49-F238E27FC236}">
                  <a16:creationId xmlns:a16="http://schemas.microsoft.com/office/drawing/2014/main" id="{7597336B-849F-41FC-8FBF-F6FB448FBA73}"/>
                </a:ext>
              </a:extLst>
            </p:cNvPr>
            <p:cNvSpPr/>
            <p:nvPr/>
          </p:nvSpPr>
          <p:spPr>
            <a:xfrm>
              <a:off x="8338752" y="1211990"/>
              <a:ext cx="3831088" cy="3114252"/>
            </a:xfrm>
            <a:custGeom>
              <a:avLst/>
              <a:gdLst>
                <a:gd name="connsiteX0" fmla="*/ 3817888 w 3831088"/>
                <a:gd name="connsiteY0" fmla="*/ 722004 h 3114252"/>
                <a:gd name="connsiteX1" fmla="*/ 3452269 w 3831088"/>
                <a:gd name="connsiteY1" fmla="*/ 280008 h 3114252"/>
                <a:gd name="connsiteX2" fmla="*/ 2264893 w 3831088"/>
                <a:gd name="connsiteY2" fmla="*/ 2082 h 3114252"/>
                <a:gd name="connsiteX3" fmla="*/ 1600132 w 3831088"/>
                <a:gd name="connsiteY3" fmla="*/ 195852 h 3114252"/>
                <a:gd name="connsiteX4" fmla="*/ 1027306 w 3831088"/>
                <a:gd name="connsiteY4" fmla="*/ 642091 h 3114252"/>
                <a:gd name="connsiteX5" fmla="*/ 513884 w 3831088"/>
                <a:gd name="connsiteY5" fmla="*/ 1130054 h 3114252"/>
                <a:gd name="connsiteX6" fmla="*/ 66231 w 3831088"/>
                <a:gd name="connsiteY6" fmla="*/ 1725510 h 3114252"/>
                <a:gd name="connsiteX7" fmla="*/ 25921 w 3831088"/>
                <a:gd name="connsiteY7" fmla="*/ 2132146 h 3114252"/>
                <a:gd name="connsiteX8" fmla="*/ 907790 w 3831088"/>
                <a:gd name="connsiteY8" fmla="*/ 2922787 h 3114252"/>
                <a:gd name="connsiteX9" fmla="*/ 1745106 w 3831088"/>
                <a:gd name="connsiteY9" fmla="*/ 3109486 h 3114252"/>
                <a:gd name="connsiteX10" fmla="*/ 2197710 w 3831088"/>
                <a:gd name="connsiteY10" fmla="*/ 2873283 h 3114252"/>
                <a:gd name="connsiteX11" fmla="*/ 2551306 w 3831088"/>
                <a:gd name="connsiteY11" fmla="*/ 2477255 h 3114252"/>
                <a:gd name="connsiteX12" fmla="*/ 3064728 w 3831088"/>
                <a:gd name="connsiteY12" fmla="*/ 1989293 h 3114252"/>
                <a:gd name="connsiteX13" fmla="*/ 3629068 w 3831088"/>
                <a:gd name="connsiteY13" fmla="*/ 1458898 h 3114252"/>
                <a:gd name="connsiteX14" fmla="*/ 3817888 w 3831088"/>
                <a:gd name="connsiteY14" fmla="*/ 1005588 h 3114252"/>
                <a:gd name="connsiteX15" fmla="*/ 3817888 w 3831088"/>
                <a:gd name="connsiteY15" fmla="*/ 722004 h 311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31088" h="3114252">
                  <a:moveTo>
                    <a:pt x="3817888" y="722004"/>
                  </a:moveTo>
                  <a:cubicBezTo>
                    <a:pt x="3782528" y="565714"/>
                    <a:pt x="3521574" y="325976"/>
                    <a:pt x="3452269" y="280008"/>
                  </a:cubicBezTo>
                  <a:cubicBezTo>
                    <a:pt x="3124839" y="63607"/>
                    <a:pt x="2569693" y="-14184"/>
                    <a:pt x="2264893" y="2082"/>
                  </a:cubicBezTo>
                  <a:cubicBezTo>
                    <a:pt x="2037176" y="14104"/>
                    <a:pt x="1734498" y="94724"/>
                    <a:pt x="1600132" y="195852"/>
                  </a:cubicBezTo>
                  <a:cubicBezTo>
                    <a:pt x="1465765" y="296981"/>
                    <a:pt x="1179352" y="499238"/>
                    <a:pt x="1027306" y="642091"/>
                  </a:cubicBezTo>
                  <a:cubicBezTo>
                    <a:pt x="875259" y="784944"/>
                    <a:pt x="615719" y="1020439"/>
                    <a:pt x="513884" y="1130054"/>
                  </a:cubicBezTo>
                  <a:cubicBezTo>
                    <a:pt x="419827" y="1231182"/>
                    <a:pt x="105127" y="1612359"/>
                    <a:pt x="66231" y="1725510"/>
                  </a:cubicBezTo>
                  <a:cubicBezTo>
                    <a:pt x="20263" y="1859169"/>
                    <a:pt x="-32776" y="2005558"/>
                    <a:pt x="25921" y="2132146"/>
                  </a:cubicBezTo>
                  <a:cubicBezTo>
                    <a:pt x="168774" y="2511201"/>
                    <a:pt x="751501" y="2843581"/>
                    <a:pt x="907790" y="2922787"/>
                  </a:cubicBezTo>
                  <a:cubicBezTo>
                    <a:pt x="1086002" y="3012600"/>
                    <a:pt x="1487688" y="3140602"/>
                    <a:pt x="1745106" y="3109486"/>
                  </a:cubicBezTo>
                  <a:cubicBezTo>
                    <a:pt x="1995453" y="3079076"/>
                    <a:pt x="2046370" y="3016843"/>
                    <a:pt x="2197710" y="2873283"/>
                  </a:cubicBezTo>
                  <a:cubicBezTo>
                    <a:pt x="2349049" y="2729723"/>
                    <a:pt x="2399967" y="2662540"/>
                    <a:pt x="2551306" y="2477255"/>
                  </a:cubicBezTo>
                  <a:cubicBezTo>
                    <a:pt x="2702645" y="2291971"/>
                    <a:pt x="2904902" y="2089714"/>
                    <a:pt x="3064728" y="1989293"/>
                  </a:cubicBezTo>
                  <a:cubicBezTo>
                    <a:pt x="3224553" y="1888164"/>
                    <a:pt x="3471363" y="1666106"/>
                    <a:pt x="3629068" y="1458898"/>
                  </a:cubicBezTo>
                  <a:cubicBezTo>
                    <a:pt x="3755654" y="1293415"/>
                    <a:pt x="3817888" y="1005588"/>
                    <a:pt x="3817888" y="1005588"/>
                  </a:cubicBezTo>
                  <a:cubicBezTo>
                    <a:pt x="3817888" y="1005588"/>
                    <a:pt x="3847589" y="852127"/>
                    <a:pt x="3817888" y="722004"/>
                  </a:cubicBezTo>
                  <a:close/>
                </a:path>
              </a:pathLst>
            </a:custGeom>
            <a:solidFill>
              <a:srgbClr val="000000"/>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5" name="Freeform: Shape 84">
              <a:extLst>
                <a:ext uri="{FF2B5EF4-FFF2-40B4-BE49-F238E27FC236}">
                  <a16:creationId xmlns:a16="http://schemas.microsoft.com/office/drawing/2014/main" id="{5FCBCE89-77CA-4B4E-BDA6-1A6C8C0F5D90}"/>
                </a:ext>
              </a:extLst>
            </p:cNvPr>
            <p:cNvSpPr/>
            <p:nvPr/>
          </p:nvSpPr>
          <p:spPr>
            <a:xfrm>
              <a:off x="8338752" y="1947152"/>
              <a:ext cx="1882301" cy="1882825"/>
            </a:xfrm>
            <a:custGeom>
              <a:avLst/>
              <a:gdLst>
                <a:gd name="connsiteX0" fmla="*/ 1040743 w 1882301"/>
                <a:gd name="connsiteY0" fmla="*/ 1158660 h 1882825"/>
                <a:gd name="connsiteX1" fmla="*/ 1544970 w 1882301"/>
                <a:gd name="connsiteY1" fmla="*/ 517237 h 1882825"/>
                <a:gd name="connsiteX2" fmla="*/ 1882302 w 1882301"/>
                <a:gd name="connsiteY2" fmla="*/ 8765 h 1882825"/>
                <a:gd name="connsiteX3" fmla="*/ 1492638 w 1882301"/>
                <a:gd name="connsiteY3" fmla="*/ 143839 h 1882825"/>
                <a:gd name="connsiteX4" fmla="*/ 1486981 w 1882301"/>
                <a:gd name="connsiteY4" fmla="*/ 149497 h 1882825"/>
                <a:gd name="connsiteX5" fmla="*/ 1482030 w 1882301"/>
                <a:gd name="connsiteY5" fmla="*/ 143132 h 1882825"/>
                <a:gd name="connsiteX6" fmla="*/ 915569 w 1882301"/>
                <a:gd name="connsiteY6" fmla="*/ 12301 h 1882825"/>
                <a:gd name="connsiteX7" fmla="*/ 513884 w 1882301"/>
                <a:gd name="connsiteY7" fmla="*/ 395600 h 1882825"/>
                <a:gd name="connsiteX8" fmla="*/ 66231 w 1882301"/>
                <a:gd name="connsiteY8" fmla="*/ 991056 h 1882825"/>
                <a:gd name="connsiteX9" fmla="*/ 25921 w 1882301"/>
                <a:gd name="connsiteY9" fmla="*/ 1397692 h 1882825"/>
                <a:gd name="connsiteX10" fmla="*/ 375274 w 1882301"/>
                <a:gd name="connsiteY10" fmla="*/ 1727950 h 1882825"/>
                <a:gd name="connsiteX11" fmla="*/ 673710 w 1882301"/>
                <a:gd name="connsiteY11" fmla="*/ 1882826 h 1882825"/>
                <a:gd name="connsiteX12" fmla="*/ 937492 w 1882301"/>
                <a:gd name="connsiteY12" fmla="*/ 1276762 h 1882825"/>
                <a:gd name="connsiteX13" fmla="*/ 1040743 w 1882301"/>
                <a:gd name="connsiteY13" fmla="*/ 1158660 h 1882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2301" h="1882825">
                  <a:moveTo>
                    <a:pt x="1040743" y="1158660"/>
                  </a:moveTo>
                  <a:cubicBezTo>
                    <a:pt x="1044986" y="1153710"/>
                    <a:pt x="1503246" y="603514"/>
                    <a:pt x="1544970" y="517237"/>
                  </a:cubicBezTo>
                  <a:cubicBezTo>
                    <a:pt x="1584573" y="435202"/>
                    <a:pt x="1839162" y="70998"/>
                    <a:pt x="1882302" y="8765"/>
                  </a:cubicBezTo>
                  <a:cubicBezTo>
                    <a:pt x="1718233" y="-28716"/>
                    <a:pt x="1580330" y="61098"/>
                    <a:pt x="1492638" y="143839"/>
                  </a:cubicBezTo>
                  <a:lnTo>
                    <a:pt x="1486981" y="149497"/>
                  </a:lnTo>
                  <a:lnTo>
                    <a:pt x="1482030" y="143132"/>
                  </a:lnTo>
                  <a:cubicBezTo>
                    <a:pt x="1443135" y="87971"/>
                    <a:pt x="1063373" y="29981"/>
                    <a:pt x="915569" y="12301"/>
                  </a:cubicBezTo>
                  <a:cubicBezTo>
                    <a:pt x="769888" y="147375"/>
                    <a:pt x="593796" y="310029"/>
                    <a:pt x="513884" y="395600"/>
                  </a:cubicBezTo>
                  <a:cubicBezTo>
                    <a:pt x="419827" y="496728"/>
                    <a:pt x="105127" y="877905"/>
                    <a:pt x="66231" y="991056"/>
                  </a:cubicBezTo>
                  <a:cubicBezTo>
                    <a:pt x="20263" y="1124715"/>
                    <a:pt x="-32776" y="1271104"/>
                    <a:pt x="25921" y="1397692"/>
                  </a:cubicBezTo>
                  <a:cubicBezTo>
                    <a:pt x="84618" y="1524279"/>
                    <a:pt x="257173" y="1655817"/>
                    <a:pt x="375274" y="1727950"/>
                  </a:cubicBezTo>
                  <a:cubicBezTo>
                    <a:pt x="455894" y="1777454"/>
                    <a:pt x="563388" y="1831908"/>
                    <a:pt x="673710" y="1882826"/>
                  </a:cubicBezTo>
                  <a:cubicBezTo>
                    <a:pt x="702704" y="1725122"/>
                    <a:pt x="896475" y="1331216"/>
                    <a:pt x="937492" y="1276762"/>
                  </a:cubicBezTo>
                  <a:cubicBezTo>
                    <a:pt x="979923" y="1220186"/>
                    <a:pt x="1040035" y="1159368"/>
                    <a:pt x="1040743" y="1158660"/>
                  </a:cubicBezTo>
                  <a:close/>
                </a:path>
              </a:pathLst>
            </a:custGeom>
            <a:solidFill>
              <a:schemeClr val="accent5"/>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6" name="Freeform: Shape 85">
              <a:extLst>
                <a:ext uri="{FF2B5EF4-FFF2-40B4-BE49-F238E27FC236}">
                  <a16:creationId xmlns:a16="http://schemas.microsoft.com/office/drawing/2014/main" id="{B3E290C5-17C5-4E8C-84C3-8D553BE9FF39}"/>
                </a:ext>
              </a:extLst>
            </p:cNvPr>
            <p:cNvSpPr/>
            <p:nvPr/>
          </p:nvSpPr>
          <p:spPr>
            <a:xfrm>
              <a:off x="9018827" y="1959453"/>
              <a:ext cx="2123698" cy="2134891"/>
            </a:xfrm>
            <a:custGeom>
              <a:avLst/>
              <a:gdLst>
                <a:gd name="connsiteX0" fmla="*/ 1260924 w 2123698"/>
                <a:gd name="connsiteY0" fmla="*/ 313286 h 2134891"/>
                <a:gd name="connsiteX1" fmla="*/ 1253852 w 2123698"/>
                <a:gd name="connsiteY1" fmla="*/ 310458 h 2134891"/>
                <a:gd name="connsiteX2" fmla="*/ 1256681 w 2123698"/>
                <a:gd name="connsiteY2" fmla="*/ 303386 h 2134891"/>
                <a:gd name="connsiteX3" fmla="*/ 1261631 w 2123698"/>
                <a:gd name="connsiteY3" fmla="*/ 292071 h 2134891"/>
                <a:gd name="connsiteX4" fmla="*/ 1292041 w 2123698"/>
                <a:gd name="connsiteY4" fmla="*/ 71426 h 2134891"/>
                <a:gd name="connsiteX5" fmla="*/ 1216371 w 2123698"/>
                <a:gd name="connsiteY5" fmla="*/ 0 h 2134891"/>
                <a:gd name="connsiteX6" fmla="*/ 877626 w 2123698"/>
                <a:gd name="connsiteY6" fmla="*/ 510593 h 2134891"/>
                <a:gd name="connsiteX7" fmla="*/ 371276 w 2123698"/>
                <a:gd name="connsiteY7" fmla="*/ 1155553 h 2134891"/>
                <a:gd name="connsiteX8" fmla="*/ 268733 w 2123698"/>
                <a:gd name="connsiteY8" fmla="*/ 1272239 h 2134891"/>
                <a:gd name="connsiteX9" fmla="*/ 7072 w 2123698"/>
                <a:gd name="connsiteY9" fmla="*/ 1874060 h 2134891"/>
                <a:gd name="connsiteX10" fmla="*/ 0 w 2123698"/>
                <a:gd name="connsiteY10" fmla="*/ 1872646 h 2134891"/>
                <a:gd name="connsiteX11" fmla="*/ 438459 w 2123698"/>
                <a:gd name="connsiteY11" fmla="*/ 2050151 h 2134891"/>
                <a:gd name="connsiteX12" fmla="*/ 1079883 w 2123698"/>
                <a:gd name="connsiteY12" fmla="*/ 2116627 h 2134891"/>
                <a:gd name="connsiteX13" fmla="*/ 1440551 w 2123698"/>
                <a:gd name="connsiteY13" fmla="*/ 1869110 h 2134891"/>
                <a:gd name="connsiteX14" fmla="*/ 2023985 w 2123698"/>
                <a:gd name="connsiteY14" fmla="*/ 988655 h 2134891"/>
                <a:gd name="connsiteX15" fmla="*/ 2123699 w 2123698"/>
                <a:gd name="connsiteY15" fmla="*/ 858532 h 2134891"/>
                <a:gd name="connsiteX16" fmla="*/ 1260924 w 2123698"/>
                <a:gd name="connsiteY16" fmla="*/ 313286 h 213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698" h="2134891">
                  <a:moveTo>
                    <a:pt x="1260924" y="313286"/>
                  </a:moveTo>
                  <a:lnTo>
                    <a:pt x="1253852" y="310458"/>
                  </a:lnTo>
                  <a:lnTo>
                    <a:pt x="1256681" y="303386"/>
                  </a:lnTo>
                  <a:cubicBezTo>
                    <a:pt x="1258095" y="300557"/>
                    <a:pt x="1259510" y="297021"/>
                    <a:pt x="1261631" y="292071"/>
                  </a:cubicBezTo>
                  <a:cubicBezTo>
                    <a:pt x="1278604" y="253175"/>
                    <a:pt x="1324571" y="148510"/>
                    <a:pt x="1292041" y="71426"/>
                  </a:cubicBezTo>
                  <a:cubicBezTo>
                    <a:pt x="1278604" y="39603"/>
                    <a:pt x="1253145" y="15558"/>
                    <a:pt x="1216371" y="0"/>
                  </a:cubicBezTo>
                  <a:cubicBezTo>
                    <a:pt x="1183840" y="46675"/>
                    <a:pt x="916521" y="428559"/>
                    <a:pt x="877626" y="510593"/>
                  </a:cubicBezTo>
                  <a:cubicBezTo>
                    <a:pt x="835194" y="598992"/>
                    <a:pt x="389663" y="1132922"/>
                    <a:pt x="371276" y="1155553"/>
                  </a:cubicBezTo>
                  <a:cubicBezTo>
                    <a:pt x="370568" y="1156967"/>
                    <a:pt x="310457" y="1216371"/>
                    <a:pt x="268733" y="1272239"/>
                  </a:cubicBezTo>
                  <a:cubicBezTo>
                    <a:pt x="228423" y="1325986"/>
                    <a:pt x="35360" y="1718478"/>
                    <a:pt x="7072" y="1874060"/>
                  </a:cubicBezTo>
                  <a:lnTo>
                    <a:pt x="0" y="1872646"/>
                  </a:lnTo>
                  <a:cubicBezTo>
                    <a:pt x="169018" y="1950437"/>
                    <a:pt x="342988" y="2020449"/>
                    <a:pt x="438459" y="2050151"/>
                  </a:cubicBezTo>
                  <a:cubicBezTo>
                    <a:pt x="606771" y="2103191"/>
                    <a:pt x="894599" y="2166838"/>
                    <a:pt x="1079883" y="2116627"/>
                  </a:cubicBezTo>
                  <a:cubicBezTo>
                    <a:pt x="1168989" y="2092583"/>
                    <a:pt x="1310427" y="1991454"/>
                    <a:pt x="1440551" y="1869110"/>
                  </a:cubicBezTo>
                  <a:cubicBezTo>
                    <a:pt x="1695140" y="1628664"/>
                    <a:pt x="1879010" y="1207885"/>
                    <a:pt x="2023985" y="988655"/>
                  </a:cubicBezTo>
                  <a:cubicBezTo>
                    <a:pt x="2050859" y="947638"/>
                    <a:pt x="2084803" y="903792"/>
                    <a:pt x="2123699" y="858532"/>
                  </a:cubicBezTo>
                  <a:cubicBezTo>
                    <a:pt x="2034593" y="741138"/>
                    <a:pt x="1751716" y="490792"/>
                    <a:pt x="1260924" y="313286"/>
                  </a:cubicBezTo>
                  <a:close/>
                </a:path>
              </a:pathLst>
            </a:custGeom>
            <a:solidFill>
              <a:schemeClr val="accent5"/>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7" name="Freeform: Shape 86">
              <a:extLst>
                <a:ext uri="{FF2B5EF4-FFF2-40B4-BE49-F238E27FC236}">
                  <a16:creationId xmlns:a16="http://schemas.microsoft.com/office/drawing/2014/main" id="{C2F9C513-FADF-4D04-84EE-961B06D79CF7}"/>
                </a:ext>
              </a:extLst>
            </p:cNvPr>
            <p:cNvSpPr/>
            <p:nvPr/>
          </p:nvSpPr>
          <p:spPr>
            <a:xfrm>
              <a:off x="9256172" y="2170520"/>
              <a:ext cx="815663" cy="1058343"/>
            </a:xfrm>
            <a:custGeom>
              <a:avLst/>
              <a:gdLst>
                <a:gd name="connsiteX0" fmla="*/ 123323 w 815663"/>
                <a:gd name="connsiteY0" fmla="*/ 935292 h 1058343"/>
                <a:gd name="connsiteX1" fmla="*/ 627551 w 815663"/>
                <a:gd name="connsiteY1" fmla="*/ 293869 h 1058343"/>
                <a:gd name="connsiteX2" fmla="*/ 815664 w 815663"/>
                <a:gd name="connsiteY2" fmla="*/ 1798 h 1058343"/>
                <a:gd name="connsiteX3" fmla="*/ 263346 w 815663"/>
                <a:gd name="connsiteY3" fmla="*/ 411970 h 1058343"/>
                <a:gd name="connsiteX4" fmla="*/ 16536 w 815663"/>
                <a:gd name="connsiteY4" fmla="*/ 1058344 h 1058343"/>
                <a:gd name="connsiteX5" fmla="*/ 20072 w 815663"/>
                <a:gd name="connsiteY5" fmla="*/ 1053393 h 1058343"/>
                <a:gd name="connsiteX6" fmla="*/ 123323 w 815663"/>
                <a:gd name="connsiteY6" fmla="*/ 935292 h 10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5663" h="1058343">
                  <a:moveTo>
                    <a:pt x="123323" y="935292"/>
                  </a:moveTo>
                  <a:cubicBezTo>
                    <a:pt x="127566" y="930342"/>
                    <a:pt x="585826" y="380146"/>
                    <a:pt x="627551" y="293869"/>
                  </a:cubicBezTo>
                  <a:cubicBezTo>
                    <a:pt x="648766" y="249316"/>
                    <a:pt x="735044" y="119899"/>
                    <a:pt x="815664" y="1798"/>
                  </a:cubicBezTo>
                  <a:cubicBezTo>
                    <a:pt x="696149" y="-19418"/>
                    <a:pt x="464189" y="148894"/>
                    <a:pt x="263346" y="411970"/>
                  </a:cubicBezTo>
                  <a:cubicBezTo>
                    <a:pt x="58968" y="679289"/>
                    <a:pt x="-42160" y="952972"/>
                    <a:pt x="16536" y="1058344"/>
                  </a:cubicBezTo>
                  <a:cubicBezTo>
                    <a:pt x="17951" y="1056222"/>
                    <a:pt x="19365" y="1054808"/>
                    <a:pt x="20072" y="1053393"/>
                  </a:cubicBezTo>
                  <a:cubicBezTo>
                    <a:pt x="62504" y="996111"/>
                    <a:pt x="122615" y="935999"/>
                    <a:pt x="123323" y="935292"/>
                  </a:cubicBezTo>
                  <a:close/>
                </a:path>
              </a:pathLst>
            </a:custGeom>
            <a:solidFill>
              <a:schemeClr val="accent5">
                <a:lumMod val="75000"/>
              </a:schemeClr>
            </a:solidFill>
            <a:ln w="7072" cap="flat">
              <a:noFill/>
              <a:prstDash val="solid"/>
              <a:miter/>
            </a:ln>
          </p:spPr>
          <p:txBody>
            <a:bodyPr rtlCol="0" anchor="ctr"/>
            <a:lstStyle/>
            <a:p>
              <a:endParaRPr lang="en-US" sz="3200" dirty="0">
                <a:latin typeface="Microsoft JhengHei" panose="020B0604030504040204" pitchFamily="34" charset="-120"/>
                <a:ea typeface="Microsoft JhengHei" panose="020B0604030504040204" pitchFamily="34" charset="-120"/>
              </a:endParaRPr>
            </a:p>
          </p:txBody>
        </p:sp>
        <p:sp>
          <p:nvSpPr>
            <p:cNvPr id="88" name="Freeform: Shape 87">
              <a:extLst>
                <a:ext uri="{FF2B5EF4-FFF2-40B4-BE49-F238E27FC236}">
                  <a16:creationId xmlns:a16="http://schemas.microsoft.com/office/drawing/2014/main" id="{E75D5EF7-4D68-451A-B3EF-253EC99AC782}"/>
                </a:ext>
              </a:extLst>
            </p:cNvPr>
            <p:cNvSpPr/>
            <p:nvPr/>
          </p:nvSpPr>
          <p:spPr>
            <a:xfrm>
              <a:off x="9281195" y="2175854"/>
              <a:ext cx="868199" cy="1097283"/>
            </a:xfrm>
            <a:custGeom>
              <a:avLst/>
              <a:gdLst>
                <a:gd name="connsiteX0" fmla="*/ 14144 w 868199"/>
                <a:gd name="connsiteY0" fmla="*/ 1079176 h 1097283"/>
                <a:gd name="connsiteX1" fmla="*/ 604650 w 868199"/>
                <a:gd name="connsiteY1" fmla="*/ 685270 h 1097283"/>
                <a:gd name="connsiteX2" fmla="*/ 828829 w 868199"/>
                <a:gd name="connsiteY2" fmla="*/ 12022 h 1097283"/>
                <a:gd name="connsiteX3" fmla="*/ 805493 w 868199"/>
                <a:gd name="connsiteY3" fmla="*/ 0 h 1097283"/>
                <a:gd name="connsiteX4" fmla="*/ 615258 w 868199"/>
                <a:gd name="connsiteY4" fmla="*/ 294899 h 1097283"/>
                <a:gd name="connsiteX5" fmla="*/ 108908 w 868199"/>
                <a:gd name="connsiteY5" fmla="*/ 939859 h 1097283"/>
                <a:gd name="connsiteX6" fmla="*/ 6365 w 868199"/>
                <a:gd name="connsiteY6" fmla="*/ 1056546 h 1097283"/>
                <a:gd name="connsiteX7" fmla="*/ 0 w 868199"/>
                <a:gd name="connsiteY7" fmla="*/ 1065739 h 1097283"/>
                <a:gd name="connsiteX8" fmla="*/ 14144 w 868199"/>
                <a:gd name="connsiteY8" fmla="*/ 1079176 h 109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8199" h="1097283">
                  <a:moveTo>
                    <a:pt x="14144" y="1079176"/>
                  </a:moveTo>
                  <a:cubicBezTo>
                    <a:pt x="115272" y="1156260"/>
                    <a:pt x="379762" y="980169"/>
                    <a:pt x="604650" y="685270"/>
                  </a:cubicBezTo>
                  <a:cubicBezTo>
                    <a:pt x="829536" y="390370"/>
                    <a:pt x="929958" y="89106"/>
                    <a:pt x="828829" y="12022"/>
                  </a:cubicBezTo>
                  <a:cubicBezTo>
                    <a:pt x="821757" y="6365"/>
                    <a:pt x="813979" y="2829"/>
                    <a:pt x="805493" y="0"/>
                  </a:cubicBezTo>
                  <a:cubicBezTo>
                    <a:pt x="724165" y="118808"/>
                    <a:pt x="636473" y="250346"/>
                    <a:pt x="615258" y="294899"/>
                  </a:cubicBezTo>
                  <a:cubicBezTo>
                    <a:pt x="572826" y="383298"/>
                    <a:pt x="127295" y="917229"/>
                    <a:pt x="108908" y="939859"/>
                  </a:cubicBezTo>
                  <a:cubicBezTo>
                    <a:pt x="108200" y="941273"/>
                    <a:pt x="48089" y="1000677"/>
                    <a:pt x="6365" y="1056546"/>
                  </a:cubicBezTo>
                  <a:cubicBezTo>
                    <a:pt x="4243" y="1058667"/>
                    <a:pt x="2121" y="1062203"/>
                    <a:pt x="0" y="1065739"/>
                  </a:cubicBezTo>
                  <a:cubicBezTo>
                    <a:pt x="4243" y="1070690"/>
                    <a:pt x="8486" y="1075640"/>
                    <a:pt x="14144" y="1079176"/>
                  </a:cubicBezTo>
                  <a:close/>
                </a:path>
              </a:pathLst>
            </a:custGeom>
            <a:solidFill>
              <a:schemeClr val="accent5">
                <a:lumMod val="75000"/>
              </a:schemeClr>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89" name="Freeform: Shape 88">
              <a:extLst>
                <a:ext uri="{FF2B5EF4-FFF2-40B4-BE49-F238E27FC236}">
                  <a16:creationId xmlns:a16="http://schemas.microsoft.com/office/drawing/2014/main" id="{E7E294D0-AABC-44BF-B931-92E93C29B2EC}"/>
                </a:ext>
              </a:extLst>
            </p:cNvPr>
            <p:cNvSpPr/>
            <p:nvPr/>
          </p:nvSpPr>
          <p:spPr>
            <a:xfrm>
              <a:off x="9267758" y="1211990"/>
              <a:ext cx="2922955" cy="1595386"/>
            </a:xfrm>
            <a:custGeom>
              <a:avLst/>
              <a:gdLst>
                <a:gd name="connsiteX0" fmla="*/ 2888882 w 2922955"/>
                <a:gd name="connsiteY0" fmla="*/ 722004 h 1595386"/>
                <a:gd name="connsiteX1" fmla="*/ 2523264 w 2922955"/>
                <a:gd name="connsiteY1" fmla="*/ 280008 h 1595386"/>
                <a:gd name="connsiteX2" fmla="*/ 1335887 w 2922955"/>
                <a:gd name="connsiteY2" fmla="*/ 2082 h 1595386"/>
                <a:gd name="connsiteX3" fmla="*/ 671126 w 2922955"/>
                <a:gd name="connsiteY3" fmla="*/ 195852 h 1595386"/>
                <a:gd name="connsiteX4" fmla="*/ 98300 w 2922955"/>
                <a:gd name="connsiteY4" fmla="*/ 642091 h 1595386"/>
                <a:gd name="connsiteX5" fmla="*/ 0 w 2922955"/>
                <a:gd name="connsiteY5" fmla="*/ 734026 h 1595386"/>
                <a:gd name="connsiteX6" fmla="*/ 559389 w 2922955"/>
                <a:gd name="connsiteY6" fmla="*/ 863442 h 1595386"/>
                <a:gd name="connsiteX7" fmla="*/ 967440 w 2922955"/>
                <a:gd name="connsiteY7" fmla="*/ 732612 h 1595386"/>
                <a:gd name="connsiteX8" fmla="*/ 968147 w 2922955"/>
                <a:gd name="connsiteY8" fmla="*/ 732612 h 1595386"/>
                <a:gd name="connsiteX9" fmla="*/ 1057253 w 2922955"/>
                <a:gd name="connsiteY9" fmla="*/ 813939 h 1595386"/>
                <a:gd name="connsiteX10" fmla="*/ 1026136 w 2922955"/>
                <a:gd name="connsiteY10" fmla="*/ 1045898 h 1595386"/>
                <a:gd name="connsiteX11" fmla="*/ 1024722 w 2922955"/>
                <a:gd name="connsiteY11" fmla="*/ 1050141 h 1595386"/>
                <a:gd name="connsiteX12" fmla="*/ 1884668 w 2922955"/>
                <a:gd name="connsiteY12" fmla="*/ 1595386 h 1595386"/>
                <a:gd name="connsiteX13" fmla="*/ 2581960 w 2922955"/>
                <a:gd name="connsiteY13" fmla="*/ 1103888 h 1595386"/>
                <a:gd name="connsiteX14" fmla="*/ 2888882 w 2922955"/>
                <a:gd name="connsiteY14" fmla="*/ 722004 h 159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2955" h="1595386">
                  <a:moveTo>
                    <a:pt x="2888882" y="722004"/>
                  </a:moveTo>
                  <a:cubicBezTo>
                    <a:pt x="2853522" y="565714"/>
                    <a:pt x="2592568" y="325976"/>
                    <a:pt x="2523264" y="280008"/>
                  </a:cubicBezTo>
                  <a:cubicBezTo>
                    <a:pt x="2195833" y="63607"/>
                    <a:pt x="1640687" y="-14184"/>
                    <a:pt x="1335887" y="2082"/>
                  </a:cubicBezTo>
                  <a:cubicBezTo>
                    <a:pt x="1108170" y="14104"/>
                    <a:pt x="805493" y="94724"/>
                    <a:pt x="671126" y="195852"/>
                  </a:cubicBezTo>
                  <a:cubicBezTo>
                    <a:pt x="536759" y="296981"/>
                    <a:pt x="250346" y="499238"/>
                    <a:pt x="98300" y="642091"/>
                  </a:cubicBezTo>
                  <a:cubicBezTo>
                    <a:pt x="68597" y="669671"/>
                    <a:pt x="35360" y="701495"/>
                    <a:pt x="0" y="734026"/>
                  </a:cubicBezTo>
                  <a:cubicBezTo>
                    <a:pt x="85570" y="744634"/>
                    <a:pt x="492206" y="799795"/>
                    <a:pt x="559389" y="863442"/>
                  </a:cubicBezTo>
                  <a:cubicBezTo>
                    <a:pt x="652031" y="777872"/>
                    <a:pt x="796299" y="688058"/>
                    <a:pt x="967440" y="732612"/>
                  </a:cubicBezTo>
                  <a:lnTo>
                    <a:pt x="968147" y="732612"/>
                  </a:lnTo>
                  <a:cubicBezTo>
                    <a:pt x="1011992" y="749584"/>
                    <a:pt x="1041695" y="777165"/>
                    <a:pt x="1057253" y="813939"/>
                  </a:cubicBezTo>
                  <a:cubicBezTo>
                    <a:pt x="1091906" y="896680"/>
                    <a:pt x="1044523" y="1004881"/>
                    <a:pt x="1026136" y="1045898"/>
                  </a:cubicBezTo>
                  <a:cubicBezTo>
                    <a:pt x="1025429" y="1047312"/>
                    <a:pt x="1024722" y="1048727"/>
                    <a:pt x="1024722" y="1050141"/>
                  </a:cubicBezTo>
                  <a:cubicBezTo>
                    <a:pt x="1510563" y="1226939"/>
                    <a:pt x="1792733" y="1476578"/>
                    <a:pt x="1884668" y="1595386"/>
                  </a:cubicBezTo>
                  <a:cubicBezTo>
                    <a:pt x="2068538" y="1384643"/>
                    <a:pt x="2355658" y="1155513"/>
                    <a:pt x="2581960" y="1103888"/>
                  </a:cubicBezTo>
                  <a:cubicBezTo>
                    <a:pt x="3009105" y="1004881"/>
                    <a:pt x="2930606" y="906581"/>
                    <a:pt x="2888882" y="722004"/>
                  </a:cubicBezTo>
                  <a:close/>
                </a:path>
              </a:pathLst>
            </a:custGeom>
            <a:solidFill>
              <a:schemeClr val="accent5"/>
            </a:solidFill>
            <a:ln w="7072" cap="flat">
              <a:noFill/>
              <a:prstDash val="solid"/>
              <a:miter/>
            </a:ln>
          </p:spPr>
          <p:txBody>
            <a:bodyPr rtlCol="0" anchor="ctr"/>
            <a:lstStyle/>
            <a:p>
              <a:endParaRPr lang="en-US" sz="3200" dirty="0">
                <a:latin typeface="Microsoft JhengHei" panose="020B0604030504040204" pitchFamily="34" charset="-120"/>
                <a:ea typeface="Microsoft JhengHei" panose="020B0604030504040204" pitchFamily="34" charset="-120"/>
              </a:endParaRPr>
            </a:p>
          </p:txBody>
        </p:sp>
        <p:sp>
          <p:nvSpPr>
            <p:cNvPr id="90" name="Freeform: Shape 89">
              <a:extLst>
                <a:ext uri="{FF2B5EF4-FFF2-40B4-BE49-F238E27FC236}">
                  <a16:creationId xmlns:a16="http://schemas.microsoft.com/office/drawing/2014/main" id="{B34A1B24-026B-4C86-A1A6-DAF05C52EA44}"/>
                </a:ext>
              </a:extLst>
            </p:cNvPr>
            <p:cNvSpPr/>
            <p:nvPr/>
          </p:nvSpPr>
          <p:spPr>
            <a:xfrm>
              <a:off x="9012462" y="3829270"/>
              <a:ext cx="7071" cy="2828"/>
            </a:xfrm>
            <a:custGeom>
              <a:avLst/>
              <a:gdLst>
                <a:gd name="connsiteX0" fmla="*/ 0 w 7071"/>
                <a:gd name="connsiteY0" fmla="*/ 1414 h 2828"/>
                <a:gd name="connsiteX1" fmla="*/ 7072 w 7071"/>
                <a:gd name="connsiteY1" fmla="*/ 2829 h 2828"/>
                <a:gd name="connsiteX2" fmla="*/ 707 w 7071"/>
                <a:gd name="connsiteY2" fmla="*/ 0 h 2828"/>
                <a:gd name="connsiteX3" fmla="*/ 0 w 7071"/>
                <a:gd name="connsiteY3" fmla="*/ 1414 h 2828"/>
              </a:gdLst>
              <a:ahLst/>
              <a:cxnLst>
                <a:cxn ang="0">
                  <a:pos x="connsiteX0" y="connsiteY0"/>
                </a:cxn>
                <a:cxn ang="0">
                  <a:pos x="connsiteX1" y="connsiteY1"/>
                </a:cxn>
                <a:cxn ang="0">
                  <a:pos x="connsiteX2" y="connsiteY2"/>
                </a:cxn>
                <a:cxn ang="0">
                  <a:pos x="connsiteX3" y="connsiteY3"/>
                </a:cxn>
              </a:cxnLst>
              <a:rect l="l" t="t" r="r" b="b"/>
              <a:pathLst>
                <a:path w="7071" h="2828">
                  <a:moveTo>
                    <a:pt x="0" y="1414"/>
                  </a:moveTo>
                  <a:lnTo>
                    <a:pt x="7072" y="2829"/>
                  </a:lnTo>
                  <a:cubicBezTo>
                    <a:pt x="4950" y="2121"/>
                    <a:pt x="2829" y="707"/>
                    <a:pt x="707" y="0"/>
                  </a:cubicBezTo>
                  <a:cubicBezTo>
                    <a:pt x="0" y="707"/>
                    <a:pt x="0" y="1414"/>
                    <a:pt x="0" y="1414"/>
                  </a:cubicBezTo>
                  <a:close/>
                </a:path>
              </a:pathLst>
            </a:custGeom>
            <a:solidFill>
              <a:srgbClr val="ED1C24"/>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sp>
          <p:nvSpPr>
            <p:cNvPr id="91" name="Freeform: Shape 90">
              <a:extLst>
                <a:ext uri="{FF2B5EF4-FFF2-40B4-BE49-F238E27FC236}">
                  <a16:creationId xmlns:a16="http://schemas.microsoft.com/office/drawing/2014/main" id="{2B2BFA7B-2E28-4C79-B559-1D0B0309EE94}"/>
                </a:ext>
              </a:extLst>
            </p:cNvPr>
            <p:cNvSpPr/>
            <p:nvPr/>
          </p:nvSpPr>
          <p:spPr>
            <a:xfrm>
              <a:off x="9233651" y="2347195"/>
              <a:ext cx="817443" cy="889403"/>
            </a:xfrm>
            <a:custGeom>
              <a:avLst/>
              <a:gdLst>
                <a:gd name="connsiteX0" fmla="*/ 676189 w 817443"/>
                <a:gd name="connsiteY0" fmla="*/ 114374 h 889403"/>
                <a:gd name="connsiteX1" fmla="*/ 549977 w 817443"/>
                <a:gd name="connsiteY1" fmla="*/ 559076 h 889403"/>
                <a:gd name="connsiteX2" fmla="*/ 141255 w 817443"/>
                <a:gd name="connsiteY2" fmla="*/ 775029 h 889403"/>
                <a:gd name="connsiteX3" fmla="*/ 267467 w 817443"/>
                <a:gd name="connsiteY3" fmla="*/ 330328 h 889403"/>
                <a:gd name="connsiteX4" fmla="*/ 676189 w 817443"/>
                <a:gd name="connsiteY4" fmla="*/ 114374 h 889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443" h="889403">
                  <a:moveTo>
                    <a:pt x="676189" y="114374"/>
                  </a:moveTo>
                  <a:cubicBezTo>
                    <a:pt x="754202" y="177542"/>
                    <a:pt x="697694" y="376641"/>
                    <a:pt x="549977" y="559076"/>
                  </a:cubicBezTo>
                  <a:cubicBezTo>
                    <a:pt x="402259" y="741511"/>
                    <a:pt x="219268" y="838196"/>
                    <a:pt x="141255" y="775029"/>
                  </a:cubicBezTo>
                  <a:cubicBezTo>
                    <a:pt x="63242" y="711862"/>
                    <a:pt x="119749" y="512762"/>
                    <a:pt x="267467" y="330328"/>
                  </a:cubicBezTo>
                  <a:cubicBezTo>
                    <a:pt x="415185" y="147893"/>
                    <a:pt x="598176" y="51207"/>
                    <a:pt x="676189" y="114374"/>
                  </a:cubicBezTo>
                  <a:close/>
                </a:path>
              </a:pathLst>
            </a:custGeom>
            <a:solidFill>
              <a:schemeClr val="accent5">
                <a:lumMod val="50000"/>
              </a:schemeClr>
            </a:solidFill>
            <a:ln w="7072" cap="flat">
              <a:noFill/>
              <a:prstDash val="solid"/>
              <a:miter/>
            </a:ln>
          </p:spPr>
          <p:txBody>
            <a:bodyPr rtlCol="0" anchor="ctr"/>
            <a:lstStyle/>
            <a:p>
              <a:endParaRPr lang="en-US" sz="3200">
                <a:latin typeface="Microsoft JhengHei" panose="020B0604030504040204" pitchFamily="34" charset="-120"/>
                <a:ea typeface="Microsoft JhengHei" panose="020B0604030504040204" pitchFamily="34" charset="-120"/>
              </a:endParaRPr>
            </a:p>
          </p:txBody>
        </p:sp>
      </p:grpSp>
      <p:grpSp>
        <p:nvGrpSpPr>
          <p:cNvPr id="8" name="Group 7">
            <a:extLst>
              <a:ext uri="{FF2B5EF4-FFF2-40B4-BE49-F238E27FC236}">
                <a16:creationId xmlns:a16="http://schemas.microsoft.com/office/drawing/2014/main" id="{3DC938BF-274F-4644-8F23-CD7AE6676BA0}"/>
              </a:ext>
            </a:extLst>
          </p:cNvPr>
          <p:cNvGrpSpPr/>
          <p:nvPr/>
        </p:nvGrpSpPr>
        <p:grpSpPr>
          <a:xfrm>
            <a:off x="1607969" y="2823252"/>
            <a:ext cx="12073986" cy="3141121"/>
            <a:chOff x="1427713" y="2852132"/>
            <a:chExt cx="10061655" cy="2617601"/>
          </a:xfrm>
        </p:grpSpPr>
        <p:grpSp>
          <p:nvGrpSpPr>
            <p:cNvPr id="6" name="Group 5">
              <a:extLst>
                <a:ext uri="{FF2B5EF4-FFF2-40B4-BE49-F238E27FC236}">
                  <a16:creationId xmlns:a16="http://schemas.microsoft.com/office/drawing/2014/main" id="{ADB454B5-5F77-4C49-9103-B7C97A7995BA}"/>
                </a:ext>
              </a:extLst>
            </p:cNvPr>
            <p:cNvGrpSpPr/>
            <p:nvPr/>
          </p:nvGrpSpPr>
          <p:grpSpPr>
            <a:xfrm>
              <a:off x="1427713" y="2852132"/>
              <a:ext cx="9478349" cy="2617601"/>
              <a:chOff x="2895898" y="2601320"/>
              <a:chExt cx="9478349" cy="2617601"/>
            </a:xfrm>
          </p:grpSpPr>
          <p:sp>
            <p:nvSpPr>
              <p:cNvPr id="109" name="Block Arc 108">
                <a:extLst>
                  <a:ext uri="{FF2B5EF4-FFF2-40B4-BE49-F238E27FC236}">
                    <a16:creationId xmlns:a16="http://schemas.microsoft.com/office/drawing/2014/main" id="{FE8A1025-CBFC-402B-BE6B-AFFE5D4E969B}"/>
                  </a:ext>
                </a:extLst>
              </p:cNvPr>
              <p:cNvSpPr/>
              <p:nvPr/>
            </p:nvSpPr>
            <p:spPr>
              <a:xfrm>
                <a:off x="10539544" y="3374995"/>
                <a:ext cx="1834703" cy="1834703"/>
              </a:xfrm>
              <a:prstGeom prst="blockArc">
                <a:avLst>
                  <a:gd name="adj1" fmla="val 12399071"/>
                  <a:gd name="adj2" fmla="val 16243311"/>
                  <a:gd name="adj3" fmla="val 66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dirty="0">
                  <a:latin typeface="Microsoft JhengHei" panose="020B0604030504040204" pitchFamily="34" charset="-120"/>
                </a:endParaRPr>
              </a:p>
            </p:txBody>
          </p:sp>
          <p:sp>
            <p:nvSpPr>
              <p:cNvPr id="110" name="Block Arc 109">
                <a:extLst>
                  <a:ext uri="{FF2B5EF4-FFF2-40B4-BE49-F238E27FC236}">
                    <a16:creationId xmlns:a16="http://schemas.microsoft.com/office/drawing/2014/main" id="{5B9948DF-5A0A-4747-B694-A56DACB3FF4D}"/>
                  </a:ext>
                </a:extLst>
              </p:cNvPr>
              <p:cNvSpPr/>
              <p:nvPr/>
            </p:nvSpPr>
            <p:spPr>
              <a:xfrm rot="10800000">
                <a:off x="2895898" y="2601320"/>
                <a:ext cx="1834703" cy="1834703"/>
              </a:xfrm>
              <a:prstGeom prst="blockArc">
                <a:avLst>
                  <a:gd name="adj1" fmla="val 12399071"/>
                  <a:gd name="adj2" fmla="val 20021087"/>
                  <a:gd name="adj3" fmla="val 648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1" name="Block Arc 110">
                <a:extLst>
                  <a:ext uri="{FF2B5EF4-FFF2-40B4-BE49-F238E27FC236}">
                    <a16:creationId xmlns:a16="http://schemas.microsoft.com/office/drawing/2014/main" id="{E67BDBDC-F19E-406B-B8E2-0E2179EB9E4D}"/>
                  </a:ext>
                </a:extLst>
              </p:cNvPr>
              <p:cNvSpPr/>
              <p:nvPr/>
            </p:nvSpPr>
            <p:spPr>
              <a:xfrm>
                <a:off x="7477560" y="3384218"/>
                <a:ext cx="1834703" cy="1834703"/>
              </a:xfrm>
              <a:prstGeom prst="blockArc">
                <a:avLst>
                  <a:gd name="adj1" fmla="val 12399071"/>
                  <a:gd name="adj2" fmla="val 20021087"/>
                  <a:gd name="adj3" fmla="val 648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2" name="Block Arc 111">
                <a:extLst>
                  <a:ext uri="{FF2B5EF4-FFF2-40B4-BE49-F238E27FC236}">
                    <a16:creationId xmlns:a16="http://schemas.microsoft.com/office/drawing/2014/main" id="{330036F1-9DAC-4969-B3EF-83EF2CF63EB1}"/>
                  </a:ext>
                </a:extLst>
              </p:cNvPr>
              <p:cNvSpPr/>
              <p:nvPr/>
            </p:nvSpPr>
            <p:spPr>
              <a:xfrm>
                <a:off x="4416280" y="3384218"/>
                <a:ext cx="1834703" cy="1834703"/>
              </a:xfrm>
              <a:prstGeom prst="blockArc">
                <a:avLst>
                  <a:gd name="adj1" fmla="val 12399071"/>
                  <a:gd name="adj2" fmla="val 20021087"/>
                  <a:gd name="adj3" fmla="val 648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3" name="Block Arc 112">
                <a:extLst>
                  <a:ext uri="{FF2B5EF4-FFF2-40B4-BE49-F238E27FC236}">
                    <a16:creationId xmlns:a16="http://schemas.microsoft.com/office/drawing/2014/main" id="{E40E8946-5E4B-4C26-84C5-466244B4392C}"/>
                  </a:ext>
                </a:extLst>
              </p:cNvPr>
              <p:cNvSpPr/>
              <p:nvPr/>
            </p:nvSpPr>
            <p:spPr>
              <a:xfrm rot="10800000">
                <a:off x="5946920" y="2601320"/>
                <a:ext cx="1834703" cy="1834703"/>
              </a:xfrm>
              <a:prstGeom prst="blockArc">
                <a:avLst>
                  <a:gd name="adj1" fmla="val 12399071"/>
                  <a:gd name="adj2" fmla="val 20021087"/>
                  <a:gd name="adj3" fmla="val 64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4" name="Block Arc 160">
                <a:extLst>
                  <a:ext uri="{FF2B5EF4-FFF2-40B4-BE49-F238E27FC236}">
                    <a16:creationId xmlns:a16="http://schemas.microsoft.com/office/drawing/2014/main" id="{66238CEF-C54D-4BBA-BA3E-140CFFCE07D7}"/>
                  </a:ext>
                </a:extLst>
              </p:cNvPr>
              <p:cNvSpPr/>
              <p:nvPr/>
            </p:nvSpPr>
            <p:spPr>
              <a:xfrm rot="10800000">
                <a:off x="9008904" y="2601320"/>
                <a:ext cx="1834703" cy="1834703"/>
              </a:xfrm>
              <a:prstGeom prst="blockArc">
                <a:avLst>
                  <a:gd name="adj1" fmla="val 12399071"/>
                  <a:gd name="adj2" fmla="val 20021087"/>
                  <a:gd name="adj3" fmla="val 648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grpSp>
        <p:sp>
          <p:nvSpPr>
            <p:cNvPr id="7" name="Rectangle 6">
              <a:extLst>
                <a:ext uri="{FF2B5EF4-FFF2-40B4-BE49-F238E27FC236}">
                  <a16:creationId xmlns:a16="http://schemas.microsoft.com/office/drawing/2014/main" id="{C1BD60E6-79DF-41AA-859E-722ADC1D512C}"/>
                </a:ext>
              </a:extLst>
            </p:cNvPr>
            <p:cNvSpPr/>
            <p:nvPr/>
          </p:nvSpPr>
          <p:spPr>
            <a:xfrm>
              <a:off x="9988709" y="3625806"/>
              <a:ext cx="1500659" cy="1180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Microsoft JhengHei" panose="020B0604030504040204" pitchFamily="34" charset="-120"/>
                <a:ea typeface="Microsoft JhengHei" panose="020B0604030504040204" pitchFamily="34" charset="-120"/>
              </a:endParaRPr>
            </a:p>
          </p:txBody>
        </p:sp>
      </p:grpSp>
      <p:sp>
        <p:nvSpPr>
          <p:cNvPr id="115" name="Oval 114">
            <a:extLst>
              <a:ext uri="{FF2B5EF4-FFF2-40B4-BE49-F238E27FC236}">
                <a16:creationId xmlns:a16="http://schemas.microsoft.com/office/drawing/2014/main" id="{7054A256-8CF5-4768-B0E4-8D3ABDC99DD0}"/>
              </a:ext>
            </a:extLst>
          </p:cNvPr>
          <p:cNvSpPr/>
          <p:nvPr/>
        </p:nvSpPr>
        <p:spPr>
          <a:xfrm>
            <a:off x="5958845" y="3717985"/>
            <a:ext cx="832097" cy="83209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6" name="Oval 115">
            <a:extLst>
              <a:ext uri="{FF2B5EF4-FFF2-40B4-BE49-F238E27FC236}">
                <a16:creationId xmlns:a16="http://schemas.microsoft.com/office/drawing/2014/main" id="{A478EFDC-91F9-4AB0-86AA-EF757AA65B89}"/>
              </a:ext>
            </a:extLst>
          </p:cNvPr>
          <p:cNvSpPr/>
          <p:nvPr/>
        </p:nvSpPr>
        <p:spPr>
          <a:xfrm>
            <a:off x="4124090" y="4299252"/>
            <a:ext cx="832097" cy="832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7" name="Oval 116">
            <a:extLst>
              <a:ext uri="{FF2B5EF4-FFF2-40B4-BE49-F238E27FC236}">
                <a16:creationId xmlns:a16="http://schemas.microsoft.com/office/drawing/2014/main" id="{F58C1468-307F-4474-A7C3-796841EE438D}"/>
              </a:ext>
            </a:extLst>
          </p:cNvPr>
          <p:cNvSpPr/>
          <p:nvPr/>
        </p:nvSpPr>
        <p:spPr>
          <a:xfrm>
            <a:off x="2289336" y="3717985"/>
            <a:ext cx="832097" cy="8320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19" name="Oval 118">
            <a:extLst>
              <a:ext uri="{FF2B5EF4-FFF2-40B4-BE49-F238E27FC236}">
                <a16:creationId xmlns:a16="http://schemas.microsoft.com/office/drawing/2014/main" id="{2E9AEEA8-BE6A-406B-BB73-D62F6237E8FD}"/>
              </a:ext>
            </a:extLst>
          </p:cNvPr>
          <p:cNvSpPr/>
          <p:nvPr/>
        </p:nvSpPr>
        <p:spPr>
          <a:xfrm>
            <a:off x="7793598" y="4299252"/>
            <a:ext cx="832097" cy="8320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21" name="Oval 100">
            <a:extLst>
              <a:ext uri="{FF2B5EF4-FFF2-40B4-BE49-F238E27FC236}">
                <a16:creationId xmlns:a16="http://schemas.microsoft.com/office/drawing/2014/main" id="{102A3DBB-340A-440D-BDBC-B66D4D01EFDC}"/>
              </a:ext>
            </a:extLst>
          </p:cNvPr>
          <p:cNvSpPr/>
          <p:nvPr/>
        </p:nvSpPr>
        <p:spPr>
          <a:xfrm>
            <a:off x="9628351" y="3717985"/>
            <a:ext cx="832097" cy="8320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400">
              <a:latin typeface="Microsoft JhengHei" panose="020B0604030504040204" pitchFamily="34" charset="-120"/>
            </a:endParaRPr>
          </a:p>
        </p:txBody>
      </p:sp>
      <p:sp>
        <p:nvSpPr>
          <p:cNvPr id="122" name="Rounded Rectangle 5">
            <a:extLst>
              <a:ext uri="{FF2B5EF4-FFF2-40B4-BE49-F238E27FC236}">
                <a16:creationId xmlns:a16="http://schemas.microsoft.com/office/drawing/2014/main" id="{D97E1B44-B49D-405E-95C5-A37725F4C545}"/>
              </a:ext>
            </a:extLst>
          </p:cNvPr>
          <p:cNvSpPr/>
          <p:nvPr/>
        </p:nvSpPr>
        <p:spPr>
          <a:xfrm flipH="1">
            <a:off x="8012568" y="4559568"/>
            <a:ext cx="470018" cy="387737"/>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latin typeface="Microsoft JhengHei" panose="020B0604030504040204" pitchFamily="34" charset="-120"/>
            </a:endParaRPr>
          </a:p>
        </p:txBody>
      </p:sp>
      <p:sp>
        <p:nvSpPr>
          <p:cNvPr id="123" name="Teardrop 1">
            <a:extLst>
              <a:ext uri="{FF2B5EF4-FFF2-40B4-BE49-F238E27FC236}">
                <a16:creationId xmlns:a16="http://schemas.microsoft.com/office/drawing/2014/main" id="{C847896E-BD24-44C0-9042-AA9B5E52CAB5}"/>
              </a:ext>
            </a:extLst>
          </p:cNvPr>
          <p:cNvSpPr/>
          <p:nvPr/>
        </p:nvSpPr>
        <p:spPr>
          <a:xfrm rot="18805991">
            <a:off x="9818282" y="3910275"/>
            <a:ext cx="452234" cy="447516"/>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solidFill>
                <a:schemeClr val="tx1"/>
              </a:solidFill>
              <a:latin typeface="Microsoft JhengHei" panose="020B0604030504040204" pitchFamily="34" charset="-120"/>
            </a:endParaRPr>
          </a:p>
        </p:txBody>
      </p:sp>
      <p:sp>
        <p:nvSpPr>
          <p:cNvPr id="125" name="Donut 39">
            <a:extLst>
              <a:ext uri="{FF2B5EF4-FFF2-40B4-BE49-F238E27FC236}">
                <a16:creationId xmlns:a16="http://schemas.microsoft.com/office/drawing/2014/main" id="{DD09BE52-0808-4E49-8B9D-FD83EFC511C3}"/>
              </a:ext>
            </a:extLst>
          </p:cNvPr>
          <p:cNvSpPr/>
          <p:nvPr/>
        </p:nvSpPr>
        <p:spPr>
          <a:xfrm>
            <a:off x="2462905" y="3891554"/>
            <a:ext cx="484958" cy="484958"/>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solidFill>
                <a:schemeClr val="tx1"/>
              </a:solidFill>
              <a:latin typeface="Microsoft JhengHei" panose="020B0604030504040204" pitchFamily="34" charset="-120"/>
            </a:endParaRPr>
          </a:p>
        </p:txBody>
      </p:sp>
      <p:sp>
        <p:nvSpPr>
          <p:cNvPr id="126" name="Rectangle 36">
            <a:extLst>
              <a:ext uri="{FF2B5EF4-FFF2-40B4-BE49-F238E27FC236}">
                <a16:creationId xmlns:a16="http://schemas.microsoft.com/office/drawing/2014/main" id="{E23CAE8B-D24C-4776-AE65-17AEE895AF15}"/>
              </a:ext>
            </a:extLst>
          </p:cNvPr>
          <p:cNvSpPr/>
          <p:nvPr/>
        </p:nvSpPr>
        <p:spPr>
          <a:xfrm>
            <a:off x="6152184" y="3938744"/>
            <a:ext cx="467244" cy="390578"/>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latin typeface="Microsoft JhengHei" panose="020B0604030504040204" pitchFamily="34" charset="-120"/>
            </a:endParaRPr>
          </a:p>
        </p:txBody>
      </p:sp>
      <p:sp>
        <p:nvSpPr>
          <p:cNvPr id="127" name="Chord 15">
            <a:extLst>
              <a:ext uri="{FF2B5EF4-FFF2-40B4-BE49-F238E27FC236}">
                <a16:creationId xmlns:a16="http://schemas.microsoft.com/office/drawing/2014/main" id="{2B10FE4D-3BAF-420B-A89E-5967ADB268E1}"/>
              </a:ext>
            </a:extLst>
          </p:cNvPr>
          <p:cNvSpPr/>
          <p:nvPr/>
        </p:nvSpPr>
        <p:spPr>
          <a:xfrm>
            <a:off x="4410671" y="4454813"/>
            <a:ext cx="238950" cy="520975"/>
          </a:xfrm>
          <a:custGeom>
            <a:avLst/>
            <a:gdLst/>
            <a:ahLst/>
            <a:cxnLst/>
            <a:rect l="l" t="t" r="r" b="b"/>
            <a:pathLst>
              <a:path w="1492970" h="3255081">
                <a:moveTo>
                  <a:pt x="1492970" y="1569688"/>
                </a:moveTo>
                <a:cubicBezTo>
                  <a:pt x="1492970" y="1957118"/>
                  <a:pt x="1197680" y="2277765"/>
                  <a:pt x="816277" y="2310957"/>
                </a:cubicBezTo>
                <a:lnTo>
                  <a:pt x="816277" y="2787043"/>
                </a:lnTo>
                <a:cubicBezTo>
                  <a:pt x="873982" y="2789209"/>
                  <a:pt x="931009" y="2798017"/>
                  <a:pt x="986081" y="2811674"/>
                </a:cubicBezTo>
                <a:cubicBezTo>
                  <a:pt x="1252919" y="2877847"/>
                  <a:pt x="1430830" y="3046369"/>
                  <a:pt x="1433593" y="3235566"/>
                </a:cubicBezTo>
                <a:lnTo>
                  <a:pt x="57488" y="3255081"/>
                </a:lnTo>
                <a:cubicBezTo>
                  <a:pt x="47920" y="3062506"/>
                  <a:pt x="221127" y="2886615"/>
                  <a:pt x="490574" y="2815284"/>
                </a:cubicBezTo>
                <a:cubicBezTo>
                  <a:pt x="549928" y="2799571"/>
                  <a:pt x="611777" y="2789553"/>
                  <a:pt x="674460" y="2787163"/>
                </a:cubicBezTo>
                <a:lnTo>
                  <a:pt x="674460" y="2310809"/>
                </a:lnTo>
                <a:cubicBezTo>
                  <a:pt x="317470" y="2280245"/>
                  <a:pt x="28405" y="1994114"/>
                  <a:pt x="0" y="1627428"/>
                </a:cubicBezTo>
                <a:lnTo>
                  <a:pt x="142201" y="1616413"/>
                </a:lnTo>
                <a:cubicBezTo>
                  <a:pt x="167304" y="1940464"/>
                  <a:pt x="443969" y="2186771"/>
                  <a:pt x="768748" y="2174211"/>
                </a:cubicBezTo>
                <a:cubicBezTo>
                  <a:pt x="1093527" y="2161650"/>
                  <a:pt x="1350342" y="1894710"/>
                  <a:pt x="1350342" y="1569689"/>
                </a:cubicBezTo>
                <a:close/>
                <a:moveTo>
                  <a:pt x="745368" y="0"/>
                </a:moveTo>
                <a:cubicBezTo>
                  <a:pt x="989132" y="0"/>
                  <a:pt x="1186742" y="197610"/>
                  <a:pt x="1186742" y="441374"/>
                </a:cubicBezTo>
                <a:lnTo>
                  <a:pt x="1186742" y="1575353"/>
                </a:lnTo>
                <a:cubicBezTo>
                  <a:pt x="1186742" y="1819117"/>
                  <a:pt x="989132" y="2016727"/>
                  <a:pt x="745368" y="2016727"/>
                </a:cubicBezTo>
                <a:cubicBezTo>
                  <a:pt x="501604" y="2016727"/>
                  <a:pt x="303994" y="1819117"/>
                  <a:pt x="303994" y="1575353"/>
                </a:cubicBezTo>
                <a:lnTo>
                  <a:pt x="303994" y="441374"/>
                </a:lnTo>
                <a:cubicBezTo>
                  <a:pt x="303994" y="197610"/>
                  <a:pt x="501604" y="0"/>
                  <a:pt x="74536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200" dirty="0">
              <a:latin typeface="Microsoft JhengHei" panose="020B0604030504040204" pitchFamily="34" charset="-120"/>
            </a:endParaRPr>
          </a:p>
        </p:txBody>
      </p:sp>
      <p:sp>
        <p:nvSpPr>
          <p:cNvPr id="144" name="TextBox 143">
            <a:extLst>
              <a:ext uri="{FF2B5EF4-FFF2-40B4-BE49-F238E27FC236}">
                <a16:creationId xmlns:a16="http://schemas.microsoft.com/office/drawing/2014/main" id="{CF4618F2-4883-423B-AE84-8CF62C57CB54}"/>
              </a:ext>
            </a:extLst>
          </p:cNvPr>
          <p:cNvSpPr txBox="1"/>
          <p:nvPr/>
        </p:nvSpPr>
        <p:spPr>
          <a:xfrm>
            <a:off x="1602794" y="3131008"/>
            <a:ext cx="215222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主題選擇</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47" name="TextBox 146">
            <a:extLst>
              <a:ext uri="{FF2B5EF4-FFF2-40B4-BE49-F238E27FC236}">
                <a16:creationId xmlns:a16="http://schemas.microsoft.com/office/drawing/2014/main" id="{A84529F9-1047-4826-8B79-9416E4A16560}"/>
              </a:ext>
            </a:extLst>
          </p:cNvPr>
          <p:cNvSpPr txBox="1"/>
          <p:nvPr/>
        </p:nvSpPr>
        <p:spPr>
          <a:xfrm>
            <a:off x="7226078" y="5382231"/>
            <a:ext cx="2152225" cy="954107"/>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使用者回應</a:t>
            </a:r>
            <a:r>
              <a:rPr lang="en-US" altLang="zh-TW"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t>
            </a:r>
            <a:r>
              <a:rPr lang="zh-TW" altLang="en-US" sz="2800" dirty="0">
                <a:latin typeface="Microsoft JhengHei" panose="020B0604030504040204" pitchFamily="34" charset="-120"/>
                <a:ea typeface="Microsoft JhengHei" panose="020B0604030504040204" pitchFamily="34" charset="-120"/>
              </a:rPr>
              <a:t>文字</a:t>
            </a:r>
            <a:r>
              <a:rPr lang="en-US" altLang="zh-TW" sz="2800" dirty="0">
                <a:latin typeface="Microsoft JhengHei" panose="020B0604030504040204" pitchFamily="34" charset="-120"/>
                <a:ea typeface="Microsoft JhengHei" panose="020B0604030504040204" pitchFamily="34" charset="-120"/>
              </a:rPr>
              <a:t>/</a:t>
            </a:r>
            <a:r>
              <a:rPr lang="zh-TW" altLang="en-US" sz="2800" dirty="0">
                <a:latin typeface="Microsoft JhengHei" panose="020B0604030504040204" pitchFamily="34" charset="-120"/>
                <a:ea typeface="Microsoft JhengHei" panose="020B0604030504040204" pitchFamily="34" charset="-120"/>
              </a:rPr>
              <a:t>語音</a:t>
            </a:r>
            <a:r>
              <a:rPr lang="en-US" altLang="zh-TW"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50" name="TextBox 149">
            <a:extLst>
              <a:ext uri="{FF2B5EF4-FFF2-40B4-BE49-F238E27FC236}">
                <a16:creationId xmlns:a16="http://schemas.microsoft.com/office/drawing/2014/main" id="{D5C191C3-10BB-43C7-BB71-6081C453520A}"/>
              </a:ext>
            </a:extLst>
          </p:cNvPr>
          <p:cNvSpPr txBox="1"/>
          <p:nvPr/>
        </p:nvSpPr>
        <p:spPr>
          <a:xfrm>
            <a:off x="5284138" y="2989768"/>
            <a:ext cx="215222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對話引導</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156" name="TextBox 155">
            <a:extLst>
              <a:ext uri="{FF2B5EF4-FFF2-40B4-BE49-F238E27FC236}">
                <a16:creationId xmlns:a16="http://schemas.microsoft.com/office/drawing/2014/main" id="{A13B9285-80FB-4AF7-AADC-36E601DD3EDE}"/>
              </a:ext>
            </a:extLst>
          </p:cNvPr>
          <p:cNvSpPr txBox="1"/>
          <p:nvPr/>
        </p:nvSpPr>
        <p:spPr>
          <a:xfrm>
            <a:off x="8992995" y="2892593"/>
            <a:ext cx="215222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系統回饋</a:t>
            </a:r>
            <a:endParaRPr lang="en-US" altLang="ko-KR"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5" name="文字方塊 4">
            <a:extLst>
              <a:ext uri="{FF2B5EF4-FFF2-40B4-BE49-F238E27FC236}">
                <a16:creationId xmlns:a16="http://schemas.microsoft.com/office/drawing/2014/main" id="{F7CF6FF8-66D2-839E-2675-4197FB26DFB7}"/>
              </a:ext>
            </a:extLst>
          </p:cNvPr>
          <p:cNvSpPr txBox="1"/>
          <p:nvPr/>
        </p:nvSpPr>
        <p:spPr>
          <a:xfrm>
            <a:off x="3723141" y="5421498"/>
            <a:ext cx="2201643" cy="523220"/>
          </a:xfrm>
          <a:prstGeom prst="rect">
            <a:avLst/>
          </a:prstGeom>
          <a:noFill/>
        </p:spPr>
        <p:txBody>
          <a:bodyPr wrap="square">
            <a:spAutoFit/>
          </a:bodyPr>
          <a:lstStyle/>
          <a:p>
            <a:r>
              <a:rPr lang="zh-TW" altLang="en-US" sz="2800" dirty="0">
                <a:latin typeface="Microsoft JhengHei" panose="020B0604030504040204" pitchFamily="34" charset="-120"/>
                <a:ea typeface="Microsoft JhengHei" panose="020B0604030504040204" pitchFamily="34" charset="-120"/>
              </a:rPr>
              <a:t>難易度選擇</a:t>
            </a:r>
          </a:p>
        </p:txBody>
      </p:sp>
      <p:sp>
        <p:nvSpPr>
          <p:cNvPr id="10" name="文字方塊 9">
            <a:extLst>
              <a:ext uri="{FF2B5EF4-FFF2-40B4-BE49-F238E27FC236}">
                <a16:creationId xmlns:a16="http://schemas.microsoft.com/office/drawing/2014/main" id="{5B27C7E5-0D50-B41C-9354-B0E1765E3244}"/>
              </a:ext>
            </a:extLst>
          </p:cNvPr>
          <p:cNvSpPr txBox="1"/>
          <p:nvPr/>
        </p:nvSpPr>
        <p:spPr>
          <a:xfrm>
            <a:off x="3950522" y="6791497"/>
            <a:ext cx="7315200" cy="523220"/>
          </a:xfrm>
          <a:prstGeom prst="rect">
            <a:avLst/>
          </a:prstGeom>
          <a:noFill/>
        </p:spPr>
        <p:txBody>
          <a:bodyPr wrap="square">
            <a:spAutoFit/>
          </a:bodyPr>
          <a:lstStyle/>
          <a:p>
            <a:pPr algn="ctr"/>
            <a:r>
              <a:rPr lang="zh-TW" altLang="en-US" sz="2800" dirty="0">
                <a:latin typeface="Microsoft JhengHei" panose="020B0604030504040204" pitchFamily="34" charset="-120"/>
                <a:ea typeface="Microsoft JhengHei" panose="020B0604030504040204" pitchFamily="34" charset="-120"/>
              </a:rPr>
              <a:t>對話具連貫性，系統可延伸話題</a:t>
            </a:r>
          </a:p>
        </p:txBody>
      </p:sp>
      <p:sp>
        <p:nvSpPr>
          <p:cNvPr id="4" name="投影片編號版面配置區 3">
            <a:extLst>
              <a:ext uri="{FF2B5EF4-FFF2-40B4-BE49-F238E27FC236}">
                <a16:creationId xmlns:a16="http://schemas.microsoft.com/office/drawing/2014/main" id="{CFC2B73B-1146-FF81-D844-0BA97E18C227}"/>
              </a:ext>
            </a:extLst>
          </p:cNvPr>
          <p:cNvSpPr>
            <a:spLocks noGrp="1"/>
          </p:cNvSpPr>
          <p:nvPr>
            <p:ph type="sldNum" sz="quarter" idx="4"/>
          </p:nvPr>
        </p:nvSpPr>
        <p:spPr/>
        <p:txBody>
          <a:bodyPr/>
          <a:lstStyle/>
          <a:p>
            <a:fld id="{46198A0D-C119-49A8-AD21-4EA122FD909A}" type="slidenum">
              <a:rPr lang="zh-TW" altLang="en-US" smtClean="0"/>
              <a:t>11</a:t>
            </a:fld>
            <a:endParaRPr lang="zh-TW" altLang="en-US"/>
          </a:p>
        </p:txBody>
      </p:sp>
    </p:spTree>
    <p:extLst>
      <p:ext uri="{BB962C8B-B14F-4D97-AF65-F5344CB8AC3E}">
        <p14:creationId xmlns:p14="http://schemas.microsoft.com/office/powerpoint/2010/main" val="189180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5BAF077F-E9AA-35CD-6C90-F6BBA179FE7F}"/>
              </a:ext>
            </a:extLst>
          </p:cNvPr>
          <p:cNvPicPr>
            <a:picLocks noChangeAspect="1"/>
          </p:cNvPicPr>
          <p:nvPr/>
        </p:nvPicPr>
        <p:blipFill>
          <a:blip r:embed="rId3"/>
          <a:stretch>
            <a:fillRect/>
          </a:stretch>
        </p:blipFill>
        <p:spPr>
          <a:xfrm>
            <a:off x="12734380" y="6949329"/>
            <a:ext cx="1896020" cy="1280271"/>
          </a:xfrm>
          <a:prstGeom prst="rect">
            <a:avLst/>
          </a:prstGeom>
        </p:spPr>
      </p:pic>
      <p:pic>
        <p:nvPicPr>
          <p:cNvPr id="4" name="圖片 3">
            <a:extLst>
              <a:ext uri="{FF2B5EF4-FFF2-40B4-BE49-F238E27FC236}">
                <a16:creationId xmlns:a16="http://schemas.microsoft.com/office/drawing/2014/main" id="{B17FC64D-0225-E137-C6B6-435A3AD33695}"/>
              </a:ext>
            </a:extLst>
          </p:cNvPr>
          <p:cNvPicPr>
            <a:picLocks noChangeAspect="1"/>
          </p:cNvPicPr>
          <p:nvPr/>
        </p:nvPicPr>
        <p:blipFill>
          <a:blip r:embed="rId4"/>
          <a:stretch>
            <a:fillRect/>
          </a:stretch>
        </p:blipFill>
        <p:spPr>
          <a:xfrm>
            <a:off x="4738357" y="0"/>
            <a:ext cx="5153685" cy="8229600"/>
          </a:xfrm>
          <a:prstGeom prst="rect">
            <a:avLst/>
          </a:prstGeom>
        </p:spPr>
      </p:pic>
      <p:sp>
        <p:nvSpPr>
          <p:cNvPr id="3" name="投影片編號版面配置區 2">
            <a:extLst>
              <a:ext uri="{FF2B5EF4-FFF2-40B4-BE49-F238E27FC236}">
                <a16:creationId xmlns:a16="http://schemas.microsoft.com/office/drawing/2014/main" id="{6F4D0EF5-87AE-0C1B-02B2-B9723ACD60C3}"/>
              </a:ext>
            </a:extLst>
          </p:cNvPr>
          <p:cNvSpPr>
            <a:spLocks noGrp="1"/>
          </p:cNvSpPr>
          <p:nvPr>
            <p:ph type="sldNum" sz="quarter" idx="4"/>
          </p:nvPr>
        </p:nvSpPr>
        <p:spPr/>
        <p:txBody>
          <a:bodyPr/>
          <a:lstStyle/>
          <a:p>
            <a:fld id="{46198A0D-C119-49A8-AD21-4EA122FD909A}" type="slidenum">
              <a:rPr lang="zh-TW" altLang="en-US" smtClean="0"/>
              <a:t>12</a:t>
            </a:fld>
            <a:endParaRPr lang="zh-TW" altLang="en-US"/>
          </a:p>
        </p:txBody>
      </p:sp>
    </p:spTree>
    <p:extLst>
      <p:ext uri="{BB962C8B-B14F-4D97-AF65-F5344CB8AC3E}">
        <p14:creationId xmlns:p14="http://schemas.microsoft.com/office/powerpoint/2010/main" val="1757623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4D4C23-81FB-460B-A16B-715818231E42}"/>
              </a:ext>
            </a:extLst>
          </p:cNvPr>
          <p:cNvSpPr>
            <a:spLocks noGrp="1"/>
          </p:cNvSpPr>
          <p:nvPr>
            <p:ph type="body" sz="quarter" idx="4294967295"/>
          </p:nvPr>
        </p:nvSpPr>
        <p:spPr>
          <a:xfrm>
            <a:off x="0" y="357188"/>
            <a:ext cx="5983288"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單字造句練習功能</a:t>
            </a:r>
            <a:endParaRPr lang="en-US" sz="5400" b="1" dirty="0">
              <a:latin typeface="Microsoft JhengHei" panose="020B0604030504040204" pitchFamily="34" charset="-120"/>
              <a:ea typeface="Microsoft JhengHei" panose="020B0604030504040204" pitchFamily="34" charset="-120"/>
            </a:endParaRPr>
          </a:p>
        </p:txBody>
      </p:sp>
      <p:sp>
        <p:nvSpPr>
          <p:cNvPr id="3" name="Oval 2">
            <a:extLst>
              <a:ext uri="{FF2B5EF4-FFF2-40B4-BE49-F238E27FC236}">
                <a16:creationId xmlns:a16="http://schemas.microsoft.com/office/drawing/2014/main" id="{133B0E7B-0E58-43A0-88FC-794C043EB0DF}"/>
              </a:ext>
            </a:extLst>
          </p:cNvPr>
          <p:cNvSpPr/>
          <p:nvPr/>
        </p:nvSpPr>
        <p:spPr>
          <a:xfrm>
            <a:off x="6074441" y="6138733"/>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cs typeface="Arial" pitchFamily="34" charset="0"/>
            </a:endParaRPr>
          </a:p>
        </p:txBody>
      </p:sp>
      <p:sp>
        <p:nvSpPr>
          <p:cNvPr id="4" name="Oval 3">
            <a:extLst>
              <a:ext uri="{FF2B5EF4-FFF2-40B4-BE49-F238E27FC236}">
                <a16:creationId xmlns:a16="http://schemas.microsoft.com/office/drawing/2014/main" id="{D92ED873-13CE-4E55-BCC5-5AB15A39B02E}"/>
              </a:ext>
            </a:extLst>
          </p:cNvPr>
          <p:cNvSpPr/>
          <p:nvPr/>
        </p:nvSpPr>
        <p:spPr>
          <a:xfrm>
            <a:off x="7685441" y="5105879"/>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5" name="Oval 4">
            <a:extLst>
              <a:ext uri="{FF2B5EF4-FFF2-40B4-BE49-F238E27FC236}">
                <a16:creationId xmlns:a16="http://schemas.microsoft.com/office/drawing/2014/main" id="{F277E4A7-CCA3-4C64-B89F-9487147317F8}"/>
              </a:ext>
            </a:extLst>
          </p:cNvPr>
          <p:cNvSpPr/>
          <p:nvPr/>
        </p:nvSpPr>
        <p:spPr>
          <a:xfrm>
            <a:off x="6074441" y="4073022"/>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6" name="Oval 5">
            <a:extLst>
              <a:ext uri="{FF2B5EF4-FFF2-40B4-BE49-F238E27FC236}">
                <a16:creationId xmlns:a16="http://schemas.microsoft.com/office/drawing/2014/main" id="{1F0A2FB5-174C-4E55-84D6-DA857A6D71BC}"/>
              </a:ext>
            </a:extLst>
          </p:cNvPr>
          <p:cNvSpPr/>
          <p:nvPr/>
        </p:nvSpPr>
        <p:spPr>
          <a:xfrm>
            <a:off x="7685441" y="3040168"/>
            <a:ext cx="898778" cy="898778"/>
          </a:xfrm>
          <a:prstGeom prst="ellipse">
            <a:avLst/>
          </a:prstGeom>
          <a:solidFill>
            <a:schemeClr val="bg1"/>
          </a:solidFill>
          <a:ln w="63500">
            <a:solidFill>
              <a:schemeClr val="accent1"/>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7" name="Oval 6">
            <a:extLst>
              <a:ext uri="{FF2B5EF4-FFF2-40B4-BE49-F238E27FC236}">
                <a16:creationId xmlns:a16="http://schemas.microsoft.com/office/drawing/2014/main" id="{13EFBC72-1C81-44DC-BF8B-10C03C43E42C}"/>
              </a:ext>
            </a:extLst>
          </p:cNvPr>
          <p:cNvSpPr/>
          <p:nvPr/>
        </p:nvSpPr>
        <p:spPr>
          <a:xfrm>
            <a:off x="6074441" y="2007311"/>
            <a:ext cx="898778" cy="898778"/>
          </a:xfrm>
          <a:prstGeom prst="ellipse">
            <a:avLst/>
          </a:prstGeom>
          <a:solidFill>
            <a:schemeClr val="bg1"/>
          </a:solidFill>
          <a:ln w="63500">
            <a:solidFill>
              <a:schemeClr val="accent4"/>
            </a:solidFill>
          </a:ln>
          <a:effectLst>
            <a:innerShdw blurRad="101600" dist="88900" dir="13500000">
              <a:prstClr val="black">
                <a:alpha val="5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cs typeface="Arial" pitchFamily="34" charset="0"/>
            </a:endParaRPr>
          </a:p>
        </p:txBody>
      </p:sp>
      <p:sp>
        <p:nvSpPr>
          <p:cNvPr id="8" name="Freeform 65">
            <a:extLst>
              <a:ext uri="{FF2B5EF4-FFF2-40B4-BE49-F238E27FC236}">
                <a16:creationId xmlns:a16="http://schemas.microsoft.com/office/drawing/2014/main" id="{47D1EAA2-836C-4FC8-A189-4DE0B1C3BD0A}"/>
              </a:ext>
            </a:extLst>
          </p:cNvPr>
          <p:cNvSpPr/>
          <p:nvPr/>
        </p:nvSpPr>
        <p:spPr>
          <a:xfrm>
            <a:off x="7121141" y="2409097"/>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9" name="Freeform 66">
            <a:extLst>
              <a:ext uri="{FF2B5EF4-FFF2-40B4-BE49-F238E27FC236}">
                <a16:creationId xmlns:a16="http://schemas.microsoft.com/office/drawing/2014/main" id="{2F587C56-2D1F-454D-9D36-3B981D9948F3}"/>
              </a:ext>
            </a:extLst>
          </p:cNvPr>
          <p:cNvSpPr/>
          <p:nvPr/>
        </p:nvSpPr>
        <p:spPr>
          <a:xfrm flipH="1">
            <a:off x="5327860" y="3450366"/>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10" name="Freeform 67">
            <a:extLst>
              <a:ext uri="{FF2B5EF4-FFF2-40B4-BE49-F238E27FC236}">
                <a16:creationId xmlns:a16="http://schemas.microsoft.com/office/drawing/2014/main" id="{7FE3E602-CF2F-47FB-B50E-FEA01A03AC37}"/>
              </a:ext>
            </a:extLst>
          </p:cNvPr>
          <p:cNvSpPr/>
          <p:nvPr/>
        </p:nvSpPr>
        <p:spPr>
          <a:xfrm>
            <a:off x="7121141" y="4522411"/>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11" name="Freeform 68">
            <a:extLst>
              <a:ext uri="{FF2B5EF4-FFF2-40B4-BE49-F238E27FC236}">
                <a16:creationId xmlns:a16="http://schemas.microsoft.com/office/drawing/2014/main" id="{E8982959-F5BB-4826-B860-9F9E247CC240}"/>
              </a:ext>
            </a:extLst>
          </p:cNvPr>
          <p:cNvSpPr/>
          <p:nvPr/>
        </p:nvSpPr>
        <p:spPr>
          <a:xfrm flipH="1">
            <a:off x="5327860" y="5563680"/>
            <a:ext cx="2160000" cy="1071154"/>
          </a:xfrm>
          <a:custGeom>
            <a:avLst/>
            <a:gdLst>
              <a:gd name="connsiteX0" fmla="*/ 0 w 1447800"/>
              <a:gd name="connsiteY0" fmla="*/ 0 h 892628"/>
              <a:gd name="connsiteX1" fmla="*/ 1447800 w 1447800"/>
              <a:gd name="connsiteY1" fmla="*/ 0 h 892628"/>
              <a:gd name="connsiteX2" fmla="*/ 1447800 w 1447800"/>
              <a:gd name="connsiteY2" fmla="*/ 892628 h 892628"/>
              <a:gd name="connsiteX3" fmla="*/ 1077685 w 1447800"/>
              <a:gd name="connsiteY3" fmla="*/ 892628 h 892628"/>
            </a:gdLst>
            <a:ahLst/>
            <a:cxnLst>
              <a:cxn ang="0">
                <a:pos x="connsiteX0" y="connsiteY0"/>
              </a:cxn>
              <a:cxn ang="0">
                <a:pos x="connsiteX1" y="connsiteY1"/>
              </a:cxn>
              <a:cxn ang="0">
                <a:pos x="connsiteX2" y="connsiteY2"/>
              </a:cxn>
              <a:cxn ang="0">
                <a:pos x="connsiteX3" y="connsiteY3"/>
              </a:cxn>
            </a:cxnLst>
            <a:rect l="l" t="t" r="r" b="b"/>
            <a:pathLst>
              <a:path w="1447800" h="892628">
                <a:moveTo>
                  <a:pt x="0" y="0"/>
                </a:moveTo>
                <a:lnTo>
                  <a:pt x="1447800" y="0"/>
                </a:lnTo>
                <a:lnTo>
                  <a:pt x="1447800" y="892628"/>
                </a:lnTo>
                <a:lnTo>
                  <a:pt x="1077685" y="892628"/>
                </a:lnTo>
              </a:path>
            </a:pathLst>
          </a:custGeom>
          <a:ln w="508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3240">
              <a:latin typeface="Microsoft JhengHei" panose="020B0604030504040204" pitchFamily="34" charset="-120"/>
            </a:endParaRPr>
          </a:p>
        </p:txBody>
      </p:sp>
      <p:sp>
        <p:nvSpPr>
          <p:cNvPr id="14" name="TextBox 13">
            <a:extLst>
              <a:ext uri="{FF2B5EF4-FFF2-40B4-BE49-F238E27FC236}">
                <a16:creationId xmlns:a16="http://schemas.microsoft.com/office/drawing/2014/main" id="{CD6A5CAC-D092-4CFE-9191-F023ACE1131B}"/>
              </a:ext>
            </a:extLst>
          </p:cNvPr>
          <p:cNvSpPr txBox="1"/>
          <p:nvPr/>
        </p:nvSpPr>
        <p:spPr>
          <a:xfrm>
            <a:off x="1579627" y="6266267"/>
            <a:ext cx="3767275" cy="523220"/>
          </a:xfrm>
          <a:prstGeom prst="rect">
            <a:avLst/>
          </a:prstGeom>
          <a:noFill/>
        </p:spPr>
        <p:txBody>
          <a:bodyPr wrap="square" lIns="129600" rIns="129600" rtlCol="0">
            <a:spAutoFit/>
          </a:bodyPr>
          <a:lstStyle/>
          <a:p>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輸入指令或選單啟動</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19" name="TextBox 18">
            <a:extLst>
              <a:ext uri="{FF2B5EF4-FFF2-40B4-BE49-F238E27FC236}">
                <a16:creationId xmlns:a16="http://schemas.microsoft.com/office/drawing/2014/main" id="{2D030EC4-4F6F-4AEB-9470-F1926A2C7C51}"/>
              </a:ext>
            </a:extLst>
          </p:cNvPr>
          <p:cNvSpPr txBox="1"/>
          <p:nvPr/>
        </p:nvSpPr>
        <p:spPr>
          <a:xfrm>
            <a:off x="8968320" y="5212947"/>
            <a:ext cx="3126485" cy="52322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選擇難易度</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23" name="TextBox 22">
            <a:extLst>
              <a:ext uri="{FF2B5EF4-FFF2-40B4-BE49-F238E27FC236}">
                <a16:creationId xmlns:a16="http://schemas.microsoft.com/office/drawing/2014/main" id="{ACE0E023-AA01-44F1-BE6F-FCA574206449}"/>
              </a:ext>
            </a:extLst>
          </p:cNvPr>
          <p:cNvSpPr txBox="1"/>
          <p:nvPr/>
        </p:nvSpPr>
        <p:spPr>
          <a:xfrm>
            <a:off x="1832647" y="4205555"/>
            <a:ext cx="3612581" cy="954107"/>
          </a:xfrm>
          <a:prstGeom prst="rect">
            <a:avLst/>
          </a:prstGeom>
          <a:noFill/>
        </p:spPr>
        <p:txBody>
          <a:bodyPr wrap="square" lIns="129600" rIns="129600" rtlCol="0">
            <a:spAutoFit/>
          </a:bodyPr>
          <a:lstStyle/>
          <a:p>
            <a:pPr algn="ctr"/>
            <a:r>
              <a:rPr lang="zh-TW" altLang="en-US" sz="2800" dirty="0">
                <a:latin typeface="Microsoft JhengHei" panose="020B0604030504040204" pitchFamily="34" charset="-120"/>
                <a:ea typeface="Microsoft JhengHei" panose="020B0604030504040204" pitchFamily="34" charset="-120"/>
              </a:rPr>
              <a:t>系統提供單字，</a:t>
            </a:r>
            <a:endParaRPr lang="en-US" altLang="zh-TW" sz="2800" dirty="0">
              <a:latin typeface="Microsoft JhengHei" panose="020B0604030504040204" pitchFamily="34" charset="-120"/>
              <a:ea typeface="Microsoft JhengHei" panose="020B0604030504040204" pitchFamily="34" charset="-120"/>
            </a:endParaRPr>
          </a:p>
          <a:p>
            <a:pPr algn="ctr"/>
            <a:r>
              <a:rPr lang="zh-TW" altLang="en-US" sz="2800" dirty="0">
                <a:latin typeface="Microsoft JhengHei" panose="020B0604030504040204" pitchFamily="34" charset="-120"/>
                <a:ea typeface="Microsoft JhengHei" panose="020B0604030504040204" pitchFamily="34" charset="-120"/>
              </a:rPr>
              <a:t>附詞性、定義</a:t>
            </a:r>
            <a:endParaRPr lang="ko-KR" altLang="en-US" sz="2800" b="1" dirty="0">
              <a:solidFill>
                <a:schemeClr val="tx1">
                  <a:lumMod val="75000"/>
                  <a:lumOff val="25000"/>
                </a:schemeClr>
              </a:solidFill>
              <a:latin typeface="Microsoft JhengHei" panose="020B0604030504040204" pitchFamily="34" charset="-120"/>
              <a:cs typeface="Arial" pitchFamily="34" charset="0"/>
            </a:endParaRPr>
          </a:p>
        </p:txBody>
      </p:sp>
      <p:sp>
        <p:nvSpPr>
          <p:cNvPr id="24" name="Isosceles Triangle 51">
            <a:extLst>
              <a:ext uri="{FF2B5EF4-FFF2-40B4-BE49-F238E27FC236}">
                <a16:creationId xmlns:a16="http://schemas.microsoft.com/office/drawing/2014/main" id="{A24E2121-4AF7-427A-86EF-337919F3F135}"/>
              </a:ext>
            </a:extLst>
          </p:cNvPr>
          <p:cNvSpPr/>
          <p:nvPr/>
        </p:nvSpPr>
        <p:spPr>
          <a:xfrm>
            <a:off x="6353854" y="4389544"/>
            <a:ext cx="399650" cy="293065"/>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5" name="Rectangle 16">
            <a:extLst>
              <a:ext uri="{FF2B5EF4-FFF2-40B4-BE49-F238E27FC236}">
                <a16:creationId xmlns:a16="http://schemas.microsoft.com/office/drawing/2014/main" id="{BF27EBD3-3206-4C8A-9B24-1300017ECF40}"/>
              </a:ext>
            </a:extLst>
          </p:cNvPr>
          <p:cNvSpPr/>
          <p:nvPr/>
        </p:nvSpPr>
        <p:spPr>
          <a:xfrm rot="2700000">
            <a:off x="7990436" y="5277635"/>
            <a:ext cx="319104" cy="57209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6" name="Rounded Rectangle 5">
            <a:extLst>
              <a:ext uri="{FF2B5EF4-FFF2-40B4-BE49-F238E27FC236}">
                <a16:creationId xmlns:a16="http://schemas.microsoft.com/office/drawing/2014/main" id="{0C6EE5F0-BAF3-465E-964F-2CA5A51C8604}"/>
              </a:ext>
            </a:extLst>
          </p:cNvPr>
          <p:cNvSpPr/>
          <p:nvPr/>
        </p:nvSpPr>
        <p:spPr>
          <a:xfrm flipH="1">
            <a:off x="7918431" y="3325547"/>
            <a:ext cx="470018" cy="387737"/>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7" name="Freeform 18">
            <a:extLst>
              <a:ext uri="{FF2B5EF4-FFF2-40B4-BE49-F238E27FC236}">
                <a16:creationId xmlns:a16="http://schemas.microsoft.com/office/drawing/2014/main" id="{918B03A7-C29B-4642-B5FB-6EAA705CB936}"/>
              </a:ext>
            </a:extLst>
          </p:cNvPr>
          <p:cNvSpPr/>
          <p:nvPr/>
        </p:nvSpPr>
        <p:spPr>
          <a:xfrm>
            <a:off x="6267367" y="6381138"/>
            <a:ext cx="512926" cy="413969"/>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28" name="Oval 21">
            <a:extLst>
              <a:ext uri="{FF2B5EF4-FFF2-40B4-BE49-F238E27FC236}">
                <a16:creationId xmlns:a16="http://schemas.microsoft.com/office/drawing/2014/main" id="{FFA25F9C-9F12-4757-9B7A-720CE2B55BC8}"/>
              </a:ext>
            </a:extLst>
          </p:cNvPr>
          <p:cNvSpPr>
            <a:spLocks noChangeAspect="1"/>
          </p:cNvSpPr>
          <p:nvPr/>
        </p:nvSpPr>
        <p:spPr>
          <a:xfrm>
            <a:off x="6313010" y="2228106"/>
            <a:ext cx="475789" cy="479762"/>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31" name="文字方塊 30">
            <a:extLst>
              <a:ext uri="{FF2B5EF4-FFF2-40B4-BE49-F238E27FC236}">
                <a16:creationId xmlns:a16="http://schemas.microsoft.com/office/drawing/2014/main" id="{9C6C5CCF-251F-7773-B7EF-F164062E9370}"/>
              </a:ext>
            </a:extLst>
          </p:cNvPr>
          <p:cNvSpPr txBox="1"/>
          <p:nvPr/>
        </p:nvSpPr>
        <p:spPr>
          <a:xfrm>
            <a:off x="9514131" y="2944674"/>
            <a:ext cx="3833490" cy="523220"/>
          </a:xfrm>
          <a:prstGeom prst="rect">
            <a:avLst/>
          </a:prstGeom>
          <a:noFill/>
        </p:spPr>
        <p:txBody>
          <a:bodyPr wrap="square">
            <a:spAutoFit/>
          </a:bodyPr>
          <a:lstStyle/>
          <a:p>
            <a:r>
              <a:rPr lang="zh-TW" altLang="en-US" sz="2800" dirty="0">
                <a:latin typeface="Microsoft JhengHei" panose="020B0604030504040204" pitchFamily="34" charset="-120"/>
                <a:ea typeface="Microsoft JhengHei" panose="020B0604030504040204" pitchFamily="34" charset="-120"/>
              </a:rPr>
              <a:t>使用者造句</a:t>
            </a:r>
          </a:p>
        </p:txBody>
      </p:sp>
      <p:sp>
        <p:nvSpPr>
          <p:cNvPr id="13" name="文字方塊 12">
            <a:extLst>
              <a:ext uri="{FF2B5EF4-FFF2-40B4-BE49-F238E27FC236}">
                <a16:creationId xmlns:a16="http://schemas.microsoft.com/office/drawing/2014/main" id="{EACBFBA7-8D26-81A4-8983-482653826B62}"/>
              </a:ext>
            </a:extLst>
          </p:cNvPr>
          <p:cNvSpPr txBox="1"/>
          <p:nvPr/>
        </p:nvSpPr>
        <p:spPr>
          <a:xfrm>
            <a:off x="2395299" y="2184648"/>
            <a:ext cx="3665032" cy="523220"/>
          </a:xfrm>
          <a:prstGeom prst="rect">
            <a:avLst/>
          </a:prstGeom>
          <a:noFill/>
        </p:spPr>
        <p:txBody>
          <a:bodyPr wrap="square">
            <a:spAutoFit/>
          </a:bodyPr>
          <a:lstStyle/>
          <a:p>
            <a:r>
              <a:rPr lang="zh-TW" altLang="en-US" sz="2800" dirty="0">
                <a:latin typeface="Microsoft JhengHei" panose="020B0604030504040204" pitchFamily="34" charset="-120"/>
                <a:ea typeface="Microsoft JhengHei" panose="020B0604030504040204" pitchFamily="34" charset="-120"/>
              </a:rPr>
              <a:t>系統給予建議與範例</a:t>
            </a:r>
            <a:endParaRPr lang="zh-TW" altLang="en-US" sz="2800" dirty="0"/>
          </a:p>
        </p:txBody>
      </p:sp>
      <p:sp>
        <p:nvSpPr>
          <p:cNvPr id="12" name="投影片編號版面配置區 11">
            <a:extLst>
              <a:ext uri="{FF2B5EF4-FFF2-40B4-BE49-F238E27FC236}">
                <a16:creationId xmlns:a16="http://schemas.microsoft.com/office/drawing/2014/main" id="{1A260451-4EC1-E2ED-3D2A-4DF14C1B55EE}"/>
              </a:ext>
            </a:extLst>
          </p:cNvPr>
          <p:cNvSpPr>
            <a:spLocks noGrp="1"/>
          </p:cNvSpPr>
          <p:nvPr>
            <p:ph type="sldNum" sz="quarter" idx="4"/>
          </p:nvPr>
        </p:nvSpPr>
        <p:spPr/>
        <p:txBody>
          <a:bodyPr/>
          <a:lstStyle/>
          <a:p>
            <a:fld id="{46198A0D-C119-49A8-AD21-4EA122FD909A}" type="slidenum">
              <a:rPr lang="zh-TW" altLang="en-US" smtClean="0"/>
              <a:t>13</a:t>
            </a:fld>
            <a:endParaRPr lang="zh-TW" altLang="en-US"/>
          </a:p>
        </p:txBody>
      </p:sp>
    </p:spTree>
    <p:extLst>
      <p:ext uri="{BB962C8B-B14F-4D97-AF65-F5344CB8AC3E}">
        <p14:creationId xmlns:p14="http://schemas.microsoft.com/office/powerpoint/2010/main" val="3944881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3E7D5-A58E-B110-5195-A2FD63233333}"/>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9CCE8190-6BF5-132A-05DD-3E2991DD880D}"/>
              </a:ext>
            </a:extLst>
          </p:cNvPr>
          <p:cNvPicPr>
            <a:picLocks noChangeAspect="1"/>
          </p:cNvPicPr>
          <p:nvPr/>
        </p:nvPicPr>
        <p:blipFill>
          <a:blip r:embed="rId3"/>
          <a:stretch>
            <a:fillRect/>
          </a:stretch>
        </p:blipFill>
        <p:spPr>
          <a:xfrm>
            <a:off x="3912455" y="0"/>
            <a:ext cx="6805489" cy="8229600"/>
          </a:xfrm>
          <a:prstGeom prst="rect">
            <a:avLst/>
          </a:prstGeom>
        </p:spPr>
      </p:pic>
      <p:sp>
        <p:nvSpPr>
          <p:cNvPr id="2" name="投影片編號版面配置區 1">
            <a:extLst>
              <a:ext uri="{FF2B5EF4-FFF2-40B4-BE49-F238E27FC236}">
                <a16:creationId xmlns:a16="http://schemas.microsoft.com/office/drawing/2014/main" id="{FFEEA013-94F3-D564-ED8C-0B6A8C99C4B5}"/>
              </a:ext>
            </a:extLst>
          </p:cNvPr>
          <p:cNvSpPr>
            <a:spLocks noGrp="1"/>
          </p:cNvSpPr>
          <p:nvPr>
            <p:ph type="sldNum" sz="quarter" idx="4"/>
          </p:nvPr>
        </p:nvSpPr>
        <p:spPr/>
        <p:txBody>
          <a:bodyPr/>
          <a:lstStyle/>
          <a:p>
            <a:fld id="{46198A0D-C119-49A8-AD21-4EA122FD909A}" type="slidenum">
              <a:rPr lang="zh-TW" altLang="en-US" smtClean="0"/>
              <a:t>14</a:t>
            </a:fld>
            <a:endParaRPr lang="zh-TW" altLang="en-US"/>
          </a:p>
        </p:txBody>
      </p:sp>
    </p:spTree>
    <p:extLst>
      <p:ext uri="{BB962C8B-B14F-4D97-AF65-F5344CB8AC3E}">
        <p14:creationId xmlns:p14="http://schemas.microsoft.com/office/powerpoint/2010/main" val="386634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4294967295"/>
          </p:nvPr>
        </p:nvSpPr>
        <p:spPr>
          <a:xfrm>
            <a:off x="415925" y="407988"/>
            <a:ext cx="14214475" cy="950912"/>
          </a:xfrm>
          <a:prstGeom prst="rect">
            <a:avLst/>
          </a:prstGeom>
        </p:spPr>
        <p:txBody>
          <a:bodyPr/>
          <a:lstStyle/>
          <a:p>
            <a:pPr marL="0" indent="0">
              <a:buNone/>
            </a:pPr>
            <a:r>
              <a:rPr lang="zh-TW" altLang="en-US" sz="5400" b="1" dirty="0">
                <a:latin typeface="Microsoft JhengHei" panose="020B0604030504040204" pitchFamily="34" charset="-120"/>
                <a:ea typeface="Microsoft JhengHei" panose="020B0604030504040204" pitchFamily="34" charset="-120"/>
              </a:rPr>
              <a:t>跟讀練習功能</a:t>
            </a:r>
            <a:endParaRPr lang="en-US" sz="5400" b="1" dirty="0">
              <a:latin typeface="Microsoft JhengHei" panose="020B0604030504040204" pitchFamily="34" charset="-120"/>
              <a:ea typeface="Microsoft JhengHei" panose="020B0604030504040204" pitchFamily="34" charset="-120"/>
            </a:endParaRPr>
          </a:p>
        </p:txBody>
      </p:sp>
      <p:grpSp>
        <p:nvGrpSpPr>
          <p:cNvPr id="3" name="그룹 12">
            <a:extLst>
              <a:ext uri="{FF2B5EF4-FFF2-40B4-BE49-F238E27FC236}">
                <a16:creationId xmlns:a16="http://schemas.microsoft.com/office/drawing/2014/main" id="{F9100D22-6F2D-4BBF-9C17-554A67E0CC25}"/>
              </a:ext>
            </a:extLst>
          </p:cNvPr>
          <p:cNvGrpSpPr/>
          <p:nvPr/>
        </p:nvGrpSpPr>
        <p:grpSpPr>
          <a:xfrm>
            <a:off x="4725765" y="2474592"/>
            <a:ext cx="5147174" cy="1515448"/>
            <a:chOff x="4054872" y="2062159"/>
            <a:chExt cx="4289312" cy="1262873"/>
          </a:xfrm>
        </p:grpSpPr>
        <p:sp>
          <p:nvSpPr>
            <p:cNvPr id="4" name="Rectangle 44">
              <a:extLst>
                <a:ext uri="{FF2B5EF4-FFF2-40B4-BE49-F238E27FC236}">
                  <a16:creationId xmlns:a16="http://schemas.microsoft.com/office/drawing/2014/main" id="{2F5CDD95-A6F5-423A-A99F-F02C31F5DC46}"/>
                </a:ext>
              </a:extLst>
            </p:cNvPr>
            <p:cNvSpPr/>
            <p:nvPr/>
          </p:nvSpPr>
          <p:spPr>
            <a:xfrm>
              <a:off x="5317238" y="3133113"/>
              <a:ext cx="785533" cy="1919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solidFill>
                <a:latin typeface="Microsoft JhengHei" panose="020B0604030504040204" pitchFamily="34" charset="-120"/>
              </a:endParaRPr>
            </a:p>
          </p:txBody>
        </p:sp>
        <p:sp>
          <p:nvSpPr>
            <p:cNvPr id="5" name="Rectangle 4">
              <a:extLst>
                <a:ext uri="{FF2B5EF4-FFF2-40B4-BE49-F238E27FC236}">
                  <a16:creationId xmlns:a16="http://schemas.microsoft.com/office/drawing/2014/main" id="{DA542ADC-AD48-44A8-AD43-D1362927C678}"/>
                </a:ext>
              </a:extLst>
            </p:cNvPr>
            <p:cNvSpPr/>
            <p:nvPr/>
          </p:nvSpPr>
          <p:spPr>
            <a:xfrm>
              <a:off x="5317238" y="2231199"/>
              <a:ext cx="2747277" cy="1927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endParaRPr>
            </a:p>
          </p:txBody>
        </p:sp>
        <p:sp>
          <p:nvSpPr>
            <p:cNvPr id="6" name="Isosceles Triangle 5">
              <a:extLst>
                <a:ext uri="{FF2B5EF4-FFF2-40B4-BE49-F238E27FC236}">
                  <a16:creationId xmlns:a16="http://schemas.microsoft.com/office/drawing/2014/main" id="{E7161380-3D67-4D1B-81A7-16F22900EFF0}"/>
                </a:ext>
              </a:extLst>
            </p:cNvPr>
            <p:cNvSpPr/>
            <p:nvPr/>
          </p:nvSpPr>
          <p:spPr>
            <a:xfrm rot="5400000">
              <a:off x="7894041" y="2157089"/>
              <a:ext cx="545074" cy="35521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7" name="Block Arc 2">
              <a:extLst>
                <a:ext uri="{FF2B5EF4-FFF2-40B4-BE49-F238E27FC236}">
                  <a16:creationId xmlns:a16="http://schemas.microsoft.com/office/drawing/2014/main" id="{C7493750-D971-4D80-A215-1DCE9898D37C}"/>
                </a:ext>
              </a:extLst>
            </p:cNvPr>
            <p:cNvSpPr/>
            <p:nvPr/>
          </p:nvSpPr>
          <p:spPr>
            <a:xfrm rot="16200000">
              <a:off x="4139139" y="2146933"/>
              <a:ext cx="1093832" cy="1262365"/>
            </a:xfrm>
            <a:custGeom>
              <a:avLst/>
              <a:gdLst>
                <a:gd name="connsiteX0" fmla="*/ 990372 w 1011518"/>
                <a:gd name="connsiteY0" fmla="*/ 485411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14" fmla="*/ 990372 w 1011518"/>
                <a:gd name="connsiteY14" fmla="*/ 485411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485411 h 1167369"/>
                <a:gd name="connsiteX10" fmla="*/ 1856 w 1011518"/>
                <a:gd name="connsiteY10" fmla="*/ 485411 h 1167369"/>
                <a:gd name="connsiteX11" fmla="*/ 494398 w 1011518"/>
                <a:gd name="connsiteY11" fmla="*/ 94 h 1167369"/>
                <a:gd name="connsiteX12" fmla="*/ 1007742 w 1011518"/>
                <a:gd name="connsiteY12"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1381 w 1011518"/>
                <a:gd name="connsiteY3" fmla="*/ 491507 h 1167369"/>
                <a:gd name="connsiteX4" fmla="*/ 497779 w 1011518"/>
                <a:gd name="connsiteY4" fmla="*/ 176552 h 1167369"/>
                <a:gd name="connsiteX5" fmla="*/ 177148 w 1011518"/>
                <a:gd name="connsiteY5" fmla="*/ 497438 h 1167369"/>
                <a:gd name="connsiteX6" fmla="*/ 177148 w 1011518"/>
                <a:gd name="connsiteY6" fmla="*/ 1167369 h 1167369"/>
                <a:gd name="connsiteX7" fmla="*/ 0 w 1011518"/>
                <a:gd name="connsiteY7" fmla="*/ 1167369 h 1167369"/>
                <a:gd name="connsiteX8" fmla="*/ 0 w 1011518"/>
                <a:gd name="connsiteY8" fmla="*/ 485411 h 1167369"/>
                <a:gd name="connsiteX9" fmla="*/ 1856 w 1011518"/>
                <a:gd name="connsiteY9" fmla="*/ 485411 h 1167369"/>
                <a:gd name="connsiteX10" fmla="*/ 494398 w 1011518"/>
                <a:gd name="connsiteY10" fmla="*/ 94 h 1167369"/>
                <a:gd name="connsiteX11" fmla="*/ 1007742 w 1011518"/>
                <a:gd name="connsiteY11" fmla="*/ 484745 h 116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1518" h="1167369">
                  <a:moveTo>
                    <a:pt x="1007742" y="484745"/>
                  </a:moveTo>
                  <a:cubicBezTo>
                    <a:pt x="1009001" y="712286"/>
                    <a:pt x="1010259" y="939828"/>
                    <a:pt x="1011518" y="1167369"/>
                  </a:cubicBezTo>
                  <a:lnTo>
                    <a:pt x="834370" y="1167369"/>
                  </a:lnTo>
                  <a:cubicBezTo>
                    <a:pt x="833374" y="942082"/>
                    <a:pt x="832377" y="716794"/>
                    <a:pt x="831381" y="491507"/>
                  </a:cubicBezTo>
                  <a:cubicBezTo>
                    <a:pt x="824543" y="313175"/>
                    <a:pt x="676210" y="173132"/>
                    <a:pt x="497779" y="176552"/>
                  </a:cubicBezTo>
                  <a:cubicBezTo>
                    <a:pt x="321564" y="179929"/>
                    <a:pt x="180042" y="322001"/>
                    <a:pt x="177148" y="497438"/>
                  </a:cubicBezTo>
                  <a:lnTo>
                    <a:pt x="177148" y="1167369"/>
                  </a:lnTo>
                  <a:lnTo>
                    <a:pt x="0" y="1167369"/>
                  </a:lnTo>
                  <a:lnTo>
                    <a:pt x="0" y="485411"/>
                  </a:lnTo>
                  <a:lnTo>
                    <a:pt x="1856" y="485411"/>
                  </a:lnTo>
                  <a:cubicBezTo>
                    <a:pt x="10052" y="219336"/>
                    <a:pt x="226090" y="5235"/>
                    <a:pt x="494398" y="94"/>
                  </a:cubicBezTo>
                  <a:cubicBezTo>
                    <a:pt x="768966" y="-5168"/>
                    <a:pt x="997220" y="210329"/>
                    <a:pt x="1007742" y="48474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solidFill>
                  <a:schemeClr val="tx1"/>
                </a:solidFill>
                <a:latin typeface="Microsoft JhengHei" panose="020B0604030504040204" pitchFamily="34" charset="-120"/>
              </a:endParaRPr>
            </a:p>
          </p:txBody>
        </p:sp>
      </p:grpSp>
      <p:grpSp>
        <p:nvGrpSpPr>
          <p:cNvPr id="8" name="그룹 13">
            <a:extLst>
              <a:ext uri="{FF2B5EF4-FFF2-40B4-BE49-F238E27FC236}">
                <a16:creationId xmlns:a16="http://schemas.microsoft.com/office/drawing/2014/main" id="{757BF4CE-A7B4-4C30-B5A2-CEF1AF6F82F8}"/>
              </a:ext>
            </a:extLst>
          </p:cNvPr>
          <p:cNvGrpSpPr/>
          <p:nvPr/>
        </p:nvGrpSpPr>
        <p:grpSpPr>
          <a:xfrm>
            <a:off x="6756986" y="3554810"/>
            <a:ext cx="2490689" cy="1509329"/>
            <a:chOff x="5747557" y="2962342"/>
            <a:chExt cx="2075574" cy="1257774"/>
          </a:xfrm>
        </p:grpSpPr>
        <p:sp>
          <p:nvSpPr>
            <p:cNvPr id="9" name="Rectangle 44">
              <a:extLst>
                <a:ext uri="{FF2B5EF4-FFF2-40B4-BE49-F238E27FC236}">
                  <a16:creationId xmlns:a16="http://schemas.microsoft.com/office/drawing/2014/main" id="{8AEF3A5F-ED00-46D2-9374-11595279C1DC}"/>
                </a:ext>
              </a:extLst>
            </p:cNvPr>
            <p:cNvSpPr/>
            <p:nvPr/>
          </p:nvSpPr>
          <p:spPr>
            <a:xfrm>
              <a:off x="5778874" y="4028197"/>
              <a:ext cx="784800" cy="191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10" name="Isosceles Triangle 9">
              <a:extLst>
                <a:ext uri="{FF2B5EF4-FFF2-40B4-BE49-F238E27FC236}">
                  <a16:creationId xmlns:a16="http://schemas.microsoft.com/office/drawing/2014/main" id="{F19534FF-1EBB-46EF-93F4-0D85B38FEF67}"/>
                </a:ext>
              </a:extLst>
            </p:cNvPr>
            <p:cNvSpPr/>
            <p:nvPr/>
          </p:nvSpPr>
          <p:spPr>
            <a:xfrm rot="16200000">
              <a:off x="5652627" y="3057272"/>
              <a:ext cx="545074" cy="35521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11" name="Rectangle 44">
              <a:extLst>
                <a:ext uri="{FF2B5EF4-FFF2-40B4-BE49-F238E27FC236}">
                  <a16:creationId xmlns:a16="http://schemas.microsoft.com/office/drawing/2014/main" id="{BCBB4509-4980-4D60-A85C-1C57D33719E0}"/>
                </a:ext>
              </a:extLst>
            </p:cNvPr>
            <p:cNvSpPr/>
            <p:nvPr/>
          </p:nvSpPr>
          <p:spPr>
            <a:xfrm>
              <a:off x="6095999" y="3126283"/>
              <a:ext cx="467675" cy="191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12" name="Block Arc 2">
              <a:extLst>
                <a:ext uri="{FF2B5EF4-FFF2-40B4-BE49-F238E27FC236}">
                  <a16:creationId xmlns:a16="http://schemas.microsoft.com/office/drawing/2014/main" id="{ED8164D0-B083-44B8-AA73-51D95E291918}"/>
                </a:ext>
              </a:extLst>
            </p:cNvPr>
            <p:cNvSpPr/>
            <p:nvPr/>
          </p:nvSpPr>
          <p:spPr>
            <a:xfrm rot="5400000">
              <a:off x="6645033" y="3041261"/>
              <a:ext cx="1093832" cy="1262365"/>
            </a:xfrm>
            <a:custGeom>
              <a:avLst/>
              <a:gdLst>
                <a:gd name="connsiteX0" fmla="*/ 990372 w 1011518"/>
                <a:gd name="connsiteY0" fmla="*/ 485411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14" fmla="*/ 990372 w 1011518"/>
                <a:gd name="connsiteY14" fmla="*/ 485411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485411 h 1167369"/>
                <a:gd name="connsiteX10" fmla="*/ 1856 w 1011518"/>
                <a:gd name="connsiteY10" fmla="*/ 485411 h 1167369"/>
                <a:gd name="connsiteX11" fmla="*/ 494398 w 1011518"/>
                <a:gd name="connsiteY11" fmla="*/ 94 h 1167369"/>
                <a:gd name="connsiteX12" fmla="*/ 1007742 w 1011518"/>
                <a:gd name="connsiteY12"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1381 w 1011518"/>
                <a:gd name="connsiteY3" fmla="*/ 491507 h 1167369"/>
                <a:gd name="connsiteX4" fmla="*/ 497779 w 1011518"/>
                <a:gd name="connsiteY4" fmla="*/ 176552 h 1167369"/>
                <a:gd name="connsiteX5" fmla="*/ 177148 w 1011518"/>
                <a:gd name="connsiteY5" fmla="*/ 497438 h 1167369"/>
                <a:gd name="connsiteX6" fmla="*/ 177148 w 1011518"/>
                <a:gd name="connsiteY6" fmla="*/ 1167369 h 1167369"/>
                <a:gd name="connsiteX7" fmla="*/ 0 w 1011518"/>
                <a:gd name="connsiteY7" fmla="*/ 1167369 h 1167369"/>
                <a:gd name="connsiteX8" fmla="*/ 0 w 1011518"/>
                <a:gd name="connsiteY8" fmla="*/ 485411 h 1167369"/>
                <a:gd name="connsiteX9" fmla="*/ 1856 w 1011518"/>
                <a:gd name="connsiteY9" fmla="*/ 485411 h 1167369"/>
                <a:gd name="connsiteX10" fmla="*/ 494398 w 1011518"/>
                <a:gd name="connsiteY10" fmla="*/ 94 h 1167369"/>
                <a:gd name="connsiteX11" fmla="*/ 1007742 w 1011518"/>
                <a:gd name="connsiteY11" fmla="*/ 484745 h 116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1518" h="1167369">
                  <a:moveTo>
                    <a:pt x="1007742" y="484745"/>
                  </a:moveTo>
                  <a:cubicBezTo>
                    <a:pt x="1009001" y="712286"/>
                    <a:pt x="1010259" y="939828"/>
                    <a:pt x="1011518" y="1167369"/>
                  </a:cubicBezTo>
                  <a:lnTo>
                    <a:pt x="834370" y="1167369"/>
                  </a:lnTo>
                  <a:cubicBezTo>
                    <a:pt x="833374" y="942082"/>
                    <a:pt x="832377" y="716794"/>
                    <a:pt x="831381" y="491507"/>
                  </a:cubicBezTo>
                  <a:cubicBezTo>
                    <a:pt x="824543" y="313175"/>
                    <a:pt x="676210" y="173132"/>
                    <a:pt x="497779" y="176552"/>
                  </a:cubicBezTo>
                  <a:cubicBezTo>
                    <a:pt x="321564" y="179929"/>
                    <a:pt x="180042" y="322001"/>
                    <a:pt x="177148" y="497438"/>
                  </a:cubicBezTo>
                  <a:lnTo>
                    <a:pt x="177148" y="1167369"/>
                  </a:lnTo>
                  <a:lnTo>
                    <a:pt x="0" y="1167369"/>
                  </a:lnTo>
                  <a:lnTo>
                    <a:pt x="0" y="485411"/>
                  </a:lnTo>
                  <a:lnTo>
                    <a:pt x="1856" y="485411"/>
                  </a:lnTo>
                  <a:cubicBezTo>
                    <a:pt x="10052" y="219336"/>
                    <a:pt x="226090" y="5235"/>
                    <a:pt x="494398" y="94"/>
                  </a:cubicBezTo>
                  <a:cubicBezTo>
                    <a:pt x="768966" y="-5168"/>
                    <a:pt x="997220" y="210329"/>
                    <a:pt x="1007742" y="4847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latin typeface="Microsoft JhengHei" panose="020B0604030504040204" pitchFamily="34" charset="-120"/>
              </a:endParaRPr>
            </a:p>
          </p:txBody>
        </p:sp>
      </p:grpSp>
      <p:sp>
        <p:nvSpPr>
          <p:cNvPr id="18" name="TextBox 17">
            <a:extLst>
              <a:ext uri="{FF2B5EF4-FFF2-40B4-BE49-F238E27FC236}">
                <a16:creationId xmlns:a16="http://schemas.microsoft.com/office/drawing/2014/main" id="{7AFA2F3A-D401-4D31-AA0F-548413EB0F95}"/>
              </a:ext>
            </a:extLst>
          </p:cNvPr>
          <p:cNvSpPr txBox="1"/>
          <p:nvPr/>
        </p:nvSpPr>
        <p:spPr>
          <a:xfrm>
            <a:off x="9537336" y="3895367"/>
            <a:ext cx="3559133"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提供分數、發音建議與改進方向</a:t>
            </a:r>
          </a:p>
        </p:txBody>
      </p:sp>
      <p:sp>
        <p:nvSpPr>
          <p:cNvPr id="20" name="TextBox 19">
            <a:extLst>
              <a:ext uri="{FF2B5EF4-FFF2-40B4-BE49-F238E27FC236}">
                <a16:creationId xmlns:a16="http://schemas.microsoft.com/office/drawing/2014/main" id="{428D605A-9FF8-4740-8D14-7114442DAF31}"/>
              </a:ext>
            </a:extLst>
          </p:cNvPr>
          <p:cNvSpPr txBox="1"/>
          <p:nvPr/>
        </p:nvSpPr>
        <p:spPr>
          <a:xfrm>
            <a:off x="9524667" y="6126379"/>
            <a:ext cx="3150494" cy="954107"/>
          </a:xfrm>
          <a:prstGeom prst="rect">
            <a:avLst/>
          </a:prstGeom>
          <a:noFill/>
        </p:spPr>
        <p:txBody>
          <a:bodyPr wrap="square" rtlCol="0" anchor="ctr">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難度選擇 </a:t>
            </a:r>
            <a:r>
              <a:rPr lang="en-US" altLang="zh-TW"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 </a:t>
            </a:r>
          </a:p>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標準語音示範</a:t>
            </a:r>
            <a:endParaRPr lang="ko-KR" altLang="en-US" sz="2400" dirty="0">
              <a:solidFill>
                <a:schemeClr val="tx1">
                  <a:lumMod val="75000"/>
                  <a:lumOff val="25000"/>
                </a:schemeClr>
              </a:solidFill>
              <a:latin typeface="Microsoft JhengHei" panose="020B0604030504040204" pitchFamily="34" charset="-120"/>
              <a:cs typeface="Arial" pitchFamily="34" charset="0"/>
            </a:endParaRPr>
          </a:p>
        </p:txBody>
      </p:sp>
      <p:grpSp>
        <p:nvGrpSpPr>
          <p:cNvPr id="22" name="Group 21">
            <a:extLst>
              <a:ext uri="{FF2B5EF4-FFF2-40B4-BE49-F238E27FC236}">
                <a16:creationId xmlns:a16="http://schemas.microsoft.com/office/drawing/2014/main" id="{D6C3AB22-D184-465A-92A9-62DEB76DCC18}"/>
              </a:ext>
            </a:extLst>
          </p:cNvPr>
          <p:cNvGrpSpPr/>
          <p:nvPr/>
        </p:nvGrpSpPr>
        <p:grpSpPr>
          <a:xfrm>
            <a:off x="1388926" y="5177131"/>
            <a:ext cx="2874433" cy="648438"/>
            <a:chOff x="232423" y="3982706"/>
            <a:chExt cx="2395361" cy="540365"/>
          </a:xfrm>
        </p:grpSpPr>
        <p:sp>
          <p:nvSpPr>
            <p:cNvPr id="23" name="TextBox 22">
              <a:extLst>
                <a:ext uri="{FF2B5EF4-FFF2-40B4-BE49-F238E27FC236}">
                  <a16:creationId xmlns:a16="http://schemas.microsoft.com/office/drawing/2014/main" id="{76CFB836-F50E-4C5C-A4B5-64A5A3FFE335}"/>
                </a:ext>
              </a:extLst>
            </p:cNvPr>
            <p:cNvSpPr txBox="1"/>
            <p:nvPr/>
          </p:nvSpPr>
          <p:spPr>
            <a:xfrm>
              <a:off x="232423" y="3982706"/>
              <a:ext cx="2395361" cy="436017"/>
            </a:xfrm>
            <a:prstGeom prst="rect">
              <a:avLst/>
            </a:prstGeom>
            <a:noFill/>
          </p:spPr>
          <p:txBody>
            <a:bodyPr wrap="square" rtlCol="0" anchor="ctr">
              <a:spAutoFit/>
            </a:bodyPr>
            <a:lstStyle/>
            <a:p>
              <a:r>
                <a:rPr lang="zh-TW" altLang="en-US" sz="2800" dirty="0">
                  <a:latin typeface="Microsoft JhengHei" panose="020B0604030504040204" pitchFamily="34" charset="-120"/>
                  <a:ea typeface="Microsoft JhengHei" panose="020B0604030504040204" pitchFamily="34" charset="-120"/>
                </a:rPr>
                <a:t>使用者語音回覆</a:t>
              </a:r>
            </a:p>
          </p:txBody>
        </p:sp>
        <p:sp>
          <p:nvSpPr>
            <p:cNvPr id="24" name="TextBox 23">
              <a:extLst>
                <a:ext uri="{FF2B5EF4-FFF2-40B4-BE49-F238E27FC236}">
                  <a16:creationId xmlns:a16="http://schemas.microsoft.com/office/drawing/2014/main" id="{D51D4A1D-05BF-4709-A091-7DA4BD951B39}"/>
                </a:ext>
              </a:extLst>
            </p:cNvPr>
            <p:cNvSpPr txBox="1"/>
            <p:nvPr/>
          </p:nvSpPr>
          <p:spPr>
            <a:xfrm>
              <a:off x="232423" y="4261461"/>
              <a:ext cx="2395361" cy="261610"/>
            </a:xfrm>
            <a:prstGeom prst="rect">
              <a:avLst/>
            </a:prstGeom>
            <a:noFill/>
          </p:spPr>
          <p:txBody>
            <a:bodyPr wrap="square" rtlCol="0">
              <a:spAutoFit/>
            </a:bodyPr>
            <a:lstStyle/>
            <a:p>
              <a:pPr algn="r"/>
              <a:endParaRPr lang="ko-KR" altLang="en-US" sz="1440" dirty="0">
                <a:solidFill>
                  <a:schemeClr val="tx1">
                    <a:lumMod val="75000"/>
                    <a:lumOff val="25000"/>
                  </a:schemeClr>
                </a:solidFill>
                <a:latin typeface="Microsoft JhengHei" panose="020B0604030504040204" pitchFamily="34" charset="-120"/>
                <a:cs typeface="Arial" pitchFamily="34" charset="0"/>
              </a:endParaRPr>
            </a:p>
          </p:txBody>
        </p:sp>
      </p:grpSp>
      <p:grpSp>
        <p:nvGrpSpPr>
          <p:cNvPr id="26" name="Group 25">
            <a:extLst>
              <a:ext uri="{FF2B5EF4-FFF2-40B4-BE49-F238E27FC236}">
                <a16:creationId xmlns:a16="http://schemas.microsoft.com/office/drawing/2014/main" id="{B8A0E653-C9DA-459D-A0F6-4332F8673894}"/>
              </a:ext>
            </a:extLst>
          </p:cNvPr>
          <p:cNvGrpSpPr/>
          <p:nvPr/>
        </p:nvGrpSpPr>
        <p:grpSpPr>
          <a:xfrm>
            <a:off x="1752560" y="2696987"/>
            <a:ext cx="2874432" cy="985939"/>
            <a:chOff x="7308304" y="1365984"/>
            <a:chExt cx="1691680" cy="821617"/>
          </a:xfrm>
        </p:grpSpPr>
        <p:sp>
          <p:nvSpPr>
            <p:cNvPr id="27" name="TextBox 26">
              <a:extLst>
                <a:ext uri="{FF2B5EF4-FFF2-40B4-BE49-F238E27FC236}">
                  <a16:creationId xmlns:a16="http://schemas.microsoft.com/office/drawing/2014/main" id="{5159DF5A-1B0A-430A-B131-8FC4C269F2F2}"/>
                </a:ext>
              </a:extLst>
            </p:cNvPr>
            <p:cNvSpPr txBox="1"/>
            <p:nvPr/>
          </p:nvSpPr>
          <p:spPr>
            <a:xfrm>
              <a:off x="7308304" y="1365984"/>
              <a:ext cx="1691680" cy="261610"/>
            </a:xfrm>
            <a:prstGeom prst="rect">
              <a:avLst/>
            </a:prstGeom>
            <a:noFill/>
          </p:spPr>
          <p:txBody>
            <a:bodyPr wrap="square" rtlCol="0" anchor="ctr">
              <a:spAutoFit/>
            </a:bodyPr>
            <a:lstStyle/>
            <a:p>
              <a:endParaRPr lang="ko-KR" altLang="en-US" sz="1440" b="1" dirty="0">
                <a:solidFill>
                  <a:schemeClr val="tx1">
                    <a:lumMod val="75000"/>
                    <a:lumOff val="25000"/>
                  </a:schemeClr>
                </a:solidFill>
                <a:latin typeface="Microsoft JhengHei" panose="020B0604030504040204" pitchFamily="34" charset="-120"/>
                <a:cs typeface="Arial" pitchFamily="34" charset="0"/>
              </a:endParaRPr>
            </a:p>
          </p:txBody>
        </p:sp>
        <p:sp>
          <p:nvSpPr>
            <p:cNvPr id="28" name="TextBox 27">
              <a:extLst>
                <a:ext uri="{FF2B5EF4-FFF2-40B4-BE49-F238E27FC236}">
                  <a16:creationId xmlns:a16="http://schemas.microsoft.com/office/drawing/2014/main" id="{6AABB121-2C89-4989-AF97-D2F8CAB007AA}"/>
                </a:ext>
              </a:extLst>
            </p:cNvPr>
            <p:cNvSpPr txBox="1"/>
            <p:nvPr/>
          </p:nvSpPr>
          <p:spPr>
            <a:xfrm>
              <a:off x="7308304" y="1392511"/>
              <a:ext cx="1691680" cy="795090"/>
            </a:xfrm>
            <a:prstGeom prst="rect">
              <a:avLst/>
            </a:prstGeom>
            <a:noFill/>
          </p:spPr>
          <p:txBody>
            <a:bodyPr wrap="square" rtlCol="0">
              <a:spAutoFit/>
            </a:bodyPr>
            <a:lstStyle/>
            <a:p>
              <a:pPr algn="ctr"/>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鼓勵反覆練習，提升口語流暢度</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grpSp>
      <p:sp>
        <p:nvSpPr>
          <p:cNvPr id="29" name="Oval 28">
            <a:extLst>
              <a:ext uri="{FF2B5EF4-FFF2-40B4-BE49-F238E27FC236}">
                <a16:creationId xmlns:a16="http://schemas.microsoft.com/office/drawing/2014/main" id="{021EF4BF-26F9-4040-8939-2CE7A6995298}"/>
              </a:ext>
            </a:extLst>
          </p:cNvPr>
          <p:cNvSpPr/>
          <p:nvPr/>
        </p:nvSpPr>
        <p:spPr>
          <a:xfrm>
            <a:off x="5010868" y="2981254"/>
            <a:ext cx="731310" cy="731309"/>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0" name="Oval 29">
            <a:extLst>
              <a:ext uri="{FF2B5EF4-FFF2-40B4-BE49-F238E27FC236}">
                <a16:creationId xmlns:a16="http://schemas.microsoft.com/office/drawing/2014/main" id="{32C32B2D-E12C-44A3-BA3B-0E56497B410E}"/>
              </a:ext>
            </a:extLst>
          </p:cNvPr>
          <p:cNvSpPr/>
          <p:nvPr/>
        </p:nvSpPr>
        <p:spPr>
          <a:xfrm>
            <a:off x="8233430" y="4044110"/>
            <a:ext cx="731310" cy="73130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1" name="Oval 30">
            <a:extLst>
              <a:ext uri="{FF2B5EF4-FFF2-40B4-BE49-F238E27FC236}">
                <a16:creationId xmlns:a16="http://schemas.microsoft.com/office/drawing/2014/main" id="{6DC87023-689C-4DF0-B8BB-3626E861EFD1}"/>
              </a:ext>
            </a:extLst>
          </p:cNvPr>
          <p:cNvSpPr/>
          <p:nvPr/>
        </p:nvSpPr>
        <p:spPr>
          <a:xfrm>
            <a:off x="5010868" y="5141743"/>
            <a:ext cx="731310" cy="731309"/>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2" name="Oval 31">
            <a:extLst>
              <a:ext uri="{FF2B5EF4-FFF2-40B4-BE49-F238E27FC236}">
                <a16:creationId xmlns:a16="http://schemas.microsoft.com/office/drawing/2014/main" id="{49A9C859-E442-42D1-AE47-7FF5ECC57352}"/>
              </a:ext>
            </a:extLst>
          </p:cNvPr>
          <p:cNvSpPr/>
          <p:nvPr/>
        </p:nvSpPr>
        <p:spPr>
          <a:xfrm>
            <a:off x="8233430" y="6219980"/>
            <a:ext cx="731310" cy="731309"/>
          </a:xfrm>
          <a:prstGeom prst="ellipse">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grpSp>
        <p:nvGrpSpPr>
          <p:cNvPr id="33" name="그룹 14">
            <a:extLst>
              <a:ext uri="{FF2B5EF4-FFF2-40B4-BE49-F238E27FC236}">
                <a16:creationId xmlns:a16="http://schemas.microsoft.com/office/drawing/2014/main" id="{E06BBE54-E860-4812-8A9D-14E4E3212CCE}"/>
              </a:ext>
            </a:extLst>
          </p:cNvPr>
          <p:cNvGrpSpPr/>
          <p:nvPr/>
        </p:nvGrpSpPr>
        <p:grpSpPr>
          <a:xfrm>
            <a:off x="4725766" y="4626665"/>
            <a:ext cx="2495060" cy="1523071"/>
            <a:chOff x="4054872" y="3855554"/>
            <a:chExt cx="2079217" cy="1269226"/>
          </a:xfrm>
        </p:grpSpPr>
        <p:sp>
          <p:nvSpPr>
            <p:cNvPr id="34" name="Rectangle 44">
              <a:extLst>
                <a:ext uri="{FF2B5EF4-FFF2-40B4-BE49-F238E27FC236}">
                  <a16:creationId xmlns:a16="http://schemas.microsoft.com/office/drawing/2014/main" id="{8640024A-38CA-4774-A680-12ED0BE3CAC5}"/>
                </a:ext>
              </a:extLst>
            </p:cNvPr>
            <p:cNvSpPr/>
            <p:nvPr/>
          </p:nvSpPr>
          <p:spPr>
            <a:xfrm>
              <a:off x="5317238" y="4932861"/>
              <a:ext cx="785533" cy="1919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solidFill>
                <a:latin typeface="Microsoft JhengHei" panose="020B0604030504040204" pitchFamily="34" charset="-120"/>
              </a:endParaRPr>
            </a:p>
          </p:txBody>
        </p:sp>
        <p:sp>
          <p:nvSpPr>
            <p:cNvPr id="35" name="Block Arc 2">
              <a:extLst>
                <a:ext uri="{FF2B5EF4-FFF2-40B4-BE49-F238E27FC236}">
                  <a16:creationId xmlns:a16="http://schemas.microsoft.com/office/drawing/2014/main" id="{18BED823-96BD-4EB3-8945-4DCDA5F4B6E6}"/>
                </a:ext>
              </a:extLst>
            </p:cNvPr>
            <p:cNvSpPr/>
            <p:nvPr/>
          </p:nvSpPr>
          <p:spPr>
            <a:xfrm rot="16200000">
              <a:off x="4139139" y="3946681"/>
              <a:ext cx="1093832" cy="1262365"/>
            </a:xfrm>
            <a:custGeom>
              <a:avLst/>
              <a:gdLst>
                <a:gd name="connsiteX0" fmla="*/ 990372 w 1011518"/>
                <a:gd name="connsiteY0" fmla="*/ 485411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14" fmla="*/ 990372 w 1011518"/>
                <a:gd name="connsiteY14" fmla="*/ 485411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504057 h 1167369"/>
                <a:gd name="connsiteX10" fmla="*/ 0 w 1011518"/>
                <a:gd name="connsiteY10" fmla="*/ 485411 h 1167369"/>
                <a:gd name="connsiteX11" fmla="*/ 1856 w 1011518"/>
                <a:gd name="connsiteY11" fmla="*/ 485411 h 1167369"/>
                <a:gd name="connsiteX12" fmla="*/ 494398 w 1011518"/>
                <a:gd name="connsiteY12" fmla="*/ 94 h 1167369"/>
                <a:gd name="connsiteX13" fmla="*/ 1007742 w 1011518"/>
                <a:gd name="connsiteY13"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4370 w 1011518"/>
                <a:gd name="connsiteY3" fmla="*/ 491393 h 1167369"/>
                <a:gd name="connsiteX4" fmla="*/ 831381 w 1011518"/>
                <a:gd name="connsiteY4" fmla="*/ 491507 h 1167369"/>
                <a:gd name="connsiteX5" fmla="*/ 497779 w 1011518"/>
                <a:gd name="connsiteY5" fmla="*/ 176552 h 1167369"/>
                <a:gd name="connsiteX6" fmla="*/ 177148 w 1011518"/>
                <a:gd name="connsiteY6" fmla="*/ 497438 h 1167369"/>
                <a:gd name="connsiteX7" fmla="*/ 177148 w 1011518"/>
                <a:gd name="connsiteY7" fmla="*/ 1167369 h 1167369"/>
                <a:gd name="connsiteX8" fmla="*/ 0 w 1011518"/>
                <a:gd name="connsiteY8" fmla="*/ 1167369 h 1167369"/>
                <a:gd name="connsiteX9" fmla="*/ 0 w 1011518"/>
                <a:gd name="connsiteY9" fmla="*/ 485411 h 1167369"/>
                <a:gd name="connsiteX10" fmla="*/ 1856 w 1011518"/>
                <a:gd name="connsiteY10" fmla="*/ 485411 h 1167369"/>
                <a:gd name="connsiteX11" fmla="*/ 494398 w 1011518"/>
                <a:gd name="connsiteY11" fmla="*/ 94 h 1167369"/>
                <a:gd name="connsiteX12" fmla="*/ 1007742 w 1011518"/>
                <a:gd name="connsiteY12" fmla="*/ 484745 h 1167369"/>
                <a:gd name="connsiteX0" fmla="*/ 1007742 w 1011518"/>
                <a:gd name="connsiteY0" fmla="*/ 484745 h 1167369"/>
                <a:gd name="connsiteX1" fmla="*/ 1011518 w 1011518"/>
                <a:gd name="connsiteY1" fmla="*/ 1167369 h 1167369"/>
                <a:gd name="connsiteX2" fmla="*/ 834370 w 1011518"/>
                <a:gd name="connsiteY2" fmla="*/ 1167369 h 1167369"/>
                <a:gd name="connsiteX3" fmla="*/ 831381 w 1011518"/>
                <a:gd name="connsiteY3" fmla="*/ 491507 h 1167369"/>
                <a:gd name="connsiteX4" fmla="*/ 497779 w 1011518"/>
                <a:gd name="connsiteY4" fmla="*/ 176552 h 1167369"/>
                <a:gd name="connsiteX5" fmla="*/ 177148 w 1011518"/>
                <a:gd name="connsiteY5" fmla="*/ 497438 h 1167369"/>
                <a:gd name="connsiteX6" fmla="*/ 177148 w 1011518"/>
                <a:gd name="connsiteY6" fmla="*/ 1167369 h 1167369"/>
                <a:gd name="connsiteX7" fmla="*/ 0 w 1011518"/>
                <a:gd name="connsiteY7" fmla="*/ 1167369 h 1167369"/>
                <a:gd name="connsiteX8" fmla="*/ 0 w 1011518"/>
                <a:gd name="connsiteY8" fmla="*/ 485411 h 1167369"/>
                <a:gd name="connsiteX9" fmla="*/ 1856 w 1011518"/>
                <a:gd name="connsiteY9" fmla="*/ 485411 h 1167369"/>
                <a:gd name="connsiteX10" fmla="*/ 494398 w 1011518"/>
                <a:gd name="connsiteY10" fmla="*/ 94 h 1167369"/>
                <a:gd name="connsiteX11" fmla="*/ 1007742 w 1011518"/>
                <a:gd name="connsiteY11" fmla="*/ 484745 h 116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1518" h="1167369">
                  <a:moveTo>
                    <a:pt x="1007742" y="484745"/>
                  </a:moveTo>
                  <a:cubicBezTo>
                    <a:pt x="1009001" y="712286"/>
                    <a:pt x="1010259" y="939828"/>
                    <a:pt x="1011518" y="1167369"/>
                  </a:cubicBezTo>
                  <a:lnTo>
                    <a:pt x="834370" y="1167369"/>
                  </a:lnTo>
                  <a:cubicBezTo>
                    <a:pt x="833374" y="942082"/>
                    <a:pt x="832377" y="716794"/>
                    <a:pt x="831381" y="491507"/>
                  </a:cubicBezTo>
                  <a:cubicBezTo>
                    <a:pt x="824543" y="313175"/>
                    <a:pt x="676210" y="173132"/>
                    <a:pt x="497779" y="176552"/>
                  </a:cubicBezTo>
                  <a:cubicBezTo>
                    <a:pt x="321564" y="179929"/>
                    <a:pt x="180042" y="322001"/>
                    <a:pt x="177148" y="497438"/>
                  </a:cubicBezTo>
                  <a:lnTo>
                    <a:pt x="177148" y="1167369"/>
                  </a:lnTo>
                  <a:lnTo>
                    <a:pt x="0" y="1167369"/>
                  </a:lnTo>
                  <a:lnTo>
                    <a:pt x="0" y="485411"/>
                  </a:lnTo>
                  <a:lnTo>
                    <a:pt x="1856" y="485411"/>
                  </a:lnTo>
                  <a:cubicBezTo>
                    <a:pt x="10052" y="219336"/>
                    <a:pt x="226090" y="5235"/>
                    <a:pt x="494398" y="94"/>
                  </a:cubicBezTo>
                  <a:cubicBezTo>
                    <a:pt x="768966" y="-5168"/>
                    <a:pt x="997220" y="210329"/>
                    <a:pt x="1007742" y="48474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solidFill>
                  <a:schemeClr val="tx1"/>
                </a:solidFill>
                <a:latin typeface="Microsoft JhengHei" panose="020B0604030504040204" pitchFamily="34" charset="-120"/>
              </a:endParaRPr>
            </a:p>
          </p:txBody>
        </p:sp>
        <p:sp>
          <p:nvSpPr>
            <p:cNvPr id="36" name="Isosceles Triangle 35">
              <a:extLst>
                <a:ext uri="{FF2B5EF4-FFF2-40B4-BE49-F238E27FC236}">
                  <a16:creationId xmlns:a16="http://schemas.microsoft.com/office/drawing/2014/main" id="{8BD57713-BD8B-4AE3-9B63-9DFBD7EB9D21}"/>
                </a:ext>
              </a:extLst>
            </p:cNvPr>
            <p:cNvSpPr/>
            <p:nvPr/>
          </p:nvSpPr>
          <p:spPr>
            <a:xfrm rot="5400000">
              <a:off x="5683946" y="3950484"/>
              <a:ext cx="545074" cy="35521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37" name="Rectangle 44">
              <a:extLst>
                <a:ext uri="{FF2B5EF4-FFF2-40B4-BE49-F238E27FC236}">
                  <a16:creationId xmlns:a16="http://schemas.microsoft.com/office/drawing/2014/main" id="{146BD6C3-0ADF-4ACC-B1E1-755F03497CDD}"/>
                </a:ext>
              </a:extLst>
            </p:cNvPr>
            <p:cNvSpPr/>
            <p:nvPr/>
          </p:nvSpPr>
          <p:spPr>
            <a:xfrm>
              <a:off x="5317239" y="4030947"/>
              <a:ext cx="559042" cy="1919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grpSp>
      <p:grpSp>
        <p:nvGrpSpPr>
          <p:cNvPr id="38" name="그룹 15">
            <a:extLst>
              <a:ext uri="{FF2B5EF4-FFF2-40B4-BE49-F238E27FC236}">
                <a16:creationId xmlns:a16="http://schemas.microsoft.com/office/drawing/2014/main" id="{5B646D24-989E-40CE-9ABE-211DD1919461}"/>
              </a:ext>
            </a:extLst>
          </p:cNvPr>
          <p:cNvGrpSpPr/>
          <p:nvPr/>
        </p:nvGrpSpPr>
        <p:grpSpPr>
          <a:xfrm>
            <a:off x="1955239" y="5703962"/>
            <a:ext cx="7292436" cy="1524433"/>
            <a:chOff x="1746101" y="4753300"/>
            <a:chExt cx="6077030" cy="1270361"/>
          </a:xfrm>
        </p:grpSpPr>
        <p:sp>
          <p:nvSpPr>
            <p:cNvPr id="39" name="Block Arc 2">
              <a:extLst>
                <a:ext uri="{FF2B5EF4-FFF2-40B4-BE49-F238E27FC236}">
                  <a16:creationId xmlns:a16="http://schemas.microsoft.com/office/drawing/2014/main" id="{82B75635-848B-4D1F-AEC3-A9C9787CBA1D}"/>
                </a:ext>
              </a:extLst>
            </p:cNvPr>
            <p:cNvSpPr/>
            <p:nvPr/>
          </p:nvSpPr>
          <p:spPr>
            <a:xfrm rot="5400000">
              <a:off x="6645033" y="4845562"/>
              <a:ext cx="1093832" cy="1262365"/>
            </a:xfrm>
            <a:custGeom>
              <a:avLst/>
              <a:gdLst/>
              <a:ahLst/>
              <a:cxnLst/>
              <a:rect l="l" t="t" r="r" b="b"/>
              <a:pathLst>
                <a:path w="1011518" h="1167369">
                  <a:moveTo>
                    <a:pt x="1011518" y="485411"/>
                  </a:moveTo>
                  <a:lnTo>
                    <a:pt x="1011518" y="1167369"/>
                  </a:lnTo>
                  <a:lnTo>
                    <a:pt x="834370" y="1167369"/>
                  </a:lnTo>
                  <a:lnTo>
                    <a:pt x="834370" y="491393"/>
                  </a:lnTo>
                  <a:lnTo>
                    <a:pt x="831381" y="491507"/>
                  </a:lnTo>
                  <a:cubicBezTo>
                    <a:pt x="824543" y="313175"/>
                    <a:pt x="676210" y="173132"/>
                    <a:pt x="497779" y="176552"/>
                  </a:cubicBezTo>
                  <a:cubicBezTo>
                    <a:pt x="321564" y="179929"/>
                    <a:pt x="180042" y="322001"/>
                    <a:pt x="177148" y="497438"/>
                  </a:cubicBezTo>
                  <a:lnTo>
                    <a:pt x="177148" y="1167369"/>
                  </a:lnTo>
                  <a:lnTo>
                    <a:pt x="0" y="1167369"/>
                  </a:lnTo>
                  <a:lnTo>
                    <a:pt x="0" y="504057"/>
                  </a:lnTo>
                  <a:lnTo>
                    <a:pt x="0" y="485411"/>
                  </a:lnTo>
                  <a:lnTo>
                    <a:pt x="1856" y="485411"/>
                  </a:lnTo>
                  <a:cubicBezTo>
                    <a:pt x="10052" y="219336"/>
                    <a:pt x="226090" y="5235"/>
                    <a:pt x="494398" y="94"/>
                  </a:cubicBezTo>
                  <a:cubicBezTo>
                    <a:pt x="768966" y="-5168"/>
                    <a:pt x="997220" y="210329"/>
                    <a:pt x="1007742" y="484745"/>
                  </a:cubicBezTo>
                  <a:lnTo>
                    <a:pt x="990372" y="48541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dirty="0">
                <a:solidFill>
                  <a:schemeClr val="tx1"/>
                </a:solidFill>
                <a:latin typeface="Microsoft JhengHei" panose="020B0604030504040204" pitchFamily="34" charset="-120"/>
              </a:endParaRPr>
            </a:p>
          </p:txBody>
        </p:sp>
        <p:sp>
          <p:nvSpPr>
            <p:cNvPr id="40" name="Rectangle 39">
              <a:extLst>
                <a:ext uri="{FF2B5EF4-FFF2-40B4-BE49-F238E27FC236}">
                  <a16:creationId xmlns:a16="http://schemas.microsoft.com/office/drawing/2014/main" id="{CBC8FB40-4465-40EC-8BB3-D381EC775854}"/>
                </a:ext>
              </a:extLst>
            </p:cNvPr>
            <p:cNvSpPr/>
            <p:nvPr/>
          </p:nvSpPr>
          <p:spPr>
            <a:xfrm>
              <a:off x="1746101" y="5828472"/>
              <a:ext cx="4817572" cy="1919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41" name="Isosceles Triangle 40">
              <a:extLst>
                <a:ext uri="{FF2B5EF4-FFF2-40B4-BE49-F238E27FC236}">
                  <a16:creationId xmlns:a16="http://schemas.microsoft.com/office/drawing/2014/main" id="{42963681-4EBA-49BC-B0D0-FAC3DA06B35D}"/>
                </a:ext>
              </a:extLst>
            </p:cNvPr>
            <p:cNvSpPr/>
            <p:nvPr/>
          </p:nvSpPr>
          <p:spPr>
            <a:xfrm rot="16200000">
              <a:off x="5652627" y="4848230"/>
              <a:ext cx="545074" cy="355213"/>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sp>
          <p:nvSpPr>
            <p:cNvPr id="42" name="Rectangle 44">
              <a:extLst>
                <a:ext uri="{FF2B5EF4-FFF2-40B4-BE49-F238E27FC236}">
                  <a16:creationId xmlns:a16="http://schemas.microsoft.com/office/drawing/2014/main" id="{F8A6D69D-0985-4CCD-8BE6-2CE52574F85C}"/>
                </a:ext>
              </a:extLst>
            </p:cNvPr>
            <p:cNvSpPr/>
            <p:nvPr/>
          </p:nvSpPr>
          <p:spPr>
            <a:xfrm>
              <a:off x="6102771" y="4936555"/>
              <a:ext cx="460903" cy="1919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latin typeface="Microsoft JhengHei" panose="020B0604030504040204" pitchFamily="34" charset="-120"/>
              </a:endParaRPr>
            </a:p>
          </p:txBody>
        </p:sp>
      </p:grpSp>
      <p:sp>
        <p:nvSpPr>
          <p:cNvPr id="44" name="Rounded Rectangle 10">
            <a:extLst>
              <a:ext uri="{FF2B5EF4-FFF2-40B4-BE49-F238E27FC236}">
                <a16:creationId xmlns:a16="http://schemas.microsoft.com/office/drawing/2014/main" id="{F887A7C0-A74B-4C41-992C-32BF73D74B8B}"/>
              </a:ext>
            </a:extLst>
          </p:cNvPr>
          <p:cNvSpPr/>
          <p:nvPr/>
        </p:nvSpPr>
        <p:spPr>
          <a:xfrm>
            <a:off x="8452770" y="4223041"/>
            <a:ext cx="304992" cy="40362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45" name="Frame 17">
            <a:extLst>
              <a:ext uri="{FF2B5EF4-FFF2-40B4-BE49-F238E27FC236}">
                <a16:creationId xmlns:a16="http://schemas.microsoft.com/office/drawing/2014/main" id="{FC7A52F0-04B7-48A9-9838-5D9DBB87721E}"/>
              </a:ext>
            </a:extLst>
          </p:cNvPr>
          <p:cNvSpPr/>
          <p:nvPr/>
        </p:nvSpPr>
        <p:spPr>
          <a:xfrm>
            <a:off x="5185462" y="3155849"/>
            <a:ext cx="382121" cy="382121"/>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latin typeface="Microsoft JhengHei" panose="020B0604030504040204" pitchFamily="34" charset="-120"/>
            </a:endParaRPr>
          </a:p>
        </p:txBody>
      </p:sp>
      <p:sp>
        <p:nvSpPr>
          <p:cNvPr id="46" name="Rounded Rectangle 5">
            <a:extLst>
              <a:ext uri="{FF2B5EF4-FFF2-40B4-BE49-F238E27FC236}">
                <a16:creationId xmlns:a16="http://schemas.microsoft.com/office/drawing/2014/main" id="{27451FAA-5645-4A7F-A46E-BD8138E07EDC}"/>
              </a:ext>
            </a:extLst>
          </p:cNvPr>
          <p:cNvSpPr/>
          <p:nvPr/>
        </p:nvSpPr>
        <p:spPr>
          <a:xfrm flipH="1">
            <a:off x="5136288" y="5313530"/>
            <a:ext cx="470018" cy="387737"/>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sp>
        <p:nvSpPr>
          <p:cNvPr id="47" name="Oval 7">
            <a:extLst>
              <a:ext uri="{FF2B5EF4-FFF2-40B4-BE49-F238E27FC236}">
                <a16:creationId xmlns:a16="http://schemas.microsoft.com/office/drawing/2014/main" id="{F59119B5-750F-4381-8915-B555ADC69974}"/>
              </a:ext>
            </a:extLst>
          </p:cNvPr>
          <p:cNvSpPr/>
          <p:nvPr/>
        </p:nvSpPr>
        <p:spPr>
          <a:xfrm>
            <a:off x="8382318" y="6355328"/>
            <a:ext cx="433532" cy="433532"/>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latin typeface="Microsoft JhengHei" panose="020B0604030504040204" pitchFamily="34" charset="-120"/>
            </a:endParaRPr>
          </a:p>
        </p:txBody>
      </p:sp>
      <p:grpSp>
        <p:nvGrpSpPr>
          <p:cNvPr id="48" name="Group 115">
            <a:extLst>
              <a:ext uri="{FF2B5EF4-FFF2-40B4-BE49-F238E27FC236}">
                <a16:creationId xmlns:a16="http://schemas.microsoft.com/office/drawing/2014/main" id="{96D3B590-B0E9-45F5-BD00-05B3544E7CA1}"/>
              </a:ext>
            </a:extLst>
          </p:cNvPr>
          <p:cNvGrpSpPr/>
          <p:nvPr/>
        </p:nvGrpSpPr>
        <p:grpSpPr>
          <a:xfrm rot="5400000">
            <a:off x="702673" y="6339878"/>
            <a:ext cx="966247" cy="1538884"/>
            <a:chOff x="6867874" y="3721883"/>
            <a:chExt cx="1093501" cy="1741553"/>
          </a:xfrm>
        </p:grpSpPr>
        <p:sp>
          <p:nvSpPr>
            <p:cNvPr id="49" name="Oval 7">
              <a:extLst>
                <a:ext uri="{FF2B5EF4-FFF2-40B4-BE49-F238E27FC236}">
                  <a16:creationId xmlns:a16="http://schemas.microsoft.com/office/drawing/2014/main" id="{C4968815-35AC-47E1-AA90-AE1E1545E641}"/>
                </a:ext>
              </a:extLst>
            </p:cNvPr>
            <p:cNvSpPr/>
            <p:nvPr/>
          </p:nvSpPr>
          <p:spPr>
            <a:xfrm>
              <a:off x="6867874" y="3721883"/>
              <a:ext cx="1093501" cy="1741553"/>
            </a:xfrm>
            <a:custGeom>
              <a:avLst/>
              <a:gdLst/>
              <a:ahLst/>
              <a:cxnLst/>
              <a:rect l="l" t="t" r="r" b="b"/>
              <a:pathLst>
                <a:path w="1093501" h="1741553">
                  <a:moveTo>
                    <a:pt x="422037" y="0"/>
                  </a:moveTo>
                  <a:lnTo>
                    <a:pt x="422037" y="630979"/>
                  </a:lnTo>
                  <a:cubicBezTo>
                    <a:pt x="422037" y="680563"/>
                    <a:pt x="455258" y="722388"/>
                    <a:pt x="500795" y="734926"/>
                  </a:cubicBezTo>
                  <a:lnTo>
                    <a:pt x="500795" y="955639"/>
                  </a:lnTo>
                  <a:cubicBezTo>
                    <a:pt x="500795" y="982077"/>
                    <a:pt x="522227" y="1003509"/>
                    <a:pt x="548664" y="1003509"/>
                  </a:cubicBezTo>
                  <a:cubicBezTo>
                    <a:pt x="575102" y="1003509"/>
                    <a:pt x="596533" y="982077"/>
                    <a:pt x="596533" y="955639"/>
                  </a:cubicBezTo>
                  <a:lnTo>
                    <a:pt x="596533" y="735077"/>
                  </a:lnTo>
                  <a:cubicBezTo>
                    <a:pt x="642317" y="722690"/>
                    <a:pt x="675778" y="680742"/>
                    <a:pt x="675778" y="630979"/>
                  </a:cubicBezTo>
                  <a:lnTo>
                    <a:pt x="675778" y="658"/>
                  </a:lnTo>
                  <a:cubicBezTo>
                    <a:pt x="911634" y="31647"/>
                    <a:pt x="1093500" y="233580"/>
                    <a:pt x="1093500" y="477990"/>
                  </a:cubicBezTo>
                  <a:lnTo>
                    <a:pt x="1093500" y="780133"/>
                  </a:lnTo>
                  <a:lnTo>
                    <a:pt x="1093501" y="780133"/>
                  </a:lnTo>
                  <a:lnTo>
                    <a:pt x="1093501" y="1260843"/>
                  </a:lnTo>
                  <a:cubicBezTo>
                    <a:pt x="1093501" y="1526332"/>
                    <a:pt x="878279" y="1741553"/>
                    <a:pt x="612791" y="1741553"/>
                  </a:cubicBezTo>
                  <a:lnTo>
                    <a:pt x="480710" y="1741553"/>
                  </a:lnTo>
                  <a:cubicBezTo>
                    <a:pt x="215222" y="1741553"/>
                    <a:pt x="1" y="1526332"/>
                    <a:pt x="1" y="1260843"/>
                  </a:cubicBezTo>
                  <a:lnTo>
                    <a:pt x="1" y="787709"/>
                  </a:lnTo>
                  <a:lnTo>
                    <a:pt x="0" y="787709"/>
                  </a:lnTo>
                  <a:lnTo>
                    <a:pt x="0" y="477990"/>
                  </a:lnTo>
                  <a:cubicBezTo>
                    <a:pt x="0" y="232085"/>
                    <a:pt x="184097" y="29180"/>
                    <a:pt x="422037"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60" dirty="0">
                <a:latin typeface="Microsoft JhengHei" panose="020B0604030504040204" pitchFamily="34" charset="-120"/>
              </a:endParaRPr>
            </a:p>
          </p:txBody>
        </p:sp>
        <p:sp>
          <p:nvSpPr>
            <p:cNvPr id="50" name="Rounded Rectangle 108">
              <a:extLst>
                <a:ext uri="{FF2B5EF4-FFF2-40B4-BE49-F238E27FC236}">
                  <a16:creationId xmlns:a16="http://schemas.microsoft.com/office/drawing/2014/main" id="{41537A03-55CA-4A94-86B9-E2733194DA5D}"/>
                </a:ext>
              </a:extLst>
            </p:cNvPr>
            <p:cNvSpPr/>
            <p:nvPr/>
          </p:nvSpPr>
          <p:spPr>
            <a:xfrm>
              <a:off x="7309131" y="3809649"/>
              <a:ext cx="210986" cy="457200"/>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60">
                <a:latin typeface="Microsoft JhengHei" panose="020B0604030504040204" pitchFamily="34" charset="-120"/>
              </a:endParaRPr>
            </a:p>
          </p:txBody>
        </p:sp>
      </p:grpSp>
      <p:grpSp>
        <p:nvGrpSpPr>
          <p:cNvPr id="52" name="Group 51">
            <a:extLst>
              <a:ext uri="{FF2B5EF4-FFF2-40B4-BE49-F238E27FC236}">
                <a16:creationId xmlns:a16="http://schemas.microsoft.com/office/drawing/2014/main" id="{9B0980FB-357A-414B-A235-EF1FC419EBB2}"/>
              </a:ext>
            </a:extLst>
          </p:cNvPr>
          <p:cNvGrpSpPr/>
          <p:nvPr/>
        </p:nvGrpSpPr>
        <p:grpSpPr>
          <a:xfrm>
            <a:off x="9875907" y="1584916"/>
            <a:ext cx="1552669" cy="2127647"/>
            <a:chOff x="149043" y="399678"/>
            <a:chExt cx="1877570" cy="2572864"/>
          </a:xfrm>
        </p:grpSpPr>
        <p:sp>
          <p:nvSpPr>
            <p:cNvPr id="53" name="Rounded Rectangle 39">
              <a:extLst>
                <a:ext uri="{FF2B5EF4-FFF2-40B4-BE49-F238E27FC236}">
                  <a16:creationId xmlns:a16="http://schemas.microsoft.com/office/drawing/2014/main" id="{F788514F-57BD-4FB4-BB0A-B6F8D1854EA6}"/>
                </a:ext>
              </a:extLst>
            </p:cNvPr>
            <p:cNvSpPr/>
            <p:nvPr/>
          </p:nvSpPr>
          <p:spPr>
            <a:xfrm rot="2483232">
              <a:off x="149043" y="703955"/>
              <a:ext cx="1877570" cy="2268587"/>
            </a:xfrm>
            <a:custGeom>
              <a:avLst/>
              <a:gdLst>
                <a:gd name="connsiteX0" fmla="*/ 670001 w 2194524"/>
                <a:gd name="connsiteY0" fmla="*/ 41365 h 3010473"/>
                <a:gd name="connsiteX1" fmla="*/ 769866 w 2194524"/>
                <a:gd name="connsiteY1" fmla="*/ 0 h 3010473"/>
                <a:gd name="connsiteX2" fmla="*/ 911097 w 2194524"/>
                <a:gd name="connsiteY2" fmla="*/ 141231 h 3010473"/>
                <a:gd name="connsiteX3" fmla="*/ 911097 w 2194524"/>
                <a:gd name="connsiteY3" fmla="*/ 753742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48308 w 2194524"/>
                <a:gd name="connsiteY5" fmla="*/ 1898342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45453"/>
                <a:gd name="connsiteY0" fmla="*/ 41365 h 3010473"/>
                <a:gd name="connsiteX1" fmla="*/ 769866 w 2145453"/>
                <a:gd name="connsiteY1" fmla="*/ 0 h 3010473"/>
                <a:gd name="connsiteX2" fmla="*/ 911097 w 2145453"/>
                <a:gd name="connsiteY2" fmla="*/ 141231 h 3010473"/>
                <a:gd name="connsiteX3" fmla="*/ 960469 w 2145453"/>
                <a:gd name="connsiteY3" fmla="*/ 784060 h 3010473"/>
                <a:gd name="connsiteX4" fmla="*/ 1594794 w 2145453"/>
                <a:gd name="connsiteY4" fmla="*/ 789196 h 3010473"/>
                <a:gd name="connsiteX5" fmla="*/ 1848308 w 2145453"/>
                <a:gd name="connsiteY5" fmla="*/ 1898342 h 3010473"/>
                <a:gd name="connsiteX6" fmla="*/ 2145453 w 2145453"/>
                <a:gd name="connsiteY6" fmla="*/ 2249789 h 3010473"/>
                <a:gd name="connsiteX7" fmla="*/ 1488044 w 2145453"/>
                <a:gd name="connsiteY7" fmla="*/ 3010473 h 3010473"/>
                <a:gd name="connsiteX8" fmla="*/ 1136947 w 2145453"/>
                <a:gd name="connsiteY8" fmla="*/ 2468062 h 3010473"/>
                <a:gd name="connsiteX9" fmla="*/ 519460 w 2145453"/>
                <a:gd name="connsiteY9" fmla="*/ 2013663 h 3010473"/>
                <a:gd name="connsiteX10" fmla="*/ 0 w 2145453"/>
                <a:gd name="connsiteY10" fmla="*/ 1326467 h 3010473"/>
                <a:gd name="connsiteX11" fmla="*/ 628635 w 2145453"/>
                <a:gd name="connsiteY11" fmla="*/ 1589678 h 3010473"/>
                <a:gd name="connsiteX12" fmla="*/ 628635 w 2145453"/>
                <a:gd name="connsiteY12" fmla="*/ 141231 h 3010473"/>
                <a:gd name="connsiteX13" fmla="*/ 670001 w 2145453"/>
                <a:gd name="connsiteY13" fmla="*/ 41365 h 3010473"/>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19460 w 2145453"/>
                <a:gd name="connsiteY9" fmla="*/ 2013663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710556 w 2145453"/>
                <a:gd name="connsiteY11" fmla="*/ 1634217 h 2912664"/>
                <a:gd name="connsiteX12" fmla="*/ 628635 w 2145453"/>
                <a:gd name="connsiteY12" fmla="*/ 141231 h 2912664"/>
                <a:gd name="connsiteX13" fmla="*/ 670001 w 2145453"/>
                <a:gd name="connsiteY13" fmla="*/ 41365 h 2912664"/>
                <a:gd name="connsiteX0" fmla="*/ 733305 w 2208757"/>
                <a:gd name="connsiteY0" fmla="*/ 41365 h 2912664"/>
                <a:gd name="connsiteX1" fmla="*/ 833170 w 2208757"/>
                <a:gd name="connsiteY1" fmla="*/ 0 h 2912664"/>
                <a:gd name="connsiteX2" fmla="*/ 974401 w 2208757"/>
                <a:gd name="connsiteY2" fmla="*/ 141231 h 2912664"/>
                <a:gd name="connsiteX3" fmla="*/ 1042827 w 2208757"/>
                <a:gd name="connsiteY3" fmla="*/ 863751 h 2912664"/>
                <a:gd name="connsiteX4" fmla="*/ 1642153 w 2208757"/>
                <a:gd name="connsiteY4" fmla="*/ 851069 h 2912664"/>
                <a:gd name="connsiteX5" fmla="*/ 1911612 w 2208757"/>
                <a:gd name="connsiteY5" fmla="*/ 1898342 h 2912664"/>
                <a:gd name="connsiteX6" fmla="*/ 2208757 w 2208757"/>
                <a:gd name="connsiteY6" fmla="*/ 2249789 h 2912664"/>
                <a:gd name="connsiteX7" fmla="*/ 1598547 w 2208757"/>
                <a:gd name="connsiteY7" fmla="*/ 2912664 h 2912664"/>
                <a:gd name="connsiteX8" fmla="*/ 1200251 w 2208757"/>
                <a:gd name="connsiteY8" fmla="*/ 2468062 h 2912664"/>
                <a:gd name="connsiteX9" fmla="*/ 593695 w 2208757"/>
                <a:gd name="connsiteY9" fmla="*/ 2073665 h 2912664"/>
                <a:gd name="connsiteX10" fmla="*/ 0 w 2208757"/>
                <a:gd name="connsiteY10" fmla="*/ 1399250 h 2912664"/>
                <a:gd name="connsiteX11" fmla="*/ 773860 w 2208757"/>
                <a:gd name="connsiteY11" fmla="*/ 1634217 h 2912664"/>
                <a:gd name="connsiteX12" fmla="*/ 691939 w 2208757"/>
                <a:gd name="connsiteY12" fmla="*/ 141231 h 2912664"/>
                <a:gd name="connsiteX13" fmla="*/ 733305 w 2208757"/>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3204020"/>
                <a:gd name="connsiteX1" fmla="*/ 886969 w 2262556"/>
                <a:gd name="connsiteY1" fmla="*/ 0 h 3204020"/>
                <a:gd name="connsiteX2" fmla="*/ 1028200 w 2262556"/>
                <a:gd name="connsiteY2" fmla="*/ 141231 h 3204020"/>
                <a:gd name="connsiteX3" fmla="*/ 1096626 w 2262556"/>
                <a:gd name="connsiteY3" fmla="*/ 863751 h 3204020"/>
                <a:gd name="connsiteX4" fmla="*/ 1695952 w 2262556"/>
                <a:gd name="connsiteY4" fmla="*/ 851069 h 3204020"/>
                <a:gd name="connsiteX5" fmla="*/ 1965411 w 2262556"/>
                <a:gd name="connsiteY5" fmla="*/ 1898342 h 3204020"/>
                <a:gd name="connsiteX6" fmla="*/ 2262556 w 2262556"/>
                <a:gd name="connsiteY6" fmla="*/ 2249789 h 3204020"/>
                <a:gd name="connsiteX7" fmla="*/ 1875442 w 2262556"/>
                <a:gd name="connsiteY7" fmla="*/ 3204020 h 3204020"/>
                <a:gd name="connsiteX8" fmla="*/ 1254050 w 2262556"/>
                <a:gd name="connsiteY8" fmla="*/ 2468062 h 3204020"/>
                <a:gd name="connsiteX9" fmla="*/ 647494 w 2262556"/>
                <a:gd name="connsiteY9" fmla="*/ 2073665 h 3204020"/>
                <a:gd name="connsiteX10" fmla="*/ 0 w 2262556"/>
                <a:gd name="connsiteY10" fmla="*/ 1381959 h 3204020"/>
                <a:gd name="connsiteX11" fmla="*/ 827659 w 2262556"/>
                <a:gd name="connsiteY11" fmla="*/ 1634217 h 3204020"/>
                <a:gd name="connsiteX12" fmla="*/ 745738 w 2262556"/>
                <a:gd name="connsiteY12" fmla="*/ 141231 h 3204020"/>
                <a:gd name="connsiteX13" fmla="*/ 787104 w 2262556"/>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35848"/>
                <a:gd name="connsiteY0" fmla="*/ 41365 h 3204020"/>
                <a:gd name="connsiteX1" fmla="*/ 886969 w 2635848"/>
                <a:gd name="connsiteY1" fmla="*/ 0 h 3204020"/>
                <a:gd name="connsiteX2" fmla="*/ 1028200 w 2635848"/>
                <a:gd name="connsiteY2" fmla="*/ 141231 h 3204020"/>
                <a:gd name="connsiteX3" fmla="*/ 1096626 w 2635848"/>
                <a:gd name="connsiteY3" fmla="*/ 863751 h 3204020"/>
                <a:gd name="connsiteX4" fmla="*/ 1695952 w 2635848"/>
                <a:gd name="connsiteY4" fmla="*/ 851069 h 3204020"/>
                <a:gd name="connsiteX5" fmla="*/ 1965411 w 2635848"/>
                <a:gd name="connsiteY5" fmla="*/ 1898342 h 3204020"/>
                <a:gd name="connsiteX6" fmla="*/ 2635848 w 2635848"/>
                <a:gd name="connsiteY6" fmla="*/ 2523197 h 3204020"/>
                <a:gd name="connsiteX7" fmla="*/ 1875442 w 2635848"/>
                <a:gd name="connsiteY7" fmla="*/ 3204020 h 3204020"/>
                <a:gd name="connsiteX8" fmla="*/ 1254050 w 2635848"/>
                <a:gd name="connsiteY8" fmla="*/ 2468062 h 3204020"/>
                <a:gd name="connsiteX9" fmla="*/ 647494 w 2635848"/>
                <a:gd name="connsiteY9" fmla="*/ 2073665 h 3204020"/>
                <a:gd name="connsiteX10" fmla="*/ 0 w 2635848"/>
                <a:gd name="connsiteY10" fmla="*/ 1381959 h 3204020"/>
                <a:gd name="connsiteX11" fmla="*/ 827659 w 2635848"/>
                <a:gd name="connsiteY11" fmla="*/ 1634217 h 3204020"/>
                <a:gd name="connsiteX12" fmla="*/ 745738 w 2635848"/>
                <a:gd name="connsiteY12" fmla="*/ 141231 h 3204020"/>
                <a:gd name="connsiteX13" fmla="*/ 787104 w 2635848"/>
                <a:gd name="connsiteY13" fmla="*/ 41365 h 3204020"/>
                <a:gd name="connsiteX0" fmla="*/ 787104 w 2651771"/>
                <a:gd name="connsiteY0" fmla="*/ 41365 h 3204020"/>
                <a:gd name="connsiteX1" fmla="*/ 886969 w 2651771"/>
                <a:gd name="connsiteY1" fmla="*/ 0 h 3204020"/>
                <a:gd name="connsiteX2" fmla="*/ 1028200 w 2651771"/>
                <a:gd name="connsiteY2" fmla="*/ 141231 h 3204020"/>
                <a:gd name="connsiteX3" fmla="*/ 1096626 w 2651771"/>
                <a:gd name="connsiteY3" fmla="*/ 863751 h 3204020"/>
                <a:gd name="connsiteX4" fmla="*/ 1695952 w 2651771"/>
                <a:gd name="connsiteY4" fmla="*/ 851069 h 3204020"/>
                <a:gd name="connsiteX5" fmla="*/ 1965411 w 2651771"/>
                <a:gd name="connsiteY5" fmla="*/ 1898342 h 3204020"/>
                <a:gd name="connsiteX6" fmla="*/ 2651771 w 2651771"/>
                <a:gd name="connsiteY6" fmla="*/ 2516454 h 3204020"/>
                <a:gd name="connsiteX7" fmla="*/ 1875442 w 2651771"/>
                <a:gd name="connsiteY7" fmla="*/ 3204020 h 3204020"/>
                <a:gd name="connsiteX8" fmla="*/ 1254050 w 2651771"/>
                <a:gd name="connsiteY8" fmla="*/ 2468062 h 3204020"/>
                <a:gd name="connsiteX9" fmla="*/ 647494 w 2651771"/>
                <a:gd name="connsiteY9" fmla="*/ 2073665 h 3204020"/>
                <a:gd name="connsiteX10" fmla="*/ 0 w 2651771"/>
                <a:gd name="connsiteY10" fmla="*/ 1381959 h 3204020"/>
                <a:gd name="connsiteX11" fmla="*/ 827659 w 2651771"/>
                <a:gd name="connsiteY11" fmla="*/ 1634217 h 3204020"/>
                <a:gd name="connsiteX12" fmla="*/ 745738 w 2651771"/>
                <a:gd name="connsiteY12" fmla="*/ 141231 h 3204020"/>
                <a:gd name="connsiteX13" fmla="*/ 787104 w 2651771"/>
                <a:gd name="connsiteY13" fmla="*/ 41365 h 320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1771" h="3204020">
                  <a:moveTo>
                    <a:pt x="787104" y="41365"/>
                  </a:moveTo>
                  <a:cubicBezTo>
                    <a:pt x="812661" y="15808"/>
                    <a:pt x="847969" y="0"/>
                    <a:pt x="886969" y="0"/>
                  </a:cubicBezTo>
                  <a:cubicBezTo>
                    <a:pt x="964969" y="0"/>
                    <a:pt x="1028200" y="63231"/>
                    <a:pt x="1028200" y="141231"/>
                  </a:cubicBezTo>
                  <a:lnTo>
                    <a:pt x="1096626" y="863751"/>
                  </a:lnTo>
                  <a:cubicBezTo>
                    <a:pt x="1324950" y="817026"/>
                    <a:pt x="1594219" y="679679"/>
                    <a:pt x="1695952" y="851069"/>
                  </a:cubicBezTo>
                  <a:cubicBezTo>
                    <a:pt x="1896857" y="1284096"/>
                    <a:pt x="2012961" y="1443677"/>
                    <a:pt x="1965411" y="1898342"/>
                  </a:cubicBezTo>
                  <a:cubicBezTo>
                    <a:pt x="2062863" y="2027881"/>
                    <a:pt x="2521735" y="2407218"/>
                    <a:pt x="2651771" y="2516454"/>
                  </a:cubicBezTo>
                  <a:lnTo>
                    <a:pt x="1875442" y="3204020"/>
                  </a:lnTo>
                  <a:lnTo>
                    <a:pt x="1254050" y="2468062"/>
                  </a:lnTo>
                  <a:cubicBezTo>
                    <a:pt x="1117281" y="2338792"/>
                    <a:pt x="856388" y="2269133"/>
                    <a:pt x="647494" y="2073665"/>
                  </a:cubicBezTo>
                  <a:cubicBezTo>
                    <a:pt x="560013" y="2007911"/>
                    <a:pt x="439289" y="1645529"/>
                    <a:pt x="0" y="1381959"/>
                  </a:cubicBezTo>
                  <a:cubicBezTo>
                    <a:pt x="137000" y="1119373"/>
                    <a:pt x="679491" y="1549956"/>
                    <a:pt x="827659" y="1634217"/>
                  </a:cubicBezTo>
                  <a:lnTo>
                    <a:pt x="745738" y="141231"/>
                  </a:lnTo>
                  <a:cubicBezTo>
                    <a:pt x="745738" y="102231"/>
                    <a:pt x="761546" y="66923"/>
                    <a:pt x="787104" y="41365"/>
                  </a:cubicBezTo>
                  <a:close/>
                </a:path>
              </a:pathLst>
            </a:cu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grpSp>
          <p:nvGrpSpPr>
            <p:cNvPr id="54" name="Group 53">
              <a:extLst>
                <a:ext uri="{FF2B5EF4-FFF2-40B4-BE49-F238E27FC236}">
                  <a16:creationId xmlns:a16="http://schemas.microsoft.com/office/drawing/2014/main" id="{EABDF997-D8F0-4793-9BC0-325BD455A6D5}"/>
                </a:ext>
              </a:extLst>
            </p:cNvPr>
            <p:cNvGrpSpPr/>
            <p:nvPr/>
          </p:nvGrpSpPr>
          <p:grpSpPr>
            <a:xfrm>
              <a:off x="664860" y="399678"/>
              <a:ext cx="1074221" cy="1717693"/>
              <a:chOff x="664860" y="399678"/>
              <a:chExt cx="1074221" cy="1717693"/>
            </a:xfrm>
          </p:grpSpPr>
          <p:grpSp>
            <p:nvGrpSpPr>
              <p:cNvPr id="55" name="Group 54">
                <a:extLst>
                  <a:ext uri="{FF2B5EF4-FFF2-40B4-BE49-F238E27FC236}">
                    <a16:creationId xmlns:a16="http://schemas.microsoft.com/office/drawing/2014/main" id="{97F00225-F5AB-40B7-874F-745A8104A5BA}"/>
                  </a:ext>
                </a:extLst>
              </p:cNvPr>
              <p:cNvGrpSpPr/>
              <p:nvPr/>
            </p:nvGrpSpPr>
            <p:grpSpPr>
              <a:xfrm rot="20671139">
                <a:off x="664860" y="399678"/>
                <a:ext cx="920312" cy="1717693"/>
                <a:chOff x="3501573" y="3178068"/>
                <a:chExt cx="1340594" cy="2737840"/>
              </a:xfrm>
            </p:grpSpPr>
            <p:sp>
              <p:nvSpPr>
                <p:cNvPr id="59" name="Freeform: Shape 58">
                  <a:extLst>
                    <a:ext uri="{FF2B5EF4-FFF2-40B4-BE49-F238E27FC236}">
                      <a16:creationId xmlns:a16="http://schemas.microsoft.com/office/drawing/2014/main" id="{57F78C17-B246-47F0-B740-112984E52643}"/>
                    </a:ext>
                  </a:extLst>
                </p:cNvPr>
                <p:cNvSpPr/>
                <p:nvPr/>
              </p:nvSpPr>
              <p:spPr>
                <a:xfrm>
                  <a:off x="3504728" y="3612346"/>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0" name="Freeform: Shape 59">
                  <a:extLst>
                    <a:ext uri="{FF2B5EF4-FFF2-40B4-BE49-F238E27FC236}">
                      <a16:creationId xmlns:a16="http://schemas.microsoft.com/office/drawing/2014/main" id="{9651AA12-E3A8-4758-9CCA-20DBC4440451}"/>
                    </a:ext>
                  </a:extLst>
                </p:cNvPr>
                <p:cNvSpPr/>
                <p:nvPr/>
              </p:nvSpPr>
              <p:spPr>
                <a:xfrm>
                  <a:off x="3501573" y="3832632"/>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1" name="Freeform: Shape 60">
                  <a:extLst>
                    <a:ext uri="{FF2B5EF4-FFF2-40B4-BE49-F238E27FC236}">
                      <a16:creationId xmlns:a16="http://schemas.microsoft.com/office/drawing/2014/main" id="{1F542D0E-A035-48AE-9CE2-87436B5E5DEE}"/>
                    </a:ext>
                  </a:extLst>
                </p:cNvPr>
                <p:cNvSpPr/>
                <p:nvPr/>
              </p:nvSpPr>
              <p:spPr>
                <a:xfrm>
                  <a:off x="4776089" y="3829487"/>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9526" y="65246"/>
                        <a:pt x="16669" y="68104"/>
                        <a:pt x="12859" y="6810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2" name="Freeform: Shape 61">
                  <a:extLst>
                    <a:ext uri="{FF2B5EF4-FFF2-40B4-BE49-F238E27FC236}">
                      <a16:creationId xmlns:a16="http://schemas.microsoft.com/office/drawing/2014/main" id="{1F6BF979-9805-471D-AC76-389632C6A90B}"/>
                    </a:ext>
                  </a:extLst>
                </p:cNvPr>
                <p:cNvSpPr/>
                <p:nvPr/>
              </p:nvSpPr>
              <p:spPr>
                <a:xfrm>
                  <a:off x="3520451" y="3178068"/>
                  <a:ext cx="1321716" cy="2737840"/>
                </a:xfrm>
                <a:custGeom>
                  <a:avLst/>
                  <a:gdLst>
                    <a:gd name="connsiteX0" fmla="*/ 350044 w 400050"/>
                    <a:gd name="connsiteY0" fmla="*/ 7144 h 828675"/>
                    <a:gd name="connsiteX1" fmla="*/ 53816 w 400050"/>
                    <a:gd name="connsiteY1" fmla="*/ 7144 h 828675"/>
                    <a:gd name="connsiteX2" fmla="*/ 7144 w 400050"/>
                    <a:gd name="connsiteY2" fmla="*/ 53816 h 828675"/>
                    <a:gd name="connsiteX3" fmla="*/ 7144 w 400050"/>
                    <a:gd name="connsiteY3" fmla="*/ 781526 h 828675"/>
                    <a:gd name="connsiteX4" fmla="*/ 53816 w 400050"/>
                    <a:gd name="connsiteY4" fmla="*/ 828199 h 828675"/>
                    <a:gd name="connsiteX5" fmla="*/ 350044 w 400050"/>
                    <a:gd name="connsiteY5" fmla="*/ 828199 h 828675"/>
                    <a:gd name="connsiteX6" fmla="*/ 396716 w 400050"/>
                    <a:gd name="connsiteY6" fmla="*/ 781526 h 828675"/>
                    <a:gd name="connsiteX7" fmla="*/ 396716 w 400050"/>
                    <a:gd name="connsiteY7" fmla="*/ 53816 h 828675"/>
                    <a:gd name="connsiteX8" fmla="*/ 350044 w 400050"/>
                    <a:gd name="connsiteY8" fmla="*/ 7144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050" h="828675">
                      <a:moveTo>
                        <a:pt x="350044" y="7144"/>
                      </a:moveTo>
                      <a:lnTo>
                        <a:pt x="53816" y="7144"/>
                      </a:lnTo>
                      <a:cubicBezTo>
                        <a:pt x="28099" y="7144"/>
                        <a:pt x="7144" y="28099"/>
                        <a:pt x="7144" y="53816"/>
                      </a:cubicBezTo>
                      <a:lnTo>
                        <a:pt x="7144" y="781526"/>
                      </a:lnTo>
                      <a:cubicBezTo>
                        <a:pt x="7144" y="807244"/>
                        <a:pt x="28099" y="828199"/>
                        <a:pt x="53816" y="828199"/>
                      </a:cubicBezTo>
                      <a:lnTo>
                        <a:pt x="350044" y="828199"/>
                      </a:lnTo>
                      <a:cubicBezTo>
                        <a:pt x="375761" y="828199"/>
                        <a:pt x="396716" y="807244"/>
                        <a:pt x="396716" y="781526"/>
                      </a:cubicBezTo>
                      <a:lnTo>
                        <a:pt x="396716" y="53816"/>
                      </a:lnTo>
                      <a:cubicBezTo>
                        <a:pt x="396716" y="28099"/>
                        <a:pt x="375761" y="7144"/>
                        <a:pt x="350044" y="7144"/>
                      </a:cubicBezTo>
                      <a:close/>
                    </a:path>
                  </a:pathLst>
                </a:custGeom>
                <a:solidFill>
                  <a:srgbClr val="808080"/>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3" name="Freeform: Shape 62">
                  <a:extLst>
                    <a:ext uri="{FF2B5EF4-FFF2-40B4-BE49-F238E27FC236}">
                      <a16:creationId xmlns:a16="http://schemas.microsoft.com/office/drawing/2014/main" id="{C5C14AEB-789D-4545-A72D-6A34B0E4341A}"/>
                    </a:ext>
                  </a:extLst>
                </p:cNvPr>
                <p:cNvSpPr/>
                <p:nvPr/>
              </p:nvSpPr>
              <p:spPr>
                <a:xfrm>
                  <a:off x="3529897" y="3190652"/>
                  <a:ext cx="1290246" cy="2706371"/>
                </a:xfrm>
                <a:custGeom>
                  <a:avLst/>
                  <a:gdLst>
                    <a:gd name="connsiteX0" fmla="*/ 345281 w 390525"/>
                    <a:gd name="connsiteY0" fmla="*/ 7144 h 819150"/>
                    <a:gd name="connsiteX1" fmla="*/ 52864 w 390525"/>
                    <a:gd name="connsiteY1" fmla="*/ 7144 h 819150"/>
                    <a:gd name="connsiteX2" fmla="*/ 7144 w 390525"/>
                    <a:gd name="connsiteY2" fmla="*/ 52864 h 819150"/>
                    <a:gd name="connsiteX3" fmla="*/ 7144 w 390525"/>
                    <a:gd name="connsiteY3" fmla="*/ 772954 h 819150"/>
                    <a:gd name="connsiteX4" fmla="*/ 52864 w 390525"/>
                    <a:gd name="connsiteY4" fmla="*/ 818674 h 819150"/>
                    <a:gd name="connsiteX5" fmla="*/ 345281 w 390525"/>
                    <a:gd name="connsiteY5" fmla="*/ 818674 h 819150"/>
                    <a:gd name="connsiteX6" fmla="*/ 391001 w 390525"/>
                    <a:gd name="connsiteY6" fmla="*/ 772954 h 819150"/>
                    <a:gd name="connsiteX7" fmla="*/ 391001 w 390525"/>
                    <a:gd name="connsiteY7" fmla="*/ 52864 h 819150"/>
                    <a:gd name="connsiteX8" fmla="*/ 345281 w 390525"/>
                    <a:gd name="connsiteY8"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19150">
                      <a:moveTo>
                        <a:pt x="345281" y="7144"/>
                      </a:moveTo>
                      <a:lnTo>
                        <a:pt x="52864" y="7144"/>
                      </a:lnTo>
                      <a:cubicBezTo>
                        <a:pt x="27146" y="7144"/>
                        <a:pt x="7144" y="27146"/>
                        <a:pt x="7144" y="52864"/>
                      </a:cubicBezTo>
                      <a:lnTo>
                        <a:pt x="7144" y="772954"/>
                      </a:lnTo>
                      <a:cubicBezTo>
                        <a:pt x="7144" y="798671"/>
                        <a:pt x="27146" y="818674"/>
                        <a:pt x="52864" y="818674"/>
                      </a:cubicBezTo>
                      <a:lnTo>
                        <a:pt x="345281" y="818674"/>
                      </a:lnTo>
                      <a:cubicBezTo>
                        <a:pt x="370999" y="818674"/>
                        <a:pt x="391001" y="798671"/>
                        <a:pt x="391001" y="772954"/>
                      </a:cubicBezTo>
                      <a:lnTo>
                        <a:pt x="391001" y="52864"/>
                      </a:lnTo>
                      <a:cubicBezTo>
                        <a:pt x="391001" y="28099"/>
                        <a:pt x="370046" y="7144"/>
                        <a:pt x="345281" y="7144"/>
                      </a:cubicBezTo>
                      <a:close/>
                    </a:path>
                  </a:pathLst>
                </a:custGeom>
                <a:solidFill>
                  <a:srgbClr val="1A1A1A"/>
                </a:solidFill>
                <a:ln w="9525" cap="flat">
                  <a:noFill/>
                  <a:prstDash val="solid"/>
                  <a:miter/>
                </a:ln>
              </p:spPr>
              <p:txBody>
                <a:bodyPr rtlCol="0" anchor="ctr"/>
                <a:lstStyle/>
                <a:p>
                  <a:endParaRPr lang="en-US" sz="2160">
                    <a:latin typeface="Microsoft JhengHei" panose="020B0604030504040204" pitchFamily="34" charset="-120"/>
                    <a:ea typeface="Microsoft JhengHei" panose="020B0604030504040204" pitchFamily="34" charset="-120"/>
                  </a:endParaRPr>
                </a:p>
              </p:txBody>
            </p:sp>
            <p:sp>
              <p:nvSpPr>
                <p:cNvPr id="64" name="Freeform: Shape 63">
                  <a:extLst>
                    <a:ext uri="{FF2B5EF4-FFF2-40B4-BE49-F238E27FC236}">
                      <a16:creationId xmlns:a16="http://schemas.microsoft.com/office/drawing/2014/main" id="{4C629FE2-B500-4E35-98FC-07EBCC72310F}"/>
                    </a:ext>
                  </a:extLst>
                </p:cNvPr>
                <p:cNvSpPr/>
                <p:nvPr/>
              </p:nvSpPr>
              <p:spPr>
                <a:xfrm>
                  <a:off x="3627447" y="3596610"/>
                  <a:ext cx="1101430" cy="1951104"/>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sz="2160" dirty="0">
                    <a:latin typeface="Microsoft JhengHei" panose="020B0604030504040204" pitchFamily="34" charset="-120"/>
                    <a:ea typeface="Microsoft JhengHei" panose="020B0604030504040204" pitchFamily="34" charset="-120"/>
                  </a:endParaRPr>
                </a:p>
              </p:txBody>
            </p:sp>
            <p:grpSp>
              <p:nvGrpSpPr>
                <p:cNvPr id="65" name="Group 64">
                  <a:extLst>
                    <a:ext uri="{FF2B5EF4-FFF2-40B4-BE49-F238E27FC236}">
                      <a16:creationId xmlns:a16="http://schemas.microsoft.com/office/drawing/2014/main" id="{E59C20D9-CE8B-48C4-9C66-7C4D378E64DE}"/>
                    </a:ext>
                  </a:extLst>
                </p:cNvPr>
                <p:cNvGrpSpPr/>
                <p:nvPr/>
              </p:nvGrpSpPr>
              <p:grpSpPr>
                <a:xfrm>
                  <a:off x="4088508" y="5635852"/>
                  <a:ext cx="173080" cy="173080"/>
                  <a:chOff x="6768665" y="6038214"/>
                  <a:chExt cx="147968" cy="147968"/>
                </a:xfrm>
              </p:grpSpPr>
              <p:sp>
                <p:nvSpPr>
                  <p:cNvPr id="69" name="Oval 68">
                    <a:extLst>
                      <a:ext uri="{FF2B5EF4-FFF2-40B4-BE49-F238E27FC236}">
                        <a16:creationId xmlns:a16="http://schemas.microsoft.com/office/drawing/2014/main" id="{FDB7D03D-9282-4DE9-904F-17ACCC89C8AE}"/>
                      </a:ext>
                    </a:extLst>
                  </p:cNvPr>
                  <p:cNvSpPr/>
                  <p:nvPr/>
                </p:nvSpPr>
                <p:spPr>
                  <a:xfrm>
                    <a:off x="6768665" y="6038214"/>
                    <a:ext cx="147968" cy="14796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Microsoft JhengHei" panose="020B0604030504040204" pitchFamily="34" charset="-120"/>
                      <a:ea typeface="Microsoft JhengHei" panose="020B0604030504040204" pitchFamily="34" charset="-120"/>
                    </a:endParaRPr>
                  </a:p>
                </p:txBody>
              </p:sp>
              <p:sp>
                <p:nvSpPr>
                  <p:cNvPr id="70" name="Oval 69">
                    <a:extLst>
                      <a:ext uri="{FF2B5EF4-FFF2-40B4-BE49-F238E27FC236}">
                        <a16:creationId xmlns:a16="http://schemas.microsoft.com/office/drawing/2014/main" id="{46B6EE85-04A7-475F-B569-336DD289BCC4}"/>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dirty="0">
                      <a:latin typeface="Microsoft JhengHei" panose="020B0604030504040204" pitchFamily="34" charset="-120"/>
                      <a:ea typeface="Microsoft JhengHei" panose="020B0604030504040204" pitchFamily="34" charset="-120"/>
                    </a:endParaRPr>
                  </a:p>
                </p:txBody>
              </p:sp>
            </p:grpSp>
            <p:sp>
              <p:nvSpPr>
                <p:cNvPr id="66" name="Freeform: Shape 65">
                  <a:extLst>
                    <a:ext uri="{FF2B5EF4-FFF2-40B4-BE49-F238E27FC236}">
                      <a16:creationId xmlns:a16="http://schemas.microsoft.com/office/drawing/2014/main" id="{55D00922-C018-49AF-A8EB-C9EFBFCE3772}"/>
                    </a:ext>
                  </a:extLst>
                </p:cNvPr>
                <p:cNvSpPr/>
                <p:nvPr/>
              </p:nvSpPr>
              <p:spPr>
                <a:xfrm>
                  <a:off x="3821102" y="3628406"/>
                  <a:ext cx="906450" cy="1887518"/>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en-US" sz="2160">
                    <a:latin typeface="Microsoft JhengHei" panose="020B0604030504040204" pitchFamily="34" charset="-120"/>
                    <a:ea typeface="Microsoft JhengHei" panose="020B0604030504040204" pitchFamily="34" charset="-120"/>
                  </a:endParaRPr>
                </a:p>
              </p:txBody>
            </p:sp>
            <p:sp>
              <p:nvSpPr>
                <p:cNvPr id="67" name="Rectangle: Rounded Corners 66">
                  <a:extLst>
                    <a:ext uri="{FF2B5EF4-FFF2-40B4-BE49-F238E27FC236}">
                      <a16:creationId xmlns:a16="http://schemas.microsoft.com/office/drawing/2014/main" id="{8B6C582F-4337-419B-98EE-DEE80E587CBF}"/>
                    </a:ext>
                  </a:extLst>
                </p:cNvPr>
                <p:cNvSpPr/>
                <p:nvPr/>
              </p:nvSpPr>
              <p:spPr>
                <a:xfrm>
                  <a:off x="4058661" y="3449093"/>
                  <a:ext cx="254255" cy="5839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Microsoft JhengHei" panose="020B0604030504040204" pitchFamily="34" charset="-120"/>
                    <a:ea typeface="Microsoft JhengHei" panose="020B0604030504040204" pitchFamily="34" charset="-120"/>
                  </a:endParaRPr>
                </a:p>
              </p:txBody>
            </p:sp>
            <p:sp>
              <p:nvSpPr>
                <p:cNvPr id="68" name="Oval 67">
                  <a:extLst>
                    <a:ext uri="{FF2B5EF4-FFF2-40B4-BE49-F238E27FC236}">
                      <a16:creationId xmlns:a16="http://schemas.microsoft.com/office/drawing/2014/main" id="{A5D38A93-CE35-4CBC-8267-0A9BD24EA0DB}"/>
                    </a:ext>
                  </a:extLst>
                </p:cNvPr>
                <p:cNvSpPr/>
                <p:nvPr/>
              </p:nvSpPr>
              <p:spPr>
                <a:xfrm>
                  <a:off x="3922825" y="3449093"/>
                  <a:ext cx="58393" cy="5839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Microsoft JhengHei" panose="020B0604030504040204" pitchFamily="34" charset="-120"/>
                    <a:ea typeface="Microsoft JhengHei" panose="020B0604030504040204" pitchFamily="34" charset="-120"/>
                  </a:endParaRPr>
                </a:p>
              </p:txBody>
            </p:sp>
          </p:grpSp>
          <p:sp>
            <p:nvSpPr>
              <p:cNvPr id="56" name="Rounded Rectangle 51">
                <a:extLst>
                  <a:ext uri="{FF2B5EF4-FFF2-40B4-BE49-F238E27FC236}">
                    <a16:creationId xmlns:a16="http://schemas.microsoft.com/office/drawing/2014/main" id="{5D8EE758-1B64-4E5D-9173-8D81009E057F}"/>
                  </a:ext>
                </a:extLst>
              </p:cNvPr>
              <p:cNvSpPr/>
              <p:nvPr/>
            </p:nvSpPr>
            <p:spPr>
              <a:xfrm rot="3148397">
                <a:off x="1443651" y="1047331"/>
                <a:ext cx="227781" cy="304797"/>
              </a:xfrm>
              <a:prstGeom prst="roundRect">
                <a:avLst>
                  <a:gd name="adj" fmla="val 50000"/>
                </a:avLst>
              </a:pr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sp>
            <p:nvSpPr>
              <p:cNvPr id="57" name="Rounded Rectangle 52">
                <a:extLst>
                  <a:ext uri="{FF2B5EF4-FFF2-40B4-BE49-F238E27FC236}">
                    <a16:creationId xmlns:a16="http://schemas.microsoft.com/office/drawing/2014/main" id="{42AB6689-921F-40DE-84CA-54B216685B94}"/>
                  </a:ext>
                </a:extLst>
              </p:cNvPr>
              <p:cNvSpPr/>
              <p:nvPr/>
            </p:nvSpPr>
            <p:spPr>
              <a:xfrm rot="3148397">
                <a:off x="1463592" y="1265972"/>
                <a:ext cx="227781" cy="304797"/>
              </a:xfrm>
              <a:prstGeom prst="roundRect">
                <a:avLst>
                  <a:gd name="adj" fmla="val 50000"/>
                </a:avLst>
              </a:pr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sp>
            <p:nvSpPr>
              <p:cNvPr id="58" name="Rounded Rectangle 53">
                <a:extLst>
                  <a:ext uri="{FF2B5EF4-FFF2-40B4-BE49-F238E27FC236}">
                    <a16:creationId xmlns:a16="http://schemas.microsoft.com/office/drawing/2014/main" id="{FE93D1CA-F359-4FE3-B77E-AA48E6FAD03D}"/>
                  </a:ext>
                </a:extLst>
              </p:cNvPr>
              <p:cNvSpPr/>
              <p:nvPr/>
            </p:nvSpPr>
            <p:spPr>
              <a:xfrm rot="3148397">
                <a:off x="1500837" y="1488593"/>
                <a:ext cx="215985" cy="260502"/>
              </a:xfrm>
              <a:prstGeom prst="roundRect">
                <a:avLst>
                  <a:gd name="adj" fmla="val 50000"/>
                </a:avLst>
              </a:prstGeom>
              <a:solidFill>
                <a:srgbClr val="FCC698"/>
              </a:solidFill>
              <a:ln w="3363" cap="flat">
                <a:noFill/>
                <a:prstDash val="solid"/>
                <a:miter/>
              </a:ln>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endParaRPr lang="ko-KR" altLang="en-US" sz="2160">
                  <a:latin typeface="Microsoft JhengHei" panose="020B0604030504040204" pitchFamily="34" charset="-120"/>
                </a:endParaRPr>
              </a:p>
            </p:txBody>
          </p:sp>
        </p:grpSp>
      </p:grpSp>
      <p:pic>
        <p:nvPicPr>
          <p:cNvPr id="25" name="圖片 24">
            <a:extLst>
              <a:ext uri="{FF2B5EF4-FFF2-40B4-BE49-F238E27FC236}">
                <a16:creationId xmlns:a16="http://schemas.microsoft.com/office/drawing/2014/main" id="{8973A0A7-18AE-223D-7504-DA3E8E0B501E}"/>
              </a:ext>
            </a:extLst>
          </p:cNvPr>
          <p:cNvPicPr>
            <a:picLocks noChangeAspect="1"/>
          </p:cNvPicPr>
          <p:nvPr/>
        </p:nvPicPr>
        <p:blipFill>
          <a:blip r:embed="rId3"/>
          <a:stretch>
            <a:fillRect/>
          </a:stretch>
        </p:blipFill>
        <p:spPr>
          <a:xfrm>
            <a:off x="12606233" y="6904304"/>
            <a:ext cx="1896020" cy="1280271"/>
          </a:xfrm>
          <a:prstGeom prst="rect">
            <a:avLst/>
          </a:prstGeom>
        </p:spPr>
      </p:pic>
      <p:sp>
        <p:nvSpPr>
          <p:cNvPr id="13" name="投影片編號版面配置區 12">
            <a:extLst>
              <a:ext uri="{FF2B5EF4-FFF2-40B4-BE49-F238E27FC236}">
                <a16:creationId xmlns:a16="http://schemas.microsoft.com/office/drawing/2014/main" id="{666168F3-2920-5818-24EB-9A2309861493}"/>
              </a:ext>
            </a:extLst>
          </p:cNvPr>
          <p:cNvSpPr>
            <a:spLocks noGrp="1"/>
          </p:cNvSpPr>
          <p:nvPr>
            <p:ph type="sldNum" sz="quarter" idx="4"/>
          </p:nvPr>
        </p:nvSpPr>
        <p:spPr/>
        <p:txBody>
          <a:bodyPr/>
          <a:lstStyle/>
          <a:p>
            <a:fld id="{46198A0D-C119-49A8-AD21-4EA122FD909A}" type="slidenum">
              <a:rPr lang="zh-TW" altLang="en-US" smtClean="0"/>
              <a:t>15</a:t>
            </a:fld>
            <a:endParaRPr lang="zh-TW" altLang="en-US"/>
          </a:p>
        </p:txBody>
      </p:sp>
    </p:spTree>
    <p:extLst>
      <p:ext uri="{BB962C8B-B14F-4D97-AF65-F5344CB8AC3E}">
        <p14:creationId xmlns:p14="http://schemas.microsoft.com/office/powerpoint/2010/main" val="4157788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F8B92-2BFF-3DCE-97ED-44B8593BB4D0}"/>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BC2B4109-AC37-A6E3-D1B3-BC8A30993957}"/>
              </a:ext>
            </a:extLst>
          </p:cNvPr>
          <p:cNvPicPr>
            <a:picLocks noChangeAspect="1"/>
          </p:cNvPicPr>
          <p:nvPr/>
        </p:nvPicPr>
        <p:blipFill>
          <a:blip r:embed="rId3"/>
          <a:stretch>
            <a:fillRect/>
          </a:stretch>
        </p:blipFill>
        <p:spPr>
          <a:xfrm>
            <a:off x="4270802" y="0"/>
            <a:ext cx="5372100" cy="8229600"/>
          </a:xfrm>
          <a:prstGeom prst="rect">
            <a:avLst/>
          </a:prstGeom>
        </p:spPr>
      </p:pic>
      <p:sp>
        <p:nvSpPr>
          <p:cNvPr id="2" name="投影片編號版面配置區 1">
            <a:extLst>
              <a:ext uri="{FF2B5EF4-FFF2-40B4-BE49-F238E27FC236}">
                <a16:creationId xmlns:a16="http://schemas.microsoft.com/office/drawing/2014/main" id="{6721FEBE-D669-BAF2-4FB3-8C3772021A2A}"/>
              </a:ext>
            </a:extLst>
          </p:cNvPr>
          <p:cNvSpPr>
            <a:spLocks noGrp="1"/>
          </p:cNvSpPr>
          <p:nvPr>
            <p:ph type="sldNum" sz="quarter" idx="4"/>
          </p:nvPr>
        </p:nvSpPr>
        <p:spPr/>
        <p:txBody>
          <a:bodyPr/>
          <a:lstStyle/>
          <a:p>
            <a:fld id="{46198A0D-C119-49A8-AD21-4EA122FD909A}" type="slidenum">
              <a:rPr lang="zh-TW" altLang="en-US" smtClean="0"/>
              <a:t>16</a:t>
            </a:fld>
            <a:endParaRPr lang="zh-TW" altLang="en-US"/>
          </a:p>
        </p:txBody>
      </p:sp>
    </p:spTree>
    <p:extLst>
      <p:ext uri="{BB962C8B-B14F-4D97-AF65-F5344CB8AC3E}">
        <p14:creationId xmlns:p14="http://schemas.microsoft.com/office/powerpoint/2010/main" val="412824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ounded Rectangle 96">
            <a:extLst>
              <a:ext uri="{FF2B5EF4-FFF2-40B4-BE49-F238E27FC236}">
                <a16:creationId xmlns:a16="http://schemas.microsoft.com/office/drawing/2014/main" id="{6FA90F40-9475-44A4-B029-E7ADB0595DF4}"/>
              </a:ext>
            </a:extLst>
          </p:cNvPr>
          <p:cNvSpPr/>
          <p:nvPr/>
        </p:nvSpPr>
        <p:spPr>
          <a:xfrm>
            <a:off x="6871962" y="2315075"/>
            <a:ext cx="1463911" cy="4603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50" name="Circle: Hollow 49">
            <a:extLst>
              <a:ext uri="{FF2B5EF4-FFF2-40B4-BE49-F238E27FC236}">
                <a16:creationId xmlns:a16="http://schemas.microsoft.com/office/drawing/2014/main" id="{80B45867-92D9-4512-8CCF-98BEEB4C6674}"/>
              </a:ext>
            </a:extLst>
          </p:cNvPr>
          <p:cNvSpPr/>
          <p:nvPr/>
        </p:nvSpPr>
        <p:spPr>
          <a:xfrm>
            <a:off x="7446730" y="947590"/>
            <a:ext cx="1823519" cy="1823519"/>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51" name="Rounded Rectangle 96">
            <a:extLst>
              <a:ext uri="{FF2B5EF4-FFF2-40B4-BE49-F238E27FC236}">
                <a16:creationId xmlns:a16="http://schemas.microsoft.com/office/drawing/2014/main" id="{C0AE763C-858D-4C72-80CE-27833870E988}"/>
              </a:ext>
            </a:extLst>
          </p:cNvPr>
          <p:cNvSpPr/>
          <p:nvPr/>
        </p:nvSpPr>
        <p:spPr>
          <a:xfrm>
            <a:off x="8381104" y="947590"/>
            <a:ext cx="6249296" cy="4603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47" name="Rounded Rectangle 96">
            <a:extLst>
              <a:ext uri="{FF2B5EF4-FFF2-40B4-BE49-F238E27FC236}">
                <a16:creationId xmlns:a16="http://schemas.microsoft.com/office/drawing/2014/main" id="{A292042E-5456-45FE-9561-9F5C8ECAEFDD}"/>
              </a:ext>
            </a:extLst>
          </p:cNvPr>
          <p:cNvSpPr/>
          <p:nvPr/>
        </p:nvSpPr>
        <p:spPr>
          <a:xfrm>
            <a:off x="5362819" y="3682560"/>
            <a:ext cx="1463911" cy="460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48" name="Circle: Hollow 47">
            <a:extLst>
              <a:ext uri="{FF2B5EF4-FFF2-40B4-BE49-F238E27FC236}">
                <a16:creationId xmlns:a16="http://schemas.microsoft.com/office/drawing/2014/main" id="{A8F75F8E-32CF-42B7-A103-B15C60E18B98}"/>
              </a:ext>
            </a:extLst>
          </p:cNvPr>
          <p:cNvSpPr/>
          <p:nvPr/>
        </p:nvSpPr>
        <p:spPr>
          <a:xfrm>
            <a:off x="5937587" y="2315075"/>
            <a:ext cx="1823519" cy="182351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45" name="Rounded Rectangle 96">
            <a:extLst>
              <a:ext uri="{FF2B5EF4-FFF2-40B4-BE49-F238E27FC236}">
                <a16:creationId xmlns:a16="http://schemas.microsoft.com/office/drawing/2014/main" id="{A9160358-B538-4278-B4F9-A84DB164311D}"/>
              </a:ext>
            </a:extLst>
          </p:cNvPr>
          <p:cNvSpPr/>
          <p:nvPr/>
        </p:nvSpPr>
        <p:spPr>
          <a:xfrm>
            <a:off x="3853677" y="5050045"/>
            <a:ext cx="1463911" cy="460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46" name="Circle: Hollow 45">
            <a:extLst>
              <a:ext uri="{FF2B5EF4-FFF2-40B4-BE49-F238E27FC236}">
                <a16:creationId xmlns:a16="http://schemas.microsoft.com/office/drawing/2014/main" id="{0A8F7C65-833E-4F34-8F38-B5D7F7D92A52}"/>
              </a:ext>
            </a:extLst>
          </p:cNvPr>
          <p:cNvSpPr/>
          <p:nvPr/>
        </p:nvSpPr>
        <p:spPr>
          <a:xfrm>
            <a:off x="4428445" y="3682561"/>
            <a:ext cx="1823519" cy="182351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12" name="Oval 11">
            <a:extLst>
              <a:ext uri="{FF2B5EF4-FFF2-40B4-BE49-F238E27FC236}">
                <a16:creationId xmlns:a16="http://schemas.microsoft.com/office/drawing/2014/main" id="{F18CDC64-CB6F-46A4-BC82-EB7408C05A62}"/>
              </a:ext>
            </a:extLst>
          </p:cNvPr>
          <p:cNvSpPr/>
          <p:nvPr/>
        </p:nvSpPr>
        <p:spPr>
          <a:xfrm>
            <a:off x="2942274" y="5300614"/>
            <a:ext cx="1582836" cy="1582836"/>
          </a:xfrm>
          <a:prstGeom prst="ellipse">
            <a:avLst/>
          </a:prstGeom>
          <a:noFill/>
          <a:ln w="139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22" name="Rounded Rectangle 96">
            <a:extLst>
              <a:ext uri="{FF2B5EF4-FFF2-40B4-BE49-F238E27FC236}">
                <a16:creationId xmlns:a16="http://schemas.microsoft.com/office/drawing/2014/main" id="{05A6C3BF-7F50-45A5-A56B-779D85BB39F7}"/>
              </a:ext>
            </a:extLst>
          </p:cNvPr>
          <p:cNvSpPr/>
          <p:nvPr/>
        </p:nvSpPr>
        <p:spPr>
          <a:xfrm>
            <a:off x="0" y="6413177"/>
            <a:ext cx="3826534" cy="460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solidFill>
                <a:schemeClr val="tx1">
                  <a:lumMod val="75000"/>
                  <a:lumOff val="25000"/>
                </a:schemeClr>
              </a:solidFill>
            </a:endParaRPr>
          </a:p>
        </p:txBody>
      </p:sp>
      <p:sp>
        <p:nvSpPr>
          <p:cNvPr id="28" name="TextBox 27">
            <a:extLst>
              <a:ext uri="{FF2B5EF4-FFF2-40B4-BE49-F238E27FC236}">
                <a16:creationId xmlns:a16="http://schemas.microsoft.com/office/drawing/2014/main" id="{5EE84779-35EA-4872-8367-0EAE74E67CA7}"/>
              </a:ext>
            </a:extLst>
          </p:cNvPr>
          <p:cNvSpPr txBox="1"/>
          <p:nvPr/>
        </p:nvSpPr>
        <p:spPr>
          <a:xfrm>
            <a:off x="6689775" y="4952081"/>
            <a:ext cx="4416371" cy="523220"/>
          </a:xfrm>
          <a:prstGeom prst="rect">
            <a:avLst/>
          </a:prstGeom>
          <a:noFill/>
        </p:spPr>
        <p:txBody>
          <a:bodyPr wrap="square" rtlCol="0">
            <a:spAutoFit/>
          </a:bodyPr>
          <a:lstStyle/>
          <a:p>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播放音訊後進行提問</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34" name="TextBox 33">
            <a:extLst>
              <a:ext uri="{FF2B5EF4-FFF2-40B4-BE49-F238E27FC236}">
                <a16:creationId xmlns:a16="http://schemas.microsoft.com/office/drawing/2014/main" id="{CA8DF01A-F232-4963-BC94-2163305D53A2}"/>
              </a:ext>
            </a:extLst>
          </p:cNvPr>
          <p:cNvSpPr txBox="1"/>
          <p:nvPr/>
        </p:nvSpPr>
        <p:spPr>
          <a:xfrm>
            <a:off x="9692340" y="1995510"/>
            <a:ext cx="3662713" cy="954107"/>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系統回覆聽力原文、答案、分數</a:t>
            </a:r>
          </a:p>
        </p:txBody>
      </p:sp>
      <p:sp>
        <p:nvSpPr>
          <p:cNvPr id="37" name="TextBox 36">
            <a:extLst>
              <a:ext uri="{FF2B5EF4-FFF2-40B4-BE49-F238E27FC236}">
                <a16:creationId xmlns:a16="http://schemas.microsoft.com/office/drawing/2014/main" id="{631AAF1D-D949-4E4A-B377-A8E496D66BAE}"/>
              </a:ext>
            </a:extLst>
          </p:cNvPr>
          <p:cNvSpPr txBox="1"/>
          <p:nvPr/>
        </p:nvSpPr>
        <p:spPr>
          <a:xfrm>
            <a:off x="5188492" y="6319567"/>
            <a:ext cx="4416371" cy="523220"/>
          </a:xfrm>
          <a:prstGeom prst="rect">
            <a:avLst/>
          </a:prstGeom>
          <a:noFill/>
        </p:spPr>
        <p:txBody>
          <a:bodyPr wrap="square" rtlCol="0">
            <a:spAutoFit/>
          </a:bodyPr>
          <a:lstStyle/>
          <a:p>
            <a:r>
              <a:rPr lang="zh-TW" altLang="en-US" sz="2800" dirty="0">
                <a:solidFill>
                  <a:schemeClr val="tx1">
                    <a:lumMod val="75000"/>
                    <a:lumOff val="25000"/>
                  </a:schemeClr>
                </a:solidFill>
                <a:latin typeface="Microsoft JhengHei" panose="020B0604030504040204" pitchFamily="34" charset="-120"/>
                <a:ea typeface="Microsoft JhengHei" panose="020B0604030504040204" pitchFamily="34" charset="-120"/>
                <a:cs typeface="Arial" pitchFamily="34" charset="0"/>
              </a:rPr>
              <a:t>選擇難易度</a:t>
            </a:r>
            <a:endParaRPr lang="ko-KR" altLang="en-US" sz="2800" dirty="0">
              <a:solidFill>
                <a:schemeClr val="tx1">
                  <a:lumMod val="75000"/>
                  <a:lumOff val="25000"/>
                </a:schemeClr>
              </a:solidFill>
              <a:latin typeface="Microsoft JhengHei" panose="020B0604030504040204" pitchFamily="34" charset="-120"/>
              <a:cs typeface="Arial" pitchFamily="34" charset="0"/>
            </a:endParaRPr>
          </a:p>
        </p:txBody>
      </p:sp>
      <p:sp>
        <p:nvSpPr>
          <p:cNvPr id="39" name="Donut 8">
            <a:extLst>
              <a:ext uri="{FF2B5EF4-FFF2-40B4-BE49-F238E27FC236}">
                <a16:creationId xmlns:a16="http://schemas.microsoft.com/office/drawing/2014/main" id="{5DD4C900-7672-4C45-A30E-397B41D18687}"/>
              </a:ext>
            </a:extLst>
          </p:cNvPr>
          <p:cNvSpPr/>
          <p:nvPr/>
        </p:nvSpPr>
        <p:spPr>
          <a:xfrm>
            <a:off x="6644498" y="2946576"/>
            <a:ext cx="409696" cy="489718"/>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endParaRPr>
          </a:p>
        </p:txBody>
      </p:sp>
      <p:sp>
        <p:nvSpPr>
          <p:cNvPr id="40" name="Donut 24">
            <a:extLst>
              <a:ext uri="{FF2B5EF4-FFF2-40B4-BE49-F238E27FC236}">
                <a16:creationId xmlns:a16="http://schemas.microsoft.com/office/drawing/2014/main" id="{32AA287B-CF9F-467C-A5C0-CE3CC2F1A3D7}"/>
              </a:ext>
            </a:extLst>
          </p:cNvPr>
          <p:cNvSpPr/>
          <p:nvPr/>
        </p:nvSpPr>
        <p:spPr>
          <a:xfrm>
            <a:off x="8121358" y="1611421"/>
            <a:ext cx="474260" cy="478121"/>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endParaRPr>
          </a:p>
        </p:txBody>
      </p:sp>
      <p:sp>
        <p:nvSpPr>
          <p:cNvPr id="41" name="Block Arc 25">
            <a:extLst>
              <a:ext uri="{FF2B5EF4-FFF2-40B4-BE49-F238E27FC236}">
                <a16:creationId xmlns:a16="http://schemas.microsoft.com/office/drawing/2014/main" id="{31FE919C-941E-4BE6-A9BE-8BF45AA177F7}"/>
              </a:ext>
            </a:extLst>
          </p:cNvPr>
          <p:cNvSpPr>
            <a:spLocks noChangeAspect="1"/>
          </p:cNvSpPr>
          <p:nvPr/>
        </p:nvSpPr>
        <p:spPr>
          <a:xfrm>
            <a:off x="3683409" y="5685387"/>
            <a:ext cx="340535" cy="491971"/>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solidFill>
                <a:schemeClr val="tx1"/>
              </a:solidFill>
            </a:endParaRPr>
          </a:p>
        </p:txBody>
      </p:sp>
      <p:sp>
        <p:nvSpPr>
          <p:cNvPr id="42" name="자유형 151">
            <a:extLst>
              <a:ext uri="{FF2B5EF4-FFF2-40B4-BE49-F238E27FC236}">
                <a16:creationId xmlns:a16="http://schemas.microsoft.com/office/drawing/2014/main" id="{15F5A486-914E-4CD1-A4C9-53BA05E124B6}"/>
              </a:ext>
            </a:extLst>
          </p:cNvPr>
          <p:cNvSpPr/>
          <p:nvPr/>
        </p:nvSpPr>
        <p:spPr>
          <a:xfrm>
            <a:off x="5096133" y="4389213"/>
            <a:ext cx="442910" cy="464866"/>
          </a:xfrm>
          <a:custGeom>
            <a:avLst/>
            <a:gdLst>
              <a:gd name="connsiteX0" fmla="*/ 1460984 w 2921968"/>
              <a:gd name="connsiteY0" fmla="*/ 233294 h 3066808"/>
              <a:gd name="connsiteX1" fmla="*/ 1320049 w 2921968"/>
              <a:gd name="connsiteY1" fmla="*/ 374229 h 3066808"/>
              <a:gd name="connsiteX2" fmla="*/ 1460984 w 2921968"/>
              <a:gd name="connsiteY2" fmla="*/ 515164 h 3066808"/>
              <a:gd name="connsiteX3" fmla="*/ 1601919 w 2921968"/>
              <a:gd name="connsiteY3" fmla="*/ 374229 h 3066808"/>
              <a:gd name="connsiteX4" fmla="*/ 1460984 w 2921968"/>
              <a:gd name="connsiteY4" fmla="*/ 233294 h 3066808"/>
              <a:gd name="connsiteX5" fmla="*/ 1460984 w 2921968"/>
              <a:gd name="connsiteY5" fmla="*/ 0 h 3066808"/>
              <a:gd name="connsiteX6" fmla="*/ 1835213 w 2921968"/>
              <a:gd name="connsiteY6" fmla="*/ 374229 h 3066808"/>
              <a:gd name="connsiteX7" fmla="*/ 1670219 w 2921968"/>
              <a:gd name="connsiteY7" fmla="*/ 684545 h 3066808"/>
              <a:gd name="connsiteX8" fmla="*/ 1626866 w 2921968"/>
              <a:gd name="connsiteY8" fmla="*/ 708077 h 3066808"/>
              <a:gd name="connsiteX9" fmla="*/ 1646248 w 2921968"/>
              <a:gd name="connsiteY9" fmla="*/ 873151 h 3066808"/>
              <a:gd name="connsiteX10" fmla="*/ 2235203 w 2921968"/>
              <a:gd name="connsiteY10" fmla="*/ 873151 h 3066808"/>
              <a:gd name="connsiteX11" fmla="*/ 2241832 w 2921968"/>
              <a:gd name="connsiteY11" fmla="*/ 851796 h 3066808"/>
              <a:gd name="connsiteX12" fmla="*/ 2430803 w 2921968"/>
              <a:gd name="connsiteY12" fmla="*/ 726537 h 3066808"/>
              <a:gd name="connsiteX13" fmla="*/ 2635891 w 2921968"/>
              <a:gd name="connsiteY13" fmla="*/ 931625 h 3066808"/>
              <a:gd name="connsiteX14" fmla="*/ 2430803 w 2921968"/>
              <a:gd name="connsiteY14" fmla="*/ 1136713 h 3066808"/>
              <a:gd name="connsiteX15" fmla="*/ 2241832 w 2921968"/>
              <a:gd name="connsiteY15" fmla="*/ 1011455 h 3066808"/>
              <a:gd name="connsiteX16" fmla="*/ 2233652 w 2921968"/>
              <a:gd name="connsiteY16" fmla="*/ 985105 h 3066808"/>
              <a:gd name="connsiteX17" fmla="*/ 1659393 w 2921968"/>
              <a:gd name="connsiteY17" fmla="*/ 985105 h 3066808"/>
              <a:gd name="connsiteX18" fmla="*/ 1835639 w 2921968"/>
              <a:gd name="connsiteY18" fmla="*/ 2486125 h 3066808"/>
              <a:gd name="connsiteX19" fmla="*/ 2605322 w 2921968"/>
              <a:gd name="connsiteY19" fmla="*/ 1804902 h 3066808"/>
              <a:gd name="connsiteX20" fmla="*/ 2437231 w 2921968"/>
              <a:gd name="connsiteY20" fmla="*/ 1828663 h 3066808"/>
              <a:gd name="connsiteX21" fmla="*/ 2679599 w 2921968"/>
              <a:gd name="connsiteY21" fmla="*/ 1472350 h 3066808"/>
              <a:gd name="connsiteX22" fmla="*/ 2921968 w 2921968"/>
              <a:gd name="connsiteY22" fmla="*/ 1828663 h 3066808"/>
              <a:gd name="connsiteX23" fmla="*/ 2749252 w 2921968"/>
              <a:gd name="connsiteY23" fmla="*/ 1804848 h 3066808"/>
              <a:gd name="connsiteX24" fmla="*/ 1665272 w 2921968"/>
              <a:gd name="connsiteY24" fmla="*/ 2905483 h 3066808"/>
              <a:gd name="connsiteX25" fmla="*/ 1462434 w 2921968"/>
              <a:gd name="connsiteY25" fmla="*/ 3066808 h 3066808"/>
              <a:gd name="connsiteX26" fmla="*/ 1265857 w 2921968"/>
              <a:gd name="connsiteY26" fmla="*/ 2910631 h 3066808"/>
              <a:gd name="connsiteX27" fmla="*/ 175466 w 2921968"/>
              <a:gd name="connsiteY27" fmla="*/ 1804523 h 3066808"/>
              <a:gd name="connsiteX28" fmla="*/ 0 w 2921968"/>
              <a:gd name="connsiteY28" fmla="*/ 1828663 h 3066808"/>
              <a:gd name="connsiteX29" fmla="*/ 242369 w 2921968"/>
              <a:gd name="connsiteY29" fmla="*/ 1472350 h 3066808"/>
              <a:gd name="connsiteX30" fmla="*/ 484739 w 2921968"/>
              <a:gd name="connsiteY30" fmla="*/ 1828663 h 3066808"/>
              <a:gd name="connsiteX31" fmla="*/ 319066 w 2921968"/>
              <a:gd name="connsiteY31" fmla="*/ 1805271 h 3066808"/>
              <a:gd name="connsiteX32" fmla="*/ 1095798 w 2921968"/>
              <a:gd name="connsiteY32" fmla="*/ 2488933 h 3066808"/>
              <a:gd name="connsiteX33" fmla="*/ 1266566 w 2921968"/>
              <a:gd name="connsiteY33" fmla="*/ 985105 h 3066808"/>
              <a:gd name="connsiteX34" fmla="*/ 728631 w 2921968"/>
              <a:gd name="connsiteY34" fmla="*/ 985105 h 3066808"/>
              <a:gd name="connsiteX35" fmla="*/ 727109 w 2921968"/>
              <a:gd name="connsiteY35" fmla="*/ 987221 h 3066808"/>
              <a:gd name="connsiteX36" fmla="*/ 719586 w 2921968"/>
              <a:gd name="connsiteY36" fmla="*/ 1011455 h 3066808"/>
              <a:gd name="connsiteX37" fmla="*/ 530615 w 2921968"/>
              <a:gd name="connsiteY37" fmla="*/ 1136713 h 3066808"/>
              <a:gd name="connsiteX38" fmla="*/ 325527 w 2921968"/>
              <a:gd name="connsiteY38" fmla="*/ 931625 h 3066808"/>
              <a:gd name="connsiteX39" fmla="*/ 530615 w 2921968"/>
              <a:gd name="connsiteY39" fmla="*/ 726537 h 3066808"/>
              <a:gd name="connsiteX40" fmla="*/ 719586 w 2921968"/>
              <a:gd name="connsiteY40" fmla="*/ 851796 h 3066808"/>
              <a:gd name="connsiteX41" fmla="*/ 724380 w 2921968"/>
              <a:gd name="connsiteY41" fmla="*/ 867240 h 3066808"/>
              <a:gd name="connsiteX42" fmla="*/ 728634 w 2921968"/>
              <a:gd name="connsiteY42" fmla="*/ 873151 h 3066808"/>
              <a:gd name="connsiteX43" fmla="*/ 1279279 w 2921968"/>
              <a:gd name="connsiteY43" fmla="*/ 873151 h 3066808"/>
              <a:gd name="connsiteX44" fmla="*/ 1297855 w 2921968"/>
              <a:gd name="connsiteY44" fmla="*/ 709571 h 3066808"/>
              <a:gd name="connsiteX45" fmla="*/ 1251749 w 2921968"/>
              <a:gd name="connsiteY45" fmla="*/ 684545 h 3066808"/>
              <a:gd name="connsiteX46" fmla="*/ 1086755 w 2921968"/>
              <a:gd name="connsiteY46" fmla="*/ 374229 h 3066808"/>
              <a:gd name="connsiteX47" fmla="*/ 1460984 w 2921968"/>
              <a:gd name="connsiteY47" fmla="*/ 0 h 306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21968" h="3066808">
                <a:moveTo>
                  <a:pt x="1460984" y="233294"/>
                </a:moveTo>
                <a:cubicBezTo>
                  <a:pt x="1383148" y="233294"/>
                  <a:pt x="1320049" y="296393"/>
                  <a:pt x="1320049" y="374229"/>
                </a:cubicBezTo>
                <a:cubicBezTo>
                  <a:pt x="1320049" y="452065"/>
                  <a:pt x="1383148" y="515164"/>
                  <a:pt x="1460984" y="515164"/>
                </a:cubicBezTo>
                <a:cubicBezTo>
                  <a:pt x="1538820" y="515164"/>
                  <a:pt x="1601919" y="452065"/>
                  <a:pt x="1601919" y="374229"/>
                </a:cubicBezTo>
                <a:cubicBezTo>
                  <a:pt x="1601919" y="296393"/>
                  <a:pt x="1538820" y="233294"/>
                  <a:pt x="1460984" y="233294"/>
                </a:cubicBezTo>
                <a:close/>
                <a:moveTo>
                  <a:pt x="1460984" y="0"/>
                </a:moveTo>
                <a:cubicBezTo>
                  <a:pt x="1667665" y="0"/>
                  <a:pt x="1835213" y="167548"/>
                  <a:pt x="1835213" y="374229"/>
                </a:cubicBezTo>
                <a:cubicBezTo>
                  <a:pt x="1835213" y="503404"/>
                  <a:pt x="1769765" y="617294"/>
                  <a:pt x="1670219" y="684545"/>
                </a:cubicBezTo>
                <a:lnTo>
                  <a:pt x="1626866" y="708077"/>
                </a:lnTo>
                <a:lnTo>
                  <a:pt x="1646248" y="873151"/>
                </a:lnTo>
                <a:lnTo>
                  <a:pt x="2235203" y="873151"/>
                </a:lnTo>
                <a:lnTo>
                  <a:pt x="2241832" y="851796"/>
                </a:lnTo>
                <a:cubicBezTo>
                  <a:pt x="2272966" y="778187"/>
                  <a:pt x="2345853" y="726537"/>
                  <a:pt x="2430803" y="726537"/>
                </a:cubicBezTo>
                <a:cubicBezTo>
                  <a:pt x="2544070" y="726537"/>
                  <a:pt x="2635891" y="818358"/>
                  <a:pt x="2635891" y="931625"/>
                </a:cubicBezTo>
                <a:cubicBezTo>
                  <a:pt x="2635891" y="1044892"/>
                  <a:pt x="2544070" y="1136713"/>
                  <a:pt x="2430803" y="1136713"/>
                </a:cubicBezTo>
                <a:cubicBezTo>
                  <a:pt x="2345853" y="1136713"/>
                  <a:pt x="2272966" y="1085064"/>
                  <a:pt x="2241832" y="1011455"/>
                </a:cubicBezTo>
                <a:lnTo>
                  <a:pt x="2233652" y="985105"/>
                </a:lnTo>
                <a:lnTo>
                  <a:pt x="1659393" y="985105"/>
                </a:lnTo>
                <a:lnTo>
                  <a:pt x="1835639" y="2486125"/>
                </a:lnTo>
                <a:cubicBezTo>
                  <a:pt x="2257126" y="2356235"/>
                  <a:pt x="2582425" y="2203368"/>
                  <a:pt x="2605322" y="1804902"/>
                </a:cubicBezTo>
                <a:cubicBezTo>
                  <a:pt x="2547615" y="1806965"/>
                  <a:pt x="2490707" y="1815307"/>
                  <a:pt x="2437231" y="1828663"/>
                </a:cubicBezTo>
                <a:cubicBezTo>
                  <a:pt x="2542844" y="1722240"/>
                  <a:pt x="2642253" y="1622871"/>
                  <a:pt x="2679599" y="1472350"/>
                </a:cubicBezTo>
                <a:cubicBezTo>
                  <a:pt x="2719016" y="1621107"/>
                  <a:pt x="2816355" y="1715183"/>
                  <a:pt x="2921968" y="1828663"/>
                </a:cubicBezTo>
                <a:cubicBezTo>
                  <a:pt x="2868630" y="1815688"/>
                  <a:pt x="2809977" y="1807008"/>
                  <a:pt x="2749252" y="1804848"/>
                </a:cubicBezTo>
                <a:cubicBezTo>
                  <a:pt x="2719427" y="2342499"/>
                  <a:pt x="2353693" y="2860207"/>
                  <a:pt x="1665272" y="2905483"/>
                </a:cubicBezTo>
                <a:cubicBezTo>
                  <a:pt x="1561523" y="2978866"/>
                  <a:pt x="1523475" y="3013033"/>
                  <a:pt x="1462434" y="3066808"/>
                </a:cubicBezTo>
                <a:cubicBezTo>
                  <a:pt x="1404574" y="3011016"/>
                  <a:pt x="1369708" y="2980430"/>
                  <a:pt x="1265857" y="2910631"/>
                </a:cubicBezTo>
                <a:cubicBezTo>
                  <a:pt x="648092" y="2849018"/>
                  <a:pt x="205460" y="2343748"/>
                  <a:pt x="175466" y="1804523"/>
                </a:cubicBezTo>
                <a:cubicBezTo>
                  <a:pt x="115256" y="1806261"/>
                  <a:pt x="55763" y="1814736"/>
                  <a:pt x="0" y="1828663"/>
                </a:cubicBezTo>
                <a:cubicBezTo>
                  <a:pt x="105615" y="1722240"/>
                  <a:pt x="205022" y="1622871"/>
                  <a:pt x="242369" y="1472350"/>
                </a:cubicBezTo>
                <a:cubicBezTo>
                  <a:pt x="281785" y="1621107"/>
                  <a:pt x="379124" y="1715183"/>
                  <a:pt x="484739" y="1828663"/>
                </a:cubicBezTo>
                <a:cubicBezTo>
                  <a:pt x="433473" y="1816193"/>
                  <a:pt x="377298" y="1807690"/>
                  <a:pt x="319066" y="1805271"/>
                </a:cubicBezTo>
                <a:cubicBezTo>
                  <a:pt x="342774" y="2204526"/>
                  <a:pt x="675270" y="2359301"/>
                  <a:pt x="1095798" y="2488933"/>
                </a:cubicBezTo>
                <a:lnTo>
                  <a:pt x="1266566" y="985105"/>
                </a:lnTo>
                <a:lnTo>
                  <a:pt x="728631" y="985105"/>
                </a:lnTo>
                <a:lnTo>
                  <a:pt x="727109" y="987221"/>
                </a:lnTo>
                <a:lnTo>
                  <a:pt x="719586" y="1011455"/>
                </a:lnTo>
                <a:cubicBezTo>
                  <a:pt x="688452" y="1085064"/>
                  <a:pt x="615566" y="1136713"/>
                  <a:pt x="530615" y="1136713"/>
                </a:cubicBezTo>
                <a:cubicBezTo>
                  <a:pt x="417348" y="1136713"/>
                  <a:pt x="325527" y="1044892"/>
                  <a:pt x="325527" y="931625"/>
                </a:cubicBezTo>
                <a:cubicBezTo>
                  <a:pt x="325527" y="818358"/>
                  <a:pt x="417348" y="726537"/>
                  <a:pt x="530615" y="726537"/>
                </a:cubicBezTo>
                <a:cubicBezTo>
                  <a:pt x="615566" y="726537"/>
                  <a:pt x="688452" y="778187"/>
                  <a:pt x="719586" y="851796"/>
                </a:cubicBezTo>
                <a:lnTo>
                  <a:pt x="724380" y="867240"/>
                </a:lnTo>
                <a:lnTo>
                  <a:pt x="728634" y="873151"/>
                </a:lnTo>
                <a:lnTo>
                  <a:pt x="1279279" y="873151"/>
                </a:lnTo>
                <a:lnTo>
                  <a:pt x="1297855" y="709571"/>
                </a:lnTo>
                <a:lnTo>
                  <a:pt x="1251749" y="684545"/>
                </a:lnTo>
                <a:cubicBezTo>
                  <a:pt x="1152204" y="617294"/>
                  <a:pt x="1086755" y="503404"/>
                  <a:pt x="1086755" y="374229"/>
                </a:cubicBezTo>
                <a:cubicBezTo>
                  <a:pt x="1086755" y="167548"/>
                  <a:pt x="1254303" y="0"/>
                  <a:pt x="1460984"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2160" dirty="0"/>
          </a:p>
        </p:txBody>
      </p:sp>
      <p:sp>
        <p:nvSpPr>
          <p:cNvPr id="44" name="Circle: Hollow 43">
            <a:extLst>
              <a:ext uri="{FF2B5EF4-FFF2-40B4-BE49-F238E27FC236}">
                <a16:creationId xmlns:a16="http://schemas.microsoft.com/office/drawing/2014/main" id="{DEC173AA-C82E-4B92-B550-6E65463C41A6}"/>
              </a:ext>
            </a:extLst>
          </p:cNvPr>
          <p:cNvSpPr/>
          <p:nvPr/>
        </p:nvSpPr>
        <p:spPr>
          <a:xfrm>
            <a:off x="2919302" y="5050046"/>
            <a:ext cx="1823519" cy="182351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schemeClr val="tx1"/>
              </a:solidFill>
            </a:endParaRPr>
          </a:p>
        </p:txBody>
      </p:sp>
      <p:sp>
        <p:nvSpPr>
          <p:cNvPr id="56" name="TextBox 55">
            <a:extLst>
              <a:ext uri="{FF2B5EF4-FFF2-40B4-BE49-F238E27FC236}">
                <a16:creationId xmlns:a16="http://schemas.microsoft.com/office/drawing/2014/main" id="{6919B331-E5DF-4207-8F99-4863206F079D}"/>
              </a:ext>
            </a:extLst>
          </p:cNvPr>
          <p:cNvSpPr txBox="1"/>
          <p:nvPr/>
        </p:nvSpPr>
        <p:spPr>
          <a:xfrm>
            <a:off x="8191058" y="3584596"/>
            <a:ext cx="4416371"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使用者輸入答案</a:t>
            </a:r>
          </a:p>
        </p:txBody>
      </p:sp>
      <p:sp>
        <p:nvSpPr>
          <p:cNvPr id="57" name="TextBox 56">
            <a:extLst>
              <a:ext uri="{FF2B5EF4-FFF2-40B4-BE49-F238E27FC236}">
                <a16:creationId xmlns:a16="http://schemas.microsoft.com/office/drawing/2014/main" id="{EFFD1FFE-EE5D-4508-BC53-E1CBBA637A09}"/>
              </a:ext>
            </a:extLst>
          </p:cNvPr>
          <p:cNvSpPr txBox="1"/>
          <p:nvPr/>
        </p:nvSpPr>
        <p:spPr>
          <a:xfrm>
            <a:off x="432440" y="291591"/>
            <a:ext cx="4885148" cy="923330"/>
          </a:xfrm>
          <a:prstGeom prst="rect">
            <a:avLst/>
          </a:prstGeom>
          <a:noFill/>
        </p:spPr>
        <p:txBody>
          <a:bodyPr wrap="square" rtlCol="0" anchor="ctr">
            <a:spAutoFit/>
          </a:bodyPr>
          <a:lstStyle/>
          <a:p>
            <a:r>
              <a:rPr lang="zh-TW" altLang="en-US" sz="5400" b="1" dirty="0">
                <a:solidFill>
                  <a:schemeClr val="tx1">
                    <a:lumMod val="85000"/>
                    <a:lumOff val="15000"/>
                  </a:schemeClr>
                </a:solidFill>
                <a:latin typeface="Microsoft JhengHei" panose="020B0604030504040204" pitchFamily="34" charset="-120"/>
                <a:ea typeface="Microsoft JhengHei" panose="020B0604030504040204" pitchFamily="34" charset="-120"/>
                <a:cs typeface="Arial" pitchFamily="34" charset="0"/>
              </a:rPr>
              <a:t>聽力練習</a:t>
            </a:r>
            <a:endParaRPr lang="en-US" altLang="ko-KR" sz="5400" b="1" dirty="0">
              <a:solidFill>
                <a:schemeClr val="tx1">
                  <a:lumMod val="85000"/>
                  <a:lumOff val="15000"/>
                </a:schemeClr>
              </a:solidFill>
              <a:latin typeface="Microsoft JhengHei" panose="020B0604030504040204" pitchFamily="34" charset="-120"/>
              <a:ea typeface="Microsoft JhengHei" panose="020B0604030504040204" pitchFamily="34" charset="-120"/>
              <a:cs typeface="Arial" pitchFamily="34" charset="0"/>
            </a:endParaRPr>
          </a:p>
        </p:txBody>
      </p:sp>
      <p:sp>
        <p:nvSpPr>
          <p:cNvPr id="2" name="投影片編號版面配置區 1">
            <a:extLst>
              <a:ext uri="{FF2B5EF4-FFF2-40B4-BE49-F238E27FC236}">
                <a16:creationId xmlns:a16="http://schemas.microsoft.com/office/drawing/2014/main" id="{CAC1D3FB-E07F-E47A-E0D3-C0E7A5373FAA}"/>
              </a:ext>
            </a:extLst>
          </p:cNvPr>
          <p:cNvSpPr>
            <a:spLocks noGrp="1"/>
          </p:cNvSpPr>
          <p:nvPr>
            <p:ph type="sldNum" sz="quarter" idx="4"/>
          </p:nvPr>
        </p:nvSpPr>
        <p:spPr/>
        <p:txBody>
          <a:bodyPr/>
          <a:lstStyle/>
          <a:p>
            <a:fld id="{46198A0D-C119-49A8-AD21-4EA122FD909A}" type="slidenum">
              <a:rPr lang="zh-TW" altLang="en-US" smtClean="0"/>
              <a:t>17</a:t>
            </a:fld>
            <a:endParaRPr lang="zh-TW" altLang="en-US"/>
          </a:p>
        </p:txBody>
      </p:sp>
    </p:spTree>
    <p:extLst>
      <p:ext uri="{BB962C8B-B14F-4D97-AF65-F5344CB8AC3E}">
        <p14:creationId xmlns:p14="http://schemas.microsoft.com/office/powerpoint/2010/main" val="2447138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398DF3DB-FB62-374B-8E26-62A510AB58B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5251"/>
          <a:stretch/>
        </p:blipFill>
        <p:spPr bwMode="auto">
          <a:xfrm>
            <a:off x="5922661" y="12031"/>
            <a:ext cx="3410805" cy="4487779"/>
          </a:xfrm>
          <a:prstGeom prst="rect">
            <a:avLst/>
          </a:prstGeom>
          <a:ln>
            <a:noFill/>
          </a:ln>
          <a:extLst>
            <a:ext uri="{53640926-AAD7-44D8-BBD7-CCE9431645EC}">
              <a14:shadowObscured xmlns:a14="http://schemas.microsoft.com/office/drawing/2010/main"/>
            </a:ext>
          </a:extLst>
        </p:spPr>
      </p:pic>
      <p:pic>
        <p:nvPicPr>
          <p:cNvPr id="3" name="圖片 2">
            <a:extLst>
              <a:ext uri="{FF2B5EF4-FFF2-40B4-BE49-F238E27FC236}">
                <a16:creationId xmlns:a16="http://schemas.microsoft.com/office/drawing/2014/main" id="{0C8F6972-FCF7-C569-A8B4-94F42E3B5A4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54878"/>
          <a:stretch/>
        </p:blipFill>
        <p:spPr bwMode="auto">
          <a:xfrm>
            <a:off x="5922661" y="4499810"/>
            <a:ext cx="3410805" cy="3700520"/>
          </a:xfrm>
          <a:prstGeom prst="rect">
            <a:avLst/>
          </a:prstGeom>
          <a:ln>
            <a:noFill/>
          </a:ln>
          <a:extLst>
            <a:ext uri="{53640926-AAD7-44D8-BBD7-CCE9431645EC}">
              <a14:shadowObscured xmlns:a14="http://schemas.microsoft.com/office/drawing/2010/main"/>
            </a:ext>
          </a:extLst>
        </p:spPr>
      </p:pic>
      <p:sp>
        <p:nvSpPr>
          <p:cNvPr id="4" name="投影片編號版面配置區 3">
            <a:extLst>
              <a:ext uri="{FF2B5EF4-FFF2-40B4-BE49-F238E27FC236}">
                <a16:creationId xmlns:a16="http://schemas.microsoft.com/office/drawing/2014/main" id="{0C1610DF-E309-D68B-ED82-FF7007FC7FF4}"/>
              </a:ext>
            </a:extLst>
          </p:cNvPr>
          <p:cNvSpPr>
            <a:spLocks noGrp="1"/>
          </p:cNvSpPr>
          <p:nvPr>
            <p:ph type="sldNum" sz="quarter" idx="4"/>
          </p:nvPr>
        </p:nvSpPr>
        <p:spPr/>
        <p:txBody>
          <a:bodyPr/>
          <a:lstStyle/>
          <a:p>
            <a:fld id="{46198A0D-C119-49A8-AD21-4EA122FD909A}" type="slidenum">
              <a:rPr lang="zh-TW" altLang="en-US" smtClean="0"/>
              <a:t>18</a:t>
            </a:fld>
            <a:endParaRPr lang="zh-TW" altLang="en-US"/>
          </a:p>
        </p:txBody>
      </p:sp>
    </p:spTree>
    <p:extLst>
      <p:ext uri="{BB962C8B-B14F-4D97-AF65-F5344CB8AC3E}">
        <p14:creationId xmlns:p14="http://schemas.microsoft.com/office/powerpoint/2010/main" val="3136572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ED16C6E5-859E-44CD-07EC-6FE8EB2AC8C9}"/>
            </a:ext>
          </a:extLst>
        </p:cNvPr>
        <p:cNvGrpSpPr/>
        <p:nvPr/>
      </p:nvGrpSpPr>
      <p:grpSpPr>
        <a:xfrm>
          <a:off x="0" y="0"/>
          <a:ext cx="0" cy="0"/>
          <a:chOff x="0" y="0"/>
          <a:chExt cx="0" cy="0"/>
        </a:xfrm>
      </p:grpSpPr>
      <p:sp>
        <p:nvSpPr>
          <p:cNvPr id="659" name="Google Shape;659;p46">
            <a:extLst>
              <a:ext uri="{FF2B5EF4-FFF2-40B4-BE49-F238E27FC236}">
                <a16:creationId xmlns:a16="http://schemas.microsoft.com/office/drawing/2014/main" id="{A686F9FA-85F9-422B-0794-2CA9CECACFDF}"/>
              </a:ext>
            </a:extLst>
          </p:cNvPr>
          <p:cNvSpPr txBox="1">
            <a:spLocks noGrp="1"/>
          </p:cNvSpPr>
          <p:nvPr>
            <p:ph type="title"/>
          </p:nvPr>
        </p:nvSpPr>
        <p:spPr>
          <a:xfrm>
            <a:off x="4031159" y="2097760"/>
            <a:ext cx="8108703" cy="1885920"/>
          </a:xfrm>
          <a:prstGeom prst="rect">
            <a:avLst/>
          </a:prstGeom>
        </p:spPr>
        <p:txBody>
          <a:bodyPr spcFirstLastPara="1" wrap="square" lIns="146280" tIns="146280" rIns="146280" bIns="146280" anchor="b" anchorCtr="0">
            <a:noAutofit/>
          </a:bodyPr>
          <a:lstStyle/>
          <a:p>
            <a:pPr algn="l"/>
            <a:r>
              <a:rPr lang="zh-TW" altLang="en-US" sz="6000" b="1" dirty="0">
                <a:latin typeface="微軟正黑體" panose="020B0604030504040204" pitchFamily="34" charset="-120"/>
                <a:ea typeface="微軟正黑體" panose="020B0604030504040204" pitchFamily="34" charset="-120"/>
              </a:rPr>
              <a:t>提示工程設計 </a:t>
            </a:r>
          </a:p>
        </p:txBody>
      </p:sp>
      <p:cxnSp>
        <p:nvCxnSpPr>
          <p:cNvPr id="661" name="Google Shape;661;p46">
            <a:extLst>
              <a:ext uri="{FF2B5EF4-FFF2-40B4-BE49-F238E27FC236}">
                <a16:creationId xmlns:a16="http://schemas.microsoft.com/office/drawing/2014/main" id="{74542FA2-D983-F59C-7236-B312EC0C87A6}"/>
              </a:ext>
            </a:extLst>
          </p:cNvPr>
          <p:cNvCxnSpPr/>
          <p:nvPr/>
        </p:nvCxnSpPr>
        <p:spPr>
          <a:xfrm>
            <a:off x="4182677" y="4267262"/>
            <a:ext cx="546288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784008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068" y="396951"/>
            <a:ext cx="4140200" cy="848994"/>
          </a:xfrm>
          <a:prstGeom prst="rect">
            <a:avLst/>
          </a:prstGeom>
        </p:spPr>
        <p:txBody>
          <a:bodyPr vert="horz" wrap="square" lIns="0" tIns="12700" rIns="0" bIns="0" rtlCol="0">
            <a:spAutoFit/>
          </a:bodyPr>
          <a:lstStyle/>
          <a:p>
            <a:pPr marL="12700">
              <a:lnSpc>
                <a:spcPct val="100000"/>
              </a:lnSpc>
              <a:spcBef>
                <a:spcPts val="100"/>
              </a:spcBef>
            </a:pPr>
            <a:r>
              <a:rPr spc="-20" dirty="0"/>
              <a:t>基本設計原則</a:t>
            </a:r>
          </a:p>
        </p:txBody>
      </p:sp>
      <p:pic>
        <p:nvPicPr>
          <p:cNvPr id="3" name="object 3"/>
          <p:cNvPicPr/>
          <p:nvPr/>
        </p:nvPicPr>
        <p:blipFill>
          <a:blip r:embed="rId3" cstate="print"/>
          <a:stretch>
            <a:fillRect/>
          </a:stretch>
        </p:blipFill>
        <p:spPr>
          <a:xfrm>
            <a:off x="5017443" y="2469388"/>
            <a:ext cx="4595653" cy="4289044"/>
          </a:xfrm>
          <a:prstGeom prst="rect">
            <a:avLst/>
          </a:prstGeom>
        </p:spPr>
      </p:pic>
      <p:sp>
        <p:nvSpPr>
          <p:cNvPr id="4" name="object 4"/>
          <p:cNvSpPr txBox="1"/>
          <p:nvPr/>
        </p:nvSpPr>
        <p:spPr>
          <a:xfrm>
            <a:off x="9479406" y="1326960"/>
            <a:ext cx="3970020" cy="1918970"/>
          </a:xfrm>
          <a:prstGeom prst="rect">
            <a:avLst/>
          </a:prstGeom>
        </p:spPr>
        <p:txBody>
          <a:bodyPr vert="horz" wrap="square" lIns="0" tIns="236854" rIns="0" bIns="0" rtlCol="0">
            <a:spAutoFit/>
          </a:bodyPr>
          <a:lstStyle/>
          <a:p>
            <a:pPr marL="975994">
              <a:lnSpc>
                <a:spcPct val="100000"/>
              </a:lnSpc>
              <a:spcBef>
                <a:spcPts val="1864"/>
              </a:spcBef>
            </a:pPr>
            <a:r>
              <a:rPr sz="2800" b="1" spc="-40" dirty="0">
                <a:solidFill>
                  <a:srgbClr val="404040"/>
                </a:solidFill>
                <a:latin typeface="Microsoft JhengHei"/>
                <a:cs typeface="Microsoft JhengHei"/>
              </a:rPr>
              <a:t>結構化提示框架</a:t>
            </a:r>
            <a:endParaRPr sz="2800">
              <a:latin typeface="Microsoft JhengHei"/>
              <a:cs typeface="Microsoft JhengHei"/>
            </a:endParaRPr>
          </a:p>
          <a:p>
            <a:pPr marL="299085" indent="-286385">
              <a:lnSpc>
                <a:spcPct val="100000"/>
              </a:lnSpc>
              <a:spcBef>
                <a:spcPts val="1140"/>
              </a:spcBef>
              <a:buFont typeface="Arial MT"/>
              <a:buChar char="•"/>
              <a:tabLst>
                <a:tab pos="299085" algn="l"/>
              </a:tabLst>
            </a:pPr>
            <a:r>
              <a:rPr sz="1800" spc="-5" dirty="0">
                <a:solidFill>
                  <a:srgbClr val="404040"/>
                </a:solidFill>
                <a:latin typeface="Microsoft JhengHei"/>
                <a:cs typeface="Microsoft JhengHei"/>
              </a:rPr>
              <a:t>分層結構：指令層、限制層、示例層</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角色定位：教師、夥伴、輔導員</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統一組件：開場、指導、糾錯用語</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參數化：難度、主題、長度可調</a:t>
            </a:r>
            <a:endParaRPr sz="1800">
              <a:latin typeface="Microsoft JhengHei"/>
              <a:cs typeface="Microsoft JhengHe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20</a:t>
            </a:fld>
            <a:endParaRPr spc="-25" dirty="0"/>
          </a:p>
        </p:txBody>
      </p:sp>
      <p:sp>
        <p:nvSpPr>
          <p:cNvPr id="5" name="object 5"/>
          <p:cNvSpPr txBox="1"/>
          <p:nvPr/>
        </p:nvSpPr>
        <p:spPr>
          <a:xfrm>
            <a:off x="9853041" y="4670471"/>
            <a:ext cx="3512820" cy="1809750"/>
          </a:xfrm>
          <a:prstGeom prst="rect">
            <a:avLst/>
          </a:prstGeom>
        </p:spPr>
        <p:txBody>
          <a:bodyPr vert="horz" wrap="square" lIns="0" tIns="170180" rIns="0" bIns="0" rtlCol="0">
            <a:spAutoFit/>
          </a:bodyPr>
          <a:lstStyle/>
          <a:p>
            <a:pPr marL="586105">
              <a:lnSpc>
                <a:spcPct val="100000"/>
              </a:lnSpc>
              <a:spcBef>
                <a:spcPts val="1340"/>
              </a:spcBef>
            </a:pPr>
            <a:r>
              <a:rPr sz="2800" b="1" spc="-45" dirty="0">
                <a:latin typeface="Microsoft JhengHei"/>
                <a:cs typeface="Microsoft JhengHei"/>
              </a:rPr>
              <a:t>功能導向設計</a:t>
            </a:r>
            <a:endParaRPr sz="2800">
              <a:latin typeface="Microsoft JhengHei"/>
              <a:cs typeface="Microsoft JhengHei"/>
            </a:endParaRPr>
          </a:p>
          <a:p>
            <a:pPr marL="299085" indent="-286385">
              <a:lnSpc>
                <a:spcPct val="100000"/>
              </a:lnSpc>
              <a:spcBef>
                <a:spcPts val="800"/>
              </a:spcBef>
              <a:buFont typeface="Arial MT"/>
              <a:buChar char="•"/>
              <a:tabLst>
                <a:tab pos="299085" algn="l"/>
              </a:tabLst>
            </a:pPr>
            <a:r>
              <a:rPr sz="1800" spc="-5" dirty="0">
                <a:solidFill>
                  <a:srgbClr val="404040"/>
                </a:solidFill>
                <a:latin typeface="Microsoft JhengHei"/>
                <a:cs typeface="Microsoft JhengHei"/>
              </a:rPr>
              <a:t>對話練習：角色扮演核心策略</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單字練習：教師引導造句回饋</a:t>
            </a:r>
            <a:endParaRPr sz="1800">
              <a:latin typeface="Microsoft JhengHei"/>
              <a:cs typeface="Microsoft JhengHei"/>
            </a:endParaRPr>
          </a:p>
          <a:p>
            <a:pPr marL="299085" indent="-286385">
              <a:lnSpc>
                <a:spcPct val="100000"/>
              </a:lnSpc>
              <a:spcBef>
                <a:spcPts val="5"/>
              </a:spcBef>
              <a:buFont typeface="Arial MT"/>
              <a:buChar char="•"/>
              <a:tabLst>
                <a:tab pos="299085" algn="l"/>
              </a:tabLst>
            </a:pPr>
            <a:r>
              <a:rPr sz="1800" spc="-5" dirty="0">
                <a:solidFill>
                  <a:srgbClr val="404040"/>
                </a:solidFill>
                <a:latin typeface="Microsoft JhengHei"/>
                <a:cs typeface="Microsoft JhengHei"/>
              </a:rPr>
              <a:t>跟讀練習：母語者情境句型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聽力練習：漸進訓練識別到理解</a:t>
            </a:r>
            <a:endParaRPr sz="1800">
              <a:latin typeface="Microsoft JhengHei"/>
              <a:cs typeface="Microsoft JhengHei"/>
            </a:endParaRPr>
          </a:p>
        </p:txBody>
      </p:sp>
      <p:sp>
        <p:nvSpPr>
          <p:cNvPr id="6" name="object 6"/>
          <p:cNvSpPr txBox="1"/>
          <p:nvPr/>
        </p:nvSpPr>
        <p:spPr>
          <a:xfrm>
            <a:off x="987958" y="4737607"/>
            <a:ext cx="3512820" cy="1742439"/>
          </a:xfrm>
          <a:prstGeom prst="rect">
            <a:avLst/>
          </a:prstGeom>
        </p:spPr>
        <p:txBody>
          <a:bodyPr vert="horz" wrap="square" lIns="0" tIns="12700" rIns="0" bIns="0" rtlCol="0">
            <a:spAutoFit/>
          </a:bodyPr>
          <a:lstStyle/>
          <a:p>
            <a:pPr marL="838200">
              <a:lnSpc>
                <a:spcPct val="100000"/>
              </a:lnSpc>
              <a:spcBef>
                <a:spcPts val="100"/>
              </a:spcBef>
            </a:pPr>
            <a:r>
              <a:rPr sz="2400" b="1" spc="-10" dirty="0">
                <a:solidFill>
                  <a:srgbClr val="404040"/>
                </a:solidFill>
                <a:latin typeface="Microsoft JhengHei"/>
                <a:cs typeface="Microsoft JhengHei"/>
              </a:rPr>
              <a:t>情境適應性原則</a:t>
            </a:r>
            <a:endParaRPr sz="2400">
              <a:latin typeface="Microsoft JhengHei"/>
              <a:cs typeface="Microsoft JhengHei"/>
            </a:endParaRPr>
          </a:p>
          <a:p>
            <a:pPr marL="299085" indent="-286385">
              <a:lnSpc>
                <a:spcPct val="100000"/>
              </a:lnSpc>
              <a:spcBef>
                <a:spcPts val="1995"/>
              </a:spcBef>
              <a:buFont typeface="Arial MT"/>
              <a:buChar char="•"/>
              <a:tabLst>
                <a:tab pos="299085" algn="l"/>
              </a:tabLst>
            </a:pPr>
            <a:r>
              <a:rPr sz="1800" spc="-5" dirty="0">
                <a:solidFill>
                  <a:srgbClr val="404040"/>
                </a:solidFill>
                <a:latin typeface="Microsoft JhengHei"/>
                <a:cs typeface="Microsoft JhengHei"/>
              </a:rPr>
              <a:t>根據情境和特性動態調整內容</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程度適應：調整語言複雜度頻率</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對話連貫：自然延續先前交流</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情緒感知：察覺困惑適時調整</a:t>
            </a:r>
            <a:endParaRPr sz="1800">
              <a:latin typeface="Microsoft JhengHei"/>
              <a:cs typeface="Microsoft JhengHei"/>
            </a:endParaRPr>
          </a:p>
        </p:txBody>
      </p:sp>
      <p:sp>
        <p:nvSpPr>
          <p:cNvPr id="7" name="object 7"/>
          <p:cNvSpPr txBox="1"/>
          <p:nvPr/>
        </p:nvSpPr>
        <p:spPr>
          <a:xfrm>
            <a:off x="832205" y="1601800"/>
            <a:ext cx="3741420" cy="1687830"/>
          </a:xfrm>
          <a:prstGeom prst="rect">
            <a:avLst/>
          </a:prstGeom>
        </p:spPr>
        <p:txBody>
          <a:bodyPr vert="horz" wrap="square" lIns="0" tIns="12700" rIns="0" bIns="0" rtlCol="0">
            <a:spAutoFit/>
          </a:bodyPr>
          <a:lstStyle/>
          <a:p>
            <a:pPr marL="790575">
              <a:lnSpc>
                <a:spcPct val="100000"/>
              </a:lnSpc>
              <a:spcBef>
                <a:spcPts val="100"/>
              </a:spcBef>
            </a:pPr>
            <a:r>
              <a:rPr sz="2400" b="1" spc="-20" dirty="0">
                <a:latin typeface="Microsoft JhengHei"/>
                <a:cs typeface="Microsoft JhengHei"/>
              </a:rPr>
              <a:t>教育導向原則</a:t>
            </a:r>
            <a:endParaRPr sz="2400">
              <a:latin typeface="Microsoft JhengHei"/>
              <a:cs typeface="Microsoft JhengHei"/>
            </a:endParaRPr>
          </a:p>
          <a:p>
            <a:pPr marL="299085" indent="-286385">
              <a:lnSpc>
                <a:spcPct val="100000"/>
              </a:lnSpc>
              <a:spcBef>
                <a:spcPts val="1565"/>
              </a:spcBef>
              <a:buFont typeface="Arial MT"/>
              <a:buChar char="•"/>
              <a:tabLst>
                <a:tab pos="299085" algn="l"/>
              </a:tabLst>
            </a:pPr>
            <a:r>
              <a:rPr sz="1800" spc="-5" dirty="0">
                <a:latin typeface="Microsoft JhengHei"/>
                <a:cs typeface="Microsoft JhengHei"/>
              </a:rPr>
              <a:t>以促進英語能力發展為核心目標</a:t>
            </a:r>
            <a:endParaRPr sz="1800">
              <a:latin typeface="Microsoft JhengHei"/>
              <a:cs typeface="Microsoft JhengHei"/>
            </a:endParaRPr>
          </a:p>
          <a:p>
            <a:pPr marL="299085" indent="-286385">
              <a:lnSpc>
                <a:spcPct val="100000"/>
              </a:lnSpc>
              <a:buFont typeface="Arial MT"/>
              <a:buChar char="•"/>
              <a:tabLst>
                <a:tab pos="299085" algn="l"/>
              </a:tabLst>
            </a:pPr>
            <a:r>
              <a:rPr sz="1800" spc="-5" dirty="0">
                <a:latin typeface="Microsoft JhengHei"/>
                <a:cs typeface="Microsoft JhengHei"/>
              </a:rPr>
              <a:t>明確學習目標：會話、詞彙、語調</a:t>
            </a:r>
            <a:endParaRPr sz="1800">
              <a:latin typeface="Microsoft JhengHei"/>
              <a:cs typeface="Microsoft JhengHei"/>
            </a:endParaRPr>
          </a:p>
          <a:p>
            <a:pPr marL="299085" indent="-286385">
              <a:lnSpc>
                <a:spcPct val="100000"/>
              </a:lnSpc>
              <a:buFont typeface="Arial MT"/>
              <a:buChar char="•"/>
              <a:tabLst>
                <a:tab pos="299085" algn="l"/>
              </a:tabLst>
            </a:pPr>
            <a:r>
              <a:rPr sz="1800" spc="-5" dirty="0">
                <a:latin typeface="Microsoft JhengHei"/>
                <a:cs typeface="Microsoft JhengHei"/>
              </a:rPr>
              <a:t>階梯式學習：提供適當挑戰難度</a:t>
            </a:r>
            <a:endParaRPr sz="1800">
              <a:latin typeface="Microsoft JhengHei"/>
              <a:cs typeface="Microsoft JhengHei"/>
            </a:endParaRPr>
          </a:p>
          <a:p>
            <a:pPr marL="299085" indent="-286385">
              <a:lnSpc>
                <a:spcPct val="100000"/>
              </a:lnSpc>
              <a:buFont typeface="Arial MT"/>
              <a:buChar char="•"/>
              <a:tabLst>
                <a:tab pos="299085" algn="l"/>
              </a:tabLst>
            </a:pPr>
            <a:r>
              <a:rPr sz="1800" spc="-5" dirty="0">
                <a:latin typeface="Microsoft JhengHei"/>
                <a:cs typeface="Microsoft JhengHei"/>
              </a:rPr>
              <a:t>維持學習動機：融入鼓勵積極反饋</a:t>
            </a:r>
            <a:endParaRPr sz="1800">
              <a:latin typeface="Microsoft JhengHei"/>
              <a:cs typeface="Microsoft JhengHe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object 2">
            <a:extLst>
              <a:ext uri="{FF2B5EF4-FFF2-40B4-BE49-F238E27FC236}">
                <a16:creationId xmlns:a16="http://schemas.microsoft.com/office/drawing/2014/main" id="{7DEF0D32-4EC8-7B37-6A9A-4A0F80E8E3E9}"/>
              </a:ext>
            </a:extLst>
          </p:cNvPr>
          <p:cNvGrpSpPr/>
          <p:nvPr/>
        </p:nvGrpSpPr>
        <p:grpSpPr>
          <a:xfrm>
            <a:off x="5882640" y="2237232"/>
            <a:ext cx="2396490" cy="2741930"/>
            <a:chOff x="5882640" y="2237232"/>
            <a:chExt cx="2396490" cy="2741930"/>
          </a:xfrm>
        </p:grpSpPr>
        <p:pic>
          <p:nvPicPr>
            <p:cNvPr id="99" name="object 3">
              <a:extLst>
                <a:ext uri="{FF2B5EF4-FFF2-40B4-BE49-F238E27FC236}">
                  <a16:creationId xmlns:a16="http://schemas.microsoft.com/office/drawing/2014/main" id="{8833CD99-46DB-4878-5B26-B6794D1C6F6A}"/>
                </a:ext>
              </a:extLst>
            </p:cNvPr>
            <p:cNvPicPr/>
            <p:nvPr/>
          </p:nvPicPr>
          <p:blipFill>
            <a:blip r:embed="rId3" cstate="print"/>
            <a:stretch>
              <a:fillRect/>
            </a:stretch>
          </p:blipFill>
          <p:spPr>
            <a:xfrm>
              <a:off x="5882640" y="2237232"/>
              <a:ext cx="2396363" cy="2620391"/>
            </a:xfrm>
            <a:prstGeom prst="rect">
              <a:avLst/>
            </a:prstGeom>
          </p:spPr>
        </p:pic>
        <p:sp>
          <p:nvSpPr>
            <p:cNvPr id="100" name="object 4">
              <a:extLst>
                <a:ext uri="{FF2B5EF4-FFF2-40B4-BE49-F238E27FC236}">
                  <a16:creationId xmlns:a16="http://schemas.microsoft.com/office/drawing/2014/main" id="{346756F2-47DE-835C-4521-15F6A81A5047}"/>
                </a:ext>
              </a:extLst>
            </p:cNvPr>
            <p:cNvSpPr/>
            <p:nvPr/>
          </p:nvSpPr>
          <p:spPr>
            <a:xfrm>
              <a:off x="6381750" y="2735706"/>
              <a:ext cx="1415415" cy="2243455"/>
            </a:xfrm>
            <a:custGeom>
              <a:avLst/>
              <a:gdLst/>
              <a:ahLst/>
              <a:cxnLst/>
              <a:rect l="l" t="t" r="r" b="b"/>
              <a:pathLst>
                <a:path w="1415415" h="2243454">
                  <a:moveTo>
                    <a:pt x="996188" y="2137283"/>
                  </a:moveTo>
                  <a:lnTo>
                    <a:pt x="418973" y="2137283"/>
                  </a:lnTo>
                  <a:lnTo>
                    <a:pt x="459498" y="2168233"/>
                  </a:lnTo>
                  <a:lnTo>
                    <a:pt x="503605" y="2194293"/>
                  </a:lnTo>
                  <a:lnTo>
                    <a:pt x="550875" y="2215134"/>
                  </a:lnTo>
                  <a:lnTo>
                    <a:pt x="600900" y="2230437"/>
                  </a:lnTo>
                  <a:lnTo>
                    <a:pt x="653300" y="2239861"/>
                  </a:lnTo>
                  <a:lnTo>
                    <a:pt x="707644" y="2243074"/>
                  </a:lnTo>
                  <a:lnTo>
                    <a:pt x="761923" y="2239861"/>
                  </a:lnTo>
                  <a:lnTo>
                    <a:pt x="814285" y="2230437"/>
                  </a:lnTo>
                  <a:lnTo>
                    <a:pt x="864298" y="2215146"/>
                  </a:lnTo>
                  <a:lnTo>
                    <a:pt x="911555" y="2194293"/>
                  </a:lnTo>
                  <a:lnTo>
                    <a:pt x="955649" y="2168233"/>
                  </a:lnTo>
                  <a:lnTo>
                    <a:pt x="996188" y="2137283"/>
                  </a:lnTo>
                  <a:close/>
                </a:path>
                <a:path w="1415415" h="2243454">
                  <a:moveTo>
                    <a:pt x="1061339" y="2002282"/>
                  </a:moveTo>
                  <a:lnTo>
                    <a:pt x="1055204" y="1971865"/>
                  </a:lnTo>
                  <a:lnTo>
                    <a:pt x="1038479" y="1947037"/>
                  </a:lnTo>
                  <a:lnTo>
                    <a:pt x="1013650" y="1930311"/>
                  </a:lnTo>
                  <a:lnTo>
                    <a:pt x="983234" y="1924177"/>
                  </a:lnTo>
                  <a:lnTo>
                    <a:pt x="431927" y="1924177"/>
                  </a:lnTo>
                  <a:lnTo>
                    <a:pt x="401497" y="1930311"/>
                  </a:lnTo>
                  <a:lnTo>
                    <a:pt x="376682" y="1947037"/>
                  </a:lnTo>
                  <a:lnTo>
                    <a:pt x="359943" y="1971865"/>
                  </a:lnTo>
                  <a:lnTo>
                    <a:pt x="353822" y="2002282"/>
                  </a:lnTo>
                  <a:lnTo>
                    <a:pt x="359943" y="2032711"/>
                  </a:lnTo>
                  <a:lnTo>
                    <a:pt x="376682" y="2057539"/>
                  </a:lnTo>
                  <a:lnTo>
                    <a:pt x="401497" y="2074265"/>
                  </a:lnTo>
                  <a:lnTo>
                    <a:pt x="431927" y="2080387"/>
                  </a:lnTo>
                  <a:lnTo>
                    <a:pt x="983234" y="2080387"/>
                  </a:lnTo>
                  <a:lnTo>
                    <a:pt x="1013650" y="2074265"/>
                  </a:lnTo>
                  <a:lnTo>
                    <a:pt x="1038479" y="2057539"/>
                  </a:lnTo>
                  <a:lnTo>
                    <a:pt x="1055204" y="2032711"/>
                  </a:lnTo>
                  <a:lnTo>
                    <a:pt x="1061339" y="2002282"/>
                  </a:lnTo>
                  <a:close/>
                </a:path>
                <a:path w="1415415" h="2243454">
                  <a:moveTo>
                    <a:pt x="1061339" y="1789303"/>
                  </a:moveTo>
                  <a:lnTo>
                    <a:pt x="1055204" y="1758886"/>
                  </a:lnTo>
                  <a:lnTo>
                    <a:pt x="1038479" y="1734058"/>
                  </a:lnTo>
                  <a:lnTo>
                    <a:pt x="1013650" y="1717332"/>
                  </a:lnTo>
                  <a:lnTo>
                    <a:pt x="983234" y="1711198"/>
                  </a:lnTo>
                  <a:lnTo>
                    <a:pt x="431927" y="1711198"/>
                  </a:lnTo>
                  <a:lnTo>
                    <a:pt x="401497" y="1717332"/>
                  </a:lnTo>
                  <a:lnTo>
                    <a:pt x="376682" y="1734058"/>
                  </a:lnTo>
                  <a:lnTo>
                    <a:pt x="359943" y="1758886"/>
                  </a:lnTo>
                  <a:lnTo>
                    <a:pt x="353822" y="1789303"/>
                  </a:lnTo>
                  <a:lnTo>
                    <a:pt x="359943" y="1819681"/>
                  </a:lnTo>
                  <a:lnTo>
                    <a:pt x="376682" y="1844509"/>
                  </a:lnTo>
                  <a:lnTo>
                    <a:pt x="401497" y="1861261"/>
                  </a:lnTo>
                  <a:lnTo>
                    <a:pt x="431927" y="1867408"/>
                  </a:lnTo>
                  <a:lnTo>
                    <a:pt x="983234" y="1867408"/>
                  </a:lnTo>
                  <a:lnTo>
                    <a:pt x="1013650" y="1861261"/>
                  </a:lnTo>
                  <a:lnTo>
                    <a:pt x="1038479" y="1844509"/>
                  </a:lnTo>
                  <a:lnTo>
                    <a:pt x="1055204" y="1819681"/>
                  </a:lnTo>
                  <a:lnTo>
                    <a:pt x="1061339" y="1789303"/>
                  </a:lnTo>
                  <a:close/>
                </a:path>
                <a:path w="1415415" h="2243454">
                  <a:moveTo>
                    <a:pt x="1415161" y="702945"/>
                  </a:moveTo>
                  <a:lnTo>
                    <a:pt x="1413522" y="654824"/>
                  </a:lnTo>
                  <a:lnTo>
                    <a:pt x="1408696" y="607568"/>
                  </a:lnTo>
                  <a:lnTo>
                    <a:pt x="1400784" y="561276"/>
                  </a:lnTo>
                  <a:lnTo>
                    <a:pt x="1389888" y="516077"/>
                  </a:lnTo>
                  <a:lnTo>
                    <a:pt x="1376108" y="472059"/>
                  </a:lnTo>
                  <a:lnTo>
                    <a:pt x="1359560" y="429323"/>
                  </a:lnTo>
                  <a:lnTo>
                    <a:pt x="1340345" y="387997"/>
                  </a:lnTo>
                  <a:lnTo>
                    <a:pt x="1318564" y="348157"/>
                  </a:lnTo>
                  <a:lnTo>
                    <a:pt x="1294333" y="309918"/>
                  </a:lnTo>
                  <a:lnTo>
                    <a:pt x="1267739" y="273392"/>
                  </a:lnTo>
                  <a:lnTo>
                    <a:pt x="1238910" y="238683"/>
                  </a:lnTo>
                  <a:lnTo>
                    <a:pt x="1207935" y="205892"/>
                  </a:lnTo>
                  <a:lnTo>
                    <a:pt x="1174927" y="175120"/>
                  </a:lnTo>
                  <a:lnTo>
                    <a:pt x="1139990" y="146469"/>
                  </a:lnTo>
                  <a:lnTo>
                    <a:pt x="1103223" y="120053"/>
                  </a:lnTo>
                  <a:lnTo>
                    <a:pt x="1064742" y="95973"/>
                  </a:lnTo>
                  <a:lnTo>
                    <a:pt x="1024648" y="74333"/>
                  </a:lnTo>
                  <a:lnTo>
                    <a:pt x="983043" y="55245"/>
                  </a:lnTo>
                  <a:lnTo>
                    <a:pt x="940041" y="38798"/>
                  </a:lnTo>
                  <a:lnTo>
                    <a:pt x="895731" y="25120"/>
                  </a:lnTo>
                  <a:lnTo>
                    <a:pt x="850239" y="14287"/>
                  </a:lnTo>
                  <a:lnTo>
                    <a:pt x="803643" y="6426"/>
                  </a:lnTo>
                  <a:lnTo>
                    <a:pt x="756081" y="1625"/>
                  </a:lnTo>
                  <a:lnTo>
                    <a:pt x="707644" y="0"/>
                  </a:lnTo>
                  <a:lnTo>
                    <a:pt x="659180" y="1625"/>
                  </a:lnTo>
                  <a:lnTo>
                    <a:pt x="611593" y="6426"/>
                  </a:lnTo>
                  <a:lnTo>
                    <a:pt x="564997" y="14287"/>
                  </a:lnTo>
                  <a:lnTo>
                    <a:pt x="519493" y="25120"/>
                  </a:lnTo>
                  <a:lnTo>
                    <a:pt x="475170" y="38798"/>
                  </a:lnTo>
                  <a:lnTo>
                    <a:pt x="432155" y="55245"/>
                  </a:lnTo>
                  <a:lnTo>
                    <a:pt x="390537" y="74333"/>
                  </a:lnTo>
                  <a:lnTo>
                    <a:pt x="350443" y="95973"/>
                  </a:lnTo>
                  <a:lnTo>
                    <a:pt x="311950" y="120053"/>
                  </a:lnTo>
                  <a:lnTo>
                    <a:pt x="275183" y="146469"/>
                  </a:lnTo>
                  <a:lnTo>
                    <a:pt x="240233" y="175120"/>
                  </a:lnTo>
                  <a:lnTo>
                    <a:pt x="207225" y="205892"/>
                  </a:lnTo>
                  <a:lnTo>
                    <a:pt x="176250" y="238683"/>
                  </a:lnTo>
                  <a:lnTo>
                    <a:pt x="147408" y="273392"/>
                  </a:lnTo>
                  <a:lnTo>
                    <a:pt x="120827" y="309918"/>
                  </a:lnTo>
                  <a:lnTo>
                    <a:pt x="96583" y="348157"/>
                  </a:lnTo>
                  <a:lnTo>
                    <a:pt x="74803" y="387997"/>
                  </a:lnTo>
                  <a:lnTo>
                    <a:pt x="55587" y="429323"/>
                  </a:lnTo>
                  <a:lnTo>
                    <a:pt x="39039" y="472059"/>
                  </a:lnTo>
                  <a:lnTo>
                    <a:pt x="25260" y="516077"/>
                  </a:lnTo>
                  <a:lnTo>
                    <a:pt x="14363" y="561276"/>
                  </a:lnTo>
                  <a:lnTo>
                    <a:pt x="6451" y="607568"/>
                  </a:lnTo>
                  <a:lnTo>
                    <a:pt x="1625" y="654824"/>
                  </a:lnTo>
                  <a:lnTo>
                    <a:pt x="0" y="702945"/>
                  </a:lnTo>
                  <a:lnTo>
                    <a:pt x="1816" y="753770"/>
                  </a:lnTo>
                  <a:lnTo>
                    <a:pt x="7200" y="803592"/>
                  </a:lnTo>
                  <a:lnTo>
                    <a:pt x="16052" y="852297"/>
                  </a:lnTo>
                  <a:lnTo>
                    <a:pt x="28232" y="899756"/>
                  </a:lnTo>
                  <a:lnTo>
                    <a:pt x="43662" y="945832"/>
                  </a:lnTo>
                  <a:lnTo>
                    <a:pt x="62217" y="990396"/>
                  </a:lnTo>
                  <a:lnTo>
                    <a:pt x="83781" y="1033310"/>
                  </a:lnTo>
                  <a:lnTo>
                    <a:pt x="108242" y="1074445"/>
                  </a:lnTo>
                  <a:lnTo>
                    <a:pt x="135496" y="1113663"/>
                  </a:lnTo>
                  <a:lnTo>
                    <a:pt x="133350" y="1113663"/>
                  </a:lnTo>
                  <a:lnTo>
                    <a:pt x="160858" y="1148092"/>
                  </a:lnTo>
                  <a:lnTo>
                    <a:pt x="187299" y="1184452"/>
                  </a:lnTo>
                  <a:lnTo>
                    <a:pt x="212623" y="1222679"/>
                  </a:lnTo>
                  <a:lnTo>
                    <a:pt x="236778" y="1262710"/>
                  </a:lnTo>
                  <a:lnTo>
                    <a:pt x="259715" y="1304480"/>
                  </a:lnTo>
                  <a:lnTo>
                    <a:pt x="281393" y="1347914"/>
                  </a:lnTo>
                  <a:lnTo>
                    <a:pt x="301764" y="1392974"/>
                  </a:lnTo>
                  <a:lnTo>
                    <a:pt x="320789" y="1439570"/>
                  </a:lnTo>
                  <a:lnTo>
                    <a:pt x="338404" y="1487639"/>
                  </a:lnTo>
                  <a:lnTo>
                    <a:pt x="354571" y="1537131"/>
                  </a:lnTo>
                  <a:lnTo>
                    <a:pt x="369252" y="1587969"/>
                  </a:lnTo>
                  <a:lnTo>
                    <a:pt x="382397" y="1640078"/>
                  </a:lnTo>
                  <a:lnTo>
                    <a:pt x="1032764" y="1640078"/>
                  </a:lnTo>
                  <a:lnTo>
                    <a:pt x="1045895" y="1587969"/>
                  </a:lnTo>
                  <a:lnTo>
                    <a:pt x="1060577" y="1537131"/>
                  </a:lnTo>
                  <a:lnTo>
                    <a:pt x="1076744" y="1487639"/>
                  </a:lnTo>
                  <a:lnTo>
                    <a:pt x="1094359" y="1439570"/>
                  </a:lnTo>
                  <a:lnTo>
                    <a:pt x="1113383" y="1392974"/>
                  </a:lnTo>
                  <a:lnTo>
                    <a:pt x="1133754" y="1347914"/>
                  </a:lnTo>
                  <a:lnTo>
                    <a:pt x="1155433" y="1304480"/>
                  </a:lnTo>
                  <a:lnTo>
                    <a:pt x="1178369" y="1262710"/>
                  </a:lnTo>
                  <a:lnTo>
                    <a:pt x="1202524" y="1222679"/>
                  </a:lnTo>
                  <a:lnTo>
                    <a:pt x="1227848" y="1184452"/>
                  </a:lnTo>
                  <a:lnTo>
                    <a:pt x="1254290" y="1148092"/>
                  </a:lnTo>
                  <a:lnTo>
                    <a:pt x="1281811" y="1113663"/>
                  </a:lnTo>
                  <a:lnTo>
                    <a:pt x="1279652" y="1113663"/>
                  </a:lnTo>
                  <a:lnTo>
                    <a:pt x="1306906" y="1074445"/>
                  </a:lnTo>
                  <a:lnTo>
                    <a:pt x="1331366" y="1033310"/>
                  </a:lnTo>
                  <a:lnTo>
                    <a:pt x="1352931" y="990396"/>
                  </a:lnTo>
                  <a:lnTo>
                    <a:pt x="1371485" y="945832"/>
                  </a:lnTo>
                  <a:lnTo>
                    <a:pt x="1386916" y="899756"/>
                  </a:lnTo>
                  <a:lnTo>
                    <a:pt x="1399095" y="852297"/>
                  </a:lnTo>
                  <a:lnTo>
                    <a:pt x="1407947" y="803592"/>
                  </a:lnTo>
                  <a:lnTo>
                    <a:pt x="1413332" y="753770"/>
                  </a:lnTo>
                  <a:lnTo>
                    <a:pt x="1415161" y="702945"/>
                  </a:lnTo>
                  <a:close/>
                </a:path>
              </a:pathLst>
            </a:custGeom>
            <a:solidFill>
              <a:srgbClr val="FFC000"/>
            </a:solidFill>
          </p:spPr>
          <p:txBody>
            <a:bodyPr wrap="square" lIns="0" tIns="0" rIns="0" bIns="0" rtlCol="0"/>
            <a:lstStyle/>
            <a:p>
              <a:endParaRPr/>
            </a:p>
          </p:txBody>
        </p:sp>
      </p:grpSp>
      <p:sp>
        <p:nvSpPr>
          <p:cNvPr id="101" name="object 5">
            <a:extLst>
              <a:ext uri="{FF2B5EF4-FFF2-40B4-BE49-F238E27FC236}">
                <a16:creationId xmlns:a16="http://schemas.microsoft.com/office/drawing/2014/main" id="{9F01A65F-F017-D6A1-4F53-804ED57FF0C1}"/>
              </a:ext>
            </a:extLst>
          </p:cNvPr>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102" name="object 6">
            <a:extLst>
              <a:ext uri="{FF2B5EF4-FFF2-40B4-BE49-F238E27FC236}">
                <a16:creationId xmlns:a16="http://schemas.microsoft.com/office/drawing/2014/main" id="{854BD4A6-7735-B598-6ABE-2E8255137CD5}"/>
              </a:ext>
            </a:extLst>
          </p:cNvPr>
          <p:cNvSpPr/>
          <p:nvPr/>
        </p:nvSpPr>
        <p:spPr>
          <a:xfrm>
            <a:off x="8421369" y="4248150"/>
            <a:ext cx="798830" cy="798830"/>
          </a:xfrm>
          <a:custGeom>
            <a:avLst/>
            <a:gdLst/>
            <a:ahLst/>
            <a:cxnLst/>
            <a:rect l="l" t="t" r="r" b="b"/>
            <a:pathLst>
              <a:path w="798829" h="798829">
                <a:moveTo>
                  <a:pt x="399414" y="0"/>
                </a:moveTo>
                <a:lnTo>
                  <a:pt x="352833" y="2686"/>
                </a:lnTo>
                <a:lnTo>
                  <a:pt x="307830" y="10548"/>
                </a:lnTo>
                <a:lnTo>
                  <a:pt x="264705" y="23283"/>
                </a:lnTo>
                <a:lnTo>
                  <a:pt x="223758" y="40592"/>
                </a:lnTo>
                <a:lnTo>
                  <a:pt x="185289" y="62176"/>
                </a:lnTo>
                <a:lnTo>
                  <a:pt x="149597" y="87734"/>
                </a:lnTo>
                <a:lnTo>
                  <a:pt x="116982" y="116966"/>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31"/>
                </a:lnTo>
                <a:lnTo>
                  <a:pt x="788154" y="307750"/>
                </a:lnTo>
                <a:lnTo>
                  <a:pt x="775419" y="264643"/>
                </a:lnTo>
                <a:lnTo>
                  <a:pt x="758110" y="223712"/>
                </a:lnTo>
                <a:lnTo>
                  <a:pt x="736526" y="185255"/>
                </a:lnTo>
                <a:lnTo>
                  <a:pt x="710968" y="149574"/>
                </a:lnTo>
                <a:lnTo>
                  <a:pt x="681736" y="116967"/>
                </a:lnTo>
                <a:lnTo>
                  <a:pt x="649128" y="87734"/>
                </a:lnTo>
                <a:lnTo>
                  <a:pt x="613447" y="62176"/>
                </a:lnTo>
                <a:lnTo>
                  <a:pt x="574990" y="40592"/>
                </a:lnTo>
                <a:lnTo>
                  <a:pt x="534059" y="23283"/>
                </a:lnTo>
                <a:lnTo>
                  <a:pt x="490952" y="10548"/>
                </a:lnTo>
                <a:lnTo>
                  <a:pt x="445971" y="2686"/>
                </a:lnTo>
                <a:lnTo>
                  <a:pt x="399414" y="0"/>
                </a:lnTo>
                <a:close/>
              </a:path>
            </a:pathLst>
          </a:custGeom>
          <a:solidFill>
            <a:srgbClr val="EC7C30"/>
          </a:solidFill>
        </p:spPr>
        <p:txBody>
          <a:bodyPr wrap="square" lIns="0" tIns="0" rIns="0" bIns="0" rtlCol="0"/>
          <a:lstStyle/>
          <a:p>
            <a:endParaRPr/>
          </a:p>
        </p:txBody>
      </p:sp>
      <p:sp>
        <p:nvSpPr>
          <p:cNvPr id="103" name="object 7">
            <a:extLst>
              <a:ext uri="{FF2B5EF4-FFF2-40B4-BE49-F238E27FC236}">
                <a16:creationId xmlns:a16="http://schemas.microsoft.com/office/drawing/2014/main" id="{90181C76-0985-C359-818C-5ABB820EBBE3}"/>
              </a:ext>
            </a:extLst>
          </p:cNvPr>
          <p:cNvSpPr/>
          <p:nvPr/>
        </p:nvSpPr>
        <p:spPr>
          <a:xfrm>
            <a:off x="4991227" y="6318377"/>
            <a:ext cx="798830" cy="798830"/>
          </a:xfrm>
          <a:custGeom>
            <a:avLst/>
            <a:gdLst/>
            <a:ahLst/>
            <a:cxnLst/>
            <a:rect l="l" t="t" r="r" b="b"/>
            <a:pathLst>
              <a:path w="798829" h="798829">
                <a:moveTo>
                  <a:pt x="399414" y="0"/>
                </a:moveTo>
                <a:lnTo>
                  <a:pt x="352833" y="2687"/>
                </a:lnTo>
                <a:lnTo>
                  <a:pt x="307830" y="10548"/>
                </a:lnTo>
                <a:lnTo>
                  <a:pt x="264705" y="23284"/>
                </a:lnTo>
                <a:lnTo>
                  <a:pt x="223758" y="40595"/>
                </a:lnTo>
                <a:lnTo>
                  <a:pt x="185289" y="62182"/>
                </a:lnTo>
                <a:lnTo>
                  <a:pt x="149597" y="87744"/>
                </a:lnTo>
                <a:lnTo>
                  <a:pt x="116982" y="116982"/>
                </a:lnTo>
                <a:lnTo>
                  <a:pt x="87744" y="149597"/>
                </a:lnTo>
                <a:lnTo>
                  <a:pt x="62182" y="185289"/>
                </a:lnTo>
                <a:lnTo>
                  <a:pt x="40595" y="223758"/>
                </a:lnTo>
                <a:lnTo>
                  <a:pt x="23284" y="264705"/>
                </a:lnTo>
                <a:lnTo>
                  <a:pt x="10548" y="307830"/>
                </a:lnTo>
                <a:lnTo>
                  <a:pt x="2687" y="352833"/>
                </a:lnTo>
                <a:lnTo>
                  <a:pt x="0" y="399415"/>
                </a:lnTo>
                <a:lnTo>
                  <a:pt x="2687" y="445971"/>
                </a:lnTo>
                <a:lnTo>
                  <a:pt x="10548" y="490954"/>
                </a:lnTo>
                <a:lnTo>
                  <a:pt x="23284" y="534063"/>
                </a:lnTo>
                <a:lnTo>
                  <a:pt x="40595" y="574998"/>
                </a:lnTo>
                <a:lnTo>
                  <a:pt x="62182" y="613458"/>
                </a:lnTo>
                <a:lnTo>
                  <a:pt x="87744" y="649143"/>
                </a:lnTo>
                <a:lnTo>
                  <a:pt x="116982" y="681755"/>
                </a:lnTo>
                <a:lnTo>
                  <a:pt x="149597" y="710991"/>
                </a:lnTo>
                <a:lnTo>
                  <a:pt x="185289" y="736553"/>
                </a:lnTo>
                <a:lnTo>
                  <a:pt x="223758" y="758140"/>
                </a:lnTo>
                <a:lnTo>
                  <a:pt x="264705" y="775453"/>
                </a:lnTo>
                <a:lnTo>
                  <a:pt x="307830" y="788190"/>
                </a:lnTo>
                <a:lnTo>
                  <a:pt x="352833" y="796053"/>
                </a:lnTo>
                <a:lnTo>
                  <a:pt x="399414" y="798741"/>
                </a:lnTo>
                <a:lnTo>
                  <a:pt x="445971" y="796053"/>
                </a:lnTo>
                <a:lnTo>
                  <a:pt x="490952" y="788190"/>
                </a:lnTo>
                <a:lnTo>
                  <a:pt x="534059" y="775453"/>
                </a:lnTo>
                <a:lnTo>
                  <a:pt x="574990" y="758140"/>
                </a:lnTo>
                <a:lnTo>
                  <a:pt x="613447" y="736553"/>
                </a:lnTo>
                <a:lnTo>
                  <a:pt x="649128" y="710991"/>
                </a:lnTo>
                <a:lnTo>
                  <a:pt x="681735" y="681755"/>
                </a:lnTo>
                <a:lnTo>
                  <a:pt x="710968" y="649143"/>
                </a:lnTo>
                <a:lnTo>
                  <a:pt x="736526" y="613458"/>
                </a:lnTo>
                <a:lnTo>
                  <a:pt x="758110" y="574998"/>
                </a:lnTo>
                <a:lnTo>
                  <a:pt x="775419" y="534063"/>
                </a:lnTo>
                <a:lnTo>
                  <a:pt x="788154" y="490954"/>
                </a:lnTo>
                <a:lnTo>
                  <a:pt x="796016" y="445971"/>
                </a:lnTo>
                <a:lnTo>
                  <a:pt x="798702" y="399415"/>
                </a:lnTo>
                <a:lnTo>
                  <a:pt x="796016" y="352833"/>
                </a:lnTo>
                <a:lnTo>
                  <a:pt x="788154" y="307830"/>
                </a:lnTo>
                <a:lnTo>
                  <a:pt x="775419" y="264705"/>
                </a:lnTo>
                <a:lnTo>
                  <a:pt x="758110" y="223758"/>
                </a:lnTo>
                <a:lnTo>
                  <a:pt x="736526" y="185289"/>
                </a:lnTo>
                <a:lnTo>
                  <a:pt x="710968" y="149597"/>
                </a:lnTo>
                <a:lnTo>
                  <a:pt x="681736" y="116982"/>
                </a:lnTo>
                <a:lnTo>
                  <a:pt x="649128" y="87744"/>
                </a:lnTo>
                <a:lnTo>
                  <a:pt x="613447" y="62182"/>
                </a:lnTo>
                <a:lnTo>
                  <a:pt x="574990" y="40595"/>
                </a:lnTo>
                <a:lnTo>
                  <a:pt x="534059" y="23284"/>
                </a:lnTo>
                <a:lnTo>
                  <a:pt x="490952" y="10548"/>
                </a:lnTo>
                <a:lnTo>
                  <a:pt x="445971" y="2687"/>
                </a:lnTo>
                <a:lnTo>
                  <a:pt x="399414" y="0"/>
                </a:lnTo>
                <a:close/>
              </a:path>
            </a:pathLst>
          </a:custGeom>
          <a:solidFill>
            <a:srgbClr val="4471C4"/>
          </a:solidFill>
        </p:spPr>
        <p:txBody>
          <a:bodyPr wrap="square" lIns="0" tIns="0" rIns="0" bIns="0" rtlCol="0"/>
          <a:lstStyle/>
          <a:p>
            <a:endParaRPr/>
          </a:p>
        </p:txBody>
      </p:sp>
      <p:sp>
        <p:nvSpPr>
          <p:cNvPr id="104" name="object 8">
            <a:extLst>
              <a:ext uri="{FF2B5EF4-FFF2-40B4-BE49-F238E27FC236}">
                <a16:creationId xmlns:a16="http://schemas.microsoft.com/office/drawing/2014/main" id="{C3DA3B35-73E7-A804-146F-AEC20DBEC592}"/>
              </a:ext>
            </a:extLst>
          </p:cNvPr>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105" name="object 9">
            <a:extLst>
              <a:ext uri="{FF2B5EF4-FFF2-40B4-BE49-F238E27FC236}">
                <a16:creationId xmlns:a16="http://schemas.microsoft.com/office/drawing/2014/main" id="{11F3D6FF-789A-1F1F-385D-CFC3524129D6}"/>
              </a:ext>
            </a:extLst>
          </p:cNvPr>
          <p:cNvGrpSpPr/>
          <p:nvPr/>
        </p:nvGrpSpPr>
        <p:grpSpPr>
          <a:xfrm>
            <a:off x="5282946" y="4279900"/>
            <a:ext cx="798830" cy="798830"/>
            <a:chOff x="5282946" y="4279900"/>
            <a:chExt cx="798830" cy="798830"/>
          </a:xfrm>
        </p:grpSpPr>
        <p:sp>
          <p:nvSpPr>
            <p:cNvPr id="106" name="object 10">
              <a:extLst>
                <a:ext uri="{FF2B5EF4-FFF2-40B4-BE49-F238E27FC236}">
                  <a16:creationId xmlns:a16="http://schemas.microsoft.com/office/drawing/2014/main" id="{C7EC7CA3-49D8-A0A2-B8D9-2E282D41BFEF}"/>
                </a:ext>
              </a:extLst>
            </p:cNvPr>
            <p:cNvSpPr/>
            <p:nvPr/>
          </p:nvSpPr>
          <p:spPr>
            <a:xfrm>
              <a:off x="5282946" y="4279900"/>
              <a:ext cx="798830" cy="798830"/>
            </a:xfrm>
            <a:custGeom>
              <a:avLst/>
              <a:gdLst/>
              <a:ahLst/>
              <a:cxnLst/>
              <a:rect l="l" t="t" r="r" b="b"/>
              <a:pathLst>
                <a:path w="798829" h="798829">
                  <a:moveTo>
                    <a:pt x="399288" y="0"/>
                  </a:moveTo>
                  <a:lnTo>
                    <a:pt x="352731" y="2687"/>
                  </a:lnTo>
                  <a:lnTo>
                    <a:pt x="307750" y="10548"/>
                  </a:lnTo>
                  <a:lnTo>
                    <a:pt x="264643" y="23284"/>
                  </a:lnTo>
                  <a:lnTo>
                    <a:pt x="223712" y="40595"/>
                  </a:lnTo>
                  <a:lnTo>
                    <a:pt x="185255" y="62182"/>
                  </a:lnTo>
                  <a:lnTo>
                    <a:pt x="149574" y="87744"/>
                  </a:lnTo>
                  <a:lnTo>
                    <a:pt x="116966" y="116982"/>
                  </a:lnTo>
                  <a:lnTo>
                    <a:pt x="87734" y="149597"/>
                  </a:lnTo>
                  <a:lnTo>
                    <a:pt x="62176" y="185289"/>
                  </a:lnTo>
                  <a:lnTo>
                    <a:pt x="40592" y="223758"/>
                  </a:lnTo>
                  <a:lnTo>
                    <a:pt x="23283" y="264705"/>
                  </a:lnTo>
                  <a:lnTo>
                    <a:pt x="10548" y="307830"/>
                  </a:lnTo>
                  <a:lnTo>
                    <a:pt x="2686" y="352833"/>
                  </a:lnTo>
                  <a:lnTo>
                    <a:pt x="0" y="399414"/>
                  </a:lnTo>
                  <a:lnTo>
                    <a:pt x="2686" y="445971"/>
                  </a:lnTo>
                  <a:lnTo>
                    <a:pt x="10548" y="490952"/>
                  </a:lnTo>
                  <a:lnTo>
                    <a:pt x="23283" y="534059"/>
                  </a:lnTo>
                  <a:lnTo>
                    <a:pt x="40592" y="574990"/>
                  </a:lnTo>
                  <a:lnTo>
                    <a:pt x="62176" y="613447"/>
                  </a:lnTo>
                  <a:lnTo>
                    <a:pt x="87734" y="649128"/>
                  </a:lnTo>
                  <a:lnTo>
                    <a:pt x="116967" y="681735"/>
                  </a:lnTo>
                  <a:lnTo>
                    <a:pt x="149574" y="710968"/>
                  </a:lnTo>
                  <a:lnTo>
                    <a:pt x="185255" y="736526"/>
                  </a:lnTo>
                  <a:lnTo>
                    <a:pt x="223712" y="758110"/>
                  </a:lnTo>
                  <a:lnTo>
                    <a:pt x="264643" y="775419"/>
                  </a:lnTo>
                  <a:lnTo>
                    <a:pt x="307750" y="788154"/>
                  </a:lnTo>
                  <a:lnTo>
                    <a:pt x="352731" y="796016"/>
                  </a:lnTo>
                  <a:lnTo>
                    <a:pt x="399288" y="798702"/>
                  </a:lnTo>
                  <a:lnTo>
                    <a:pt x="445869" y="796016"/>
                  </a:lnTo>
                  <a:lnTo>
                    <a:pt x="490872" y="788154"/>
                  </a:lnTo>
                  <a:lnTo>
                    <a:pt x="533997" y="775419"/>
                  </a:lnTo>
                  <a:lnTo>
                    <a:pt x="574944" y="758110"/>
                  </a:lnTo>
                  <a:lnTo>
                    <a:pt x="613413" y="736526"/>
                  </a:lnTo>
                  <a:lnTo>
                    <a:pt x="649105" y="710968"/>
                  </a:lnTo>
                  <a:lnTo>
                    <a:pt x="681720" y="681736"/>
                  </a:lnTo>
                  <a:lnTo>
                    <a:pt x="710958" y="649128"/>
                  </a:lnTo>
                  <a:lnTo>
                    <a:pt x="736520" y="613447"/>
                  </a:lnTo>
                  <a:lnTo>
                    <a:pt x="758107" y="574990"/>
                  </a:lnTo>
                  <a:lnTo>
                    <a:pt x="775418" y="534059"/>
                  </a:lnTo>
                  <a:lnTo>
                    <a:pt x="788154" y="490952"/>
                  </a:lnTo>
                  <a:lnTo>
                    <a:pt x="796015" y="445971"/>
                  </a:lnTo>
                  <a:lnTo>
                    <a:pt x="798702" y="399414"/>
                  </a:lnTo>
                  <a:lnTo>
                    <a:pt x="796015" y="352833"/>
                  </a:lnTo>
                  <a:lnTo>
                    <a:pt x="788154" y="307830"/>
                  </a:lnTo>
                  <a:lnTo>
                    <a:pt x="775418" y="264705"/>
                  </a:lnTo>
                  <a:lnTo>
                    <a:pt x="758107" y="223758"/>
                  </a:lnTo>
                  <a:lnTo>
                    <a:pt x="736520" y="185289"/>
                  </a:lnTo>
                  <a:lnTo>
                    <a:pt x="710958" y="149597"/>
                  </a:lnTo>
                  <a:lnTo>
                    <a:pt x="681720" y="116982"/>
                  </a:lnTo>
                  <a:lnTo>
                    <a:pt x="649105" y="87744"/>
                  </a:lnTo>
                  <a:lnTo>
                    <a:pt x="613413" y="62182"/>
                  </a:lnTo>
                  <a:lnTo>
                    <a:pt x="574944" y="40595"/>
                  </a:lnTo>
                  <a:lnTo>
                    <a:pt x="533997" y="23284"/>
                  </a:lnTo>
                  <a:lnTo>
                    <a:pt x="490872" y="10548"/>
                  </a:lnTo>
                  <a:lnTo>
                    <a:pt x="445869" y="2687"/>
                  </a:lnTo>
                  <a:lnTo>
                    <a:pt x="399288" y="0"/>
                  </a:lnTo>
                  <a:close/>
                </a:path>
              </a:pathLst>
            </a:custGeom>
            <a:solidFill>
              <a:srgbClr val="EC7C30"/>
            </a:solidFill>
          </p:spPr>
          <p:txBody>
            <a:bodyPr wrap="square" lIns="0" tIns="0" rIns="0" bIns="0" rtlCol="0"/>
            <a:lstStyle/>
            <a:p>
              <a:endParaRPr dirty="0"/>
            </a:p>
          </p:txBody>
        </p:sp>
        <p:sp>
          <p:nvSpPr>
            <p:cNvPr id="107" name="object 11">
              <a:extLst>
                <a:ext uri="{FF2B5EF4-FFF2-40B4-BE49-F238E27FC236}">
                  <a16:creationId xmlns:a16="http://schemas.microsoft.com/office/drawing/2014/main" id="{72E7EA10-AFEB-BC9E-3AF4-F10D488D3DEC}"/>
                </a:ext>
              </a:extLst>
            </p:cNvPr>
            <p:cNvSpPr/>
            <p:nvPr/>
          </p:nvSpPr>
          <p:spPr>
            <a:xfrm>
              <a:off x="5524643" y="4550663"/>
              <a:ext cx="314960" cy="314960"/>
            </a:xfrm>
            <a:custGeom>
              <a:avLst/>
              <a:gdLst/>
              <a:ahLst/>
              <a:cxnLst/>
              <a:rect l="l" t="t" r="r" b="b"/>
              <a:pathLst>
                <a:path w="314960" h="314960">
                  <a:moveTo>
                    <a:pt x="157337" y="41401"/>
                  </a:moveTo>
                  <a:lnTo>
                    <a:pt x="109610" y="51077"/>
                  </a:lnTo>
                  <a:lnTo>
                    <a:pt x="70612" y="77470"/>
                  </a:lnTo>
                  <a:lnTo>
                    <a:pt x="44305" y="116625"/>
                  </a:lnTo>
                  <a:lnTo>
                    <a:pt x="34655" y="164591"/>
                  </a:lnTo>
                  <a:lnTo>
                    <a:pt x="38584" y="195591"/>
                  </a:lnTo>
                  <a:lnTo>
                    <a:pt x="49704" y="223710"/>
                  </a:lnTo>
                  <a:lnTo>
                    <a:pt x="67016" y="247923"/>
                  </a:lnTo>
                  <a:lnTo>
                    <a:pt x="89519" y="267208"/>
                  </a:lnTo>
                  <a:lnTo>
                    <a:pt x="63357" y="314578"/>
                  </a:lnTo>
                  <a:lnTo>
                    <a:pt x="88503" y="314578"/>
                  </a:lnTo>
                  <a:lnTo>
                    <a:pt x="108823" y="277749"/>
                  </a:lnTo>
                  <a:lnTo>
                    <a:pt x="230976" y="277749"/>
                  </a:lnTo>
                  <a:lnTo>
                    <a:pt x="225505" y="267843"/>
                  </a:lnTo>
                  <a:lnTo>
                    <a:pt x="157337" y="267843"/>
                  </a:lnTo>
                  <a:lnTo>
                    <a:pt x="117314" y="259728"/>
                  </a:lnTo>
                  <a:lnTo>
                    <a:pt x="84613" y="237601"/>
                  </a:lnTo>
                  <a:lnTo>
                    <a:pt x="62557" y="204781"/>
                  </a:lnTo>
                  <a:lnTo>
                    <a:pt x="54467" y="164591"/>
                  </a:lnTo>
                  <a:lnTo>
                    <a:pt x="62557" y="124382"/>
                  </a:lnTo>
                  <a:lnTo>
                    <a:pt x="84613" y="91519"/>
                  </a:lnTo>
                  <a:lnTo>
                    <a:pt x="117314" y="69347"/>
                  </a:lnTo>
                  <a:lnTo>
                    <a:pt x="157337" y="61213"/>
                  </a:lnTo>
                  <a:lnTo>
                    <a:pt x="220041" y="61213"/>
                  </a:lnTo>
                  <a:lnTo>
                    <a:pt x="205063" y="51077"/>
                  </a:lnTo>
                  <a:lnTo>
                    <a:pt x="157337" y="41401"/>
                  </a:lnTo>
                  <a:close/>
                </a:path>
                <a:path w="314960" h="314960">
                  <a:moveTo>
                    <a:pt x="230976" y="277749"/>
                  </a:moveTo>
                  <a:lnTo>
                    <a:pt x="205851" y="277749"/>
                  </a:lnTo>
                  <a:lnTo>
                    <a:pt x="226171" y="314578"/>
                  </a:lnTo>
                  <a:lnTo>
                    <a:pt x="251317" y="314578"/>
                  </a:lnTo>
                  <a:lnTo>
                    <a:pt x="230976" y="277749"/>
                  </a:lnTo>
                  <a:close/>
                </a:path>
                <a:path w="314960" h="314960">
                  <a:moveTo>
                    <a:pt x="205851" y="277749"/>
                  </a:moveTo>
                  <a:lnTo>
                    <a:pt x="108823" y="277749"/>
                  </a:lnTo>
                  <a:lnTo>
                    <a:pt x="120243" y="282049"/>
                  </a:lnTo>
                  <a:lnTo>
                    <a:pt x="132175" y="285194"/>
                  </a:lnTo>
                  <a:lnTo>
                    <a:pt x="144559" y="287125"/>
                  </a:lnTo>
                  <a:lnTo>
                    <a:pt x="157337" y="287782"/>
                  </a:lnTo>
                  <a:lnTo>
                    <a:pt x="170114" y="287125"/>
                  </a:lnTo>
                  <a:lnTo>
                    <a:pt x="182499" y="285194"/>
                  </a:lnTo>
                  <a:lnTo>
                    <a:pt x="194431" y="282049"/>
                  </a:lnTo>
                  <a:lnTo>
                    <a:pt x="205851" y="277749"/>
                  </a:lnTo>
                  <a:close/>
                </a:path>
                <a:path w="314960" h="314960">
                  <a:moveTo>
                    <a:pt x="220041" y="61213"/>
                  </a:moveTo>
                  <a:lnTo>
                    <a:pt x="157337" y="61213"/>
                  </a:lnTo>
                  <a:lnTo>
                    <a:pt x="197359" y="69347"/>
                  </a:lnTo>
                  <a:lnTo>
                    <a:pt x="230060" y="91519"/>
                  </a:lnTo>
                  <a:lnTo>
                    <a:pt x="252116" y="124382"/>
                  </a:lnTo>
                  <a:lnTo>
                    <a:pt x="260207" y="164591"/>
                  </a:lnTo>
                  <a:lnTo>
                    <a:pt x="252116" y="204781"/>
                  </a:lnTo>
                  <a:lnTo>
                    <a:pt x="230060" y="237601"/>
                  </a:lnTo>
                  <a:lnTo>
                    <a:pt x="197359" y="259728"/>
                  </a:lnTo>
                  <a:lnTo>
                    <a:pt x="157337" y="267843"/>
                  </a:lnTo>
                  <a:lnTo>
                    <a:pt x="225505" y="267843"/>
                  </a:lnTo>
                  <a:lnTo>
                    <a:pt x="225155" y="267208"/>
                  </a:lnTo>
                  <a:lnTo>
                    <a:pt x="247657" y="247923"/>
                  </a:lnTo>
                  <a:lnTo>
                    <a:pt x="264969" y="223710"/>
                  </a:lnTo>
                  <a:lnTo>
                    <a:pt x="276090" y="195591"/>
                  </a:lnTo>
                  <a:lnTo>
                    <a:pt x="280019" y="164591"/>
                  </a:lnTo>
                  <a:lnTo>
                    <a:pt x="270369" y="116625"/>
                  </a:lnTo>
                  <a:lnTo>
                    <a:pt x="244062" y="77470"/>
                  </a:lnTo>
                  <a:lnTo>
                    <a:pt x="220041" y="61213"/>
                  </a:lnTo>
                  <a:close/>
                </a:path>
                <a:path w="314960" h="314960">
                  <a:moveTo>
                    <a:pt x="163560" y="101726"/>
                  </a:moveTo>
                  <a:lnTo>
                    <a:pt x="151114" y="101726"/>
                  </a:lnTo>
                  <a:lnTo>
                    <a:pt x="146034" y="106807"/>
                  </a:lnTo>
                  <a:lnTo>
                    <a:pt x="146161" y="176022"/>
                  </a:lnTo>
                  <a:lnTo>
                    <a:pt x="151241" y="181101"/>
                  </a:lnTo>
                  <a:lnTo>
                    <a:pt x="220583" y="181101"/>
                  </a:lnTo>
                  <a:lnTo>
                    <a:pt x="225663" y="176022"/>
                  </a:lnTo>
                  <a:lnTo>
                    <a:pt x="225663" y="163449"/>
                  </a:lnTo>
                  <a:lnTo>
                    <a:pt x="220583" y="158369"/>
                  </a:lnTo>
                  <a:lnTo>
                    <a:pt x="168640" y="158369"/>
                  </a:lnTo>
                  <a:lnTo>
                    <a:pt x="168640" y="106807"/>
                  </a:lnTo>
                  <a:lnTo>
                    <a:pt x="163560" y="101726"/>
                  </a:lnTo>
                  <a:close/>
                </a:path>
                <a:path w="314960" h="314960">
                  <a:moveTo>
                    <a:pt x="62468" y="11937"/>
                  </a:moveTo>
                  <a:lnTo>
                    <a:pt x="18272" y="30861"/>
                  </a:lnTo>
                  <a:lnTo>
                    <a:pt x="0" y="75437"/>
                  </a:lnTo>
                  <a:lnTo>
                    <a:pt x="4466" y="99119"/>
                  </a:lnTo>
                  <a:lnTo>
                    <a:pt x="18018" y="120014"/>
                  </a:lnTo>
                  <a:lnTo>
                    <a:pt x="107045" y="29463"/>
                  </a:lnTo>
                  <a:lnTo>
                    <a:pt x="97079" y="21653"/>
                  </a:lnTo>
                  <a:lnTo>
                    <a:pt x="86090" y="16128"/>
                  </a:lnTo>
                  <a:lnTo>
                    <a:pt x="74433" y="12890"/>
                  </a:lnTo>
                  <a:lnTo>
                    <a:pt x="62468" y="11937"/>
                  </a:lnTo>
                  <a:close/>
                </a:path>
                <a:path w="314960" h="314960">
                  <a:moveTo>
                    <a:pt x="252206" y="11937"/>
                  </a:moveTo>
                  <a:lnTo>
                    <a:pt x="240240" y="12890"/>
                  </a:lnTo>
                  <a:lnTo>
                    <a:pt x="228584" y="16128"/>
                  </a:lnTo>
                  <a:lnTo>
                    <a:pt x="217594" y="21653"/>
                  </a:lnTo>
                  <a:lnTo>
                    <a:pt x="207629" y="29463"/>
                  </a:lnTo>
                  <a:lnTo>
                    <a:pt x="296656" y="120014"/>
                  </a:lnTo>
                  <a:lnTo>
                    <a:pt x="310207" y="99119"/>
                  </a:lnTo>
                  <a:lnTo>
                    <a:pt x="314674" y="75437"/>
                  </a:lnTo>
                  <a:lnTo>
                    <a:pt x="310068" y="51756"/>
                  </a:lnTo>
                  <a:lnTo>
                    <a:pt x="275780" y="16875"/>
                  </a:lnTo>
                  <a:lnTo>
                    <a:pt x="252206" y="11937"/>
                  </a:lnTo>
                  <a:close/>
                </a:path>
                <a:path w="314960" h="314960">
                  <a:moveTo>
                    <a:pt x="174863" y="0"/>
                  </a:moveTo>
                  <a:lnTo>
                    <a:pt x="139811" y="0"/>
                  </a:lnTo>
                  <a:lnTo>
                    <a:pt x="133461" y="6223"/>
                  </a:lnTo>
                  <a:lnTo>
                    <a:pt x="133461" y="28194"/>
                  </a:lnTo>
                  <a:lnTo>
                    <a:pt x="181213" y="28194"/>
                  </a:lnTo>
                  <a:lnTo>
                    <a:pt x="181213" y="6223"/>
                  </a:lnTo>
                  <a:lnTo>
                    <a:pt x="174863" y="0"/>
                  </a:lnTo>
                  <a:close/>
                </a:path>
              </a:pathLst>
            </a:custGeom>
            <a:solidFill>
              <a:srgbClr val="FFFFFF"/>
            </a:solidFill>
          </p:spPr>
          <p:txBody>
            <a:bodyPr wrap="square" lIns="0" tIns="0" rIns="0" bIns="0" rtlCol="0"/>
            <a:lstStyle/>
            <a:p>
              <a:endParaRPr/>
            </a:p>
          </p:txBody>
        </p:sp>
      </p:grpSp>
      <p:sp>
        <p:nvSpPr>
          <p:cNvPr id="108" name="object 12">
            <a:extLst>
              <a:ext uri="{FF2B5EF4-FFF2-40B4-BE49-F238E27FC236}">
                <a16:creationId xmlns:a16="http://schemas.microsoft.com/office/drawing/2014/main" id="{3C509FAD-37F4-76C4-D707-3EF62081BAE0}"/>
              </a:ext>
            </a:extLst>
          </p:cNvPr>
          <p:cNvSpPr txBox="1"/>
          <p:nvPr/>
        </p:nvSpPr>
        <p:spPr>
          <a:xfrm>
            <a:off x="9695815" y="3736763"/>
            <a:ext cx="4198620" cy="1610360"/>
          </a:xfrm>
          <a:prstGeom prst="rect">
            <a:avLst/>
          </a:prstGeom>
        </p:spPr>
        <p:txBody>
          <a:bodyPr vert="horz" wrap="square" lIns="0" tIns="81915" rIns="0" bIns="0" rtlCol="0">
            <a:spAutoFit/>
          </a:bodyPr>
          <a:lstStyle/>
          <a:p>
            <a:pPr marL="173355" algn="ctr">
              <a:lnSpc>
                <a:spcPct val="100000"/>
              </a:lnSpc>
              <a:spcBef>
                <a:spcPts val="645"/>
              </a:spcBef>
            </a:pPr>
            <a:r>
              <a:rPr sz="2400" b="1" spc="-10" dirty="0">
                <a:solidFill>
                  <a:srgbClr val="EC7C30"/>
                </a:solidFill>
                <a:latin typeface="Microsoft JhengHei"/>
                <a:cs typeface="Microsoft JhengHei"/>
              </a:rPr>
              <a:t>互動流程設計</a:t>
            </a:r>
            <a:endParaRPr sz="2400">
              <a:latin typeface="Microsoft JhengHei"/>
              <a:cs typeface="Microsoft JhengHei"/>
            </a:endParaRPr>
          </a:p>
          <a:p>
            <a:pPr marL="299085" indent="-286385">
              <a:lnSpc>
                <a:spcPct val="100000"/>
              </a:lnSpc>
              <a:spcBef>
                <a:spcPts val="409"/>
              </a:spcBef>
              <a:buFont typeface="Arial MT"/>
              <a:buChar char="•"/>
              <a:tabLst>
                <a:tab pos="299085" algn="l"/>
              </a:tabLst>
            </a:pPr>
            <a:r>
              <a:rPr sz="1800" spc="-5" dirty="0">
                <a:solidFill>
                  <a:srgbClr val="404040"/>
                </a:solidFill>
                <a:latin typeface="Microsoft JhengHei"/>
                <a:cs typeface="Microsoft JhengHei"/>
              </a:rPr>
              <a:t>對話開場設計：中文場景描述英文問候</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話題深入策略：圍繞特定話題探討</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問題優化技巧：寬泛轉具體針對問題</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對話結束機制：適當時機結束練習</a:t>
            </a:r>
            <a:endParaRPr sz="1800">
              <a:latin typeface="Microsoft JhengHei"/>
              <a:cs typeface="Microsoft JhengHei"/>
            </a:endParaRPr>
          </a:p>
        </p:txBody>
      </p:sp>
      <p:sp>
        <p:nvSpPr>
          <p:cNvPr id="109" name="object 13">
            <a:extLst>
              <a:ext uri="{FF2B5EF4-FFF2-40B4-BE49-F238E27FC236}">
                <a16:creationId xmlns:a16="http://schemas.microsoft.com/office/drawing/2014/main" id="{CD6AFFF9-3BF4-1E3B-BB9C-4B9E7195B359}"/>
              </a:ext>
            </a:extLst>
          </p:cNvPr>
          <p:cNvSpPr txBox="1"/>
          <p:nvPr/>
        </p:nvSpPr>
        <p:spPr>
          <a:xfrm>
            <a:off x="6136894" y="6004305"/>
            <a:ext cx="3284220" cy="1498600"/>
          </a:xfrm>
          <a:prstGeom prst="rect">
            <a:avLst/>
          </a:prstGeom>
        </p:spPr>
        <p:txBody>
          <a:bodyPr vert="horz" wrap="square" lIns="0" tIns="12700" rIns="0" bIns="0" rtlCol="0">
            <a:spAutoFit/>
          </a:bodyPr>
          <a:lstStyle/>
          <a:p>
            <a:pPr marL="1087755">
              <a:lnSpc>
                <a:spcPct val="100000"/>
              </a:lnSpc>
              <a:spcBef>
                <a:spcPts val="100"/>
              </a:spcBef>
            </a:pPr>
            <a:r>
              <a:rPr sz="2400" b="1" spc="-15" dirty="0">
                <a:solidFill>
                  <a:srgbClr val="4471C4"/>
                </a:solidFill>
                <a:latin typeface="Microsoft JhengHei"/>
                <a:cs typeface="Microsoft JhengHei"/>
              </a:rPr>
              <a:t>設計原理</a:t>
            </a:r>
            <a:endParaRPr sz="2400">
              <a:latin typeface="Microsoft JhengHei"/>
              <a:cs typeface="Microsoft JhengHei"/>
            </a:endParaRPr>
          </a:p>
          <a:p>
            <a:pPr marL="299085" indent="-286385">
              <a:lnSpc>
                <a:spcPct val="100000"/>
              </a:lnSpc>
              <a:spcBef>
                <a:spcPts val="75"/>
              </a:spcBef>
              <a:buFont typeface="Arial MT"/>
              <a:buChar char="•"/>
              <a:tabLst>
                <a:tab pos="299085" algn="l"/>
              </a:tabLst>
            </a:pPr>
            <a:r>
              <a:rPr sz="1800" spc="-5" dirty="0">
                <a:solidFill>
                  <a:srgbClr val="404040"/>
                </a:solidFill>
                <a:latin typeface="Microsoft JhengHei"/>
                <a:cs typeface="Microsoft JhengHei"/>
              </a:rPr>
              <a:t>擬真互動：模擬真實對話環境</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輸出控制：適配學習者程度</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深度對話：持續話題探討</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參數設計：靈活組合動態生成</a:t>
            </a:r>
            <a:endParaRPr sz="1800">
              <a:latin typeface="Microsoft JhengHei"/>
              <a:cs typeface="Microsoft JhengHei"/>
            </a:endParaRPr>
          </a:p>
        </p:txBody>
      </p:sp>
      <p:sp>
        <p:nvSpPr>
          <p:cNvPr id="110" name="object 14">
            <a:extLst>
              <a:ext uri="{FF2B5EF4-FFF2-40B4-BE49-F238E27FC236}">
                <a16:creationId xmlns:a16="http://schemas.microsoft.com/office/drawing/2014/main" id="{E81A5677-8699-0022-1C72-C0F5ED4C03E4}"/>
              </a:ext>
            </a:extLst>
          </p:cNvPr>
          <p:cNvSpPr txBox="1"/>
          <p:nvPr/>
        </p:nvSpPr>
        <p:spPr>
          <a:xfrm>
            <a:off x="1317752" y="3897630"/>
            <a:ext cx="3512820" cy="1833880"/>
          </a:xfrm>
          <a:prstGeom prst="rect">
            <a:avLst/>
          </a:prstGeom>
        </p:spPr>
        <p:txBody>
          <a:bodyPr vert="horz" wrap="square" lIns="0" tIns="209550" rIns="0" bIns="0" rtlCol="0">
            <a:spAutoFit/>
          </a:bodyPr>
          <a:lstStyle/>
          <a:p>
            <a:pPr marL="187325">
              <a:lnSpc>
                <a:spcPct val="100000"/>
              </a:lnSpc>
              <a:spcBef>
                <a:spcPts val="1650"/>
              </a:spcBef>
            </a:pPr>
            <a:r>
              <a:rPr sz="2400" b="1" spc="-5" dirty="0">
                <a:solidFill>
                  <a:srgbClr val="EC7C30"/>
                </a:solidFill>
                <a:latin typeface="Microsoft JhengHei"/>
                <a:cs typeface="Microsoft JhengHei"/>
              </a:rPr>
              <a:t>主題情境設計及視覺化</a:t>
            </a:r>
            <a:endParaRPr sz="2400">
              <a:latin typeface="Microsoft JhengHei"/>
              <a:cs typeface="Microsoft JhengHei"/>
            </a:endParaRPr>
          </a:p>
          <a:p>
            <a:pPr marL="299085" indent="-286385">
              <a:lnSpc>
                <a:spcPct val="100000"/>
              </a:lnSpc>
              <a:spcBef>
                <a:spcPts val="1165"/>
              </a:spcBef>
              <a:buFont typeface="Arial MT"/>
              <a:buChar char="•"/>
              <a:tabLst>
                <a:tab pos="299085" algn="l"/>
              </a:tabLst>
            </a:pPr>
            <a:r>
              <a:rPr sz="1800" spc="-5" dirty="0">
                <a:solidFill>
                  <a:srgbClr val="404040"/>
                </a:solidFill>
                <a:latin typeface="Microsoft JhengHei"/>
                <a:cs typeface="Microsoft JhengHei"/>
              </a:rPr>
              <a:t>多元主題覆蓋：五核心對話主題</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情境與角色設定：詳細情境描述</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場景描述與開場白：專屬場景開</a:t>
            </a:r>
            <a:endParaRPr sz="1800">
              <a:latin typeface="Microsoft JhengHei"/>
              <a:cs typeface="Microsoft JhengHei"/>
            </a:endParaRPr>
          </a:p>
          <a:p>
            <a:pPr marL="299085">
              <a:lnSpc>
                <a:spcPct val="100000"/>
              </a:lnSpc>
            </a:pPr>
            <a:r>
              <a:rPr sz="1800" spc="-50" dirty="0">
                <a:solidFill>
                  <a:srgbClr val="404040"/>
                </a:solidFill>
                <a:latin typeface="Microsoft JhengHei"/>
                <a:cs typeface="Microsoft JhengHei"/>
              </a:rPr>
              <a:t>場</a:t>
            </a:r>
            <a:endParaRPr sz="1800">
              <a:latin typeface="Microsoft JhengHei"/>
              <a:cs typeface="Microsoft JhengHei"/>
            </a:endParaRPr>
          </a:p>
        </p:txBody>
      </p:sp>
      <p:sp>
        <p:nvSpPr>
          <p:cNvPr id="111" name="object 15">
            <a:extLst>
              <a:ext uri="{FF2B5EF4-FFF2-40B4-BE49-F238E27FC236}">
                <a16:creationId xmlns:a16="http://schemas.microsoft.com/office/drawing/2014/main" id="{23E7BCCD-7325-E352-5DB8-5B51369A1F53}"/>
              </a:ext>
            </a:extLst>
          </p:cNvPr>
          <p:cNvSpPr txBox="1"/>
          <p:nvPr/>
        </p:nvSpPr>
        <p:spPr>
          <a:xfrm>
            <a:off x="9705593" y="1707091"/>
            <a:ext cx="4198620" cy="1443990"/>
          </a:xfrm>
          <a:prstGeom prst="rect">
            <a:avLst/>
          </a:prstGeom>
        </p:spPr>
        <p:txBody>
          <a:bodyPr vert="horz" wrap="square" lIns="0" tIns="143510" rIns="0" bIns="0" rtlCol="0">
            <a:spAutoFit/>
          </a:bodyPr>
          <a:lstStyle/>
          <a:p>
            <a:pPr marL="1228725">
              <a:lnSpc>
                <a:spcPct val="100000"/>
              </a:lnSpc>
              <a:spcBef>
                <a:spcPts val="1130"/>
              </a:spcBef>
            </a:pPr>
            <a:r>
              <a:rPr sz="2400" b="1" spc="-10" dirty="0">
                <a:solidFill>
                  <a:srgbClr val="A4A4A4"/>
                </a:solidFill>
                <a:latin typeface="Microsoft JhengHei"/>
                <a:cs typeface="Microsoft JhengHei"/>
              </a:rPr>
              <a:t>難度調整機制</a:t>
            </a:r>
            <a:endParaRPr sz="2400">
              <a:latin typeface="Microsoft JhengHei"/>
              <a:cs typeface="Microsoft JhengHei"/>
            </a:endParaRPr>
          </a:p>
          <a:p>
            <a:pPr marL="299085" indent="-286385">
              <a:lnSpc>
                <a:spcPct val="100000"/>
              </a:lnSpc>
              <a:spcBef>
                <a:spcPts val="775"/>
              </a:spcBef>
              <a:buFont typeface="Arial MT"/>
              <a:buChar char="•"/>
              <a:tabLst>
                <a:tab pos="299085" algn="l"/>
              </a:tabLst>
            </a:pPr>
            <a:r>
              <a:rPr sz="1800" spc="-5" dirty="0">
                <a:solidFill>
                  <a:srgbClr val="404040"/>
                </a:solidFill>
                <a:latin typeface="Microsoft JhengHei"/>
                <a:cs typeface="Microsoft JhengHei"/>
              </a:rPr>
              <a:t>難度等級定義：三等級</a:t>
            </a:r>
            <a:endParaRPr sz="1800">
              <a:latin typeface="Microsoft JhengHei"/>
              <a:cs typeface="Microsoft JhengHei"/>
            </a:endParaRPr>
          </a:p>
          <a:p>
            <a:pPr marL="299085" marR="5080" indent="-287020">
              <a:lnSpc>
                <a:spcPct val="100000"/>
              </a:lnSpc>
              <a:buFont typeface="Arial MT"/>
              <a:buChar char="•"/>
              <a:tabLst>
                <a:tab pos="299085" algn="l"/>
              </a:tabLst>
            </a:pPr>
            <a:r>
              <a:rPr sz="1800" spc="-5" dirty="0">
                <a:solidFill>
                  <a:srgbClr val="404040"/>
                </a:solidFill>
                <a:latin typeface="Microsoft JhengHei"/>
                <a:cs typeface="Microsoft JhengHei"/>
              </a:rPr>
              <a:t>精確控制詞彙與句型梯度：基礎到專業</a:t>
            </a:r>
            <a:r>
              <a:rPr sz="1800" spc="-15" dirty="0">
                <a:solidFill>
                  <a:srgbClr val="404040"/>
                </a:solidFill>
                <a:latin typeface="Microsoft JhengHei"/>
                <a:cs typeface="Microsoft JhengHei"/>
              </a:rPr>
              <a:t>漸進設計</a:t>
            </a:r>
            <a:endParaRPr sz="1800">
              <a:latin typeface="Microsoft JhengHei"/>
              <a:cs typeface="Microsoft JhengHei"/>
            </a:endParaRPr>
          </a:p>
        </p:txBody>
      </p:sp>
      <p:sp>
        <p:nvSpPr>
          <p:cNvPr id="112" name="object 16">
            <a:extLst>
              <a:ext uri="{FF2B5EF4-FFF2-40B4-BE49-F238E27FC236}">
                <a16:creationId xmlns:a16="http://schemas.microsoft.com/office/drawing/2014/main" id="{39349900-E227-C63F-8D23-B89DF6EFC742}"/>
              </a:ext>
            </a:extLst>
          </p:cNvPr>
          <p:cNvSpPr/>
          <p:nvPr/>
        </p:nvSpPr>
        <p:spPr>
          <a:xfrm>
            <a:off x="8689213" y="4518405"/>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1" y="26035"/>
                </a:lnTo>
                <a:lnTo>
                  <a:pt x="55371"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6"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6" y="59944"/>
                </a:lnTo>
                <a:lnTo>
                  <a:pt x="193928" y="59944"/>
                </a:lnTo>
                <a:lnTo>
                  <a:pt x="186152" y="58382"/>
                </a:lnTo>
                <a:lnTo>
                  <a:pt x="179816" y="54117"/>
                </a:lnTo>
                <a:lnTo>
                  <a:pt x="175551" y="47781"/>
                </a:lnTo>
                <a:lnTo>
                  <a:pt x="173989" y="40005"/>
                </a:lnTo>
                <a:lnTo>
                  <a:pt x="173989" y="26035"/>
                </a:lnTo>
                <a:close/>
              </a:path>
              <a:path w="276225" h="275589">
                <a:moveTo>
                  <a:pt x="226821"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1" y="40005"/>
                </a:lnTo>
                <a:lnTo>
                  <a:pt x="226821"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6"/>
                </a:lnTo>
                <a:lnTo>
                  <a:pt x="24764" y="47371"/>
                </a:lnTo>
                <a:lnTo>
                  <a:pt x="29590" y="52197"/>
                </a:lnTo>
                <a:lnTo>
                  <a:pt x="41401" y="52197"/>
                </a:lnTo>
                <a:lnTo>
                  <a:pt x="46227" y="47371"/>
                </a:lnTo>
                <a:lnTo>
                  <a:pt x="46227" y="4826"/>
                </a:lnTo>
                <a:lnTo>
                  <a:pt x="41401" y="0"/>
                </a:lnTo>
                <a:close/>
              </a:path>
              <a:path w="276225" h="275589">
                <a:moveTo>
                  <a:pt x="94233" y="0"/>
                </a:moveTo>
                <a:lnTo>
                  <a:pt x="82295" y="0"/>
                </a:lnTo>
                <a:lnTo>
                  <a:pt x="77596" y="4826"/>
                </a:lnTo>
                <a:lnTo>
                  <a:pt x="77596" y="47371"/>
                </a:lnTo>
                <a:lnTo>
                  <a:pt x="82295" y="52197"/>
                </a:lnTo>
                <a:lnTo>
                  <a:pt x="94233" y="52197"/>
                </a:lnTo>
                <a:lnTo>
                  <a:pt x="99059" y="47371"/>
                </a:lnTo>
                <a:lnTo>
                  <a:pt x="99059" y="4826"/>
                </a:lnTo>
                <a:lnTo>
                  <a:pt x="94233" y="0"/>
                </a:lnTo>
                <a:close/>
              </a:path>
              <a:path w="276225" h="275589">
                <a:moveTo>
                  <a:pt x="147065" y="0"/>
                </a:moveTo>
                <a:lnTo>
                  <a:pt x="135127" y="0"/>
                </a:lnTo>
                <a:lnTo>
                  <a:pt x="130428" y="4826"/>
                </a:lnTo>
                <a:lnTo>
                  <a:pt x="130428" y="47371"/>
                </a:lnTo>
                <a:lnTo>
                  <a:pt x="135127" y="52197"/>
                </a:lnTo>
                <a:lnTo>
                  <a:pt x="147065" y="52197"/>
                </a:lnTo>
                <a:lnTo>
                  <a:pt x="151764" y="47371"/>
                </a:lnTo>
                <a:lnTo>
                  <a:pt x="151764" y="4826"/>
                </a:lnTo>
                <a:lnTo>
                  <a:pt x="147065" y="0"/>
                </a:lnTo>
                <a:close/>
              </a:path>
              <a:path w="276225" h="275589">
                <a:moveTo>
                  <a:pt x="199897" y="0"/>
                </a:moveTo>
                <a:lnTo>
                  <a:pt x="187959" y="0"/>
                </a:lnTo>
                <a:lnTo>
                  <a:pt x="183133" y="4826"/>
                </a:lnTo>
                <a:lnTo>
                  <a:pt x="183133" y="47371"/>
                </a:lnTo>
                <a:lnTo>
                  <a:pt x="187959" y="52197"/>
                </a:lnTo>
                <a:lnTo>
                  <a:pt x="199897" y="52197"/>
                </a:lnTo>
                <a:lnTo>
                  <a:pt x="204596" y="47371"/>
                </a:lnTo>
                <a:lnTo>
                  <a:pt x="204596" y="4826"/>
                </a:lnTo>
                <a:lnTo>
                  <a:pt x="199897" y="0"/>
                </a:lnTo>
                <a:close/>
              </a:path>
              <a:path w="276225" h="275589">
                <a:moveTo>
                  <a:pt x="252602" y="0"/>
                </a:moveTo>
                <a:lnTo>
                  <a:pt x="240791" y="0"/>
                </a:lnTo>
                <a:lnTo>
                  <a:pt x="235965" y="4826"/>
                </a:lnTo>
                <a:lnTo>
                  <a:pt x="235965" y="47371"/>
                </a:lnTo>
                <a:lnTo>
                  <a:pt x="240791" y="52197"/>
                </a:lnTo>
                <a:lnTo>
                  <a:pt x="252602" y="52197"/>
                </a:lnTo>
                <a:lnTo>
                  <a:pt x="257428" y="47371"/>
                </a:lnTo>
                <a:lnTo>
                  <a:pt x="257428" y="4826"/>
                </a:lnTo>
                <a:lnTo>
                  <a:pt x="252602" y="0"/>
                </a:lnTo>
                <a:close/>
              </a:path>
            </a:pathLst>
          </a:custGeom>
          <a:solidFill>
            <a:srgbClr val="FFFFFF"/>
          </a:solidFill>
        </p:spPr>
        <p:txBody>
          <a:bodyPr wrap="square" lIns="0" tIns="0" rIns="0" bIns="0" rtlCol="0"/>
          <a:lstStyle/>
          <a:p>
            <a:endParaRPr/>
          </a:p>
        </p:txBody>
      </p:sp>
      <p:sp>
        <p:nvSpPr>
          <p:cNvPr id="113" name="object 17">
            <a:extLst>
              <a:ext uri="{FF2B5EF4-FFF2-40B4-BE49-F238E27FC236}">
                <a16:creationId xmlns:a16="http://schemas.microsoft.com/office/drawing/2014/main" id="{D0127B7A-0EC9-DFB1-E0B7-515F60ED53CC}"/>
              </a:ext>
            </a:extLst>
          </p:cNvPr>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14" name="object 18">
            <a:extLst>
              <a:ext uri="{FF2B5EF4-FFF2-40B4-BE49-F238E27FC236}">
                <a16:creationId xmlns:a16="http://schemas.microsoft.com/office/drawing/2014/main" id="{FD62FA9F-CAC9-F061-1266-FAB0EB796EAA}"/>
              </a:ext>
            </a:extLst>
          </p:cNvPr>
          <p:cNvSpPr/>
          <p:nvPr/>
        </p:nvSpPr>
        <p:spPr>
          <a:xfrm>
            <a:off x="5258815" y="6568313"/>
            <a:ext cx="299085" cy="299085"/>
          </a:xfrm>
          <a:custGeom>
            <a:avLst/>
            <a:gdLst/>
            <a:ahLst/>
            <a:cxnLst/>
            <a:rect l="l" t="t" r="r" b="b"/>
            <a:pathLst>
              <a:path w="299085" h="299084">
                <a:moveTo>
                  <a:pt x="298958" y="0"/>
                </a:moveTo>
                <a:lnTo>
                  <a:pt x="0" y="0"/>
                </a:lnTo>
                <a:lnTo>
                  <a:pt x="0" y="298957"/>
                </a:lnTo>
                <a:lnTo>
                  <a:pt x="298958" y="298957"/>
                </a:lnTo>
                <a:lnTo>
                  <a:pt x="298958" y="263397"/>
                </a:lnTo>
                <a:lnTo>
                  <a:pt x="35560" y="263397"/>
                </a:lnTo>
                <a:lnTo>
                  <a:pt x="35560" y="35559"/>
                </a:lnTo>
                <a:lnTo>
                  <a:pt x="38354" y="35559"/>
                </a:lnTo>
                <a:lnTo>
                  <a:pt x="38354" y="35051"/>
                </a:lnTo>
                <a:lnTo>
                  <a:pt x="298958" y="35051"/>
                </a:lnTo>
                <a:lnTo>
                  <a:pt x="298958" y="0"/>
                </a:lnTo>
                <a:close/>
              </a:path>
              <a:path w="299085" h="299084">
                <a:moveTo>
                  <a:pt x="55372" y="109346"/>
                </a:moveTo>
                <a:lnTo>
                  <a:pt x="40259" y="154304"/>
                </a:lnTo>
                <a:lnTo>
                  <a:pt x="74481" y="167778"/>
                </a:lnTo>
                <a:lnTo>
                  <a:pt x="101060" y="195897"/>
                </a:lnTo>
                <a:lnTo>
                  <a:pt x="122447" y="230493"/>
                </a:lnTo>
                <a:lnTo>
                  <a:pt x="141097" y="263397"/>
                </a:lnTo>
                <a:lnTo>
                  <a:pt x="145669" y="263397"/>
                </a:lnTo>
                <a:lnTo>
                  <a:pt x="164873" y="220972"/>
                </a:lnTo>
                <a:lnTo>
                  <a:pt x="185601" y="177545"/>
                </a:lnTo>
                <a:lnTo>
                  <a:pt x="142494" y="177545"/>
                </a:lnTo>
                <a:lnTo>
                  <a:pt x="125452" y="154638"/>
                </a:lnTo>
                <a:lnTo>
                  <a:pt x="108172" y="136588"/>
                </a:lnTo>
                <a:lnTo>
                  <a:pt x="86272" y="121967"/>
                </a:lnTo>
                <a:lnTo>
                  <a:pt x="55372" y="109346"/>
                </a:lnTo>
                <a:close/>
              </a:path>
              <a:path w="299085" h="299084">
                <a:moveTo>
                  <a:pt x="298958" y="35051"/>
                </a:moveTo>
                <a:lnTo>
                  <a:pt x="263779" y="35051"/>
                </a:lnTo>
                <a:lnTo>
                  <a:pt x="263779" y="54990"/>
                </a:lnTo>
                <a:lnTo>
                  <a:pt x="263398" y="54990"/>
                </a:lnTo>
                <a:lnTo>
                  <a:pt x="263398" y="263397"/>
                </a:lnTo>
                <a:lnTo>
                  <a:pt x="298958" y="263397"/>
                </a:lnTo>
                <a:lnTo>
                  <a:pt x="298958" y="35051"/>
                </a:lnTo>
                <a:close/>
              </a:path>
              <a:path w="299085" h="299084">
                <a:moveTo>
                  <a:pt x="255650" y="54990"/>
                </a:moveTo>
                <a:lnTo>
                  <a:pt x="206121" y="54990"/>
                </a:lnTo>
                <a:lnTo>
                  <a:pt x="187410" y="86248"/>
                </a:lnTo>
                <a:lnTo>
                  <a:pt x="172164" y="114458"/>
                </a:lnTo>
                <a:lnTo>
                  <a:pt x="157989" y="143573"/>
                </a:lnTo>
                <a:lnTo>
                  <a:pt x="142494" y="177545"/>
                </a:lnTo>
                <a:lnTo>
                  <a:pt x="185601" y="177545"/>
                </a:lnTo>
                <a:lnTo>
                  <a:pt x="185827" y="177072"/>
                </a:lnTo>
                <a:lnTo>
                  <a:pt x="208177" y="133544"/>
                </a:lnTo>
                <a:lnTo>
                  <a:pt x="231569" y="92234"/>
                </a:lnTo>
                <a:lnTo>
                  <a:pt x="255650" y="54990"/>
                </a:lnTo>
                <a:close/>
              </a:path>
            </a:pathLst>
          </a:custGeom>
          <a:solidFill>
            <a:srgbClr val="FFFFFF"/>
          </a:solidFill>
        </p:spPr>
        <p:txBody>
          <a:bodyPr wrap="square" lIns="0" tIns="0" rIns="0" bIns="0" rtlCol="0"/>
          <a:lstStyle/>
          <a:p>
            <a:endParaRPr/>
          </a:p>
        </p:txBody>
      </p:sp>
      <p:sp>
        <p:nvSpPr>
          <p:cNvPr id="115" name="object 19">
            <a:extLst>
              <a:ext uri="{FF2B5EF4-FFF2-40B4-BE49-F238E27FC236}">
                <a16:creationId xmlns:a16="http://schemas.microsoft.com/office/drawing/2014/main" id="{49EBA21F-3562-32DD-2A1B-B11A57C97F99}"/>
              </a:ext>
            </a:extLst>
          </p:cNvPr>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16" name="object 20">
            <a:extLst>
              <a:ext uri="{FF2B5EF4-FFF2-40B4-BE49-F238E27FC236}">
                <a16:creationId xmlns:a16="http://schemas.microsoft.com/office/drawing/2014/main" id="{3C7A54FE-D228-4245-6F8F-23B7B3AF9547}"/>
              </a:ext>
            </a:extLst>
          </p:cNvPr>
          <p:cNvSpPr txBox="1">
            <a:spLocks/>
          </p:cNvSpPr>
          <p:nvPr/>
        </p:nvSpPr>
        <p:spPr>
          <a:xfrm>
            <a:off x="200295" y="264648"/>
            <a:ext cx="5511800" cy="843821"/>
          </a:xfrm>
          <a:prstGeom prst="rect">
            <a:avLst/>
          </a:prstGeom>
        </p:spPr>
        <p:txBody>
          <a:bodyPr vert="horz" wrap="square" lIns="0" tIns="12700"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spcBef>
                <a:spcPts val="100"/>
              </a:spcBef>
            </a:pPr>
            <a:r>
              <a:rPr lang="zh-TW" altLang="en-US" sz="5400" b="1" spc="-10" dirty="0">
                <a:latin typeface="Microsoft JhengHei UI" panose="020B0604030504040204" pitchFamily="34" charset="-120"/>
                <a:ea typeface="Microsoft JhengHei UI" panose="020B0604030504040204" pitchFamily="34" charset="-120"/>
              </a:rPr>
              <a:t>對話練習提示設計</a:t>
            </a:r>
          </a:p>
        </p:txBody>
      </p:sp>
      <p:sp>
        <p:nvSpPr>
          <p:cNvPr id="117" name="object 22">
            <a:extLst>
              <a:ext uri="{FF2B5EF4-FFF2-40B4-BE49-F238E27FC236}">
                <a16:creationId xmlns:a16="http://schemas.microsoft.com/office/drawing/2014/main" id="{2F07E72D-6790-E5C0-5A2C-9E752E637FC1}"/>
              </a:ext>
            </a:extLst>
          </p:cNvPr>
          <p:cNvSpPr txBox="1">
            <a:spLocks/>
          </p:cNvSpPr>
          <p:nvPr/>
        </p:nvSpPr>
        <p:spPr>
          <a:xfrm>
            <a:off x="14054667" y="7756482"/>
            <a:ext cx="308651" cy="194309"/>
          </a:xfrm>
          <a:prstGeom prst="rect">
            <a:avLst/>
          </a:prstGeom>
        </p:spPr>
        <p:txBody>
          <a:bodyPr vert="horz" wrap="squar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410"/>
              </a:lnSpc>
            </a:pPr>
            <a:fld id="{81D60167-4931-47E6-BA6A-407CBD079E47}" type="slidenum">
              <a:rPr lang="en-US" altLang="zh-TW" spc="-25" smtClean="0"/>
              <a:pPr marL="12700">
                <a:lnSpc>
                  <a:spcPts val="1410"/>
                </a:lnSpc>
              </a:pPr>
              <a:t>21</a:t>
            </a:fld>
            <a:endParaRPr lang="en-US" altLang="zh-TW" spc="-25" dirty="0"/>
          </a:p>
        </p:txBody>
      </p:sp>
      <p:sp>
        <p:nvSpPr>
          <p:cNvPr id="118" name="object 21">
            <a:extLst>
              <a:ext uri="{FF2B5EF4-FFF2-40B4-BE49-F238E27FC236}">
                <a16:creationId xmlns:a16="http://schemas.microsoft.com/office/drawing/2014/main" id="{3E8E2BF2-AD54-920D-0FED-1675995D89E1}"/>
              </a:ext>
            </a:extLst>
          </p:cNvPr>
          <p:cNvSpPr txBox="1"/>
          <p:nvPr/>
        </p:nvSpPr>
        <p:spPr>
          <a:xfrm>
            <a:off x="1332357" y="1660998"/>
            <a:ext cx="3741420" cy="1744345"/>
          </a:xfrm>
          <a:prstGeom prst="rect">
            <a:avLst/>
          </a:prstGeom>
        </p:spPr>
        <p:txBody>
          <a:bodyPr vert="horz" wrap="square" lIns="0" tIns="158115" rIns="0" bIns="0" rtlCol="0">
            <a:spAutoFit/>
          </a:bodyPr>
          <a:lstStyle/>
          <a:p>
            <a:pPr marL="1134745">
              <a:lnSpc>
                <a:spcPct val="100000"/>
              </a:lnSpc>
              <a:spcBef>
                <a:spcPts val="1245"/>
              </a:spcBef>
            </a:pPr>
            <a:r>
              <a:rPr sz="2400" b="1" spc="-15" dirty="0">
                <a:solidFill>
                  <a:srgbClr val="4471C4"/>
                </a:solidFill>
                <a:latin typeface="Microsoft JhengHei"/>
                <a:cs typeface="Microsoft JhengHei"/>
              </a:rPr>
              <a:t>核心架構</a:t>
            </a:r>
            <a:endParaRPr sz="2400" dirty="0">
              <a:latin typeface="Microsoft JhengHei"/>
              <a:cs typeface="Microsoft JhengHei"/>
            </a:endParaRPr>
          </a:p>
          <a:p>
            <a:pPr marL="299085" indent="-286385">
              <a:lnSpc>
                <a:spcPct val="100000"/>
              </a:lnSpc>
              <a:spcBef>
                <a:spcPts val="865"/>
              </a:spcBef>
              <a:buFont typeface="Arial MT"/>
              <a:buChar char="•"/>
              <a:tabLst>
                <a:tab pos="299085" algn="l"/>
              </a:tabLst>
            </a:pPr>
            <a:r>
              <a:rPr sz="1800" spc="-15" dirty="0">
                <a:solidFill>
                  <a:srgbClr val="404040"/>
                </a:solidFill>
                <a:latin typeface="Microsoft JhengHei"/>
                <a:cs typeface="Microsoft JhengHei"/>
              </a:rPr>
              <a:t>角色定位：真實對話夥伴</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互動規範：詳細對話開展指南</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難度控制：程度設定回應限制</a:t>
            </a:r>
            <a:endParaRPr sz="1800" dirty="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問題策略：設計問題促進對話延續</a:t>
            </a:r>
            <a:endParaRPr sz="1800" dirty="0">
              <a:latin typeface="Microsoft JhengHei"/>
              <a:cs typeface="Microsoft JhengHei"/>
            </a:endParaRPr>
          </a:p>
        </p:txBody>
      </p:sp>
    </p:spTree>
    <p:extLst>
      <p:ext uri="{BB962C8B-B14F-4D97-AF65-F5344CB8AC3E}">
        <p14:creationId xmlns:p14="http://schemas.microsoft.com/office/powerpoint/2010/main" val="1309782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931408" y="2250948"/>
            <a:ext cx="2396490" cy="2741930"/>
            <a:chOff x="5931408" y="2250948"/>
            <a:chExt cx="2396490" cy="2741930"/>
          </a:xfrm>
        </p:grpSpPr>
        <p:pic>
          <p:nvPicPr>
            <p:cNvPr id="3" name="object 3"/>
            <p:cNvPicPr/>
            <p:nvPr/>
          </p:nvPicPr>
          <p:blipFill>
            <a:blip r:embed="rId3" cstate="print"/>
            <a:stretch>
              <a:fillRect/>
            </a:stretch>
          </p:blipFill>
          <p:spPr>
            <a:xfrm>
              <a:off x="5931408" y="2250948"/>
              <a:ext cx="2396363" cy="2620391"/>
            </a:xfrm>
            <a:prstGeom prst="rect">
              <a:avLst/>
            </a:prstGeom>
          </p:spPr>
        </p:pic>
        <p:sp>
          <p:nvSpPr>
            <p:cNvPr id="4" name="object 4"/>
            <p:cNvSpPr/>
            <p:nvPr/>
          </p:nvSpPr>
          <p:spPr>
            <a:xfrm>
              <a:off x="6430137" y="2749295"/>
              <a:ext cx="1415415" cy="2243455"/>
            </a:xfrm>
            <a:custGeom>
              <a:avLst/>
              <a:gdLst/>
              <a:ahLst/>
              <a:cxnLst/>
              <a:rect l="l" t="t" r="r" b="b"/>
              <a:pathLst>
                <a:path w="1415415" h="2243454">
                  <a:moveTo>
                    <a:pt x="996188" y="2137156"/>
                  </a:moveTo>
                  <a:lnTo>
                    <a:pt x="418973" y="2137156"/>
                  </a:lnTo>
                  <a:lnTo>
                    <a:pt x="459498" y="2168156"/>
                  </a:lnTo>
                  <a:lnTo>
                    <a:pt x="503605" y="2194255"/>
                  </a:lnTo>
                  <a:lnTo>
                    <a:pt x="550875" y="2215121"/>
                  </a:lnTo>
                  <a:lnTo>
                    <a:pt x="600900" y="2230437"/>
                  </a:lnTo>
                  <a:lnTo>
                    <a:pt x="653300" y="2239861"/>
                  </a:lnTo>
                  <a:lnTo>
                    <a:pt x="707644" y="2243074"/>
                  </a:lnTo>
                  <a:lnTo>
                    <a:pt x="761923" y="2239861"/>
                  </a:lnTo>
                  <a:lnTo>
                    <a:pt x="814285" y="2230437"/>
                  </a:lnTo>
                  <a:lnTo>
                    <a:pt x="864298" y="2215121"/>
                  </a:lnTo>
                  <a:lnTo>
                    <a:pt x="911555" y="2194255"/>
                  </a:lnTo>
                  <a:lnTo>
                    <a:pt x="955649" y="2168156"/>
                  </a:lnTo>
                  <a:lnTo>
                    <a:pt x="996188" y="2137156"/>
                  </a:lnTo>
                  <a:close/>
                </a:path>
                <a:path w="1415415" h="2243454">
                  <a:moveTo>
                    <a:pt x="1061339" y="2002282"/>
                  </a:moveTo>
                  <a:lnTo>
                    <a:pt x="1055204" y="1971865"/>
                  </a:lnTo>
                  <a:lnTo>
                    <a:pt x="1038466" y="1947037"/>
                  </a:lnTo>
                  <a:lnTo>
                    <a:pt x="1013650" y="1930311"/>
                  </a:lnTo>
                  <a:lnTo>
                    <a:pt x="983234" y="1924177"/>
                  </a:lnTo>
                  <a:lnTo>
                    <a:pt x="431927" y="1924177"/>
                  </a:lnTo>
                  <a:lnTo>
                    <a:pt x="401497" y="1930311"/>
                  </a:lnTo>
                  <a:lnTo>
                    <a:pt x="376682" y="1947037"/>
                  </a:lnTo>
                  <a:lnTo>
                    <a:pt x="359943" y="1971865"/>
                  </a:lnTo>
                  <a:lnTo>
                    <a:pt x="353822" y="2002282"/>
                  </a:lnTo>
                  <a:lnTo>
                    <a:pt x="359943" y="2032711"/>
                  </a:lnTo>
                  <a:lnTo>
                    <a:pt x="376682" y="2057539"/>
                  </a:lnTo>
                  <a:lnTo>
                    <a:pt x="401497" y="2074265"/>
                  </a:lnTo>
                  <a:lnTo>
                    <a:pt x="431927" y="2080387"/>
                  </a:lnTo>
                  <a:lnTo>
                    <a:pt x="983234" y="2080387"/>
                  </a:lnTo>
                  <a:lnTo>
                    <a:pt x="1013650" y="2074265"/>
                  </a:lnTo>
                  <a:lnTo>
                    <a:pt x="1038466" y="2057539"/>
                  </a:lnTo>
                  <a:lnTo>
                    <a:pt x="1055204" y="2032711"/>
                  </a:lnTo>
                  <a:lnTo>
                    <a:pt x="1061339" y="2002282"/>
                  </a:lnTo>
                  <a:close/>
                </a:path>
                <a:path w="1415415" h="2243454">
                  <a:moveTo>
                    <a:pt x="1061339" y="1789303"/>
                  </a:moveTo>
                  <a:lnTo>
                    <a:pt x="1055204" y="1758886"/>
                  </a:lnTo>
                  <a:lnTo>
                    <a:pt x="1038466" y="1734070"/>
                  </a:lnTo>
                  <a:lnTo>
                    <a:pt x="1013650" y="1717332"/>
                  </a:lnTo>
                  <a:lnTo>
                    <a:pt x="983234" y="1711198"/>
                  </a:lnTo>
                  <a:lnTo>
                    <a:pt x="431927" y="1711198"/>
                  </a:lnTo>
                  <a:lnTo>
                    <a:pt x="401497" y="1717332"/>
                  </a:lnTo>
                  <a:lnTo>
                    <a:pt x="376682" y="1734070"/>
                  </a:lnTo>
                  <a:lnTo>
                    <a:pt x="359943" y="1758886"/>
                  </a:lnTo>
                  <a:lnTo>
                    <a:pt x="353822" y="1789303"/>
                  </a:lnTo>
                  <a:lnTo>
                    <a:pt x="359943" y="1819681"/>
                  </a:lnTo>
                  <a:lnTo>
                    <a:pt x="376682" y="1844509"/>
                  </a:lnTo>
                  <a:lnTo>
                    <a:pt x="401497" y="1861261"/>
                  </a:lnTo>
                  <a:lnTo>
                    <a:pt x="431927" y="1867408"/>
                  </a:lnTo>
                  <a:lnTo>
                    <a:pt x="983234" y="1867408"/>
                  </a:lnTo>
                  <a:lnTo>
                    <a:pt x="1013650" y="1861261"/>
                  </a:lnTo>
                  <a:lnTo>
                    <a:pt x="1038466" y="1844509"/>
                  </a:lnTo>
                  <a:lnTo>
                    <a:pt x="1055204" y="1819681"/>
                  </a:lnTo>
                  <a:lnTo>
                    <a:pt x="1061339" y="1789303"/>
                  </a:lnTo>
                  <a:close/>
                </a:path>
                <a:path w="1415415" h="2243454">
                  <a:moveTo>
                    <a:pt x="1415161" y="702945"/>
                  </a:moveTo>
                  <a:lnTo>
                    <a:pt x="1413522" y="654824"/>
                  </a:lnTo>
                  <a:lnTo>
                    <a:pt x="1408696" y="607568"/>
                  </a:lnTo>
                  <a:lnTo>
                    <a:pt x="1400784" y="561276"/>
                  </a:lnTo>
                  <a:lnTo>
                    <a:pt x="1389888" y="516077"/>
                  </a:lnTo>
                  <a:lnTo>
                    <a:pt x="1376108" y="472059"/>
                  </a:lnTo>
                  <a:lnTo>
                    <a:pt x="1359560" y="429323"/>
                  </a:lnTo>
                  <a:lnTo>
                    <a:pt x="1340345" y="387997"/>
                  </a:lnTo>
                  <a:lnTo>
                    <a:pt x="1318564" y="348157"/>
                  </a:lnTo>
                  <a:lnTo>
                    <a:pt x="1294333" y="309918"/>
                  </a:lnTo>
                  <a:lnTo>
                    <a:pt x="1267739" y="273392"/>
                  </a:lnTo>
                  <a:lnTo>
                    <a:pt x="1238910" y="238683"/>
                  </a:lnTo>
                  <a:lnTo>
                    <a:pt x="1207935" y="205892"/>
                  </a:lnTo>
                  <a:lnTo>
                    <a:pt x="1174927" y="175120"/>
                  </a:lnTo>
                  <a:lnTo>
                    <a:pt x="1139990" y="146469"/>
                  </a:lnTo>
                  <a:lnTo>
                    <a:pt x="1103223" y="120053"/>
                  </a:lnTo>
                  <a:lnTo>
                    <a:pt x="1064742" y="95973"/>
                  </a:lnTo>
                  <a:lnTo>
                    <a:pt x="1024648" y="74333"/>
                  </a:lnTo>
                  <a:lnTo>
                    <a:pt x="983043" y="55245"/>
                  </a:lnTo>
                  <a:lnTo>
                    <a:pt x="940041" y="38798"/>
                  </a:lnTo>
                  <a:lnTo>
                    <a:pt x="895731" y="25120"/>
                  </a:lnTo>
                  <a:lnTo>
                    <a:pt x="850239" y="14287"/>
                  </a:lnTo>
                  <a:lnTo>
                    <a:pt x="803643" y="6426"/>
                  </a:lnTo>
                  <a:lnTo>
                    <a:pt x="756081" y="1625"/>
                  </a:lnTo>
                  <a:lnTo>
                    <a:pt x="707644" y="0"/>
                  </a:lnTo>
                  <a:lnTo>
                    <a:pt x="659180" y="1625"/>
                  </a:lnTo>
                  <a:lnTo>
                    <a:pt x="611593" y="6426"/>
                  </a:lnTo>
                  <a:lnTo>
                    <a:pt x="564997" y="14287"/>
                  </a:lnTo>
                  <a:lnTo>
                    <a:pt x="519493" y="25120"/>
                  </a:lnTo>
                  <a:lnTo>
                    <a:pt x="475170" y="38798"/>
                  </a:lnTo>
                  <a:lnTo>
                    <a:pt x="432155" y="55245"/>
                  </a:lnTo>
                  <a:lnTo>
                    <a:pt x="390537" y="74333"/>
                  </a:lnTo>
                  <a:lnTo>
                    <a:pt x="350443" y="95973"/>
                  </a:lnTo>
                  <a:lnTo>
                    <a:pt x="311950" y="120053"/>
                  </a:lnTo>
                  <a:lnTo>
                    <a:pt x="275183" y="146469"/>
                  </a:lnTo>
                  <a:lnTo>
                    <a:pt x="240233" y="175120"/>
                  </a:lnTo>
                  <a:lnTo>
                    <a:pt x="207225" y="205892"/>
                  </a:lnTo>
                  <a:lnTo>
                    <a:pt x="176250" y="238683"/>
                  </a:lnTo>
                  <a:lnTo>
                    <a:pt x="147408" y="273392"/>
                  </a:lnTo>
                  <a:lnTo>
                    <a:pt x="120827" y="309918"/>
                  </a:lnTo>
                  <a:lnTo>
                    <a:pt x="96583" y="348157"/>
                  </a:lnTo>
                  <a:lnTo>
                    <a:pt x="74803" y="387997"/>
                  </a:lnTo>
                  <a:lnTo>
                    <a:pt x="55587" y="429323"/>
                  </a:lnTo>
                  <a:lnTo>
                    <a:pt x="39039" y="472059"/>
                  </a:lnTo>
                  <a:lnTo>
                    <a:pt x="25260" y="516077"/>
                  </a:lnTo>
                  <a:lnTo>
                    <a:pt x="14363" y="561276"/>
                  </a:lnTo>
                  <a:lnTo>
                    <a:pt x="6451" y="607568"/>
                  </a:lnTo>
                  <a:lnTo>
                    <a:pt x="1625" y="654824"/>
                  </a:lnTo>
                  <a:lnTo>
                    <a:pt x="0" y="702945"/>
                  </a:lnTo>
                  <a:lnTo>
                    <a:pt x="1816" y="753770"/>
                  </a:lnTo>
                  <a:lnTo>
                    <a:pt x="7200" y="803592"/>
                  </a:lnTo>
                  <a:lnTo>
                    <a:pt x="16052" y="852297"/>
                  </a:lnTo>
                  <a:lnTo>
                    <a:pt x="28232" y="899756"/>
                  </a:lnTo>
                  <a:lnTo>
                    <a:pt x="43662" y="945832"/>
                  </a:lnTo>
                  <a:lnTo>
                    <a:pt x="62217" y="990396"/>
                  </a:lnTo>
                  <a:lnTo>
                    <a:pt x="83781" y="1033310"/>
                  </a:lnTo>
                  <a:lnTo>
                    <a:pt x="108242" y="1074445"/>
                  </a:lnTo>
                  <a:lnTo>
                    <a:pt x="135509" y="1113663"/>
                  </a:lnTo>
                  <a:lnTo>
                    <a:pt x="133337" y="1113663"/>
                  </a:lnTo>
                  <a:lnTo>
                    <a:pt x="160858" y="1148092"/>
                  </a:lnTo>
                  <a:lnTo>
                    <a:pt x="187299" y="1184452"/>
                  </a:lnTo>
                  <a:lnTo>
                    <a:pt x="212623" y="1222679"/>
                  </a:lnTo>
                  <a:lnTo>
                    <a:pt x="236778" y="1262710"/>
                  </a:lnTo>
                  <a:lnTo>
                    <a:pt x="259715" y="1304480"/>
                  </a:lnTo>
                  <a:lnTo>
                    <a:pt x="281393" y="1347914"/>
                  </a:lnTo>
                  <a:lnTo>
                    <a:pt x="301764" y="1392974"/>
                  </a:lnTo>
                  <a:lnTo>
                    <a:pt x="320789" y="1439570"/>
                  </a:lnTo>
                  <a:lnTo>
                    <a:pt x="338404" y="1487639"/>
                  </a:lnTo>
                  <a:lnTo>
                    <a:pt x="354571" y="1537131"/>
                  </a:lnTo>
                  <a:lnTo>
                    <a:pt x="369252" y="1587969"/>
                  </a:lnTo>
                  <a:lnTo>
                    <a:pt x="382397" y="1640078"/>
                  </a:lnTo>
                  <a:lnTo>
                    <a:pt x="1032764" y="1640078"/>
                  </a:lnTo>
                  <a:lnTo>
                    <a:pt x="1045895" y="1587969"/>
                  </a:lnTo>
                  <a:lnTo>
                    <a:pt x="1060577" y="1537131"/>
                  </a:lnTo>
                  <a:lnTo>
                    <a:pt x="1076744" y="1487639"/>
                  </a:lnTo>
                  <a:lnTo>
                    <a:pt x="1094359" y="1439570"/>
                  </a:lnTo>
                  <a:lnTo>
                    <a:pt x="1113383" y="1392974"/>
                  </a:lnTo>
                  <a:lnTo>
                    <a:pt x="1133754" y="1347914"/>
                  </a:lnTo>
                  <a:lnTo>
                    <a:pt x="1155433" y="1304480"/>
                  </a:lnTo>
                  <a:lnTo>
                    <a:pt x="1178369" y="1262710"/>
                  </a:lnTo>
                  <a:lnTo>
                    <a:pt x="1202524" y="1222679"/>
                  </a:lnTo>
                  <a:lnTo>
                    <a:pt x="1227848" y="1184452"/>
                  </a:lnTo>
                  <a:lnTo>
                    <a:pt x="1254290" y="1148092"/>
                  </a:lnTo>
                  <a:lnTo>
                    <a:pt x="1281811" y="1113663"/>
                  </a:lnTo>
                  <a:lnTo>
                    <a:pt x="1279652" y="1113663"/>
                  </a:lnTo>
                  <a:lnTo>
                    <a:pt x="1306906" y="1074445"/>
                  </a:lnTo>
                  <a:lnTo>
                    <a:pt x="1331366" y="1033310"/>
                  </a:lnTo>
                  <a:lnTo>
                    <a:pt x="1352931" y="990396"/>
                  </a:lnTo>
                  <a:lnTo>
                    <a:pt x="1371485" y="945832"/>
                  </a:lnTo>
                  <a:lnTo>
                    <a:pt x="1386916" y="899756"/>
                  </a:lnTo>
                  <a:lnTo>
                    <a:pt x="1399095" y="852297"/>
                  </a:lnTo>
                  <a:lnTo>
                    <a:pt x="1407947" y="803592"/>
                  </a:lnTo>
                  <a:lnTo>
                    <a:pt x="1413332" y="753770"/>
                  </a:lnTo>
                  <a:lnTo>
                    <a:pt x="1415161" y="702945"/>
                  </a:lnTo>
                  <a:close/>
                </a:path>
              </a:pathLst>
            </a:custGeom>
            <a:solidFill>
              <a:srgbClr val="FFC000"/>
            </a:solidFill>
          </p:spPr>
          <p:txBody>
            <a:bodyPr wrap="square" lIns="0" tIns="0" rIns="0" bIns="0" rtlCol="0"/>
            <a:lstStyle/>
            <a:p>
              <a:endParaRPr/>
            </a:p>
          </p:txBody>
        </p:sp>
      </p:grpSp>
      <p:sp>
        <p:nvSpPr>
          <p:cNvPr id="5" name="object 5"/>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6" name="object 6"/>
          <p:cNvSpPr/>
          <p:nvPr/>
        </p:nvSpPr>
        <p:spPr>
          <a:xfrm>
            <a:off x="4767326" y="6254369"/>
            <a:ext cx="798830" cy="798830"/>
          </a:xfrm>
          <a:custGeom>
            <a:avLst/>
            <a:gdLst/>
            <a:ahLst/>
            <a:cxnLst/>
            <a:rect l="l" t="t" r="r" b="b"/>
            <a:pathLst>
              <a:path w="798829" h="798829">
                <a:moveTo>
                  <a:pt x="399288" y="0"/>
                </a:moveTo>
                <a:lnTo>
                  <a:pt x="352731" y="2687"/>
                </a:lnTo>
                <a:lnTo>
                  <a:pt x="307750" y="10548"/>
                </a:lnTo>
                <a:lnTo>
                  <a:pt x="264643" y="23284"/>
                </a:lnTo>
                <a:lnTo>
                  <a:pt x="223712" y="40595"/>
                </a:lnTo>
                <a:lnTo>
                  <a:pt x="185255" y="62182"/>
                </a:lnTo>
                <a:lnTo>
                  <a:pt x="149574" y="87744"/>
                </a:lnTo>
                <a:lnTo>
                  <a:pt x="116967" y="116982"/>
                </a:lnTo>
                <a:lnTo>
                  <a:pt x="87734" y="149597"/>
                </a:lnTo>
                <a:lnTo>
                  <a:pt x="62176" y="185289"/>
                </a:lnTo>
                <a:lnTo>
                  <a:pt x="40592" y="223758"/>
                </a:lnTo>
                <a:lnTo>
                  <a:pt x="23283" y="264705"/>
                </a:lnTo>
                <a:lnTo>
                  <a:pt x="10548" y="307830"/>
                </a:lnTo>
                <a:lnTo>
                  <a:pt x="2686" y="352833"/>
                </a:lnTo>
                <a:lnTo>
                  <a:pt x="0" y="399414"/>
                </a:lnTo>
                <a:lnTo>
                  <a:pt x="2686" y="445971"/>
                </a:lnTo>
                <a:lnTo>
                  <a:pt x="10548" y="490954"/>
                </a:lnTo>
                <a:lnTo>
                  <a:pt x="23283" y="534063"/>
                </a:lnTo>
                <a:lnTo>
                  <a:pt x="40592" y="574998"/>
                </a:lnTo>
                <a:lnTo>
                  <a:pt x="62176" y="613458"/>
                </a:lnTo>
                <a:lnTo>
                  <a:pt x="87734" y="649143"/>
                </a:lnTo>
                <a:lnTo>
                  <a:pt x="116966" y="681755"/>
                </a:lnTo>
                <a:lnTo>
                  <a:pt x="149574" y="710991"/>
                </a:lnTo>
                <a:lnTo>
                  <a:pt x="185255" y="736553"/>
                </a:lnTo>
                <a:lnTo>
                  <a:pt x="223712" y="758140"/>
                </a:lnTo>
                <a:lnTo>
                  <a:pt x="264643" y="775453"/>
                </a:lnTo>
                <a:lnTo>
                  <a:pt x="307750" y="788190"/>
                </a:lnTo>
                <a:lnTo>
                  <a:pt x="352731" y="796053"/>
                </a:lnTo>
                <a:lnTo>
                  <a:pt x="399288" y="798741"/>
                </a:lnTo>
                <a:lnTo>
                  <a:pt x="445869" y="796053"/>
                </a:lnTo>
                <a:lnTo>
                  <a:pt x="490872" y="788190"/>
                </a:lnTo>
                <a:lnTo>
                  <a:pt x="533997" y="775453"/>
                </a:lnTo>
                <a:lnTo>
                  <a:pt x="574944" y="758140"/>
                </a:lnTo>
                <a:lnTo>
                  <a:pt x="613413" y="736553"/>
                </a:lnTo>
                <a:lnTo>
                  <a:pt x="649105" y="710991"/>
                </a:lnTo>
                <a:lnTo>
                  <a:pt x="681720" y="681755"/>
                </a:lnTo>
                <a:lnTo>
                  <a:pt x="710958" y="649143"/>
                </a:lnTo>
                <a:lnTo>
                  <a:pt x="736520" y="613458"/>
                </a:lnTo>
                <a:lnTo>
                  <a:pt x="758107" y="574998"/>
                </a:lnTo>
                <a:lnTo>
                  <a:pt x="775418" y="534063"/>
                </a:lnTo>
                <a:lnTo>
                  <a:pt x="788154" y="490954"/>
                </a:lnTo>
                <a:lnTo>
                  <a:pt x="796015" y="445971"/>
                </a:lnTo>
                <a:lnTo>
                  <a:pt x="798702" y="399414"/>
                </a:lnTo>
                <a:lnTo>
                  <a:pt x="796015" y="352833"/>
                </a:lnTo>
                <a:lnTo>
                  <a:pt x="788154" y="307830"/>
                </a:lnTo>
                <a:lnTo>
                  <a:pt x="775418" y="264705"/>
                </a:lnTo>
                <a:lnTo>
                  <a:pt x="758107" y="223758"/>
                </a:lnTo>
                <a:lnTo>
                  <a:pt x="736520" y="185289"/>
                </a:lnTo>
                <a:lnTo>
                  <a:pt x="710958" y="149597"/>
                </a:lnTo>
                <a:lnTo>
                  <a:pt x="681720" y="116982"/>
                </a:lnTo>
                <a:lnTo>
                  <a:pt x="649105" y="87744"/>
                </a:lnTo>
                <a:lnTo>
                  <a:pt x="613413" y="62182"/>
                </a:lnTo>
                <a:lnTo>
                  <a:pt x="574944" y="40595"/>
                </a:lnTo>
                <a:lnTo>
                  <a:pt x="533997" y="23284"/>
                </a:lnTo>
                <a:lnTo>
                  <a:pt x="490872" y="10548"/>
                </a:lnTo>
                <a:lnTo>
                  <a:pt x="445869" y="2687"/>
                </a:lnTo>
                <a:lnTo>
                  <a:pt x="399288" y="0"/>
                </a:lnTo>
                <a:close/>
              </a:path>
            </a:pathLst>
          </a:custGeom>
          <a:solidFill>
            <a:srgbClr val="4471C4"/>
          </a:solidFill>
        </p:spPr>
        <p:txBody>
          <a:bodyPr wrap="square" lIns="0" tIns="0" rIns="0" bIns="0" rtlCol="0"/>
          <a:lstStyle/>
          <a:p>
            <a:endParaRPr/>
          </a:p>
        </p:txBody>
      </p:sp>
      <p:sp>
        <p:nvSpPr>
          <p:cNvPr id="7" name="object 7"/>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8" name="object 8"/>
          <p:cNvGrpSpPr/>
          <p:nvPr/>
        </p:nvGrpSpPr>
        <p:grpSpPr>
          <a:xfrm>
            <a:off x="5147564" y="4235830"/>
            <a:ext cx="798830" cy="798830"/>
            <a:chOff x="5147564" y="4235830"/>
            <a:chExt cx="798830" cy="798830"/>
          </a:xfrm>
        </p:grpSpPr>
        <p:sp>
          <p:nvSpPr>
            <p:cNvPr id="9" name="object 9"/>
            <p:cNvSpPr/>
            <p:nvPr/>
          </p:nvSpPr>
          <p:spPr>
            <a:xfrm>
              <a:off x="5147564" y="4235830"/>
              <a:ext cx="798830" cy="798830"/>
            </a:xfrm>
            <a:custGeom>
              <a:avLst/>
              <a:gdLst/>
              <a:ahLst/>
              <a:cxnLst/>
              <a:rect l="l" t="t" r="r" b="b"/>
              <a:pathLst>
                <a:path w="798829" h="798829">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3"/>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5"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EC7C30"/>
            </a:solidFill>
          </p:spPr>
          <p:txBody>
            <a:bodyPr wrap="square" lIns="0" tIns="0" rIns="0" bIns="0" rtlCol="0"/>
            <a:lstStyle/>
            <a:p>
              <a:endParaRPr/>
            </a:p>
          </p:txBody>
        </p:sp>
        <p:sp>
          <p:nvSpPr>
            <p:cNvPr id="10" name="object 10"/>
            <p:cNvSpPr/>
            <p:nvPr/>
          </p:nvSpPr>
          <p:spPr>
            <a:xfrm>
              <a:off x="5389372" y="4507864"/>
              <a:ext cx="314960" cy="314960"/>
            </a:xfrm>
            <a:custGeom>
              <a:avLst/>
              <a:gdLst/>
              <a:ahLst/>
              <a:cxnLst/>
              <a:rect l="l" t="t" r="r" b="b"/>
              <a:pathLst>
                <a:path w="314960" h="314960">
                  <a:moveTo>
                    <a:pt x="157225" y="41401"/>
                  </a:moveTo>
                  <a:lnTo>
                    <a:pt x="109499" y="51077"/>
                  </a:lnTo>
                  <a:lnTo>
                    <a:pt x="70500" y="77470"/>
                  </a:lnTo>
                  <a:lnTo>
                    <a:pt x="44194" y="116625"/>
                  </a:lnTo>
                  <a:lnTo>
                    <a:pt x="34543" y="164592"/>
                  </a:lnTo>
                  <a:lnTo>
                    <a:pt x="38473" y="195591"/>
                  </a:lnTo>
                  <a:lnTo>
                    <a:pt x="49593" y="223710"/>
                  </a:lnTo>
                  <a:lnTo>
                    <a:pt x="66905" y="247923"/>
                  </a:lnTo>
                  <a:lnTo>
                    <a:pt x="89407" y="267208"/>
                  </a:lnTo>
                  <a:lnTo>
                    <a:pt x="63373" y="314579"/>
                  </a:lnTo>
                  <a:lnTo>
                    <a:pt x="88391" y="314579"/>
                  </a:lnTo>
                  <a:lnTo>
                    <a:pt x="108712" y="277749"/>
                  </a:lnTo>
                  <a:lnTo>
                    <a:pt x="230865" y="277749"/>
                  </a:lnTo>
                  <a:lnTo>
                    <a:pt x="225464" y="267970"/>
                  </a:lnTo>
                  <a:lnTo>
                    <a:pt x="157225" y="267970"/>
                  </a:lnTo>
                  <a:lnTo>
                    <a:pt x="117203" y="259836"/>
                  </a:lnTo>
                  <a:lnTo>
                    <a:pt x="84502" y="237664"/>
                  </a:lnTo>
                  <a:lnTo>
                    <a:pt x="62446" y="204801"/>
                  </a:lnTo>
                  <a:lnTo>
                    <a:pt x="54355" y="164592"/>
                  </a:lnTo>
                  <a:lnTo>
                    <a:pt x="62446" y="124382"/>
                  </a:lnTo>
                  <a:lnTo>
                    <a:pt x="84502" y="91519"/>
                  </a:lnTo>
                  <a:lnTo>
                    <a:pt x="117203" y="69347"/>
                  </a:lnTo>
                  <a:lnTo>
                    <a:pt x="157225" y="61213"/>
                  </a:lnTo>
                  <a:lnTo>
                    <a:pt x="219981" y="61213"/>
                  </a:lnTo>
                  <a:lnTo>
                    <a:pt x="205005" y="51077"/>
                  </a:lnTo>
                  <a:lnTo>
                    <a:pt x="157225" y="41401"/>
                  </a:lnTo>
                  <a:close/>
                </a:path>
                <a:path w="314960" h="314960">
                  <a:moveTo>
                    <a:pt x="230865" y="277749"/>
                  </a:moveTo>
                  <a:lnTo>
                    <a:pt x="205739" y="277749"/>
                  </a:lnTo>
                  <a:lnTo>
                    <a:pt x="226060" y="314579"/>
                  </a:lnTo>
                  <a:lnTo>
                    <a:pt x="251205" y="314579"/>
                  </a:lnTo>
                  <a:lnTo>
                    <a:pt x="230865" y="277749"/>
                  </a:lnTo>
                  <a:close/>
                </a:path>
                <a:path w="314960" h="314960">
                  <a:moveTo>
                    <a:pt x="205739" y="277749"/>
                  </a:moveTo>
                  <a:lnTo>
                    <a:pt x="108712" y="277749"/>
                  </a:lnTo>
                  <a:lnTo>
                    <a:pt x="120149" y="282049"/>
                  </a:lnTo>
                  <a:lnTo>
                    <a:pt x="132111" y="285194"/>
                  </a:lnTo>
                  <a:lnTo>
                    <a:pt x="144502" y="287125"/>
                  </a:lnTo>
                  <a:lnTo>
                    <a:pt x="157225" y="287782"/>
                  </a:lnTo>
                  <a:lnTo>
                    <a:pt x="170003" y="287125"/>
                  </a:lnTo>
                  <a:lnTo>
                    <a:pt x="182387" y="285194"/>
                  </a:lnTo>
                  <a:lnTo>
                    <a:pt x="194319" y="282049"/>
                  </a:lnTo>
                  <a:lnTo>
                    <a:pt x="205739" y="277749"/>
                  </a:lnTo>
                  <a:close/>
                </a:path>
                <a:path w="314960" h="314960">
                  <a:moveTo>
                    <a:pt x="219981" y="61213"/>
                  </a:moveTo>
                  <a:lnTo>
                    <a:pt x="157225" y="61213"/>
                  </a:lnTo>
                  <a:lnTo>
                    <a:pt x="197302" y="69347"/>
                  </a:lnTo>
                  <a:lnTo>
                    <a:pt x="229996" y="91519"/>
                  </a:lnTo>
                  <a:lnTo>
                    <a:pt x="252023" y="124382"/>
                  </a:lnTo>
                  <a:lnTo>
                    <a:pt x="260095" y="164592"/>
                  </a:lnTo>
                  <a:lnTo>
                    <a:pt x="252023" y="204801"/>
                  </a:lnTo>
                  <a:lnTo>
                    <a:pt x="229996" y="237664"/>
                  </a:lnTo>
                  <a:lnTo>
                    <a:pt x="197302" y="259836"/>
                  </a:lnTo>
                  <a:lnTo>
                    <a:pt x="157225" y="267970"/>
                  </a:lnTo>
                  <a:lnTo>
                    <a:pt x="225464" y="267970"/>
                  </a:lnTo>
                  <a:lnTo>
                    <a:pt x="225043" y="267208"/>
                  </a:lnTo>
                  <a:lnTo>
                    <a:pt x="247600" y="247923"/>
                  </a:lnTo>
                  <a:lnTo>
                    <a:pt x="264906" y="223710"/>
                  </a:lnTo>
                  <a:lnTo>
                    <a:pt x="275996" y="195591"/>
                  </a:lnTo>
                  <a:lnTo>
                    <a:pt x="279907" y="164592"/>
                  </a:lnTo>
                  <a:lnTo>
                    <a:pt x="270275" y="116625"/>
                  </a:lnTo>
                  <a:lnTo>
                    <a:pt x="243998" y="77470"/>
                  </a:lnTo>
                  <a:lnTo>
                    <a:pt x="219981" y="61213"/>
                  </a:lnTo>
                  <a:close/>
                </a:path>
                <a:path w="314960" h="314960">
                  <a:moveTo>
                    <a:pt x="163449" y="101726"/>
                  </a:moveTo>
                  <a:lnTo>
                    <a:pt x="151002" y="101726"/>
                  </a:lnTo>
                  <a:lnTo>
                    <a:pt x="146050" y="106807"/>
                  </a:lnTo>
                  <a:lnTo>
                    <a:pt x="146173" y="176022"/>
                  </a:lnTo>
                  <a:lnTo>
                    <a:pt x="151126" y="181101"/>
                  </a:lnTo>
                  <a:lnTo>
                    <a:pt x="220472" y="181101"/>
                  </a:lnTo>
                  <a:lnTo>
                    <a:pt x="225551" y="176022"/>
                  </a:lnTo>
                  <a:lnTo>
                    <a:pt x="225551" y="163449"/>
                  </a:lnTo>
                  <a:lnTo>
                    <a:pt x="220472" y="158369"/>
                  </a:lnTo>
                  <a:lnTo>
                    <a:pt x="168528" y="158369"/>
                  </a:lnTo>
                  <a:lnTo>
                    <a:pt x="168528" y="106807"/>
                  </a:lnTo>
                  <a:lnTo>
                    <a:pt x="163449" y="101726"/>
                  </a:lnTo>
                  <a:close/>
                </a:path>
                <a:path w="314960" h="314960">
                  <a:moveTo>
                    <a:pt x="62356" y="11937"/>
                  </a:moveTo>
                  <a:lnTo>
                    <a:pt x="18287" y="30861"/>
                  </a:lnTo>
                  <a:lnTo>
                    <a:pt x="0" y="75437"/>
                  </a:lnTo>
                  <a:lnTo>
                    <a:pt x="4429" y="99119"/>
                  </a:lnTo>
                  <a:lnTo>
                    <a:pt x="17906" y="120014"/>
                  </a:lnTo>
                  <a:lnTo>
                    <a:pt x="106933" y="29590"/>
                  </a:lnTo>
                  <a:lnTo>
                    <a:pt x="96968" y="21724"/>
                  </a:lnTo>
                  <a:lnTo>
                    <a:pt x="85978" y="16192"/>
                  </a:lnTo>
                  <a:lnTo>
                    <a:pt x="74322" y="12946"/>
                  </a:lnTo>
                  <a:lnTo>
                    <a:pt x="62356" y="11937"/>
                  </a:lnTo>
                  <a:close/>
                </a:path>
                <a:path w="314960" h="314960">
                  <a:moveTo>
                    <a:pt x="252222" y="11937"/>
                  </a:moveTo>
                  <a:lnTo>
                    <a:pt x="240200" y="12946"/>
                  </a:lnTo>
                  <a:lnTo>
                    <a:pt x="228536" y="16192"/>
                  </a:lnTo>
                  <a:lnTo>
                    <a:pt x="217539" y="21724"/>
                  </a:lnTo>
                  <a:lnTo>
                    <a:pt x="207517" y="29590"/>
                  </a:lnTo>
                  <a:lnTo>
                    <a:pt x="296544" y="120014"/>
                  </a:lnTo>
                  <a:lnTo>
                    <a:pt x="310096" y="99119"/>
                  </a:lnTo>
                  <a:lnTo>
                    <a:pt x="314563" y="75437"/>
                  </a:lnTo>
                  <a:lnTo>
                    <a:pt x="309957" y="51756"/>
                  </a:lnTo>
                  <a:lnTo>
                    <a:pt x="275685" y="16875"/>
                  </a:lnTo>
                  <a:lnTo>
                    <a:pt x="252222" y="11937"/>
                  </a:lnTo>
                  <a:close/>
                </a:path>
                <a:path w="314960" h="314960">
                  <a:moveTo>
                    <a:pt x="174878" y="0"/>
                  </a:moveTo>
                  <a:lnTo>
                    <a:pt x="139700" y="0"/>
                  </a:lnTo>
                  <a:lnTo>
                    <a:pt x="133350" y="6350"/>
                  </a:lnTo>
                  <a:lnTo>
                    <a:pt x="133350" y="28194"/>
                  </a:lnTo>
                  <a:lnTo>
                    <a:pt x="181101" y="28194"/>
                  </a:lnTo>
                  <a:lnTo>
                    <a:pt x="181101" y="6350"/>
                  </a:lnTo>
                  <a:lnTo>
                    <a:pt x="174878"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5912865" y="6398767"/>
            <a:ext cx="3741420" cy="1123315"/>
          </a:xfrm>
          <a:prstGeom prst="rect">
            <a:avLst/>
          </a:prstGeom>
        </p:spPr>
        <p:txBody>
          <a:bodyPr vert="horz" wrap="square" lIns="0" tIns="12700" rIns="0" bIns="0" rtlCol="0">
            <a:spAutoFit/>
          </a:bodyPr>
          <a:lstStyle/>
          <a:p>
            <a:pPr marL="299085" indent="-286385">
              <a:lnSpc>
                <a:spcPct val="100000"/>
              </a:lnSpc>
              <a:spcBef>
                <a:spcPts val="100"/>
              </a:spcBef>
              <a:buClr>
                <a:srgbClr val="404040"/>
              </a:buClr>
              <a:buFont typeface="Arial MT"/>
              <a:buChar char="•"/>
              <a:tabLst>
                <a:tab pos="299085" algn="l"/>
              </a:tabLst>
            </a:pPr>
            <a:r>
              <a:rPr sz="1800" spc="-5" dirty="0">
                <a:solidFill>
                  <a:srgbClr val="404040"/>
                </a:solidFill>
                <a:latin typeface="Microsoft JhengHei"/>
                <a:cs typeface="Microsoft JhengHei"/>
              </a:rPr>
              <a:t>主動輸出原理：促進詞彙內化記憶</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即時回饋原理：立即理解修正錯誤</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雙語支持原理：減輕學習認知壓力</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漸進挑戰原理：逐步提高詞彙難度</a:t>
            </a:r>
            <a:endParaRPr sz="1800">
              <a:latin typeface="Microsoft JhengHei"/>
              <a:cs typeface="Microsoft JhengHei"/>
            </a:endParaRPr>
          </a:p>
        </p:txBody>
      </p:sp>
      <p:sp>
        <p:nvSpPr>
          <p:cNvPr id="12" name="object 12"/>
          <p:cNvSpPr txBox="1"/>
          <p:nvPr/>
        </p:nvSpPr>
        <p:spPr>
          <a:xfrm>
            <a:off x="7146417" y="5957442"/>
            <a:ext cx="1244600" cy="391160"/>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4471C4"/>
                </a:solidFill>
                <a:latin typeface="Microsoft JhengHei"/>
                <a:cs typeface="Microsoft JhengHei"/>
              </a:rPr>
              <a:t>設計原理</a:t>
            </a:r>
            <a:endParaRPr sz="2400">
              <a:latin typeface="Microsoft JhengHei"/>
              <a:cs typeface="Microsoft JhengHei"/>
            </a:endParaRPr>
          </a:p>
        </p:txBody>
      </p:sp>
      <p:sp>
        <p:nvSpPr>
          <p:cNvPr id="13" name="object 13"/>
          <p:cNvSpPr txBox="1"/>
          <p:nvPr/>
        </p:nvSpPr>
        <p:spPr>
          <a:xfrm>
            <a:off x="1479930" y="4073440"/>
            <a:ext cx="3512820" cy="1250315"/>
          </a:xfrm>
          <a:prstGeom prst="rect">
            <a:avLst/>
          </a:prstGeom>
        </p:spPr>
        <p:txBody>
          <a:bodyPr vert="horz" wrap="square" lIns="0" tIns="189865" rIns="0" bIns="0" rtlCol="0">
            <a:spAutoFit/>
          </a:bodyPr>
          <a:lstStyle/>
          <a:p>
            <a:pPr marL="505459">
              <a:lnSpc>
                <a:spcPct val="100000"/>
              </a:lnSpc>
              <a:spcBef>
                <a:spcPts val="1495"/>
              </a:spcBef>
            </a:pPr>
            <a:r>
              <a:rPr sz="2400" b="1" spc="-10" dirty="0">
                <a:solidFill>
                  <a:srgbClr val="EC7C30"/>
                </a:solidFill>
                <a:latin typeface="Microsoft JhengHei"/>
                <a:cs typeface="Microsoft JhengHei"/>
              </a:rPr>
              <a:t>難度分級設計</a:t>
            </a:r>
            <a:endParaRPr sz="2400">
              <a:latin typeface="Microsoft JhengHei"/>
              <a:cs typeface="Microsoft JhengHei"/>
            </a:endParaRPr>
          </a:p>
          <a:p>
            <a:pPr marL="299085" indent="-286385">
              <a:lnSpc>
                <a:spcPct val="100000"/>
              </a:lnSpc>
              <a:spcBef>
                <a:spcPts val="1045"/>
              </a:spcBef>
              <a:buFont typeface="Arial MT"/>
              <a:buChar char="•"/>
              <a:tabLst>
                <a:tab pos="299085" algn="l"/>
              </a:tabLst>
            </a:pPr>
            <a:r>
              <a:rPr sz="1800" spc="-10" dirty="0">
                <a:solidFill>
                  <a:srgbClr val="404040"/>
                </a:solidFill>
                <a:latin typeface="Microsoft JhengHei"/>
                <a:cs typeface="Microsoft JhengHei"/>
              </a:rPr>
              <a:t>CEFR標準三級分類</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差異化內容：詞彙定義範例調整</a:t>
            </a:r>
            <a:endParaRPr sz="1800">
              <a:latin typeface="Microsoft JhengHei"/>
              <a:cs typeface="Microsoft JhengHei"/>
            </a:endParaRPr>
          </a:p>
        </p:txBody>
      </p:sp>
      <p:sp>
        <p:nvSpPr>
          <p:cNvPr id="14" name="object 14"/>
          <p:cNvSpPr/>
          <p:nvPr/>
        </p:nvSpPr>
        <p:spPr>
          <a:xfrm>
            <a:off x="9349867" y="4419853"/>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7"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7" y="59944"/>
                </a:lnTo>
                <a:lnTo>
                  <a:pt x="193928" y="59944"/>
                </a:lnTo>
                <a:lnTo>
                  <a:pt x="186152" y="58382"/>
                </a:lnTo>
                <a:lnTo>
                  <a:pt x="179816" y="54117"/>
                </a:lnTo>
                <a:lnTo>
                  <a:pt x="175551" y="47781"/>
                </a:lnTo>
                <a:lnTo>
                  <a:pt x="173989" y="40005"/>
                </a:lnTo>
                <a:lnTo>
                  <a:pt x="173989" y="26035"/>
                </a:lnTo>
                <a:close/>
              </a:path>
              <a:path w="276225" h="275589">
                <a:moveTo>
                  <a:pt x="226822"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2" y="40005"/>
                </a:lnTo>
                <a:lnTo>
                  <a:pt x="226822"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5"/>
                </a:lnTo>
                <a:lnTo>
                  <a:pt x="24764" y="47371"/>
                </a:lnTo>
                <a:lnTo>
                  <a:pt x="29590" y="52197"/>
                </a:lnTo>
                <a:lnTo>
                  <a:pt x="41401" y="52197"/>
                </a:lnTo>
                <a:lnTo>
                  <a:pt x="46227" y="47371"/>
                </a:lnTo>
                <a:lnTo>
                  <a:pt x="46227" y="4825"/>
                </a:lnTo>
                <a:lnTo>
                  <a:pt x="41401" y="0"/>
                </a:lnTo>
                <a:close/>
              </a:path>
              <a:path w="276225" h="275589">
                <a:moveTo>
                  <a:pt x="94233" y="0"/>
                </a:moveTo>
                <a:lnTo>
                  <a:pt x="82296" y="0"/>
                </a:lnTo>
                <a:lnTo>
                  <a:pt x="77597" y="4825"/>
                </a:lnTo>
                <a:lnTo>
                  <a:pt x="77597" y="47371"/>
                </a:lnTo>
                <a:lnTo>
                  <a:pt x="82296" y="52197"/>
                </a:lnTo>
                <a:lnTo>
                  <a:pt x="94233" y="52197"/>
                </a:lnTo>
                <a:lnTo>
                  <a:pt x="99059" y="47371"/>
                </a:lnTo>
                <a:lnTo>
                  <a:pt x="99059" y="4825"/>
                </a:lnTo>
                <a:lnTo>
                  <a:pt x="94233" y="0"/>
                </a:lnTo>
                <a:close/>
              </a:path>
              <a:path w="276225" h="275589">
                <a:moveTo>
                  <a:pt x="147065" y="0"/>
                </a:moveTo>
                <a:lnTo>
                  <a:pt x="135127" y="0"/>
                </a:lnTo>
                <a:lnTo>
                  <a:pt x="130428" y="4825"/>
                </a:lnTo>
                <a:lnTo>
                  <a:pt x="130428" y="47371"/>
                </a:lnTo>
                <a:lnTo>
                  <a:pt x="135127" y="52197"/>
                </a:lnTo>
                <a:lnTo>
                  <a:pt x="147065" y="52197"/>
                </a:lnTo>
                <a:lnTo>
                  <a:pt x="151764" y="47371"/>
                </a:lnTo>
                <a:lnTo>
                  <a:pt x="151764" y="4825"/>
                </a:lnTo>
                <a:lnTo>
                  <a:pt x="147065" y="0"/>
                </a:lnTo>
                <a:close/>
              </a:path>
              <a:path w="276225" h="275589">
                <a:moveTo>
                  <a:pt x="199898" y="0"/>
                </a:moveTo>
                <a:lnTo>
                  <a:pt x="187959" y="0"/>
                </a:lnTo>
                <a:lnTo>
                  <a:pt x="183133" y="4825"/>
                </a:lnTo>
                <a:lnTo>
                  <a:pt x="183133" y="47371"/>
                </a:lnTo>
                <a:lnTo>
                  <a:pt x="187959" y="52197"/>
                </a:lnTo>
                <a:lnTo>
                  <a:pt x="199898" y="52197"/>
                </a:lnTo>
                <a:lnTo>
                  <a:pt x="204597" y="47371"/>
                </a:lnTo>
                <a:lnTo>
                  <a:pt x="204597" y="4825"/>
                </a:lnTo>
                <a:lnTo>
                  <a:pt x="199898" y="0"/>
                </a:lnTo>
                <a:close/>
              </a:path>
              <a:path w="276225" h="275589">
                <a:moveTo>
                  <a:pt x="252602" y="0"/>
                </a:moveTo>
                <a:lnTo>
                  <a:pt x="240791" y="0"/>
                </a:lnTo>
                <a:lnTo>
                  <a:pt x="235965" y="4825"/>
                </a:lnTo>
                <a:lnTo>
                  <a:pt x="235965" y="47371"/>
                </a:lnTo>
                <a:lnTo>
                  <a:pt x="240791" y="52197"/>
                </a:lnTo>
                <a:lnTo>
                  <a:pt x="252602" y="52197"/>
                </a:lnTo>
                <a:lnTo>
                  <a:pt x="257428" y="47371"/>
                </a:lnTo>
                <a:lnTo>
                  <a:pt x="257428" y="4825"/>
                </a:lnTo>
                <a:lnTo>
                  <a:pt x="252602" y="0"/>
                </a:lnTo>
                <a:close/>
              </a:path>
            </a:pathLst>
          </a:custGeom>
          <a:solidFill>
            <a:srgbClr val="FFFFFF"/>
          </a:solidFill>
        </p:spPr>
        <p:txBody>
          <a:bodyPr wrap="square" lIns="0" tIns="0" rIns="0" bIns="0" rtlCol="0"/>
          <a:lstStyle/>
          <a:p>
            <a:endParaRPr/>
          </a:p>
        </p:txBody>
      </p:sp>
      <p:sp>
        <p:nvSpPr>
          <p:cNvPr id="15" name="object 15"/>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6" name="object 16"/>
          <p:cNvSpPr/>
          <p:nvPr/>
        </p:nvSpPr>
        <p:spPr>
          <a:xfrm>
            <a:off x="5018404" y="6515227"/>
            <a:ext cx="299085" cy="299085"/>
          </a:xfrm>
          <a:custGeom>
            <a:avLst/>
            <a:gdLst/>
            <a:ahLst/>
            <a:cxnLst/>
            <a:rect l="l" t="t" r="r" b="b"/>
            <a:pathLst>
              <a:path w="299085" h="299084">
                <a:moveTo>
                  <a:pt x="298958" y="0"/>
                </a:moveTo>
                <a:lnTo>
                  <a:pt x="0" y="0"/>
                </a:lnTo>
                <a:lnTo>
                  <a:pt x="0" y="298831"/>
                </a:lnTo>
                <a:lnTo>
                  <a:pt x="298958" y="298831"/>
                </a:lnTo>
                <a:lnTo>
                  <a:pt x="298958" y="263271"/>
                </a:lnTo>
                <a:lnTo>
                  <a:pt x="35560" y="263271"/>
                </a:lnTo>
                <a:lnTo>
                  <a:pt x="35560" y="35433"/>
                </a:lnTo>
                <a:lnTo>
                  <a:pt x="38354" y="35433"/>
                </a:lnTo>
                <a:lnTo>
                  <a:pt x="38354" y="35052"/>
                </a:lnTo>
                <a:lnTo>
                  <a:pt x="298958" y="35052"/>
                </a:lnTo>
                <a:lnTo>
                  <a:pt x="298958" y="0"/>
                </a:lnTo>
                <a:close/>
              </a:path>
              <a:path w="299085" h="299084">
                <a:moveTo>
                  <a:pt x="55372" y="109220"/>
                </a:moveTo>
                <a:lnTo>
                  <a:pt x="40259" y="154305"/>
                </a:lnTo>
                <a:lnTo>
                  <a:pt x="74481" y="167705"/>
                </a:lnTo>
                <a:lnTo>
                  <a:pt x="101060" y="195786"/>
                </a:lnTo>
                <a:lnTo>
                  <a:pt x="122447" y="230368"/>
                </a:lnTo>
                <a:lnTo>
                  <a:pt x="141097" y="263271"/>
                </a:lnTo>
                <a:lnTo>
                  <a:pt x="145669" y="263271"/>
                </a:lnTo>
                <a:lnTo>
                  <a:pt x="164873" y="220895"/>
                </a:lnTo>
                <a:lnTo>
                  <a:pt x="185631" y="177419"/>
                </a:lnTo>
                <a:lnTo>
                  <a:pt x="142494" y="177419"/>
                </a:lnTo>
                <a:lnTo>
                  <a:pt x="125452" y="154511"/>
                </a:lnTo>
                <a:lnTo>
                  <a:pt x="108172" y="136461"/>
                </a:lnTo>
                <a:lnTo>
                  <a:pt x="86272" y="121840"/>
                </a:lnTo>
                <a:lnTo>
                  <a:pt x="55372" y="109220"/>
                </a:lnTo>
                <a:close/>
              </a:path>
              <a:path w="299085" h="299084">
                <a:moveTo>
                  <a:pt x="298958" y="35052"/>
                </a:moveTo>
                <a:lnTo>
                  <a:pt x="263779" y="35052"/>
                </a:lnTo>
                <a:lnTo>
                  <a:pt x="263779" y="54991"/>
                </a:lnTo>
                <a:lnTo>
                  <a:pt x="263398" y="54991"/>
                </a:lnTo>
                <a:lnTo>
                  <a:pt x="263398" y="263271"/>
                </a:lnTo>
                <a:lnTo>
                  <a:pt x="298958" y="263271"/>
                </a:lnTo>
                <a:lnTo>
                  <a:pt x="298958" y="35052"/>
                </a:lnTo>
                <a:close/>
              </a:path>
              <a:path w="299085" h="299084">
                <a:moveTo>
                  <a:pt x="255650" y="54991"/>
                </a:moveTo>
                <a:lnTo>
                  <a:pt x="206121" y="54991"/>
                </a:lnTo>
                <a:lnTo>
                  <a:pt x="187410" y="86193"/>
                </a:lnTo>
                <a:lnTo>
                  <a:pt x="172164" y="114395"/>
                </a:lnTo>
                <a:lnTo>
                  <a:pt x="157989" y="143502"/>
                </a:lnTo>
                <a:lnTo>
                  <a:pt x="142494" y="177419"/>
                </a:lnTo>
                <a:lnTo>
                  <a:pt x="185631" y="177419"/>
                </a:lnTo>
                <a:lnTo>
                  <a:pt x="185827" y="177008"/>
                </a:lnTo>
                <a:lnTo>
                  <a:pt x="208177" y="133481"/>
                </a:lnTo>
                <a:lnTo>
                  <a:pt x="231569" y="92184"/>
                </a:lnTo>
                <a:lnTo>
                  <a:pt x="255650" y="54991"/>
                </a:lnTo>
                <a:close/>
              </a:path>
            </a:pathLst>
          </a:custGeom>
          <a:solidFill>
            <a:srgbClr val="FFFFFF"/>
          </a:solidFill>
        </p:spPr>
        <p:txBody>
          <a:bodyPr wrap="square" lIns="0" tIns="0" rIns="0" bIns="0" rtlCol="0"/>
          <a:lstStyle/>
          <a:p>
            <a:endParaRPr/>
          </a:p>
        </p:txBody>
      </p:sp>
      <p:sp>
        <p:nvSpPr>
          <p:cNvPr id="17" name="object 17"/>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8" name="object 18"/>
          <p:cNvSpPr/>
          <p:nvPr/>
        </p:nvSpPr>
        <p:spPr>
          <a:xfrm>
            <a:off x="5564504" y="6166611"/>
            <a:ext cx="173355" cy="377825"/>
          </a:xfrm>
          <a:custGeom>
            <a:avLst/>
            <a:gdLst/>
            <a:ahLst/>
            <a:cxnLst/>
            <a:rect l="l" t="t" r="r" b="b"/>
            <a:pathLst>
              <a:path w="173354" h="377825">
                <a:moveTo>
                  <a:pt x="16510" y="187451"/>
                </a:moveTo>
                <a:lnTo>
                  <a:pt x="0" y="188721"/>
                </a:lnTo>
                <a:lnTo>
                  <a:pt x="7794" y="218570"/>
                </a:lnTo>
                <a:lnTo>
                  <a:pt x="24828" y="243014"/>
                </a:lnTo>
                <a:lnTo>
                  <a:pt x="49006" y="260123"/>
                </a:lnTo>
                <a:lnTo>
                  <a:pt x="78705" y="268096"/>
                </a:lnTo>
                <a:lnTo>
                  <a:pt x="78232" y="268096"/>
                </a:lnTo>
                <a:lnTo>
                  <a:pt x="78232" y="323214"/>
                </a:lnTo>
                <a:lnTo>
                  <a:pt x="81851" y="323214"/>
                </a:lnTo>
                <a:lnTo>
                  <a:pt x="70993" y="323595"/>
                </a:lnTo>
                <a:lnTo>
                  <a:pt x="19669" y="346757"/>
                </a:lnTo>
                <a:lnTo>
                  <a:pt x="6731" y="377570"/>
                </a:lnTo>
                <a:lnTo>
                  <a:pt x="166243" y="375285"/>
                </a:lnTo>
                <a:lnTo>
                  <a:pt x="135507" y="333940"/>
                </a:lnTo>
                <a:lnTo>
                  <a:pt x="102171" y="323595"/>
                </a:lnTo>
                <a:lnTo>
                  <a:pt x="104647" y="323595"/>
                </a:lnTo>
                <a:lnTo>
                  <a:pt x="94742" y="323214"/>
                </a:lnTo>
                <a:lnTo>
                  <a:pt x="94742" y="268096"/>
                </a:lnTo>
                <a:lnTo>
                  <a:pt x="125630" y="259306"/>
                </a:lnTo>
                <a:lnTo>
                  <a:pt x="134968" y="252221"/>
                </a:lnTo>
                <a:lnTo>
                  <a:pt x="89154" y="252221"/>
                </a:lnTo>
                <a:lnTo>
                  <a:pt x="62355" y="247977"/>
                </a:lnTo>
                <a:lnTo>
                  <a:pt x="39830" y="234457"/>
                </a:lnTo>
                <a:lnTo>
                  <a:pt x="23806" y="213627"/>
                </a:lnTo>
                <a:lnTo>
                  <a:pt x="16510" y="187451"/>
                </a:lnTo>
                <a:close/>
              </a:path>
              <a:path w="173354" h="377825">
                <a:moveTo>
                  <a:pt x="173100" y="182118"/>
                </a:moveTo>
                <a:lnTo>
                  <a:pt x="156591" y="182118"/>
                </a:lnTo>
                <a:lnTo>
                  <a:pt x="151358" y="208716"/>
                </a:lnTo>
                <a:lnTo>
                  <a:pt x="137017" y="230695"/>
                </a:lnTo>
                <a:lnTo>
                  <a:pt x="115603" y="245911"/>
                </a:lnTo>
                <a:lnTo>
                  <a:pt x="89154" y="252221"/>
                </a:lnTo>
                <a:lnTo>
                  <a:pt x="134968" y="252221"/>
                </a:lnTo>
                <a:lnTo>
                  <a:pt x="150494" y="240442"/>
                </a:lnTo>
                <a:lnTo>
                  <a:pt x="167072" y="213911"/>
                </a:lnTo>
                <a:lnTo>
                  <a:pt x="172980" y="182752"/>
                </a:lnTo>
                <a:lnTo>
                  <a:pt x="173100" y="182118"/>
                </a:lnTo>
                <a:close/>
              </a:path>
              <a:path w="173354" h="377825">
                <a:moveTo>
                  <a:pt x="86487" y="0"/>
                </a:moveTo>
                <a:lnTo>
                  <a:pt x="66542" y="4032"/>
                </a:lnTo>
                <a:lnTo>
                  <a:pt x="50276" y="15017"/>
                </a:lnTo>
                <a:lnTo>
                  <a:pt x="39320" y="31289"/>
                </a:lnTo>
                <a:lnTo>
                  <a:pt x="35306" y="51181"/>
                </a:lnTo>
                <a:lnTo>
                  <a:pt x="35306" y="182752"/>
                </a:lnTo>
                <a:lnTo>
                  <a:pt x="39320" y="202644"/>
                </a:lnTo>
                <a:lnTo>
                  <a:pt x="50276" y="218916"/>
                </a:lnTo>
                <a:lnTo>
                  <a:pt x="66542" y="229901"/>
                </a:lnTo>
                <a:lnTo>
                  <a:pt x="86487" y="233933"/>
                </a:lnTo>
                <a:lnTo>
                  <a:pt x="106378" y="229901"/>
                </a:lnTo>
                <a:lnTo>
                  <a:pt x="122650" y="218916"/>
                </a:lnTo>
                <a:lnTo>
                  <a:pt x="133635" y="202644"/>
                </a:lnTo>
                <a:lnTo>
                  <a:pt x="137668" y="182752"/>
                </a:lnTo>
                <a:lnTo>
                  <a:pt x="137668" y="51181"/>
                </a:lnTo>
                <a:lnTo>
                  <a:pt x="133635" y="31289"/>
                </a:lnTo>
                <a:lnTo>
                  <a:pt x="122650" y="15017"/>
                </a:lnTo>
                <a:lnTo>
                  <a:pt x="106378" y="4032"/>
                </a:lnTo>
                <a:lnTo>
                  <a:pt x="86487" y="0"/>
                </a:lnTo>
                <a:close/>
              </a:path>
            </a:pathLst>
          </a:custGeom>
          <a:solidFill>
            <a:srgbClr val="FFFFFF"/>
          </a:solidFill>
        </p:spPr>
        <p:txBody>
          <a:bodyPr wrap="square" lIns="0" tIns="0" rIns="0" bIns="0" rtlCol="0"/>
          <a:lstStyle/>
          <a:p>
            <a:endParaRPr/>
          </a:p>
        </p:txBody>
      </p:sp>
      <p:sp>
        <p:nvSpPr>
          <p:cNvPr id="20" name="object 20"/>
          <p:cNvSpPr txBox="1"/>
          <p:nvPr/>
        </p:nvSpPr>
        <p:spPr>
          <a:xfrm>
            <a:off x="1510664" y="1838705"/>
            <a:ext cx="3741420" cy="1470660"/>
          </a:xfrm>
          <a:prstGeom prst="rect">
            <a:avLst/>
          </a:prstGeom>
        </p:spPr>
        <p:txBody>
          <a:bodyPr vert="horz" wrap="square" lIns="0" tIns="158750" rIns="0" bIns="0" rtlCol="0">
            <a:spAutoFit/>
          </a:bodyPr>
          <a:lstStyle/>
          <a:p>
            <a:pPr marL="945515">
              <a:lnSpc>
                <a:spcPct val="100000"/>
              </a:lnSpc>
              <a:spcBef>
                <a:spcPts val="1250"/>
              </a:spcBef>
            </a:pPr>
            <a:r>
              <a:rPr sz="2400" b="1" spc="-15" dirty="0">
                <a:solidFill>
                  <a:srgbClr val="4471C4"/>
                </a:solidFill>
                <a:latin typeface="Microsoft JhengHei"/>
                <a:cs typeface="Microsoft JhengHei"/>
              </a:rPr>
              <a:t>核心架構</a:t>
            </a:r>
            <a:endParaRPr sz="2400">
              <a:latin typeface="Microsoft JhengHei"/>
              <a:cs typeface="Microsoft JhengHei"/>
            </a:endParaRPr>
          </a:p>
          <a:p>
            <a:pPr marL="299085" indent="-286385">
              <a:lnSpc>
                <a:spcPct val="100000"/>
              </a:lnSpc>
              <a:spcBef>
                <a:spcPts val="865"/>
              </a:spcBef>
              <a:buFont typeface="Arial MT"/>
              <a:buChar char="•"/>
              <a:tabLst>
                <a:tab pos="299085" algn="l"/>
              </a:tabLst>
            </a:pPr>
            <a:r>
              <a:rPr sz="1800" spc="-5" dirty="0">
                <a:solidFill>
                  <a:srgbClr val="404040"/>
                </a:solidFill>
                <a:latin typeface="Microsoft JhengHei"/>
                <a:cs typeface="Microsoft JhengHei"/>
              </a:rPr>
              <a:t>角色定位：有耐心英語教師</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三步流程：介紹等待造句回饋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運作指南：適配鼓勵雙語支持原則</a:t>
            </a:r>
            <a:endParaRPr sz="1800">
              <a:latin typeface="Microsoft JhengHei"/>
              <a:cs typeface="Microsoft JhengHei"/>
            </a:endParaRPr>
          </a:p>
        </p:txBody>
      </p:sp>
      <p:grpSp>
        <p:nvGrpSpPr>
          <p:cNvPr id="21" name="object 21"/>
          <p:cNvGrpSpPr/>
          <p:nvPr/>
        </p:nvGrpSpPr>
        <p:grpSpPr>
          <a:xfrm>
            <a:off x="8437753" y="4089146"/>
            <a:ext cx="798830" cy="798830"/>
            <a:chOff x="8437753" y="4089146"/>
            <a:chExt cx="798830" cy="798830"/>
          </a:xfrm>
        </p:grpSpPr>
        <p:sp>
          <p:nvSpPr>
            <p:cNvPr id="22" name="object 22"/>
            <p:cNvSpPr/>
            <p:nvPr/>
          </p:nvSpPr>
          <p:spPr>
            <a:xfrm>
              <a:off x="8437753" y="4089146"/>
              <a:ext cx="798830" cy="798830"/>
            </a:xfrm>
            <a:custGeom>
              <a:avLst/>
              <a:gdLst/>
              <a:ahLst/>
              <a:cxnLst/>
              <a:rect l="l" t="t" r="r" b="b"/>
              <a:pathLst>
                <a:path w="798829" h="798829">
                  <a:moveTo>
                    <a:pt x="399415"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5"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5" y="0"/>
                  </a:lnTo>
                  <a:close/>
                </a:path>
              </a:pathLst>
            </a:custGeom>
            <a:solidFill>
              <a:srgbClr val="EC7C30"/>
            </a:solidFill>
          </p:spPr>
          <p:txBody>
            <a:bodyPr wrap="square" lIns="0" tIns="0" rIns="0" bIns="0" rtlCol="0"/>
            <a:lstStyle/>
            <a:p>
              <a:endParaRPr/>
            </a:p>
          </p:txBody>
        </p:sp>
        <p:sp>
          <p:nvSpPr>
            <p:cNvPr id="23" name="object 23"/>
            <p:cNvSpPr/>
            <p:nvPr/>
          </p:nvSpPr>
          <p:spPr>
            <a:xfrm>
              <a:off x="8698103" y="4370324"/>
              <a:ext cx="276225" cy="275590"/>
            </a:xfrm>
            <a:custGeom>
              <a:avLst/>
              <a:gdLst/>
              <a:ahLst/>
              <a:cxnLst/>
              <a:rect l="l" t="t" r="r" b="b"/>
              <a:pathLst>
                <a:path w="276225" h="275589">
                  <a:moveTo>
                    <a:pt x="15494" y="26035"/>
                  </a:moveTo>
                  <a:lnTo>
                    <a:pt x="0" y="26035"/>
                  </a:lnTo>
                  <a:lnTo>
                    <a:pt x="0" y="275081"/>
                  </a:lnTo>
                  <a:lnTo>
                    <a:pt x="275844" y="275081"/>
                  </a:lnTo>
                  <a:lnTo>
                    <a:pt x="275844" y="241935"/>
                  </a:lnTo>
                  <a:lnTo>
                    <a:pt x="57912" y="241935"/>
                  </a:lnTo>
                  <a:lnTo>
                    <a:pt x="55118" y="239267"/>
                  </a:lnTo>
                  <a:lnTo>
                    <a:pt x="55118" y="232410"/>
                  </a:lnTo>
                  <a:lnTo>
                    <a:pt x="57912" y="229742"/>
                  </a:lnTo>
                  <a:lnTo>
                    <a:pt x="275844" y="229742"/>
                  </a:lnTo>
                  <a:lnTo>
                    <a:pt x="275844" y="213740"/>
                  </a:lnTo>
                  <a:lnTo>
                    <a:pt x="57912" y="213740"/>
                  </a:lnTo>
                  <a:lnTo>
                    <a:pt x="55118" y="211074"/>
                  </a:lnTo>
                  <a:lnTo>
                    <a:pt x="55118" y="204215"/>
                  </a:lnTo>
                  <a:lnTo>
                    <a:pt x="57912" y="201549"/>
                  </a:lnTo>
                  <a:lnTo>
                    <a:pt x="275844" y="201549"/>
                  </a:lnTo>
                  <a:lnTo>
                    <a:pt x="275844" y="185547"/>
                  </a:lnTo>
                  <a:lnTo>
                    <a:pt x="57912" y="185547"/>
                  </a:lnTo>
                  <a:lnTo>
                    <a:pt x="55118" y="182879"/>
                  </a:lnTo>
                  <a:lnTo>
                    <a:pt x="55118" y="176022"/>
                  </a:lnTo>
                  <a:lnTo>
                    <a:pt x="57912" y="173354"/>
                  </a:lnTo>
                  <a:lnTo>
                    <a:pt x="275844" y="173354"/>
                  </a:lnTo>
                  <a:lnTo>
                    <a:pt x="275844" y="157352"/>
                  </a:lnTo>
                  <a:lnTo>
                    <a:pt x="57912" y="157352"/>
                  </a:lnTo>
                  <a:lnTo>
                    <a:pt x="55118" y="154559"/>
                  </a:lnTo>
                  <a:lnTo>
                    <a:pt x="55118" y="147827"/>
                  </a:lnTo>
                  <a:lnTo>
                    <a:pt x="57912" y="145161"/>
                  </a:lnTo>
                  <a:lnTo>
                    <a:pt x="275844" y="145161"/>
                  </a:lnTo>
                  <a:lnTo>
                    <a:pt x="275844" y="129159"/>
                  </a:lnTo>
                  <a:lnTo>
                    <a:pt x="57912" y="129159"/>
                  </a:lnTo>
                  <a:lnTo>
                    <a:pt x="55118" y="126364"/>
                  </a:lnTo>
                  <a:lnTo>
                    <a:pt x="55118" y="119634"/>
                  </a:lnTo>
                  <a:lnTo>
                    <a:pt x="57912" y="116839"/>
                  </a:lnTo>
                  <a:lnTo>
                    <a:pt x="275844" y="116839"/>
                  </a:lnTo>
                  <a:lnTo>
                    <a:pt x="275844" y="100964"/>
                  </a:lnTo>
                  <a:lnTo>
                    <a:pt x="57912" y="100964"/>
                  </a:lnTo>
                  <a:lnTo>
                    <a:pt x="55118" y="98171"/>
                  </a:lnTo>
                  <a:lnTo>
                    <a:pt x="55118" y="91439"/>
                  </a:lnTo>
                  <a:lnTo>
                    <a:pt x="57912" y="88646"/>
                  </a:lnTo>
                  <a:lnTo>
                    <a:pt x="275844" y="88646"/>
                  </a:lnTo>
                  <a:lnTo>
                    <a:pt x="275844" y="59943"/>
                  </a:lnTo>
                  <a:lnTo>
                    <a:pt x="35432" y="59943"/>
                  </a:lnTo>
                  <a:lnTo>
                    <a:pt x="27656" y="58382"/>
                  </a:lnTo>
                  <a:lnTo>
                    <a:pt x="21320" y="54117"/>
                  </a:lnTo>
                  <a:lnTo>
                    <a:pt x="17055" y="47781"/>
                  </a:lnTo>
                  <a:lnTo>
                    <a:pt x="15494" y="40004"/>
                  </a:lnTo>
                  <a:lnTo>
                    <a:pt x="15494" y="26035"/>
                  </a:lnTo>
                  <a:close/>
                </a:path>
                <a:path w="276225" h="275589">
                  <a:moveTo>
                    <a:pt x="275844" y="229742"/>
                  </a:moveTo>
                  <a:lnTo>
                    <a:pt x="217931" y="229742"/>
                  </a:lnTo>
                  <a:lnTo>
                    <a:pt x="220599" y="232410"/>
                  </a:lnTo>
                  <a:lnTo>
                    <a:pt x="220599" y="239267"/>
                  </a:lnTo>
                  <a:lnTo>
                    <a:pt x="217931" y="241935"/>
                  </a:lnTo>
                  <a:lnTo>
                    <a:pt x="275844" y="241935"/>
                  </a:lnTo>
                  <a:lnTo>
                    <a:pt x="275844" y="229742"/>
                  </a:lnTo>
                  <a:close/>
                </a:path>
                <a:path w="276225" h="275589">
                  <a:moveTo>
                    <a:pt x="275844" y="201549"/>
                  </a:moveTo>
                  <a:lnTo>
                    <a:pt x="217931" y="201549"/>
                  </a:lnTo>
                  <a:lnTo>
                    <a:pt x="220599" y="204215"/>
                  </a:lnTo>
                  <a:lnTo>
                    <a:pt x="220599" y="211074"/>
                  </a:lnTo>
                  <a:lnTo>
                    <a:pt x="217931" y="213740"/>
                  </a:lnTo>
                  <a:lnTo>
                    <a:pt x="275844" y="213740"/>
                  </a:lnTo>
                  <a:lnTo>
                    <a:pt x="275844" y="201549"/>
                  </a:lnTo>
                  <a:close/>
                </a:path>
                <a:path w="276225" h="275589">
                  <a:moveTo>
                    <a:pt x="275844" y="173354"/>
                  </a:moveTo>
                  <a:lnTo>
                    <a:pt x="217931" y="173354"/>
                  </a:lnTo>
                  <a:lnTo>
                    <a:pt x="220599" y="176022"/>
                  </a:lnTo>
                  <a:lnTo>
                    <a:pt x="220599" y="182879"/>
                  </a:lnTo>
                  <a:lnTo>
                    <a:pt x="217931" y="185547"/>
                  </a:lnTo>
                  <a:lnTo>
                    <a:pt x="275844" y="185547"/>
                  </a:lnTo>
                  <a:lnTo>
                    <a:pt x="275844" y="173354"/>
                  </a:lnTo>
                  <a:close/>
                </a:path>
                <a:path w="276225" h="275589">
                  <a:moveTo>
                    <a:pt x="275844" y="145161"/>
                  </a:moveTo>
                  <a:lnTo>
                    <a:pt x="217931" y="145161"/>
                  </a:lnTo>
                  <a:lnTo>
                    <a:pt x="220599" y="147827"/>
                  </a:lnTo>
                  <a:lnTo>
                    <a:pt x="220599" y="154559"/>
                  </a:lnTo>
                  <a:lnTo>
                    <a:pt x="217931" y="157352"/>
                  </a:lnTo>
                  <a:lnTo>
                    <a:pt x="275844" y="157352"/>
                  </a:lnTo>
                  <a:lnTo>
                    <a:pt x="275844" y="145161"/>
                  </a:lnTo>
                  <a:close/>
                </a:path>
                <a:path w="276225" h="275589">
                  <a:moveTo>
                    <a:pt x="275844" y="116839"/>
                  </a:moveTo>
                  <a:lnTo>
                    <a:pt x="217931" y="116839"/>
                  </a:lnTo>
                  <a:lnTo>
                    <a:pt x="220599" y="119634"/>
                  </a:lnTo>
                  <a:lnTo>
                    <a:pt x="220599" y="126364"/>
                  </a:lnTo>
                  <a:lnTo>
                    <a:pt x="217931" y="129159"/>
                  </a:lnTo>
                  <a:lnTo>
                    <a:pt x="275844" y="129159"/>
                  </a:lnTo>
                  <a:lnTo>
                    <a:pt x="275844" y="116839"/>
                  </a:lnTo>
                  <a:close/>
                </a:path>
                <a:path w="276225" h="275589">
                  <a:moveTo>
                    <a:pt x="275844" y="88646"/>
                  </a:moveTo>
                  <a:lnTo>
                    <a:pt x="217931" y="88646"/>
                  </a:lnTo>
                  <a:lnTo>
                    <a:pt x="220599" y="91439"/>
                  </a:lnTo>
                  <a:lnTo>
                    <a:pt x="220599" y="98171"/>
                  </a:lnTo>
                  <a:lnTo>
                    <a:pt x="217931" y="100964"/>
                  </a:lnTo>
                  <a:lnTo>
                    <a:pt x="275844" y="100964"/>
                  </a:lnTo>
                  <a:lnTo>
                    <a:pt x="275844" y="88646"/>
                  </a:lnTo>
                  <a:close/>
                </a:path>
                <a:path w="276225" h="275589">
                  <a:moveTo>
                    <a:pt x="68325" y="26035"/>
                  </a:moveTo>
                  <a:lnTo>
                    <a:pt x="55372" y="26035"/>
                  </a:lnTo>
                  <a:lnTo>
                    <a:pt x="55372" y="40004"/>
                  </a:lnTo>
                  <a:lnTo>
                    <a:pt x="53901" y="47243"/>
                  </a:lnTo>
                  <a:lnTo>
                    <a:pt x="53792" y="47781"/>
                  </a:lnTo>
                  <a:lnTo>
                    <a:pt x="49498" y="54117"/>
                  </a:lnTo>
                  <a:lnTo>
                    <a:pt x="43156" y="58382"/>
                  </a:lnTo>
                  <a:lnTo>
                    <a:pt x="35432" y="59943"/>
                  </a:lnTo>
                  <a:lnTo>
                    <a:pt x="88265" y="59943"/>
                  </a:lnTo>
                  <a:lnTo>
                    <a:pt x="80488" y="58382"/>
                  </a:lnTo>
                  <a:lnTo>
                    <a:pt x="74152" y="54117"/>
                  </a:lnTo>
                  <a:lnTo>
                    <a:pt x="69887" y="47781"/>
                  </a:lnTo>
                  <a:lnTo>
                    <a:pt x="68325" y="40004"/>
                  </a:lnTo>
                  <a:lnTo>
                    <a:pt x="68325" y="26035"/>
                  </a:lnTo>
                  <a:close/>
                </a:path>
                <a:path w="276225" h="275589">
                  <a:moveTo>
                    <a:pt x="121157" y="26035"/>
                  </a:moveTo>
                  <a:lnTo>
                    <a:pt x="108076" y="26035"/>
                  </a:lnTo>
                  <a:lnTo>
                    <a:pt x="108076" y="40004"/>
                  </a:lnTo>
                  <a:lnTo>
                    <a:pt x="106625" y="47243"/>
                  </a:lnTo>
                  <a:lnTo>
                    <a:pt x="106517" y="47781"/>
                  </a:lnTo>
                  <a:lnTo>
                    <a:pt x="102266" y="54117"/>
                  </a:lnTo>
                  <a:lnTo>
                    <a:pt x="95968" y="58382"/>
                  </a:lnTo>
                  <a:lnTo>
                    <a:pt x="88265" y="59943"/>
                  </a:lnTo>
                  <a:lnTo>
                    <a:pt x="141097" y="59943"/>
                  </a:lnTo>
                  <a:lnTo>
                    <a:pt x="133320" y="58382"/>
                  </a:lnTo>
                  <a:lnTo>
                    <a:pt x="126984" y="54117"/>
                  </a:lnTo>
                  <a:lnTo>
                    <a:pt x="122719" y="47781"/>
                  </a:lnTo>
                  <a:lnTo>
                    <a:pt x="121157" y="40004"/>
                  </a:lnTo>
                  <a:lnTo>
                    <a:pt x="121157" y="26035"/>
                  </a:lnTo>
                  <a:close/>
                </a:path>
                <a:path w="276225" h="275589">
                  <a:moveTo>
                    <a:pt x="173990" y="26035"/>
                  </a:moveTo>
                  <a:lnTo>
                    <a:pt x="160908" y="26035"/>
                  </a:lnTo>
                  <a:lnTo>
                    <a:pt x="160908" y="40004"/>
                  </a:lnTo>
                  <a:lnTo>
                    <a:pt x="159457" y="47243"/>
                  </a:lnTo>
                  <a:lnTo>
                    <a:pt x="159349" y="47781"/>
                  </a:lnTo>
                  <a:lnTo>
                    <a:pt x="155098" y="54117"/>
                  </a:lnTo>
                  <a:lnTo>
                    <a:pt x="148800" y="58382"/>
                  </a:lnTo>
                  <a:lnTo>
                    <a:pt x="141097" y="59943"/>
                  </a:lnTo>
                  <a:lnTo>
                    <a:pt x="193801" y="59943"/>
                  </a:lnTo>
                  <a:lnTo>
                    <a:pt x="186098" y="58382"/>
                  </a:lnTo>
                  <a:lnTo>
                    <a:pt x="179800" y="54117"/>
                  </a:lnTo>
                  <a:lnTo>
                    <a:pt x="175549" y="47781"/>
                  </a:lnTo>
                  <a:lnTo>
                    <a:pt x="173990" y="40004"/>
                  </a:lnTo>
                  <a:lnTo>
                    <a:pt x="173990" y="26035"/>
                  </a:lnTo>
                  <a:close/>
                </a:path>
                <a:path w="276225" h="275589">
                  <a:moveTo>
                    <a:pt x="226695" y="26035"/>
                  </a:moveTo>
                  <a:lnTo>
                    <a:pt x="213741" y="26035"/>
                  </a:lnTo>
                  <a:lnTo>
                    <a:pt x="213741" y="40004"/>
                  </a:lnTo>
                  <a:lnTo>
                    <a:pt x="212287" y="47243"/>
                  </a:lnTo>
                  <a:lnTo>
                    <a:pt x="212179" y="47781"/>
                  </a:lnTo>
                  <a:lnTo>
                    <a:pt x="207914" y="54117"/>
                  </a:lnTo>
                  <a:lnTo>
                    <a:pt x="201578" y="58382"/>
                  </a:lnTo>
                  <a:lnTo>
                    <a:pt x="193801" y="59943"/>
                  </a:lnTo>
                  <a:lnTo>
                    <a:pt x="246633" y="59943"/>
                  </a:lnTo>
                  <a:lnTo>
                    <a:pt x="238910" y="58382"/>
                  </a:lnTo>
                  <a:lnTo>
                    <a:pt x="232568" y="54117"/>
                  </a:lnTo>
                  <a:lnTo>
                    <a:pt x="228274" y="47781"/>
                  </a:lnTo>
                  <a:lnTo>
                    <a:pt x="226695" y="40004"/>
                  </a:lnTo>
                  <a:lnTo>
                    <a:pt x="226695" y="26035"/>
                  </a:lnTo>
                  <a:close/>
                </a:path>
                <a:path w="276225" h="275589">
                  <a:moveTo>
                    <a:pt x="275844" y="26035"/>
                  </a:moveTo>
                  <a:lnTo>
                    <a:pt x="266573" y="26035"/>
                  </a:lnTo>
                  <a:lnTo>
                    <a:pt x="266573" y="40004"/>
                  </a:lnTo>
                  <a:lnTo>
                    <a:pt x="265119" y="47243"/>
                  </a:lnTo>
                  <a:lnTo>
                    <a:pt x="265011" y="47781"/>
                  </a:lnTo>
                  <a:lnTo>
                    <a:pt x="260746" y="54117"/>
                  </a:lnTo>
                  <a:lnTo>
                    <a:pt x="254410" y="58382"/>
                  </a:lnTo>
                  <a:lnTo>
                    <a:pt x="246633" y="59943"/>
                  </a:lnTo>
                  <a:lnTo>
                    <a:pt x="275844" y="59943"/>
                  </a:lnTo>
                  <a:lnTo>
                    <a:pt x="275844" y="26035"/>
                  </a:lnTo>
                  <a:close/>
                </a:path>
                <a:path w="276225" h="275589">
                  <a:moveTo>
                    <a:pt x="41275" y="0"/>
                  </a:moveTo>
                  <a:lnTo>
                    <a:pt x="29464" y="0"/>
                  </a:lnTo>
                  <a:lnTo>
                    <a:pt x="24638" y="4825"/>
                  </a:lnTo>
                  <a:lnTo>
                    <a:pt x="24638" y="47243"/>
                  </a:lnTo>
                  <a:lnTo>
                    <a:pt x="29464" y="52070"/>
                  </a:lnTo>
                  <a:lnTo>
                    <a:pt x="41275" y="52070"/>
                  </a:lnTo>
                  <a:lnTo>
                    <a:pt x="46100" y="47243"/>
                  </a:lnTo>
                  <a:lnTo>
                    <a:pt x="46100" y="4825"/>
                  </a:lnTo>
                  <a:lnTo>
                    <a:pt x="41275" y="0"/>
                  </a:lnTo>
                  <a:close/>
                </a:path>
                <a:path w="276225" h="275589">
                  <a:moveTo>
                    <a:pt x="94106" y="0"/>
                  </a:moveTo>
                  <a:lnTo>
                    <a:pt x="82296" y="0"/>
                  </a:lnTo>
                  <a:lnTo>
                    <a:pt x="77470" y="4825"/>
                  </a:lnTo>
                  <a:lnTo>
                    <a:pt x="77470" y="47243"/>
                  </a:lnTo>
                  <a:lnTo>
                    <a:pt x="82296" y="52070"/>
                  </a:lnTo>
                  <a:lnTo>
                    <a:pt x="94106" y="52070"/>
                  </a:lnTo>
                  <a:lnTo>
                    <a:pt x="98932" y="47243"/>
                  </a:lnTo>
                  <a:lnTo>
                    <a:pt x="98932" y="4825"/>
                  </a:lnTo>
                  <a:lnTo>
                    <a:pt x="94106" y="0"/>
                  </a:lnTo>
                  <a:close/>
                </a:path>
                <a:path w="276225" h="275589">
                  <a:moveTo>
                    <a:pt x="146939" y="0"/>
                  </a:moveTo>
                  <a:lnTo>
                    <a:pt x="135127" y="0"/>
                  </a:lnTo>
                  <a:lnTo>
                    <a:pt x="130301" y="4825"/>
                  </a:lnTo>
                  <a:lnTo>
                    <a:pt x="130301" y="47243"/>
                  </a:lnTo>
                  <a:lnTo>
                    <a:pt x="135127" y="52070"/>
                  </a:lnTo>
                  <a:lnTo>
                    <a:pt x="146939" y="52070"/>
                  </a:lnTo>
                  <a:lnTo>
                    <a:pt x="151765" y="47243"/>
                  </a:lnTo>
                  <a:lnTo>
                    <a:pt x="151765" y="4825"/>
                  </a:lnTo>
                  <a:lnTo>
                    <a:pt x="146939" y="0"/>
                  </a:lnTo>
                  <a:close/>
                </a:path>
                <a:path w="276225" h="275589">
                  <a:moveTo>
                    <a:pt x="199771" y="0"/>
                  </a:moveTo>
                  <a:lnTo>
                    <a:pt x="187960" y="0"/>
                  </a:lnTo>
                  <a:lnTo>
                    <a:pt x="183133" y="4825"/>
                  </a:lnTo>
                  <a:lnTo>
                    <a:pt x="183133" y="47243"/>
                  </a:lnTo>
                  <a:lnTo>
                    <a:pt x="187960" y="52070"/>
                  </a:lnTo>
                  <a:lnTo>
                    <a:pt x="199771" y="52070"/>
                  </a:lnTo>
                  <a:lnTo>
                    <a:pt x="204597" y="47243"/>
                  </a:lnTo>
                  <a:lnTo>
                    <a:pt x="204597" y="4825"/>
                  </a:lnTo>
                  <a:lnTo>
                    <a:pt x="199771" y="0"/>
                  </a:lnTo>
                  <a:close/>
                </a:path>
                <a:path w="276225" h="275589">
                  <a:moveTo>
                    <a:pt x="252602" y="0"/>
                  </a:moveTo>
                  <a:lnTo>
                    <a:pt x="240792" y="0"/>
                  </a:lnTo>
                  <a:lnTo>
                    <a:pt x="235966" y="4825"/>
                  </a:lnTo>
                  <a:lnTo>
                    <a:pt x="235966" y="47243"/>
                  </a:lnTo>
                  <a:lnTo>
                    <a:pt x="240792" y="52070"/>
                  </a:lnTo>
                  <a:lnTo>
                    <a:pt x="252602" y="52070"/>
                  </a:lnTo>
                  <a:lnTo>
                    <a:pt x="257428" y="47243"/>
                  </a:lnTo>
                  <a:lnTo>
                    <a:pt x="257428" y="4825"/>
                  </a:lnTo>
                  <a:lnTo>
                    <a:pt x="252602" y="0"/>
                  </a:lnTo>
                  <a:close/>
                </a:path>
              </a:pathLst>
            </a:custGeom>
            <a:solidFill>
              <a:srgbClr val="FFFFFF"/>
            </a:solidFill>
          </p:spPr>
          <p:txBody>
            <a:bodyPr wrap="square" lIns="0" tIns="0" rIns="0" bIns="0" rtlCol="0"/>
            <a:lstStyle/>
            <a:p>
              <a:endParaRPr/>
            </a:p>
          </p:txBody>
        </p:sp>
      </p:grpSp>
      <p:sp>
        <p:nvSpPr>
          <p:cNvPr id="24" name="object 24"/>
          <p:cNvSpPr txBox="1"/>
          <p:nvPr/>
        </p:nvSpPr>
        <p:spPr>
          <a:xfrm>
            <a:off x="9462896" y="1860930"/>
            <a:ext cx="3970020" cy="3442970"/>
          </a:xfrm>
          <a:prstGeom prst="rect">
            <a:avLst/>
          </a:prstGeom>
        </p:spPr>
        <p:txBody>
          <a:bodyPr vert="horz" wrap="square" lIns="0" tIns="12700" rIns="0" bIns="0" rtlCol="0">
            <a:spAutoFit/>
          </a:bodyPr>
          <a:lstStyle/>
          <a:p>
            <a:pPr marL="972819">
              <a:lnSpc>
                <a:spcPct val="100000"/>
              </a:lnSpc>
              <a:spcBef>
                <a:spcPts val="100"/>
              </a:spcBef>
            </a:pPr>
            <a:r>
              <a:rPr sz="2400" b="1" spc="-10" dirty="0">
                <a:solidFill>
                  <a:srgbClr val="A4A4A4"/>
                </a:solidFill>
                <a:latin typeface="Microsoft JhengHei"/>
                <a:cs typeface="Microsoft JhengHei"/>
              </a:rPr>
              <a:t>雙語教學策略</a:t>
            </a:r>
            <a:endParaRPr sz="2400">
              <a:latin typeface="Microsoft JhengHei"/>
              <a:cs typeface="Microsoft JhengHei"/>
            </a:endParaRPr>
          </a:p>
          <a:p>
            <a:pPr marL="299085" indent="-286385">
              <a:lnSpc>
                <a:spcPct val="100000"/>
              </a:lnSpc>
              <a:spcBef>
                <a:spcPts val="1565"/>
              </a:spcBef>
              <a:buFont typeface="Arial MT"/>
              <a:buChar char="•"/>
              <a:tabLst>
                <a:tab pos="299085" algn="l"/>
              </a:tabLst>
            </a:pPr>
            <a:r>
              <a:rPr sz="1800" spc="-5" dirty="0">
                <a:solidFill>
                  <a:srgbClr val="404040"/>
                </a:solidFill>
                <a:latin typeface="Microsoft JhengHei"/>
                <a:cs typeface="Microsoft JhengHei"/>
              </a:rPr>
              <a:t>詞彙定義模式：英中雙語定義</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範例與回饋分離：英文範例中文回饋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文化適應考量：文化差異表達習慣</a:t>
            </a:r>
            <a:endParaRPr sz="1800">
              <a:latin typeface="Microsoft JhengHei"/>
              <a:cs typeface="Microsoft JhengHei"/>
            </a:endParaRPr>
          </a:p>
          <a:p>
            <a:pPr>
              <a:lnSpc>
                <a:spcPct val="100000"/>
              </a:lnSpc>
              <a:spcBef>
                <a:spcPts val="2740"/>
              </a:spcBef>
              <a:buClr>
                <a:srgbClr val="404040"/>
              </a:buClr>
              <a:buFont typeface="Arial MT"/>
              <a:buChar char="•"/>
            </a:pPr>
            <a:endParaRPr sz="1800">
              <a:latin typeface="Microsoft JhengHei"/>
              <a:cs typeface="Microsoft JhengHei"/>
            </a:endParaRPr>
          </a:p>
          <a:p>
            <a:pPr marL="1087120">
              <a:lnSpc>
                <a:spcPct val="100000"/>
              </a:lnSpc>
            </a:pPr>
            <a:r>
              <a:rPr sz="2400" b="1" spc="-10" dirty="0">
                <a:solidFill>
                  <a:srgbClr val="EC7C30"/>
                </a:solidFill>
                <a:latin typeface="Microsoft JhengHei"/>
                <a:cs typeface="Microsoft JhengHei"/>
              </a:rPr>
              <a:t>回饋機制設計</a:t>
            </a:r>
            <a:endParaRPr sz="2400">
              <a:latin typeface="Microsoft JhengHei"/>
              <a:cs typeface="Microsoft JhengHei"/>
            </a:endParaRPr>
          </a:p>
          <a:p>
            <a:pPr marL="422909" lvl="1" indent="-286385">
              <a:lnSpc>
                <a:spcPct val="100000"/>
              </a:lnSpc>
              <a:spcBef>
                <a:spcPts val="575"/>
              </a:spcBef>
              <a:buFont typeface="Arial MT"/>
              <a:buChar char="•"/>
              <a:tabLst>
                <a:tab pos="422909" algn="l"/>
              </a:tabLst>
            </a:pPr>
            <a:r>
              <a:rPr sz="1800" spc="-5" dirty="0">
                <a:solidFill>
                  <a:srgbClr val="404040"/>
                </a:solidFill>
                <a:latin typeface="Microsoft JhengHei"/>
                <a:cs typeface="Microsoft JhengHei"/>
              </a:rPr>
              <a:t>多維評估體系：全面評價體系</a:t>
            </a:r>
            <a:endParaRPr sz="1800">
              <a:latin typeface="Microsoft JhengHei"/>
              <a:cs typeface="Microsoft JhengHei"/>
            </a:endParaRPr>
          </a:p>
          <a:p>
            <a:pPr marL="422909" lvl="1" indent="-286385">
              <a:lnSpc>
                <a:spcPct val="100000"/>
              </a:lnSpc>
              <a:buFont typeface="Arial MT"/>
              <a:buChar char="•"/>
              <a:tabLst>
                <a:tab pos="422909" algn="l"/>
              </a:tabLst>
            </a:pPr>
            <a:r>
              <a:rPr sz="1800" spc="-5" dirty="0">
                <a:solidFill>
                  <a:srgbClr val="404040"/>
                </a:solidFill>
                <a:latin typeface="Microsoft JhengHei"/>
                <a:cs typeface="Microsoft JhengHei"/>
              </a:rPr>
              <a:t>建設性回饋策略：鼓勵支持語言</a:t>
            </a:r>
            <a:endParaRPr sz="1800">
              <a:latin typeface="Microsoft JhengHei"/>
              <a:cs typeface="Microsoft JhengHei"/>
            </a:endParaRPr>
          </a:p>
          <a:p>
            <a:pPr marL="422909" lvl="1" indent="-286385">
              <a:lnSpc>
                <a:spcPct val="100000"/>
              </a:lnSpc>
              <a:buFont typeface="Arial MT"/>
              <a:buChar char="•"/>
              <a:tabLst>
                <a:tab pos="422909" algn="l"/>
              </a:tabLst>
            </a:pPr>
            <a:r>
              <a:rPr sz="1800" spc="-15" dirty="0">
                <a:solidFill>
                  <a:srgbClr val="404040"/>
                </a:solidFill>
                <a:latin typeface="Microsoft JhengHei"/>
                <a:cs typeface="Microsoft JhengHei"/>
              </a:rPr>
              <a:t>預設詞庫備份：確保學習連續性</a:t>
            </a:r>
            <a:endParaRPr sz="1800">
              <a:latin typeface="Microsoft JhengHei"/>
              <a:cs typeface="Microsoft JhengHei"/>
            </a:endParaRPr>
          </a:p>
        </p:txBody>
      </p:sp>
      <p:sp>
        <p:nvSpPr>
          <p:cNvPr id="29" name="Text Placeholder 1">
            <a:extLst>
              <a:ext uri="{FF2B5EF4-FFF2-40B4-BE49-F238E27FC236}">
                <a16:creationId xmlns:a16="http://schemas.microsoft.com/office/drawing/2014/main" id="{044A71DB-FAA5-5D49-833E-B7034D20A65D}"/>
              </a:ext>
            </a:extLst>
          </p:cNvPr>
          <p:cNvSpPr txBox="1">
            <a:spLocks/>
          </p:cNvSpPr>
          <p:nvPr/>
        </p:nvSpPr>
        <p:spPr>
          <a:xfrm>
            <a:off x="199691" y="281957"/>
            <a:ext cx="6622262" cy="86909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5400" b="1" dirty="0">
                <a:latin typeface="Microsoft JhengHei" panose="020B0604030504040204" pitchFamily="34" charset="-120"/>
                <a:ea typeface="Microsoft JhengHei" panose="020B0604030504040204" pitchFamily="34" charset="-120"/>
              </a:rPr>
              <a:t>單字練習提示設計</a:t>
            </a:r>
            <a:endParaRPr lang="en-US" sz="5400" b="1" dirty="0">
              <a:latin typeface="Microsoft JhengHei" panose="020B0604030504040204" pitchFamily="34" charset="-120"/>
              <a:ea typeface="Microsoft JhengHei" panose="020B0604030504040204" pitchFamily="34" charset="-120"/>
            </a:endParaRPr>
          </a:p>
        </p:txBody>
      </p:sp>
      <p:sp>
        <p:nvSpPr>
          <p:cNvPr id="19" name="投影片編號版面配置區 18">
            <a:extLst>
              <a:ext uri="{FF2B5EF4-FFF2-40B4-BE49-F238E27FC236}">
                <a16:creationId xmlns:a16="http://schemas.microsoft.com/office/drawing/2014/main" id="{F371668C-7E7A-2CB7-23FE-AA93B0139AEB}"/>
              </a:ext>
            </a:extLst>
          </p:cNvPr>
          <p:cNvSpPr>
            <a:spLocks noGrp="1"/>
          </p:cNvSpPr>
          <p:nvPr>
            <p:ph type="sldNum" sz="quarter" idx="7"/>
          </p:nvPr>
        </p:nvSpPr>
        <p:spPr/>
        <p:txBody>
          <a:bodyPr/>
          <a:lstStyle/>
          <a:p>
            <a:pPr marL="12700">
              <a:lnSpc>
                <a:spcPts val="1410"/>
              </a:lnSpc>
            </a:pPr>
            <a:fld id="{81D60167-4931-47E6-BA6A-407CBD079E47}" type="slidenum">
              <a:rPr lang="en-US" altLang="zh-TW" spc="-25" smtClean="0"/>
              <a:t>22</a:t>
            </a:fld>
            <a:endParaRPr lang="en-US" altLang="zh-TW"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981700" y="2394204"/>
            <a:ext cx="2395220" cy="2741930"/>
            <a:chOff x="5981700" y="2394204"/>
            <a:chExt cx="2395220" cy="2741930"/>
          </a:xfrm>
        </p:grpSpPr>
        <p:pic>
          <p:nvPicPr>
            <p:cNvPr id="3" name="object 3"/>
            <p:cNvPicPr/>
            <p:nvPr/>
          </p:nvPicPr>
          <p:blipFill>
            <a:blip r:embed="rId3" cstate="print"/>
            <a:stretch>
              <a:fillRect/>
            </a:stretch>
          </p:blipFill>
          <p:spPr>
            <a:xfrm>
              <a:off x="5981700" y="2394204"/>
              <a:ext cx="2394838" cy="2620391"/>
            </a:xfrm>
            <a:prstGeom prst="rect">
              <a:avLst/>
            </a:prstGeom>
          </p:spPr>
        </p:pic>
        <p:sp>
          <p:nvSpPr>
            <p:cNvPr id="4" name="object 4"/>
            <p:cNvSpPr/>
            <p:nvPr/>
          </p:nvSpPr>
          <p:spPr>
            <a:xfrm>
              <a:off x="6479667" y="2892678"/>
              <a:ext cx="1415415" cy="2243455"/>
            </a:xfrm>
            <a:custGeom>
              <a:avLst/>
              <a:gdLst/>
              <a:ahLst/>
              <a:cxnLst/>
              <a:rect l="l" t="t" r="r" b="b"/>
              <a:pathLst>
                <a:path w="1415415" h="2243454">
                  <a:moveTo>
                    <a:pt x="996188" y="2137156"/>
                  </a:moveTo>
                  <a:lnTo>
                    <a:pt x="418973" y="2137156"/>
                  </a:lnTo>
                  <a:lnTo>
                    <a:pt x="459498" y="2168144"/>
                  </a:lnTo>
                  <a:lnTo>
                    <a:pt x="503605" y="2194217"/>
                  </a:lnTo>
                  <a:lnTo>
                    <a:pt x="550875" y="2215057"/>
                  </a:lnTo>
                  <a:lnTo>
                    <a:pt x="600900" y="2230348"/>
                  </a:lnTo>
                  <a:lnTo>
                    <a:pt x="653300" y="2239746"/>
                  </a:lnTo>
                  <a:lnTo>
                    <a:pt x="707644" y="2242947"/>
                  </a:lnTo>
                  <a:lnTo>
                    <a:pt x="761923" y="2239746"/>
                  </a:lnTo>
                  <a:lnTo>
                    <a:pt x="814285" y="2230348"/>
                  </a:lnTo>
                  <a:lnTo>
                    <a:pt x="864298" y="2215057"/>
                  </a:lnTo>
                  <a:lnTo>
                    <a:pt x="911555" y="2194217"/>
                  </a:lnTo>
                  <a:lnTo>
                    <a:pt x="955649" y="2168144"/>
                  </a:lnTo>
                  <a:lnTo>
                    <a:pt x="996188" y="2137156"/>
                  </a:lnTo>
                  <a:close/>
                </a:path>
                <a:path w="1415415" h="2243454">
                  <a:moveTo>
                    <a:pt x="1061339" y="2002155"/>
                  </a:moveTo>
                  <a:lnTo>
                    <a:pt x="1055204" y="1971789"/>
                  </a:lnTo>
                  <a:lnTo>
                    <a:pt x="1038466" y="1946960"/>
                  </a:lnTo>
                  <a:lnTo>
                    <a:pt x="1013650" y="1930209"/>
                  </a:lnTo>
                  <a:lnTo>
                    <a:pt x="983234" y="1924050"/>
                  </a:lnTo>
                  <a:lnTo>
                    <a:pt x="431927" y="1924050"/>
                  </a:lnTo>
                  <a:lnTo>
                    <a:pt x="401497" y="1930209"/>
                  </a:lnTo>
                  <a:lnTo>
                    <a:pt x="376682" y="1946960"/>
                  </a:lnTo>
                  <a:lnTo>
                    <a:pt x="359943" y="1971789"/>
                  </a:lnTo>
                  <a:lnTo>
                    <a:pt x="353822" y="2002155"/>
                  </a:lnTo>
                  <a:lnTo>
                    <a:pt x="359943" y="2032584"/>
                  </a:lnTo>
                  <a:lnTo>
                    <a:pt x="376682" y="2057400"/>
                  </a:lnTo>
                  <a:lnTo>
                    <a:pt x="401497" y="2074138"/>
                  </a:lnTo>
                  <a:lnTo>
                    <a:pt x="431927" y="2080260"/>
                  </a:lnTo>
                  <a:lnTo>
                    <a:pt x="983234" y="2080260"/>
                  </a:lnTo>
                  <a:lnTo>
                    <a:pt x="1013650" y="2074138"/>
                  </a:lnTo>
                  <a:lnTo>
                    <a:pt x="1038466" y="2057400"/>
                  </a:lnTo>
                  <a:lnTo>
                    <a:pt x="1055204" y="2032584"/>
                  </a:lnTo>
                  <a:lnTo>
                    <a:pt x="1061339" y="2002155"/>
                  </a:lnTo>
                  <a:close/>
                </a:path>
                <a:path w="1415415" h="2243454">
                  <a:moveTo>
                    <a:pt x="1061339" y="1789176"/>
                  </a:moveTo>
                  <a:lnTo>
                    <a:pt x="1055204" y="1758759"/>
                  </a:lnTo>
                  <a:lnTo>
                    <a:pt x="1038466" y="1733931"/>
                  </a:lnTo>
                  <a:lnTo>
                    <a:pt x="1013650" y="1717205"/>
                  </a:lnTo>
                  <a:lnTo>
                    <a:pt x="983234" y="1711071"/>
                  </a:lnTo>
                  <a:lnTo>
                    <a:pt x="431927" y="1711071"/>
                  </a:lnTo>
                  <a:lnTo>
                    <a:pt x="401497" y="1717205"/>
                  </a:lnTo>
                  <a:lnTo>
                    <a:pt x="376682" y="1733931"/>
                  </a:lnTo>
                  <a:lnTo>
                    <a:pt x="359943" y="1758759"/>
                  </a:lnTo>
                  <a:lnTo>
                    <a:pt x="353822" y="1789176"/>
                  </a:lnTo>
                  <a:lnTo>
                    <a:pt x="359943" y="1819605"/>
                  </a:lnTo>
                  <a:lnTo>
                    <a:pt x="376682" y="1844433"/>
                  </a:lnTo>
                  <a:lnTo>
                    <a:pt x="401497" y="1861159"/>
                  </a:lnTo>
                  <a:lnTo>
                    <a:pt x="431927" y="1867281"/>
                  </a:lnTo>
                  <a:lnTo>
                    <a:pt x="983234" y="1867281"/>
                  </a:lnTo>
                  <a:lnTo>
                    <a:pt x="1013650" y="1861159"/>
                  </a:lnTo>
                  <a:lnTo>
                    <a:pt x="1038466" y="1844433"/>
                  </a:lnTo>
                  <a:lnTo>
                    <a:pt x="1055204" y="1819605"/>
                  </a:lnTo>
                  <a:lnTo>
                    <a:pt x="1061339" y="1789176"/>
                  </a:lnTo>
                  <a:close/>
                </a:path>
                <a:path w="1415415" h="2243454">
                  <a:moveTo>
                    <a:pt x="1415161" y="702818"/>
                  </a:moveTo>
                  <a:lnTo>
                    <a:pt x="1413522" y="654710"/>
                  </a:lnTo>
                  <a:lnTo>
                    <a:pt x="1408696" y="607466"/>
                  </a:lnTo>
                  <a:lnTo>
                    <a:pt x="1400784" y="561200"/>
                  </a:lnTo>
                  <a:lnTo>
                    <a:pt x="1389888" y="516001"/>
                  </a:lnTo>
                  <a:lnTo>
                    <a:pt x="1376108" y="471995"/>
                  </a:lnTo>
                  <a:lnTo>
                    <a:pt x="1359560" y="429272"/>
                  </a:lnTo>
                  <a:lnTo>
                    <a:pt x="1340345" y="387946"/>
                  </a:lnTo>
                  <a:lnTo>
                    <a:pt x="1318564" y="348119"/>
                  </a:lnTo>
                  <a:lnTo>
                    <a:pt x="1294333" y="309892"/>
                  </a:lnTo>
                  <a:lnTo>
                    <a:pt x="1267739" y="273367"/>
                  </a:lnTo>
                  <a:lnTo>
                    <a:pt x="1238910" y="238658"/>
                  </a:lnTo>
                  <a:lnTo>
                    <a:pt x="1207935" y="205879"/>
                  </a:lnTo>
                  <a:lnTo>
                    <a:pt x="1174927" y="175107"/>
                  </a:lnTo>
                  <a:lnTo>
                    <a:pt x="1139990" y="146456"/>
                  </a:lnTo>
                  <a:lnTo>
                    <a:pt x="1103223" y="120053"/>
                  </a:lnTo>
                  <a:lnTo>
                    <a:pt x="1064742" y="95973"/>
                  </a:lnTo>
                  <a:lnTo>
                    <a:pt x="1024648" y="74333"/>
                  </a:lnTo>
                  <a:lnTo>
                    <a:pt x="983043" y="55245"/>
                  </a:lnTo>
                  <a:lnTo>
                    <a:pt x="940041" y="38798"/>
                  </a:lnTo>
                  <a:lnTo>
                    <a:pt x="895731" y="25120"/>
                  </a:lnTo>
                  <a:lnTo>
                    <a:pt x="850239" y="14287"/>
                  </a:lnTo>
                  <a:lnTo>
                    <a:pt x="803643" y="6426"/>
                  </a:lnTo>
                  <a:lnTo>
                    <a:pt x="756081" y="1625"/>
                  </a:lnTo>
                  <a:lnTo>
                    <a:pt x="707644" y="0"/>
                  </a:lnTo>
                  <a:lnTo>
                    <a:pt x="659180" y="1625"/>
                  </a:lnTo>
                  <a:lnTo>
                    <a:pt x="611593" y="6426"/>
                  </a:lnTo>
                  <a:lnTo>
                    <a:pt x="564997" y="14287"/>
                  </a:lnTo>
                  <a:lnTo>
                    <a:pt x="519493" y="25120"/>
                  </a:lnTo>
                  <a:lnTo>
                    <a:pt x="475170" y="38798"/>
                  </a:lnTo>
                  <a:lnTo>
                    <a:pt x="432155" y="55245"/>
                  </a:lnTo>
                  <a:lnTo>
                    <a:pt x="390537" y="74333"/>
                  </a:lnTo>
                  <a:lnTo>
                    <a:pt x="350443" y="95973"/>
                  </a:lnTo>
                  <a:lnTo>
                    <a:pt x="311950" y="120053"/>
                  </a:lnTo>
                  <a:lnTo>
                    <a:pt x="275183" y="146456"/>
                  </a:lnTo>
                  <a:lnTo>
                    <a:pt x="240233" y="175107"/>
                  </a:lnTo>
                  <a:lnTo>
                    <a:pt x="207225" y="205867"/>
                  </a:lnTo>
                  <a:lnTo>
                    <a:pt x="176250" y="238658"/>
                  </a:lnTo>
                  <a:lnTo>
                    <a:pt x="147408" y="273367"/>
                  </a:lnTo>
                  <a:lnTo>
                    <a:pt x="120827" y="309892"/>
                  </a:lnTo>
                  <a:lnTo>
                    <a:pt x="96583" y="348119"/>
                  </a:lnTo>
                  <a:lnTo>
                    <a:pt x="74803" y="387946"/>
                  </a:lnTo>
                  <a:lnTo>
                    <a:pt x="55587" y="429272"/>
                  </a:lnTo>
                  <a:lnTo>
                    <a:pt x="39039" y="471995"/>
                  </a:lnTo>
                  <a:lnTo>
                    <a:pt x="25260" y="516001"/>
                  </a:lnTo>
                  <a:lnTo>
                    <a:pt x="14363" y="561200"/>
                  </a:lnTo>
                  <a:lnTo>
                    <a:pt x="6451" y="607466"/>
                  </a:lnTo>
                  <a:lnTo>
                    <a:pt x="1625" y="654710"/>
                  </a:lnTo>
                  <a:lnTo>
                    <a:pt x="0" y="702818"/>
                  </a:lnTo>
                  <a:lnTo>
                    <a:pt x="1816" y="753643"/>
                  </a:lnTo>
                  <a:lnTo>
                    <a:pt x="7200" y="803478"/>
                  </a:lnTo>
                  <a:lnTo>
                    <a:pt x="16052" y="852208"/>
                  </a:lnTo>
                  <a:lnTo>
                    <a:pt x="28232" y="899680"/>
                  </a:lnTo>
                  <a:lnTo>
                    <a:pt x="43662" y="945756"/>
                  </a:lnTo>
                  <a:lnTo>
                    <a:pt x="62217" y="990320"/>
                  </a:lnTo>
                  <a:lnTo>
                    <a:pt x="83781" y="1033233"/>
                  </a:lnTo>
                  <a:lnTo>
                    <a:pt x="108242" y="1074343"/>
                  </a:lnTo>
                  <a:lnTo>
                    <a:pt x="135509" y="1113536"/>
                  </a:lnTo>
                  <a:lnTo>
                    <a:pt x="133350" y="1113536"/>
                  </a:lnTo>
                  <a:lnTo>
                    <a:pt x="160858" y="1147965"/>
                  </a:lnTo>
                  <a:lnTo>
                    <a:pt x="187299" y="1184325"/>
                  </a:lnTo>
                  <a:lnTo>
                    <a:pt x="212623" y="1222552"/>
                  </a:lnTo>
                  <a:lnTo>
                    <a:pt x="236778" y="1262583"/>
                  </a:lnTo>
                  <a:lnTo>
                    <a:pt x="259715" y="1304353"/>
                  </a:lnTo>
                  <a:lnTo>
                    <a:pt x="281393" y="1347812"/>
                  </a:lnTo>
                  <a:lnTo>
                    <a:pt x="301764" y="1392872"/>
                  </a:lnTo>
                  <a:lnTo>
                    <a:pt x="320789" y="1439481"/>
                  </a:lnTo>
                  <a:lnTo>
                    <a:pt x="338404" y="1487576"/>
                  </a:lnTo>
                  <a:lnTo>
                    <a:pt x="354571" y="1537081"/>
                  </a:lnTo>
                  <a:lnTo>
                    <a:pt x="369252" y="1587931"/>
                  </a:lnTo>
                  <a:lnTo>
                    <a:pt x="382397" y="1640078"/>
                  </a:lnTo>
                  <a:lnTo>
                    <a:pt x="1032764" y="1640078"/>
                  </a:lnTo>
                  <a:lnTo>
                    <a:pt x="1045895" y="1587931"/>
                  </a:lnTo>
                  <a:lnTo>
                    <a:pt x="1060577" y="1537081"/>
                  </a:lnTo>
                  <a:lnTo>
                    <a:pt x="1076744" y="1487576"/>
                  </a:lnTo>
                  <a:lnTo>
                    <a:pt x="1094359" y="1439481"/>
                  </a:lnTo>
                  <a:lnTo>
                    <a:pt x="1113383" y="1392872"/>
                  </a:lnTo>
                  <a:lnTo>
                    <a:pt x="1133754" y="1347812"/>
                  </a:lnTo>
                  <a:lnTo>
                    <a:pt x="1155433" y="1304353"/>
                  </a:lnTo>
                  <a:lnTo>
                    <a:pt x="1178369" y="1262583"/>
                  </a:lnTo>
                  <a:lnTo>
                    <a:pt x="1202524" y="1222552"/>
                  </a:lnTo>
                  <a:lnTo>
                    <a:pt x="1227848" y="1184325"/>
                  </a:lnTo>
                  <a:lnTo>
                    <a:pt x="1254290" y="1147965"/>
                  </a:lnTo>
                  <a:lnTo>
                    <a:pt x="1281811" y="1113536"/>
                  </a:lnTo>
                  <a:lnTo>
                    <a:pt x="1279652" y="1113536"/>
                  </a:lnTo>
                  <a:lnTo>
                    <a:pt x="1306906" y="1074343"/>
                  </a:lnTo>
                  <a:lnTo>
                    <a:pt x="1331366" y="1033233"/>
                  </a:lnTo>
                  <a:lnTo>
                    <a:pt x="1352931" y="990320"/>
                  </a:lnTo>
                  <a:lnTo>
                    <a:pt x="1371485" y="945756"/>
                  </a:lnTo>
                  <a:lnTo>
                    <a:pt x="1386916" y="899680"/>
                  </a:lnTo>
                  <a:lnTo>
                    <a:pt x="1399095" y="852208"/>
                  </a:lnTo>
                  <a:lnTo>
                    <a:pt x="1407947" y="803478"/>
                  </a:lnTo>
                  <a:lnTo>
                    <a:pt x="1413332" y="753643"/>
                  </a:lnTo>
                  <a:lnTo>
                    <a:pt x="1415161" y="702818"/>
                  </a:lnTo>
                  <a:close/>
                </a:path>
              </a:pathLst>
            </a:custGeom>
            <a:solidFill>
              <a:srgbClr val="FFC000"/>
            </a:solidFill>
          </p:spPr>
          <p:txBody>
            <a:bodyPr wrap="square" lIns="0" tIns="0" rIns="0" bIns="0" rtlCol="0"/>
            <a:lstStyle/>
            <a:p>
              <a:endParaRPr/>
            </a:p>
          </p:txBody>
        </p:sp>
      </p:grpSp>
      <p:sp>
        <p:nvSpPr>
          <p:cNvPr id="5" name="object 5"/>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6" name="object 6"/>
          <p:cNvSpPr/>
          <p:nvPr/>
        </p:nvSpPr>
        <p:spPr>
          <a:xfrm>
            <a:off x="4774691" y="6301359"/>
            <a:ext cx="798830" cy="798830"/>
          </a:xfrm>
          <a:custGeom>
            <a:avLst/>
            <a:gdLst/>
            <a:ahLst/>
            <a:cxnLst/>
            <a:rect l="l" t="t" r="r" b="b"/>
            <a:pathLst>
              <a:path w="798829" h="798829">
                <a:moveTo>
                  <a:pt x="399288" y="0"/>
                </a:moveTo>
                <a:lnTo>
                  <a:pt x="352731" y="2687"/>
                </a:lnTo>
                <a:lnTo>
                  <a:pt x="307750" y="10548"/>
                </a:lnTo>
                <a:lnTo>
                  <a:pt x="264643" y="23284"/>
                </a:lnTo>
                <a:lnTo>
                  <a:pt x="223712" y="40595"/>
                </a:lnTo>
                <a:lnTo>
                  <a:pt x="185255" y="62182"/>
                </a:lnTo>
                <a:lnTo>
                  <a:pt x="149574" y="87744"/>
                </a:lnTo>
                <a:lnTo>
                  <a:pt x="116967" y="116982"/>
                </a:lnTo>
                <a:lnTo>
                  <a:pt x="87734" y="149597"/>
                </a:lnTo>
                <a:lnTo>
                  <a:pt x="62176" y="185289"/>
                </a:lnTo>
                <a:lnTo>
                  <a:pt x="40592" y="223758"/>
                </a:lnTo>
                <a:lnTo>
                  <a:pt x="23283" y="264705"/>
                </a:lnTo>
                <a:lnTo>
                  <a:pt x="10548" y="307830"/>
                </a:lnTo>
                <a:lnTo>
                  <a:pt x="2686" y="352833"/>
                </a:lnTo>
                <a:lnTo>
                  <a:pt x="0" y="399415"/>
                </a:lnTo>
                <a:lnTo>
                  <a:pt x="2686" y="445995"/>
                </a:lnTo>
                <a:lnTo>
                  <a:pt x="10548" y="490995"/>
                </a:lnTo>
                <a:lnTo>
                  <a:pt x="23283" y="534115"/>
                </a:lnTo>
                <a:lnTo>
                  <a:pt x="40592" y="575056"/>
                </a:lnTo>
                <a:lnTo>
                  <a:pt x="62176" y="613518"/>
                </a:lnTo>
                <a:lnTo>
                  <a:pt x="87734" y="649202"/>
                </a:lnTo>
                <a:lnTo>
                  <a:pt x="116967" y="681809"/>
                </a:lnTo>
                <a:lnTo>
                  <a:pt x="149574" y="711039"/>
                </a:lnTo>
                <a:lnTo>
                  <a:pt x="185255" y="736593"/>
                </a:lnTo>
                <a:lnTo>
                  <a:pt x="223712" y="758173"/>
                </a:lnTo>
                <a:lnTo>
                  <a:pt x="264643" y="775478"/>
                </a:lnTo>
                <a:lnTo>
                  <a:pt x="307750" y="788209"/>
                </a:lnTo>
                <a:lnTo>
                  <a:pt x="352731" y="796067"/>
                </a:lnTo>
                <a:lnTo>
                  <a:pt x="399288" y="798753"/>
                </a:lnTo>
                <a:lnTo>
                  <a:pt x="445869" y="796067"/>
                </a:lnTo>
                <a:lnTo>
                  <a:pt x="490872" y="788209"/>
                </a:lnTo>
                <a:lnTo>
                  <a:pt x="533997" y="775478"/>
                </a:lnTo>
                <a:lnTo>
                  <a:pt x="574944" y="758173"/>
                </a:lnTo>
                <a:lnTo>
                  <a:pt x="613413" y="736593"/>
                </a:lnTo>
                <a:lnTo>
                  <a:pt x="649105" y="711039"/>
                </a:lnTo>
                <a:lnTo>
                  <a:pt x="681720" y="681809"/>
                </a:lnTo>
                <a:lnTo>
                  <a:pt x="710958" y="649202"/>
                </a:lnTo>
                <a:lnTo>
                  <a:pt x="736520" y="613518"/>
                </a:lnTo>
                <a:lnTo>
                  <a:pt x="758107" y="575056"/>
                </a:lnTo>
                <a:lnTo>
                  <a:pt x="775418" y="534115"/>
                </a:lnTo>
                <a:lnTo>
                  <a:pt x="788154" y="490995"/>
                </a:lnTo>
                <a:lnTo>
                  <a:pt x="796015" y="445995"/>
                </a:lnTo>
                <a:lnTo>
                  <a:pt x="798703" y="399415"/>
                </a:lnTo>
                <a:lnTo>
                  <a:pt x="796015" y="352833"/>
                </a:lnTo>
                <a:lnTo>
                  <a:pt x="788154" y="307830"/>
                </a:lnTo>
                <a:lnTo>
                  <a:pt x="775418" y="264705"/>
                </a:lnTo>
                <a:lnTo>
                  <a:pt x="758107" y="223758"/>
                </a:lnTo>
                <a:lnTo>
                  <a:pt x="736520" y="185289"/>
                </a:lnTo>
                <a:lnTo>
                  <a:pt x="710958" y="149597"/>
                </a:lnTo>
                <a:lnTo>
                  <a:pt x="681720" y="116982"/>
                </a:lnTo>
                <a:lnTo>
                  <a:pt x="649105" y="87744"/>
                </a:lnTo>
                <a:lnTo>
                  <a:pt x="613413" y="62182"/>
                </a:lnTo>
                <a:lnTo>
                  <a:pt x="574944" y="40595"/>
                </a:lnTo>
                <a:lnTo>
                  <a:pt x="533997" y="23284"/>
                </a:lnTo>
                <a:lnTo>
                  <a:pt x="490872" y="10548"/>
                </a:lnTo>
                <a:lnTo>
                  <a:pt x="445869" y="2687"/>
                </a:lnTo>
                <a:lnTo>
                  <a:pt x="399288" y="0"/>
                </a:lnTo>
                <a:close/>
              </a:path>
            </a:pathLst>
          </a:custGeom>
          <a:solidFill>
            <a:srgbClr val="4471C4"/>
          </a:solidFill>
        </p:spPr>
        <p:txBody>
          <a:bodyPr wrap="square" lIns="0" tIns="0" rIns="0" bIns="0" rtlCol="0"/>
          <a:lstStyle/>
          <a:p>
            <a:endParaRPr/>
          </a:p>
        </p:txBody>
      </p:sp>
      <p:sp>
        <p:nvSpPr>
          <p:cNvPr id="7" name="object 7"/>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8" name="object 8"/>
          <p:cNvGrpSpPr/>
          <p:nvPr/>
        </p:nvGrpSpPr>
        <p:grpSpPr>
          <a:xfrm>
            <a:off x="5268848" y="4449698"/>
            <a:ext cx="798830" cy="798830"/>
            <a:chOff x="5268848" y="4449698"/>
            <a:chExt cx="798830" cy="798830"/>
          </a:xfrm>
        </p:grpSpPr>
        <p:sp>
          <p:nvSpPr>
            <p:cNvPr id="9" name="object 9"/>
            <p:cNvSpPr/>
            <p:nvPr/>
          </p:nvSpPr>
          <p:spPr>
            <a:xfrm>
              <a:off x="5268848" y="4449698"/>
              <a:ext cx="798830" cy="798830"/>
            </a:xfrm>
            <a:custGeom>
              <a:avLst/>
              <a:gdLst/>
              <a:ahLst/>
              <a:cxnLst/>
              <a:rect l="l" t="t" r="r" b="b"/>
              <a:pathLst>
                <a:path w="798829" h="798829">
                  <a:moveTo>
                    <a:pt x="399414" y="0"/>
                  </a:moveTo>
                  <a:lnTo>
                    <a:pt x="352833" y="2687"/>
                  </a:lnTo>
                  <a:lnTo>
                    <a:pt x="307830" y="10548"/>
                  </a:lnTo>
                  <a:lnTo>
                    <a:pt x="264705" y="23284"/>
                  </a:lnTo>
                  <a:lnTo>
                    <a:pt x="223758" y="40595"/>
                  </a:lnTo>
                  <a:lnTo>
                    <a:pt x="185289" y="62182"/>
                  </a:lnTo>
                  <a:lnTo>
                    <a:pt x="149597" y="87744"/>
                  </a:lnTo>
                  <a:lnTo>
                    <a:pt x="116982" y="116982"/>
                  </a:lnTo>
                  <a:lnTo>
                    <a:pt x="87744" y="149597"/>
                  </a:lnTo>
                  <a:lnTo>
                    <a:pt x="62182" y="185289"/>
                  </a:lnTo>
                  <a:lnTo>
                    <a:pt x="40595" y="223758"/>
                  </a:lnTo>
                  <a:lnTo>
                    <a:pt x="23284" y="264705"/>
                  </a:lnTo>
                  <a:lnTo>
                    <a:pt x="10548" y="307830"/>
                  </a:lnTo>
                  <a:lnTo>
                    <a:pt x="2687" y="352833"/>
                  </a:lnTo>
                  <a:lnTo>
                    <a:pt x="0" y="399414"/>
                  </a:lnTo>
                  <a:lnTo>
                    <a:pt x="2687" y="445971"/>
                  </a:lnTo>
                  <a:lnTo>
                    <a:pt x="10548" y="490952"/>
                  </a:lnTo>
                  <a:lnTo>
                    <a:pt x="23284" y="534059"/>
                  </a:lnTo>
                  <a:lnTo>
                    <a:pt x="40595" y="574990"/>
                  </a:lnTo>
                  <a:lnTo>
                    <a:pt x="62182" y="613447"/>
                  </a:lnTo>
                  <a:lnTo>
                    <a:pt x="87744" y="649128"/>
                  </a:lnTo>
                  <a:lnTo>
                    <a:pt x="116982" y="681735"/>
                  </a:lnTo>
                  <a:lnTo>
                    <a:pt x="149597" y="710968"/>
                  </a:lnTo>
                  <a:lnTo>
                    <a:pt x="185289" y="736526"/>
                  </a:lnTo>
                  <a:lnTo>
                    <a:pt x="223758" y="758110"/>
                  </a:lnTo>
                  <a:lnTo>
                    <a:pt x="264705" y="775419"/>
                  </a:lnTo>
                  <a:lnTo>
                    <a:pt x="307830" y="788154"/>
                  </a:lnTo>
                  <a:lnTo>
                    <a:pt x="352833" y="796016"/>
                  </a:lnTo>
                  <a:lnTo>
                    <a:pt x="399414" y="798702"/>
                  </a:lnTo>
                  <a:lnTo>
                    <a:pt x="445971" y="796016"/>
                  </a:lnTo>
                  <a:lnTo>
                    <a:pt x="490952" y="788154"/>
                  </a:lnTo>
                  <a:lnTo>
                    <a:pt x="534059" y="775419"/>
                  </a:lnTo>
                  <a:lnTo>
                    <a:pt x="574990" y="758110"/>
                  </a:lnTo>
                  <a:lnTo>
                    <a:pt x="613447" y="736526"/>
                  </a:lnTo>
                  <a:lnTo>
                    <a:pt x="649128" y="710968"/>
                  </a:lnTo>
                  <a:lnTo>
                    <a:pt x="681736" y="681736"/>
                  </a:lnTo>
                  <a:lnTo>
                    <a:pt x="710968" y="649128"/>
                  </a:lnTo>
                  <a:lnTo>
                    <a:pt x="736526" y="613447"/>
                  </a:lnTo>
                  <a:lnTo>
                    <a:pt x="758110" y="574990"/>
                  </a:lnTo>
                  <a:lnTo>
                    <a:pt x="775419" y="534059"/>
                  </a:lnTo>
                  <a:lnTo>
                    <a:pt x="788154" y="490952"/>
                  </a:lnTo>
                  <a:lnTo>
                    <a:pt x="796016" y="445971"/>
                  </a:lnTo>
                  <a:lnTo>
                    <a:pt x="798702" y="399414"/>
                  </a:lnTo>
                  <a:lnTo>
                    <a:pt x="796016" y="352833"/>
                  </a:lnTo>
                  <a:lnTo>
                    <a:pt x="788154" y="307830"/>
                  </a:lnTo>
                  <a:lnTo>
                    <a:pt x="775419" y="264705"/>
                  </a:lnTo>
                  <a:lnTo>
                    <a:pt x="758110" y="223758"/>
                  </a:lnTo>
                  <a:lnTo>
                    <a:pt x="736526" y="185289"/>
                  </a:lnTo>
                  <a:lnTo>
                    <a:pt x="710968" y="149597"/>
                  </a:lnTo>
                  <a:lnTo>
                    <a:pt x="681735" y="116982"/>
                  </a:lnTo>
                  <a:lnTo>
                    <a:pt x="649128" y="87744"/>
                  </a:lnTo>
                  <a:lnTo>
                    <a:pt x="613447" y="62182"/>
                  </a:lnTo>
                  <a:lnTo>
                    <a:pt x="574990" y="40595"/>
                  </a:lnTo>
                  <a:lnTo>
                    <a:pt x="534059" y="23284"/>
                  </a:lnTo>
                  <a:lnTo>
                    <a:pt x="490952" y="10548"/>
                  </a:lnTo>
                  <a:lnTo>
                    <a:pt x="445971" y="2687"/>
                  </a:lnTo>
                  <a:lnTo>
                    <a:pt x="399414" y="0"/>
                  </a:lnTo>
                  <a:close/>
                </a:path>
              </a:pathLst>
            </a:custGeom>
            <a:solidFill>
              <a:srgbClr val="EC7C30"/>
            </a:solidFill>
          </p:spPr>
          <p:txBody>
            <a:bodyPr wrap="square" lIns="0" tIns="0" rIns="0" bIns="0" rtlCol="0"/>
            <a:lstStyle/>
            <a:p>
              <a:endParaRPr/>
            </a:p>
          </p:txBody>
        </p:sp>
        <p:sp>
          <p:nvSpPr>
            <p:cNvPr id="10" name="object 10"/>
            <p:cNvSpPr/>
            <p:nvPr/>
          </p:nvSpPr>
          <p:spPr>
            <a:xfrm>
              <a:off x="5510672" y="4721732"/>
              <a:ext cx="314960" cy="314960"/>
            </a:xfrm>
            <a:custGeom>
              <a:avLst/>
              <a:gdLst/>
              <a:ahLst/>
              <a:cxnLst/>
              <a:rect l="l" t="t" r="r" b="b"/>
              <a:pathLst>
                <a:path w="314960" h="314960">
                  <a:moveTo>
                    <a:pt x="157210" y="41401"/>
                  </a:moveTo>
                  <a:lnTo>
                    <a:pt x="109503" y="51097"/>
                  </a:lnTo>
                  <a:lnTo>
                    <a:pt x="70548" y="77533"/>
                  </a:lnTo>
                  <a:lnTo>
                    <a:pt x="44285" y="116732"/>
                  </a:lnTo>
                  <a:lnTo>
                    <a:pt x="34655" y="164718"/>
                  </a:lnTo>
                  <a:lnTo>
                    <a:pt x="38564" y="195701"/>
                  </a:lnTo>
                  <a:lnTo>
                    <a:pt x="49641" y="223789"/>
                  </a:lnTo>
                  <a:lnTo>
                    <a:pt x="66909" y="247997"/>
                  </a:lnTo>
                  <a:lnTo>
                    <a:pt x="89392" y="267334"/>
                  </a:lnTo>
                  <a:lnTo>
                    <a:pt x="63357" y="314578"/>
                  </a:lnTo>
                  <a:lnTo>
                    <a:pt x="88503" y="314578"/>
                  </a:lnTo>
                  <a:lnTo>
                    <a:pt x="108696" y="277875"/>
                  </a:lnTo>
                  <a:lnTo>
                    <a:pt x="230964" y="277875"/>
                  </a:lnTo>
                  <a:lnTo>
                    <a:pt x="225505" y="267969"/>
                  </a:lnTo>
                  <a:lnTo>
                    <a:pt x="157210" y="267969"/>
                  </a:lnTo>
                  <a:lnTo>
                    <a:pt x="117207" y="259855"/>
                  </a:lnTo>
                  <a:lnTo>
                    <a:pt x="84550" y="237728"/>
                  </a:lnTo>
                  <a:lnTo>
                    <a:pt x="62537" y="204908"/>
                  </a:lnTo>
                  <a:lnTo>
                    <a:pt x="54467" y="164718"/>
                  </a:lnTo>
                  <a:lnTo>
                    <a:pt x="62537" y="124456"/>
                  </a:lnTo>
                  <a:lnTo>
                    <a:pt x="84550" y="91598"/>
                  </a:lnTo>
                  <a:lnTo>
                    <a:pt x="117207" y="69457"/>
                  </a:lnTo>
                  <a:lnTo>
                    <a:pt x="157210" y="61340"/>
                  </a:lnTo>
                  <a:lnTo>
                    <a:pt x="220098" y="61340"/>
                  </a:lnTo>
                  <a:lnTo>
                    <a:pt x="204989" y="51097"/>
                  </a:lnTo>
                  <a:lnTo>
                    <a:pt x="157210" y="41401"/>
                  </a:lnTo>
                  <a:close/>
                </a:path>
                <a:path w="314960" h="314960">
                  <a:moveTo>
                    <a:pt x="230964" y="277875"/>
                  </a:moveTo>
                  <a:lnTo>
                    <a:pt x="205724" y="277875"/>
                  </a:lnTo>
                  <a:lnTo>
                    <a:pt x="226044" y="314578"/>
                  </a:lnTo>
                  <a:lnTo>
                    <a:pt x="251190" y="314578"/>
                  </a:lnTo>
                  <a:lnTo>
                    <a:pt x="230964" y="277875"/>
                  </a:lnTo>
                  <a:close/>
                </a:path>
                <a:path w="314960" h="314960">
                  <a:moveTo>
                    <a:pt x="205724" y="277875"/>
                  </a:moveTo>
                  <a:lnTo>
                    <a:pt x="108696" y="277875"/>
                  </a:lnTo>
                  <a:lnTo>
                    <a:pt x="120187" y="282176"/>
                  </a:lnTo>
                  <a:lnTo>
                    <a:pt x="132143" y="285321"/>
                  </a:lnTo>
                  <a:lnTo>
                    <a:pt x="144504" y="287252"/>
                  </a:lnTo>
                  <a:lnTo>
                    <a:pt x="157210" y="287908"/>
                  </a:lnTo>
                  <a:lnTo>
                    <a:pt x="169987" y="287252"/>
                  </a:lnTo>
                  <a:lnTo>
                    <a:pt x="182371" y="285321"/>
                  </a:lnTo>
                  <a:lnTo>
                    <a:pt x="194304" y="282176"/>
                  </a:lnTo>
                  <a:lnTo>
                    <a:pt x="205724" y="277875"/>
                  </a:lnTo>
                  <a:close/>
                </a:path>
                <a:path w="314960" h="314960">
                  <a:moveTo>
                    <a:pt x="220098" y="61340"/>
                  </a:moveTo>
                  <a:lnTo>
                    <a:pt x="157210" y="61340"/>
                  </a:lnTo>
                  <a:lnTo>
                    <a:pt x="197286" y="69457"/>
                  </a:lnTo>
                  <a:lnTo>
                    <a:pt x="229981" y="91598"/>
                  </a:lnTo>
                  <a:lnTo>
                    <a:pt x="252007" y="124456"/>
                  </a:lnTo>
                  <a:lnTo>
                    <a:pt x="260080" y="164718"/>
                  </a:lnTo>
                  <a:lnTo>
                    <a:pt x="252007" y="204908"/>
                  </a:lnTo>
                  <a:lnTo>
                    <a:pt x="229981" y="237728"/>
                  </a:lnTo>
                  <a:lnTo>
                    <a:pt x="197286" y="259855"/>
                  </a:lnTo>
                  <a:lnTo>
                    <a:pt x="157210" y="267969"/>
                  </a:lnTo>
                  <a:lnTo>
                    <a:pt x="225505" y="267969"/>
                  </a:lnTo>
                  <a:lnTo>
                    <a:pt x="225155" y="267334"/>
                  </a:lnTo>
                  <a:lnTo>
                    <a:pt x="247638" y="247997"/>
                  </a:lnTo>
                  <a:lnTo>
                    <a:pt x="264906" y="223789"/>
                  </a:lnTo>
                  <a:lnTo>
                    <a:pt x="275982" y="195701"/>
                  </a:lnTo>
                  <a:lnTo>
                    <a:pt x="279892" y="164718"/>
                  </a:lnTo>
                  <a:lnTo>
                    <a:pt x="270259" y="116732"/>
                  </a:lnTo>
                  <a:lnTo>
                    <a:pt x="243982" y="77533"/>
                  </a:lnTo>
                  <a:lnTo>
                    <a:pt x="220098" y="61340"/>
                  </a:lnTo>
                  <a:close/>
                </a:path>
                <a:path w="314960" h="314960">
                  <a:moveTo>
                    <a:pt x="163433" y="101726"/>
                  </a:moveTo>
                  <a:lnTo>
                    <a:pt x="150987" y="101726"/>
                  </a:lnTo>
                  <a:lnTo>
                    <a:pt x="146034" y="106806"/>
                  </a:lnTo>
                  <a:lnTo>
                    <a:pt x="146034" y="176021"/>
                  </a:lnTo>
                  <a:lnTo>
                    <a:pt x="150987" y="181101"/>
                  </a:lnTo>
                  <a:lnTo>
                    <a:pt x="220456" y="181101"/>
                  </a:lnTo>
                  <a:lnTo>
                    <a:pt x="225536" y="176021"/>
                  </a:lnTo>
                  <a:lnTo>
                    <a:pt x="225536" y="163575"/>
                  </a:lnTo>
                  <a:lnTo>
                    <a:pt x="220456" y="158495"/>
                  </a:lnTo>
                  <a:lnTo>
                    <a:pt x="168513" y="158495"/>
                  </a:lnTo>
                  <a:lnTo>
                    <a:pt x="168513" y="106806"/>
                  </a:lnTo>
                  <a:lnTo>
                    <a:pt x="163433" y="101726"/>
                  </a:lnTo>
                  <a:close/>
                </a:path>
                <a:path w="314960" h="314960">
                  <a:moveTo>
                    <a:pt x="62341" y="12064"/>
                  </a:moveTo>
                  <a:lnTo>
                    <a:pt x="18272" y="30987"/>
                  </a:lnTo>
                  <a:lnTo>
                    <a:pt x="0" y="75469"/>
                  </a:lnTo>
                  <a:lnTo>
                    <a:pt x="4466" y="99175"/>
                  </a:lnTo>
                  <a:lnTo>
                    <a:pt x="18018" y="120141"/>
                  </a:lnTo>
                  <a:lnTo>
                    <a:pt x="107045" y="29590"/>
                  </a:lnTo>
                  <a:lnTo>
                    <a:pt x="97006" y="21780"/>
                  </a:lnTo>
                  <a:lnTo>
                    <a:pt x="85979" y="16255"/>
                  </a:lnTo>
                  <a:lnTo>
                    <a:pt x="74308" y="13017"/>
                  </a:lnTo>
                  <a:lnTo>
                    <a:pt x="62341" y="12064"/>
                  </a:lnTo>
                  <a:close/>
                </a:path>
                <a:path w="314960" h="314960">
                  <a:moveTo>
                    <a:pt x="252206" y="12064"/>
                  </a:moveTo>
                  <a:lnTo>
                    <a:pt x="240238" y="13017"/>
                  </a:lnTo>
                  <a:lnTo>
                    <a:pt x="228568" y="16255"/>
                  </a:lnTo>
                  <a:lnTo>
                    <a:pt x="217541" y="21780"/>
                  </a:lnTo>
                  <a:lnTo>
                    <a:pt x="207502" y="29590"/>
                  </a:lnTo>
                  <a:lnTo>
                    <a:pt x="296529" y="120141"/>
                  </a:lnTo>
                  <a:lnTo>
                    <a:pt x="310080" y="99175"/>
                  </a:lnTo>
                  <a:lnTo>
                    <a:pt x="314547" y="75469"/>
                  </a:lnTo>
                  <a:lnTo>
                    <a:pt x="309941" y="51812"/>
                  </a:lnTo>
                  <a:lnTo>
                    <a:pt x="275669" y="17002"/>
                  </a:lnTo>
                  <a:lnTo>
                    <a:pt x="252206" y="12064"/>
                  </a:lnTo>
                  <a:close/>
                </a:path>
                <a:path w="314960" h="314960">
                  <a:moveTo>
                    <a:pt x="174863" y="0"/>
                  </a:moveTo>
                  <a:lnTo>
                    <a:pt x="139684" y="0"/>
                  </a:lnTo>
                  <a:lnTo>
                    <a:pt x="133461" y="6350"/>
                  </a:lnTo>
                  <a:lnTo>
                    <a:pt x="133461" y="28193"/>
                  </a:lnTo>
                  <a:lnTo>
                    <a:pt x="181086" y="28193"/>
                  </a:lnTo>
                  <a:lnTo>
                    <a:pt x="181086" y="6350"/>
                  </a:lnTo>
                  <a:lnTo>
                    <a:pt x="174863"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5920485" y="6371082"/>
            <a:ext cx="3970020" cy="1123315"/>
          </a:xfrm>
          <a:prstGeom prst="rect">
            <a:avLst/>
          </a:prstGeom>
        </p:spPr>
        <p:txBody>
          <a:bodyPr vert="horz" wrap="square" lIns="0" tIns="12700" rIns="0" bIns="0" rtlCol="0">
            <a:spAutoFit/>
          </a:bodyPr>
          <a:lstStyle/>
          <a:p>
            <a:pPr marL="299085" indent="-286385">
              <a:lnSpc>
                <a:spcPct val="100000"/>
              </a:lnSpc>
              <a:spcBef>
                <a:spcPts val="100"/>
              </a:spcBef>
              <a:buClr>
                <a:srgbClr val="404040"/>
              </a:buClr>
              <a:buFont typeface="Arial MT"/>
              <a:buChar char="•"/>
              <a:tabLst>
                <a:tab pos="299085" algn="l"/>
              </a:tabLst>
            </a:pPr>
            <a:r>
              <a:rPr sz="1800" spc="-5" dirty="0">
                <a:solidFill>
                  <a:srgbClr val="404040"/>
                </a:solidFill>
                <a:latin typeface="Microsoft JhengHei"/>
                <a:cs typeface="Microsoft JhengHei"/>
              </a:rPr>
              <a:t>模仿學習原理：跟讀技術培養發音</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實用性優先原理：日常生活真實情境</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漸進挑戰原理：架式教學理論</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功能導向原理：語言交際功能培養</a:t>
            </a:r>
            <a:endParaRPr sz="1800">
              <a:latin typeface="Microsoft JhengHei"/>
              <a:cs typeface="Microsoft JhengHei"/>
            </a:endParaRPr>
          </a:p>
        </p:txBody>
      </p:sp>
      <p:sp>
        <p:nvSpPr>
          <p:cNvPr id="12" name="object 12"/>
          <p:cNvSpPr txBox="1"/>
          <p:nvPr/>
        </p:nvSpPr>
        <p:spPr>
          <a:xfrm>
            <a:off x="7332091" y="5929629"/>
            <a:ext cx="1244600" cy="391160"/>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4471C4"/>
                </a:solidFill>
                <a:latin typeface="Microsoft JhengHei"/>
                <a:cs typeface="Microsoft JhengHei"/>
              </a:rPr>
              <a:t>設計原理</a:t>
            </a:r>
            <a:endParaRPr sz="2400">
              <a:latin typeface="Microsoft JhengHei"/>
              <a:cs typeface="Microsoft JhengHei"/>
            </a:endParaRPr>
          </a:p>
        </p:txBody>
      </p:sp>
      <p:sp>
        <p:nvSpPr>
          <p:cNvPr id="13" name="object 13"/>
          <p:cNvSpPr txBox="1"/>
          <p:nvPr/>
        </p:nvSpPr>
        <p:spPr>
          <a:xfrm>
            <a:off x="9462896" y="1860930"/>
            <a:ext cx="3970020" cy="1139190"/>
          </a:xfrm>
          <a:prstGeom prst="rect">
            <a:avLst/>
          </a:prstGeom>
        </p:spPr>
        <p:txBody>
          <a:bodyPr vert="horz" wrap="square" lIns="0" tIns="12700" rIns="0" bIns="0" rtlCol="0">
            <a:spAutoFit/>
          </a:bodyPr>
          <a:lstStyle/>
          <a:p>
            <a:pPr marL="957580">
              <a:lnSpc>
                <a:spcPct val="100000"/>
              </a:lnSpc>
              <a:spcBef>
                <a:spcPts val="100"/>
              </a:spcBef>
            </a:pPr>
            <a:r>
              <a:rPr sz="2400" b="1" spc="-10" dirty="0">
                <a:solidFill>
                  <a:srgbClr val="A4A4A4"/>
                </a:solidFill>
                <a:latin typeface="Microsoft JhengHei"/>
                <a:cs typeface="Microsoft JhengHei"/>
              </a:rPr>
              <a:t>難度調整機制</a:t>
            </a:r>
            <a:endParaRPr sz="2400">
              <a:latin typeface="Microsoft JhengHei"/>
              <a:cs typeface="Microsoft JhengHei"/>
            </a:endParaRPr>
          </a:p>
          <a:p>
            <a:pPr marL="299085" indent="-286385">
              <a:lnSpc>
                <a:spcPct val="100000"/>
              </a:lnSpc>
              <a:spcBef>
                <a:spcPts val="1565"/>
              </a:spcBef>
              <a:buFont typeface="Arial MT"/>
              <a:buChar char="•"/>
              <a:tabLst>
                <a:tab pos="299085" algn="l"/>
              </a:tabLst>
            </a:pPr>
            <a:r>
              <a:rPr sz="1800" spc="-5" dirty="0">
                <a:solidFill>
                  <a:srgbClr val="404040"/>
                </a:solidFill>
                <a:latin typeface="Microsoft JhengHei"/>
                <a:cs typeface="Microsoft JhengHei"/>
              </a:rPr>
              <a:t>語言複雜度調整：句型詞彙複雜度語</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用功能深化：交際能力範圍擴展</a:t>
            </a:r>
            <a:endParaRPr sz="1800">
              <a:latin typeface="Microsoft JhengHei"/>
              <a:cs typeface="Microsoft JhengHei"/>
            </a:endParaRPr>
          </a:p>
        </p:txBody>
      </p:sp>
      <p:sp>
        <p:nvSpPr>
          <p:cNvPr id="14" name="object 14"/>
          <p:cNvSpPr/>
          <p:nvPr/>
        </p:nvSpPr>
        <p:spPr>
          <a:xfrm>
            <a:off x="9349867" y="4419853"/>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7"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7" y="59944"/>
                </a:lnTo>
                <a:lnTo>
                  <a:pt x="193928" y="59944"/>
                </a:lnTo>
                <a:lnTo>
                  <a:pt x="186152" y="58382"/>
                </a:lnTo>
                <a:lnTo>
                  <a:pt x="179816" y="54117"/>
                </a:lnTo>
                <a:lnTo>
                  <a:pt x="175551" y="47781"/>
                </a:lnTo>
                <a:lnTo>
                  <a:pt x="173989" y="40005"/>
                </a:lnTo>
                <a:lnTo>
                  <a:pt x="173989" y="26035"/>
                </a:lnTo>
                <a:close/>
              </a:path>
              <a:path w="276225" h="275589">
                <a:moveTo>
                  <a:pt x="226822"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2" y="40005"/>
                </a:lnTo>
                <a:lnTo>
                  <a:pt x="226822"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5"/>
                </a:lnTo>
                <a:lnTo>
                  <a:pt x="24764" y="47371"/>
                </a:lnTo>
                <a:lnTo>
                  <a:pt x="29590" y="52197"/>
                </a:lnTo>
                <a:lnTo>
                  <a:pt x="41401" y="52197"/>
                </a:lnTo>
                <a:lnTo>
                  <a:pt x="46227" y="47371"/>
                </a:lnTo>
                <a:lnTo>
                  <a:pt x="46227" y="4825"/>
                </a:lnTo>
                <a:lnTo>
                  <a:pt x="41401" y="0"/>
                </a:lnTo>
                <a:close/>
              </a:path>
              <a:path w="276225" h="275589">
                <a:moveTo>
                  <a:pt x="94233" y="0"/>
                </a:moveTo>
                <a:lnTo>
                  <a:pt x="82296" y="0"/>
                </a:lnTo>
                <a:lnTo>
                  <a:pt x="77597" y="4825"/>
                </a:lnTo>
                <a:lnTo>
                  <a:pt x="77597" y="47371"/>
                </a:lnTo>
                <a:lnTo>
                  <a:pt x="82296" y="52197"/>
                </a:lnTo>
                <a:lnTo>
                  <a:pt x="94233" y="52197"/>
                </a:lnTo>
                <a:lnTo>
                  <a:pt x="99059" y="47371"/>
                </a:lnTo>
                <a:lnTo>
                  <a:pt x="99059" y="4825"/>
                </a:lnTo>
                <a:lnTo>
                  <a:pt x="94233" y="0"/>
                </a:lnTo>
                <a:close/>
              </a:path>
              <a:path w="276225" h="275589">
                <a:moveTo>
                  <a:pt x="147065" y="0"/>
                </a:moveTo>
                <a:lnTo>
                  <a:pt x="135127" y="0"/>
                </a:lnTo>
                <a:lnTo>
                  <a:pt x="130428" y="4825"/>
                </a:lnTo>
                <a:lnTo>
                  <a:pt x="130428" y="47371"/>
                </a:lnTo>
                <a:lnTo>
                  <a:pt x="135127" y="52197"/>
                </a:lnTo>
                <a:lnTo>
                  <a:pt x="147065" y="52197"/>
                </a:lnTo>
                <a:lnTo>
                  <a:pt x="151764" y="47371"/>
                </a:lnTo>
                <a:lnTo>
                  <a:pt x="151764" y="4825"/>
                </a:lnTo>
                <a:lnTo>
                  <a:pt x="147065" y="0"/>
                </a:lnTo>
                <a:close/>
              </a:path>
              <a:path w="276225" h="275589">
                <a:moveTo>
                  <a:pt x="199898" y="0"/>
                </a:moveTo>
                <a:lnTo>
                  <a:pt x="187959" y="0"/>
                </a:lnTo>
                <a:lnTo>
                  <a:pt x="183133" y="4825"/>
                </a:lnTo>
                <a:lnTo>
                  <a:pt x="183133" y="47371"/>
                </a:lnTo>
                <a:lnTo>
                  <a:pt x="187959" y="52197"/>
                </a:lnTo>
                <a:lnTo>
                  <a:pt x="199898" y="52197"/>
                </a:lnTo>
                <a:lnTo>
                  <a:pt x="204597" y="47371"/>
                </a:lnTo>
                <a:lnTo>
                  <a:pt x="204597" y="4825"/>
                </a:lnTo>
                <a:lnTo>
                  <a:pt x="199898" y="0"/>
                </a:lnTo>
                <a:close/>
              </a:path>
              <a:path w="276225" h="275589">
                <a:moveTo>
                  <a:pt x="252602" y="0"/>
                </a:moveTo>
                <a:lnTo>
                  <a:pt x="240791" y="0"/>
                </a:lnTo>
                <a:lnTo>
                  <a:pt x="235965" y="4825"/>
                </a:lnTo>
                <a:lnTo>
                  <a:pt x="235965" y="47371"/>
                </a:lnTo>
                <a:lnTo>
                  <a:pt x="240791" y="52197"/>
                </a:lnTo>
                <a:lnTo>
                  <a:pt x="252602" y="52197"/>
                </a:lnTo>
                <a:lnTo>
                  <a:pt x="257428" y="47371"/>
                </a:lnTo>
                <a:lnTo>
                  <a:pt x="257428" y="4825"/>
                </a:lnTo>
                <a:lnTo>
                  <a:pt x="252602" y="0"/>
                </a:lnTo>
                <a:close/>
              </a:path>
            </a:pathLst>
          </a:custGeom>
          <a:solidFill>
            <a:srgbClr val="FFFFFF"/>
          </a:solidFill>
        </p:spPr>
        <p:txBody>
          <a:bodyPr wrap="square" lIns="0" tIns="0" rIns="0" bIns="0" rtlCol="0"/>
          <a:lstStyle/>
          <a:p>
            <a:endParaRPr/>
          </a:p>
        </p:txBody>
      </p:sp>
      <p:sp>
        <p:nvSpPr>
          <p:cNvPr id="15" name="object 15"/>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6" name="object 16"/>
          <p:cNvSpPr/>
          <p:nvPr/>
        </p:nvSpPr>
        <p:spPr>
          <a:xfrm>
            <a:off x="5025771" y="6562217"/>
            <a:ext cx="299085" cy="299085"/>
          </a:xfrm>
          <a:custGeom>
            <a:avLst/>
            <a:gdLst/>
            <a:ahLst/>
            <a:cxnLst/>
            <a:rect l="l" t="t" r="r" b="b"/>
            <a:pathLst>
              <a:path w="299085" h="299084">
                <a:moveTo>
                  <a:pt x="298957" y="0"/>
                </a:moveTo>
                <a:lnTo>
                  <a:pt x="0" y="0"/>
                </a:lnTo>
                <a:lnTo>
                  <a:pt x="0" y="298830"/>
                </a:lnTo>
                <a:lnTo>
                  <a:pt x="298957" y="298830"/>
                </a:lnTo>
                <a:lnTo>
                  <a:pt x="298957" y="263270"/>
                </a:lnTo>
                <a:lnTo>
                  <a:pt x="35559" y="263270"/>
                </a:lnTo>
                <a:lnTo>
                  <a:pt x="35559" y="35559"/>
                </a:lnTo>
                <a:lnTo>
                  <a:pt x="38353" y="35559"/>
                </a:lnTo>
                <a:lnTo>
                  <a:pt x="38353" y="35051"/>
                </a:lnTo>
                <a:lnTo>
                  <a:pt x="298957" y="35051"/>
                </a:lnTo>
                <a:lnTo>
                  <a:pt x="298957" y="0"/>
                </a:lnTo>
                <a:close/>
              </a:path>
              <a:path w="299085" h="299084">
                <a:moveTo>
                  <a:pt x="55371" y="109346"/>
                </a:moveTo>
                <a:lnTo>
                  <a:pt x="40258" y="154304"/>
                </a:lnTo>
                <a:lnTo>
                  <a:pt x="74481" y="167705"/>
                </a:lnTo>
                <a:lnTo>
                  <a:pt x="101060" y="195786"/>
                </a:lnTo>
                <a:lnTo>
                  <a:pt x="122447" y="230368"/>
                </a:lnTo>
                <a:lnTo>
                  <a:pt x="141096" y="263270"/>
                </a:lnTo>
                <a:lnTo>
                  <a:pt x="145668" y="263270"/>
                </a:lnTo>
                <a:lnTo>
                  <a:pt x="164873" y="220895"/>
                </a:lnTo>
                <a:lnTo>
                  <a:pt x="185631" y="177418"/>
                </a:lnTo>
                <a:lnTo>
                  <a:pt x="142493" y="177418"/>
                </a:lnTo>
                <a:lnTo>
                  <a:pt x="125452" y="154513"/>
                </a:lnTo>
                <a:lnTo>
                  <a:pt x="108172" y="136477"/>
                </a:lnTo>
                <a:lnTo>
                  <a:pt x="86272" y="121894"/>
                </a:lnTo>
                <a:lnTo>
                  <a:pt x="55371" y="109346"/>
                </a:lnTo>
                <a:close/>
              </a:path>
              <a:path w="299085" h="299084">
                <a:moveTo>
                  <a:pt x="298957" y="35051"/>
                </a:moveTo>
                <a:lnTo>
                  <a:pt x="263778" y="35051"/>
                </a:lnTo>
                <a:lnTo>
                  <a:pt x="263778" y="54990"/>
                </a:lnTo>
                <a:lnTo>
                  <a:pt x="263398" y="54990"/>
                </a:lnTo>
                <a:lnTo>
                  <a:pt x="263398" y="263270"/>
                </a:lnTo>
                <a:lnTo>
                  <a:pt x="298957" y="263270"/>
                </a:lnTo>
                <a:lnTo>
                  <a:pt x="298957" y="35051"/>
                </a:lnTo>
                <a:close/>
              </a:path>
              <a:path w="299085" h="299084">
                <a:moveTo>
                  <a:pt x="255650" y="54990"/>
                </a:moveTo>
                <a:lnTo>
                  <a:pt x="206120" y="54990"/>
                </a:lnTo>
                <a:lnTo>
                  <a:pt x="187410" y="86246"/>
                </a:lnTo>
                <a:lnTo>
                  <a:pt x="172164" y="114442"/>
                </a:lnTo>
                <a:lnTo>
                  <a:pt x="157989" y="143519"/>
                </a:lnTo>
                <a:lnTo>
                  <a:pt x="142493" y="177418"/>
                </a:lnTo>
                <a:lnTo>
                  <a:pt x="185631" y="177418"/>
                </a:lnTo>
                <a:lnTo>
                  <a:pt x="185827" y="177008"/>
                </a:lnTo>
                <a:lnTo>
                  <a:pt x="208177" y="133481"/>
                </a:lnTo>
                <a:lnTo>
                  <a:pt x="231569" y="92184"/>
                </a:lnTo>
                <a:lnTo>
                  <a:pt x="255650" y="54990"/>
                </a:lnTo>
                <a:close/>
              </a:path>
            </a:pathLst>
          </a:custGeom>
          <a:solidFill>
            <a:srgbClr val="FFFFFF"/>
          </a:solidFill>
        </p:spPr>
        <p:txBody>
          <a:bodyPr wrap="square" lIns="0" tIns="0" rIns="0" bIns="0" rtlCol="0"/>
          <a:lstStyle/>
          <a:p>
            <a:endParaRPr/>
          </a:p>
        </p:txBody>
      </p:sp>
      <p:sp>
        <p:nvSpPr>
          <p:cNvPr id="17" name="object 17"/>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8" name="object 18"/>
          <p:cNvSpPr/>
          <p:nvPr/>
        </p:nvSpPr>
        <p:spPr>
          <a:xfrm>
            <a:off x="5564504" y="6166611"/>
            <a:ext cx="173355" cy="377825"/>
          </a:xfrm>
          <a:custGeom>
            <a:avLst/>
            <a:gdLst/>
            <a:ahLst/>
            <a:cxnLst/>
            <a:rect l="l" t="t" r="r" b="b"/>
            <a:pathLst>
              <a:path w="173354" h="377825">
                <a:moveTo>
                  <a:pt x="16510" y="187451"/>
                </a:moveTo>
                <a:lnTo>
                  <a:pt x="0" y="188721"/>
                </a:lnTo>
                <a:lnTo>
                  <a:pt x="7794" y="218570"/>
                </a:lnTo>
                <a:lnTo>
                  <a:pt x="24828" y="243014"/>
                </a:lnTo>
                <a:lnTo>
                  <a:pt x="49006" y="260123"/>
                </a:lnTo>
                <a:lnTo>
                  <a:pt x="78705" y="268096"/>
                </a:lnTo>
                <a:lnTo>
                  <a:pt x="78232" y="268096"/>
                </a:lnTo>
                <a:lnTo>
                  <a:pt x="78232" y="323214"/>
                </a:lnTo>
                <a:lnTo>
                  <a:pt x="81851" y="323214"/>
                </a:lnTo>
                <a:lnTo>
                  <a:pt x="70993" y="323595"/>
                </a:lnTo>
                <a:lnTo>
                  <a:pt x="19669" y="346757"/>
                </a:lnTo>
                <a:lnTo>
                  <a:pt x="6731" y="377570"/>
                </a:lnTo>
                <a:lnTo>
                  <a:pt x="166243" y="375285"/>
                </a:lnTo>
                <a:lnTo>
                  <a:pt x="135507" y="333940"/>
                </a:lnTo>
                <a:lnTo>
                  <a:pt x="102171" y="323595"/>
                </a:lnTo>
                <a:lnTo>
                  <a:pt x="104647" y="323595"/>
                </a:lnTo>
                <a:lnTo>
                  <a:pt x="94742" y="323214"/>
                </a:lnTo>
                <a:lnTo>
                  <a:pt x="94742" y="268096"/>
                </a:lnTo>
                <a:lnTo>
                  <a:pt x="125630" y="259306"/>
                </a:lnTo>
                <a:lnTo>
                  <a:pt x="134968" y="252221"/>
                </a:lnTo>
                <a:lnTo>
                  <a:pt x="89154" y="252221"/>
                </a:lnTo>
                <a:lnTo>
                  <a:pt x="62355" y="247977"/>
                </a:lnTo>
                <a:lnTo>
                  <a:pt x="39830" y="234457"/>
                </a:lnTo>
                <a:lnTo>
                  <a:pt x="23806" y="213627"/>
                </a:lnTo>
                <a:lnTo>
                  <a:pt x="16510" y="187451"/>
                </a:lnTo>
                <a:close/>
              </a:path>
              <a:path w="173354" h="377825">
                <a:moveTo>
                  <a:pt x="173100" y="182118"/>
                </a:moveTo>
                <a:lnTo>
                  <a:pt x="156591" y="182118"/>
                </a:lnTo>
                <a:lnTo>
                  <a:pt x="151358" y="208716"/>
                </a:lnTo>
                <a:lnTo>
                  <a:pt x="137017" y="230695"/>
                </a:lnTo>
                <a:lnTo>
                  <a:pt x="115603" y="245911"/>
                </a:lnTo>
                <a:lnTo>
                  <a:pt x="89154" y="252221"/>
                </a:lnTo>
                <a:lnTo>
                  <a:pt x="134968" y="252221"/>
                </a:lnTo>
                <a:lnTo>
                  <a:pt x="150494" y="240442"/>
                </a:lnTo>
                <a:lnTo>
                  <a:pt x="167072" y="213911"/>
                </a:lnTo>
                <a:lnTo>
                  <a:pt x="172980" y="182752"/>
                </a:lnTo>
                <a:lnTo>
                  <a:pt x="173100" y="182118"/>
                </a:lnTo>
                <a:close/>
              </a:path>
              <a:path w="173354" h="377825">
                <a:moveTo>
                  <a:pt x="86487" y="0"/>
                </a:moveTo>
                <a:lnTo>
                  <a:pt x="66542" y="4032"/>
                </a:lnTo>
                <a:lnTo>
                  <a:pt x="50276" y="15017"/>
                </a:lnTo>
                <a:lnTo>
                  <a:pt x="39320" y="31289"/>
                </a:lnTo>
                <a:lnTo>
                  <a:pt x="35306" y="51181"/>
                </a:lnTo>
                <a:lnTo>
                  <a:pt x="35306" y="182752"/>
                </a:lnTo>
                <a:lnTo>
                  <a:pt x="39320" y="202644"/>
                </a:lnTo>
                <a:lnTo>
                  <a:pt x="50276" y="218916"/>
                </a:lnTo>
                <a:lnTo>
                  <a:pt x="66542" y="229901"/>
                </a:lnTo>
                <a:lnTo>
                  <a:pt x="86487" y="233933"/>
                </a:lnTo>
                <a:lnTo>
                  <a:pt x="106378" y="229901"/>
                </a:lnTo>
                <a:lnTo>
                  <a:pt x="122650" y="218916"/>
                </a:lnTo>
                <a:lnTo>
                  <a:pt x="133635" y="202644"/>
                </a:lnTo>
                <a:lnTo>
                  <a:pt x="137668" y="182752"/>
                </a:lnTo>
                <a:lnTo>
                  <a:pt x="137668" y="51181"/>
                </a:lnTo>
                <a:lnTo>
                  <a:pt x="133635" y="31289"/>
                </a:lnTo>
                <a:lnTo>
                  <a:pt x="122650" y="15017"/>
                </a:lnTo>
                <a:lnTo>
                  <a:pt x="106378" y="4032"/>
                </a:lnTo>
                <a:lnTo>
                  <a:pt x="86487" y="0"/>
                </a:lnTo>
                <a:close/>
              </a:path>
            </a:pathLst>
          </a:custGeom>
          <a:solidFill>
            <a:srgbClr val="FFFFFF"/>
          </a:solidFill>
        </p:spPr>
        <p:txBody>
          <a:bodyPr wrap="square" lIns="0" tIns="0" rIns="0" bIns="0" rtlCol="0"/>
          <a:lstStyle/>
          <a:p>
            <a:endParaRPr/>
          </a:p>
        </p:txBody>
      </p:sp>
      <p:sp>
        <p:nvSpPr>
          <p:cNvPr id="20" name="object 20"/>
          <p:cNvSpPr txBox="1"/>
          <p:nvPr/>
        </p:nvSpPr>
        <p:spPr>
          <a:xfrm>
            <a:off x="1472564" y="1773681"/>
            <a:ext cx="3516629" cy="3609975"/>
          </a:xfrm>
          <a:prstGeom prst="rect">
            <a:avLst/>
          </a:prstGeom>
        </p:spPr>
        <p:txBody>
          <a:bodyPr vert="horz" wrap="square" lIns="0" tIns="158750" rIns="0" bIns="0" rtlCol="0">
            <a:spAutoFit/>
          </a:bodyPr>
          <a:lstStyle/>
          <a:p>
            <a:pPr marL="1134745">
              <a:lnSpc>
                <a:spcPct val="100000"/>
              </a:lnSpc>
              <a:spcBef>
                <a:spcPts val="1250"/>
              </a:spcBef>
            </a:pPr>
            <a:r>
              <a:rPr sz="2400" b="1" spc="-15" dirty="0">
                <a:solidFill>
                  <a:srgbClr val="4471C4"/>
                </a:solidFill>
                <a:latin typeface="Microsoft JhengHei"/>
                <a:cs typeface="Microsoft JhengHei"/>
              </a:rPr>
              <a:t>核心架構</a:t>
            </a:r>
            <a:endParaRPr sz="2400">
              <a:latin typeface="Microsoft JhengHei"/>
              <a:cs typeface="Microsoft JhengHei"/>
            </a:endParaRPr>
          </a:p>
          <a:p>
            <a:pPr marL="299085" indent="-286385">
              <a:lnSpc>
                <a:spcPct val="100000"/>
              </a:lnSpc>
              <a:spcBef>
                <a:spcPts val="865"/>
              </a:spcBef>
              <a:buFont typeface="Arial MT"/>
              <a:buChar char="•"/>
              <a:tabLst>
                <a:tab pos="299085" algn="l"/>
              </a:tabLst>
            </a:pPr>
            <a:r>
              <a:rPr sz="1800" spc="-5" dirty="0">
                <a:solidFill>
                  <a:srgbClr val="404040"/>
                </a:solidFill>
                <a:latin typeface="Microsoft JhengHei"/>
                <a:cs typeface="Microsoft JhengHei"/>
              </a:rPr>
              <a:t>角色與情境定位：英語母語人士</a:t>
            </a:r>
            <a:endParaRPr sz="1800">
              <a:latin typeface="Microsoft JhengHei"/>
              <a:cs typeface="Microsoft JhengHei"/>
            </a:endParaRPr>
          </a:p>
          <a:p>
            <a:pPr marL="299085" indent="-286385">
              <a:lnSpc>
                <a:spcPct val="100000"/>
              </a:lnSpc>
              <a:spcBef>
                <a:spcPts val="5"/>
              </a:spcBef>
              <a:buFont typeface="Arial MT"/>
              <a:buChar char="•"/>
              <a:tabLst>
                <a:tab pos="299085" algn="l"/>
              </a:tabLst>
            </a:pPr>
            <a:r>
              <a:rPr sz="1800" spc="-5" dirty="0">
                <a:solidFill>
                  <a:srgbClr val="404040"/>
                </a:solidFill>
                <a:latin typeface="Microsoft JhengHei"/>
                <a:cs typeface="Microsoft JhengHei"/>
              </a:rPr>
              <a:t>指導原則：句型語速表達重點</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範例句型：具體句子範例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難度標示：</a:t>
            </a:r>
            <a:r>
              <a:rPr sz="1800" spc="-10" dirty="0">
                <a:solidFill>
                  <a:srgbClr val="404040"/>
                </a:solidFill>
                <a:latin typeface="Microsoft JhengHei"/>
                <a:cs typeface="Microsoft JhengHei"/>
              </a:rPr>
              <a:t>CEFR</a:t>
            </a:r>
            <a:r>
              <a:rPr sz="1800" spc="-15" dirty="0">
                <a:solidFill>
                  <a:srgbClr val="404040"/>
                </a:solidFill>
                <a:latin typeface="Microsoft JhengHei"/>
                <a:cs typeface="Microsoft JhengHei"/>
              </a:rPr>
              <a:t>語言等級</a:t>
            </a:r>
            <a:endParaRPr sz="1800">
              <a:latin typeface="Microsoft JhengHei"/>
              <a:cs typeface="Microsoft JhengHei"/>
            </a:endParaRPr>
          </a:p>
          <a:p>
            <a:pPr>
              <a:lnSpc>
                <a:spcPct val="100000"/>
              </a:lnSpc>
              <a:spcBef>
                <a:spcPts val="965"/>
              </a:spcBef>
              <a:buClr>
                <a:srgbClr val="404040"/>
              </a:buClr>
              <a:buFont typeface="Arial MT"/>
              <a:buChar char="•"/>
            </a:pPr>
            <a:endParaRPr sz="1800">
              <a:latin typeface="Microsoft JhengHei"/>
              <a:cs typeface="Microsoft JhengHei"/>
            </a:endParaRPr>
          </a:p>
          <a:p>
            <a:pPr marL="1268730">
              <a:lnSpc>
                <a:spcPct val="100000"/>
              </a:lnSpc>
            </a:pPr>
            <a:r>
              <a:rPr sz="2400" b="1" spc="-15" dirty="0">
                <a:solidFill>
                  <a:srgbClr val="EC7C30"/>
                </a:solidFill>
                <a:latin typeface="Microsoft JhengHei"/>
                <a:cs typeface="Microsoft JhengHei"/>
              </a:rPr>
              <a:t>主題分類</a:t>
            </a:r>
            <a:endParaRPr sz="2400">
              <a:latin typeface="Microsoft JhengHei"/>
              <a:cs typeface="Microsoft JhengHei"/>
            </a:endParaRPr>
          </a:p>
          <a:p>
            <a:pPr marL="299085" indent="-286385">
              <a:lnSpc>
                <a:spcPct val="100000"/>
              </a:lnSpc>
              <a:spcBef>
                <a:spcPts val="1050"/>
              </a:spcBef>
              <a:buFont typeface="Arial MT"/>
              <a:buChar char="•"/>
              <a:tabLst>
                <a:tab pos="299085" algn="l"/>
              </a:tabLst>
            </a:pPr>
            <a:r>
              <a:rPr sz="1800" spc="-5" dirty="0">
                <a:solidFill>
                  <a:srgbClr val="404040"/>
                </a:solidFill>
                <a:latin typeface="Microsoft JhengHei"/>
                <a:cs typeface="Microsoft JhengHei"/>
              </a:rPr>
              <a:t>生活場景覆蓋：五核心生活場景</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視覺化輔助：直觀圖標描述說明</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功能性分類：特定語言功能重點</a:t>
            </a:r>
            <a:endParaRPr sz="1800">
              <a:latin typeface="Microsoft JhengHei"/>
              <a:cs typeface="Microsoft JhengHei"/>
            </a:endParaRPr>
          </a:p>
        </p:txBody>
      </p:sp>
      <p:grpSp>
        <p:nvGrpSpPr>
          <p:cNvPr id="21" name="object 21"/>
          <p:cNvGrpSpPr/>
          <p:nvPr/>
        </p:nvGrpSpPr>
        <p:grpSpPr>
          <a:xfrm>
            <a:off x="8333105" y="4481703"/>
            <a:ext cx="798830" cy="798830"/>
            <a:chOff x="8333105" y="4481703"/>
            <a:chExt cx="798830" cy="798830"/>
          </a:xfrm>
        </p:grpSpPr>
        <p:sp>
          <p:nvSpPr>
            <p:cNvPr id="22" name="object 22"/>
            <p:cNvSpPr/>
            <p:nvPr/>
          </p:nvSpPr>
          <p:spPr>
            <a:xfrm>
              <a:off x="8333105" y="4481703"/>
              <a:ext cx="798830" cy="798830"/>
            </a:xfrm>
            <a:custGeom>
              <a:avLst/>
              <a:gdLst/>
              <a:ahLst/>
              <a:cxnLst/>
              <a:rect l="l" t="t" r="r" b="b"/>
              <a:pathLst>
                <a:path w="798829" h="798829">
                  <a:moveTo>
                    <a:pt x="399288" y="0"/>
                  </a:moveTo>
                  <a:lnTo>
                    <a:pt x="352731" y="2686"/>
                  </a:lnTo>
                  <a:lnTo>
                    <a:pt x="307750" y="10548"/>
                  </a:lnTo>
                  <a:lnTo>
                    <a:pt x="264643" y="23283"/>
                  </a:lnTo>
                  <a:lnTo>
                    <a:pt x="223712" y="40592"/>
                  </a:lnTo>
                  <a:lnTo>
                    <a:pt x="185255" y="62176"/>
                  </a:lnTo>
                  <a:lnTo>
                    <a:pt x="149574" y="87734"/>
                  </a:lnTo>
                  <a:lnTo>
                    <a:pt x="116966" y="116967"/>
                  </a:lnTo>
                  <a:lnTo>
                    <a:pt x="87734" y="149574"/>
                  </a:lnTo>
                  <a:lnTo>
                    <a:pt x="62176" y="185255"/>
                  </a:lnTo>
                  <a:lnTo>
                    <a:pt x="40592" y="223712"/>
                  </a:lnTo>
                  <a:lnTo>
                    <a:pt x="23283" y="264643"/>
                  </a:lnTo>
                  <a:lnTo>
                    <a:pt x="10548" y="307750"/>
                  </a:lnTo>
                  <a:lnTo>
                    <a:pt x="2686" y="352731"/>
                  </a:lnTo>
                  <a:lnTo>
                    <a:pt x="0" y="399288"/>
                  </a:lnTo>
                  <a:lnTo>
                    <a:pt x="2686" y="445869"/>
                  </a:lnTo>
                  <a:lnTo>
                    <a:pt x="10548" y="490872"/>
                  </a:lnTo>
                  <a:lnTo>
                    <a:pt x="23283" y="533997"/>
                  </a:lnTo>
                  <a:lnTo>
                    <a:pt x="40592" y="574944"/>
                  </a:lnTo>
                  <a:lnTo>
                    <a:pt x="62176" y="613413"/>
                  </a:lnTo>
                  <a:lnTo>
                    <a:pt x="87734" y="649105"/>
                  </a:lnTo>
                  <a:lnTo>
                    <a:pt x="116966" y="681720"/>
                  </a:lnTo>
                  <a:lnTo>
                    <a:pt x="149574" y="710958"/>
                  </a:lnTo>
                  <a:lnTo>
                    <a:pt x="185255" y="736520"/>
                  </a:lnTo>
                  <a:lnTo>
                    <a:pt x="223712" y="758107"/>
                  </a:lnTo>
                  <a:lnTo>
                    <a:pt x="264643" y="775418"/>
                  </a:lnTo>
                  <a:lnTo>
                    <a:pt x="307750" y="788154"/>
                  </a:lnTo>
                  <a:lnTo>
                    <a:pt x="352731" y="796015"/>
                  </a:lnTo>
                  <a:lnTo>
                    <a:pt x="399288" y="798703"/>
                  </a:lnTo>
                  <a:lnTo>
                    <a:pt x="445869" y="796015"/>
                  </a:lnTo>
                  <a:lnTo>
                    <a:pt x="490872" y="788154"/>
                  </a:lnTo>
                  <a:lnTo>
                    <a:pt x="533997" y="775418"/>
                  </a:lnTo>
                  <a:lnTo>
                    <a:pt x="574944" y="758107"/>
                  </a:lnTo>
                  <a:lnTo>
                    <a:pt x="613413" y="736520"/>
                  </a:lnTo>
                  <a:lnTo>
                    <a:pt x="649105" y="710958"/>
                  </a:lnTo>
                  <a:lnTo>
                    <a:pt x="681720" y="681720"/>
                  </a:lnTo>
                  <a:lnTo>
                    <a:pt x="710958" y="649105"/>
                  </a:lnTo>
                  <a:lnTo>
                    <a:pt x="736520" y="613413"/>
                  </a:lnTo>
                  <a:lnTo>
                    <a:pt x="758107" y="574944"/>
                  </a:lnTo>
                  <a:lnTo>
                    <a:pt x="775418" y="533997"/>
                  </a:lnTo>
                  <a:lnTo>
                    <a:pt x="788154" y="490872"/>
                  </a:lnTo>
                  <a:lnTo>
                    <a:pt x="796015" y="445869"/>
                  </a:lnTo>
                  <a:lnTo>
                    <a:pt x="798702" y="399288"/>
                  </a:lnTo>
                  <a:lnTo>
                    <a:pt x="796015" y="352731"/>
                  </a:lnTo>
                  <a:lnTo>
                    <a:pt x="788154" y="307750"/>
                  </a:lnTo>
                  <a:lnTo>
                    <a:pt x="775418" y="264643"/>
                  </a:lnTo>
                  <a:lnTo>
                    <a:pt x="758107" y="223712"/>
                  </a:lnTo>
                  <a:lnTo>
                    <a:pt x="736520" y="185255"/>
                  </a:lnTo>
                  <a:lnTo>
                    <a:pt x="710958" y="149574"/>
                  </a:lnTo>
                  <a:lnTo>
                    <a:pt x="681720" y="116967"/>
                  </a:lnTo>
                  <a:lnTo>
                    <a:pt x="649105" y="87734"/>
                  </a:lnTo>
                  <a:lnTo>
                    <a:pt x="613413" y="62176"/>
                  </a:lnTo>
                  <a:lnTo>
                    <a:pt x="574944" y="40592"/>
                  </a:lnTo>
                  <a:lnTo>
                    <a:pt x="533997" y="23283"/>
                  </a:lnTo>
                  <a:lnTo>
                    <a:pt x="490872" y="10548"/>
                  </a:lnTo>
                  <a:lnTo>
                    <a:pt x="445869" y="2686"/>
                  </a:lnTo>
                  <a:lnTo>
                    <a:pt x="399288" y="0"/>
                  </a:lnTo>
                  <a:close/>
                </a:path>
              </a:pathLst>
            </a:custGeom>
            <a:solidFill>
              <a:srgbClr val="EC7C30"/>
            </a:solidFill>
          </p:spPr>
          <p:txBody>
            <a:bodyPr wrap="square" lIns="0" tIns="0" rIns="0" bIns="0" rtlCol="0"/>
            <a:lstStyle/>
            <a:p>
              <a:endParaRPr/>
            </a:p>
          </p:txBody>
        </p:sp>
        <p:sp>
          <p:nvSpPr>
            <p:cNvPr id="23" name="object 23"/>
            <p:cNvSpPr/>
            <p:nvPr/>
          </p:nvSpPr>
          <p:spPr>
            <a:xfrm>
              <a:off x="8600948" y="4751959"/>
              <a:ext cx="276225" cy="275590"/>
            </a:xfrm>
            <a:custGeom>
              <a:avLst/>
              <a:gdLst/>
              <a:ahLst/>
              <a:cxnLst/>
              <a:rect l="l" t="t" r="r" b="b"/>
              <a:pathLst>
                <a:path w="276225" h="275589">
                  <a:moveTo>
                    <a:pt x="15494" y="26035"/>
                  </a:moveTo>
                  <a:lnTo>
                    <a:pt x="0" y="26035"/>
                  </a:lnTo>
                  <a:lnTo>
                    <a:pt x="0" y="275081"/>
                  </a:lnTo>
                  <a:lnTo>
                    <a:pt x="275844" y="275081"/>
                  </a:lnTo>
                  <a:lnTo>
                    <a:pt x="275844" y="242061"/>
                  </a:lnTo>
                  <a:lnTo>
                    <a:pt x="57911" y="242061"/>
                  </a:lnTo>
                  <a:lnTo>
                    <a:pt x="55118" y="239267"/>
                  </a:lnTo>
                  <a:lnTo>
                    <a:pt x="55118" y="232536"/>
                  </a:lnTo>
                  <a:lnTo>
                    <a:pt x="57911" y="229742"/>
                  </a:lnTo>
                  <a:lnTo>
                    <a:pt x="275844" y="229742"/>
                  </a:lnTo>
                  <a:lnTo>
                    <a:pt x="275844" y="213740"/>
                  </a:lnTo>
                  <a:lnTo>
                    <a:pt x="57911" y="213740"/>
                  </a:lnTo>
                  <a:lnTo>
                    <a:pt x="55118" y="211074"/>
                  </a:lnTo>
                  <a:lnTo>
                    <a:pt x="55118" y="204342"/>
                  </a:lnTo>
                  <a:lnTo>
                    <a:pt x="57911" y="201549"/>
                  </a:lnTo>
                  <a:lnTo>
                    <a:pt x="275844" y="201549"/>
                  </a:lnTo>
                  <a:lnTo>
                    <a:pt x="275844" y="185546"/>
                  </a:lnTo>
                  <a:lnTo>
                    <a:pt x="57911" y="185546"/>
                  </a:lnTo>
                  <a:lnTo>
                    <a:pt x="55118" y="182879"/>
                  </a:lnTo>
                  <a:lnTo>
                    <a:pt x="55118" y="176021"/>
                  </a:lnTo>
                  <a:lnTo>
                    <a:pt x="57911" y="173354"/>
                  </a:lnTo>
                  <a:lnTo>
                    <a:pt x="275844" y="173354"/>
                  </a:lnTo>
                  <a:lnTo>
                    <a:pt x="275844" y="157352"/>
                  </a:lnTo>
                  <a:lnTo>
                    <a:pt x="57911" y="157352"/>
                  </a:lnTo>
                  <a:lnTo>
                    <a:pt x="55118" y="154686"/>
                  </a:lnTo>
                  <a:lnTo>
                    <a:pt x="55118" y="147827"/>
                  </a:lnTo>
                  <a:lnTo>
                    <a:pt x="57911" y="145161"/>
                  </a:lnTo>
                  <a:lnTo>
                    <a:pt x="275844" y="145161"/>
                  </a:lnTo>
                  <a:lnTo>
                    <a:pt x="275844" y="129158"/>
                  </a:lnTo>
                  <a:lnTo>
                    <a:pt x="57911" y="129158"/>
                  </a:lnTo>
                  <a:lnTo>
                    <a:pt x="55118" y="126491"/>
                  </a:lnTo>
                  <a:lnTo>
                    <a:pt x="55118" y="119633"/>
                  </a:lnTo>
                  <a:lnTo>
                    <a:pt x="57911" y="116966"/>
                  </a:lnTo>
                  <a:lnTo>
                    <a:pt x="275844" y="116966"/>
                  </a:lnTo>
                  <a:lnTo>
                    <a:pt x="275844" y="100964"/>
                  </a:lnTo>
                  <a:lnTo>
                    <a:pt x="57911" y="100964"/>
                  </a:lnTo>
                  <a:lnTo>
                    <a:pt x="55118" y="98298"/>
                  </a:lnTo>
                  <a:lnTo>
                    <a:pt x="55118" y="91439"/>
                  </a:lnTo>
                  <a:lnTo>
                    <a:pt x="57911" y="88773"/>
                  </a:lnTo>
                  <a:lnTo>
                    <a:pt x="275844" y="88773"/>
                  </a:lnTo>
                  <a:lnTo>
                    <a:pt x="275844" y="59943"/>
                  </a:lnTo>
                  <a:lnTo>
                    <a:pt x="35432" y="59943"/>
                  </a:lnTo>
                  <a:lnTo>
                    <a:pt x="27656" y="58382"/>
                  </a:lnTo>
                  <a:lnTo>
                    <a:pt x="21320" y="54117"/>
                  </a:lnTo>
                  <a:lnTo>
                    <a:pt x="17055" y="47781"/>
                  </a:lnTo>
                  <a:lnTo>
                    <a:pt x="15494" y="40004"/>
                  </a:lnTo>
                  <a:lnTo>
                    <a:pt x="15494" y="26035"/>
                  </a:lnTo>
                  <a:close/>
                </a:path>
                <a:path w="276225" h="275589">
                  <a:moveTo>
                    <a:pt x="275844" y="229742"/>
                  </a:moveTo>
                  <a:lnTo>
                    <a:pt x="217931" y="229742"/>
                  </a:lnTo>
                  <a:lnTo>
                    <a:pt x="220725" y="232536"/>
                  </a:lnTo>
                  <a:lnTo>
                    <a:pt x="220725" y="239267"/>
                  </a:lnTo>
                  <a:lnTo>
                    <a:pt x="217931" y="242061"/>
                  </a:lnTo>
                  <a:lnTo>
                    <a:pt x="275844" y="242061"/>
                  </a:lnTo>
                  <a:lnTo>
                    <a:pt x="275844" y="229742"/>
                  </a:lnTo>
                  <a:close/>
                </a:path>
                <a:path w="276225" h="275589">
                  <a:moveTo>
                    <a:pt x="275844" y="201549"/>
                  </a:moveTo>
                  <a:lnTo>
                    <a:pt x="217931" y="201549"/>
                  </a:lnTo>
                  <a:lnTo>
                    <a:pt x="220725" y="204342"/>
                  </a:lnTo>
                  <a:lnTo>
                    <a:pt x="220725" y="211074"/>
                  </a:lnTo>
                  <a:lnTo>
                    <a:pt x="217931" y="213740"/>
                  </a:lnTo>
                  <a:lnTo>
                    <a:pt x="275844" y="213740"/>
                  </a:lnTo>
                  <a:lnTo>
                    <a:pt x="275844" y="201549"/>
                  </a:lnTo>
                  <a:close/>
                </a:path>
                <a:path w="276225" h="275589">
                  <a:moveTo>
                    <a:pt x="275844" y="173354"/>
                  </a:moveTo>
                  <a:lnTo>
                    <a:pt x="217931" y="173354"/>
                  </a:lnTo>
                  <a:lnTo>
                    <a:pt x="220725" y="176021"/>
                  </a:lnTo>
                  <a:lnTo>
                    <a:pt x="220725" y="182879"/>
                  </a:lnTo>
                  <a:lnTo>
                    <a:pt x="217931" y="185546"/>
                  </a:lnTo>
                  <a:lnTo>
                    <a:pt x="275844" y="185546"/>
                  </a:lnTo>
                  <a:lnTo>
                    <a:pt x="275844" y="173354"/>
                  </a:lnTo>
                  <a:close/>
                </a:path>
                <a:path w="276225" h="275589">
                  <a:moveTo>
                    <a:pt x="275844" y="145161"/>
                  </a:moveTo>
                  <a:lnTo>
                    <a:pt x="217931" y="145161"/>
                  </a:lnTo>
                  <a:lnTo>
                    <a:pt x="220725" y="147827"/>
                  </a:lnTo>
                  <a:lnTo>
                    <a:pt x="220725" y="154686"/>
                  </a:lnTo>
                  <a:lnTo>
                    <a:pt x="217931" y="157352"/>
                  </a:lnTo>
                  <a:lnTo>
                    <a:pt x="275844" y="157352"/>
                  </a:lnTo>
                  <a:lnTo>
                    <a:pt x="275844" y="145161"/>
                  </a:lnTo>
                  <a:close/>
                </a:path>
                <a:path w="276225" h="275589">
                  <a:moveTo>
                    <a:pt x="275844" y="116966"/>
                  </a:moveTo>
                  <a:lnTo>
                    <a:pt x="217931" y="116966"/>
                  </a:lnTo>
                  <a:lnTo>
                    <a:pt x="220725" y="119633"/>
                  </a:lnTo>
                  <a:lnTo>
                    <a:pt x="220725" y="126491"/>
                  </a:lnTo>
                  <a:lnTo>
                    <a:pt x="217931" y="129158"/>
                  </a:lnTo>
                  <a:lnTo>
                    <a:pt x="275844" y="129158"/>
                  </a:lnTo>
                  <a:lnTo>
                    <a:pt x="275844" y="116966"/>
                  </a:lnTo>
                  <a:close/>
                </a:path>
                <a:path w="276225" h="275589">
                  <a:moveTo>
                    <a:pt x="275844" y="88773"/>
                  </a:moveTo>
                  <a:lnTo>
                    <a:pt x="217931" y="88773"/>
                  </a:lnTo>
                  <a:lnTo>
                    <a:pt x="220725" y="91439"/>
                  </a:lnTo>
                  <a:lnTo>
                    <a:pt x="220725" y="98298"/>
                  </a:lnTo>
                  <a:lnTo>
                    <a:pt x="217931" y="100964"/>
                  </a:lnTo>
                  <a:lnTo>
                    <a:pt x="275844" y="100964"/>
                  </a:lnTo>
                  <a:lnTo>
                    <a:pt x="275844" y="88773"/>
                  </a:lnTo>
                  <a:close/>
                </a:path>
                <a:path w="276225" h="275589">
                  <a:moveTo>
                    <a:pt x="68325" y="26035"/>
                  </a:moveTo>
                  <a:lnTo>
                    <a:pt x="55372" y="26035"/>
                  </a:lnTo>
                  <a:lnTo>
                    <a:pt x="55372" y="40004"/>
                  </a:lnTo>
                  <a:lnTo>
                    <a:pt x="53875" y="47370"/>
                  </a:lnTo>
                  <a:lnTo>
                    <a:pt x="53792" y="47781"/>
                  </a:lnTo>
                  <a:lnTo>
                    <a:pt x="49498" y="54117"/>
                  </a:lnTo>
                  <a:lnTo>
                    <a:pt x="43156" y="58382"/>
                  </a:lnTo>
                  <a:lnTo>
                    <a:pt x="35432" y="59943"/>
                  </a:lnTo>
                  <a:lnTo>
                    <a:pt x="88265" y="59943"/>
                  </a:lnTo>
                  <a:lnTo>
                    <a:pt x="80488" y="58382"/>
                  </a:lnTo>
                  <a:lnTo>
                    <a:pt x="74152" y="54117"/>
                  </a:lnTo>
                  <a:lnTo>
                    <a:pt x="69887" y="47781"/>
                  </a:lnTo>
                  <a:lnTo>
                    <a:pt x="68325" y="40004"/>
                  </a:lnTo>
                  <a:lnTo>
                    <a:pt x="68325" y="26035"/>
                  </a:lnTo>
                  <a:close/>
                </a:path>
                <a:path w="276225" h="275589">
                  <a:moveTo>
                    <a:pt x="121157" y="26035"/>
                  </a:moveTo>
                  <a:lnTo>
                    <a:pt x="108203" y="26035"/>
                  </a:lnTo>
                  <a:lnTo>
                    <a:pt x="108203" y="40004"/>
                  </a:lnTo>
                  <a:lnTo>
                    <a:pt x="106707" y="47370"/>
                  </a:lnTo>
                  <a:lnTo>
                    <a:pt x="106624" y="47781"/>
                  </a:lnTo>
                  <a:lnTo>
                    <a:pt x="102330" y="54117"/>
                  </a:lnTo>
                  <a:lnTo>
                    <a:pt x="95988" y="58382"/>
                  </a:lnTo>
                  <a:lnTo>
                    <a:pt x="88265" y="59943"/>
                  </a:lnTo>
                  <a:lnTo>
                    <a:pt x="141097" y="59943"/>
                  </a:lnTo>
                  <a:lnTo>
                    <a:pt x="133320" y="58382"/>
                  </a:lnTo>
                  <a:lnTo>
                    <a:pt x="126984" y="54117"/>
                  </a:lnTo>
                  <a:lnTo>
                    <a:pt x="122719" y="47781"/>
                  </a:lnTo>
                  <a:lnTo>
                    <a:pt x="121157" y="40004"/>
                  </a:lnTo>
                  <a:lnTo>
                    <a:pt x="121157" y="26035"/>
                  </a:lnTo>
                  <a:close/>
                </a:path>
                <a:path w="276225" h="275589">
                  <a:moveTo>
                    <a:pt x="173990" y="26035"/>
                  </a:moveTo>
                  <a:lnTo>
                    <a:pt x="160908" y="26035"/>
                  </a:lnTo>
                  <a:lnTo>
                    <a:pt x="160908" y="40004"/>
                  </a:lnTo>
                  <a:lnTo>
                    <a:pt x="159431" y="47370"/>
                  </a:lnTo>
                  <a:lnTo>
                    <a:pt x="159349" y="47781"/>
                  </a:lnTo>
                  <a:lnTo>
                    <a:pt x="155098" y="54117"/>
                  </a:lnTo>
                  <a:lnTo>
                    <a:pt x="148800" y="58382"/>
                  </a:lnTo>
                  <a:lnTo>
                    <a:pt x="141097" y="59943"/>
                  </a:lnTo>
                  <a:lnTo>
                    <a:pt x="193801" y="59943"/>
                  </a:lnTo>
                  <a:lnTo>
                    <a:pt x="186098" y="58382"/>
                  </a:lnTo>
                  <a:lnTo>
                    <a:pt x="179800" y="54117"/>
                  </a:lnTo>
                  <a:lnTo>
                    <a:pt x="175549" y="47781"/>
                  </a:lnTo>
                  <a:lnTo>
                    <a:pt x="173990" y="40004"/>
                  </a:lnTo>
                  <a:lnTo>
                    <a:pt x="173990" y="26035"/>
                  </a:lnTo>
                  <a:close/>
                </a:path>
                <a:path w="276225" h="275589">
                  <a:moveTo>
                    <a:pt x="226822" y="26035"/>
                  </a:moveTo>
                  <a:lnTo>
                    <a:pt x="213741" y="26035"/>
                  </a:lnTo>
                  <a:lnTo>
                    <a:pt x="213741" y="40004"/>
                  </a:lnTo>
                  <a:lnTo>
                    <a:pt x="212261" y="47370"/>
                  </a:lnTo>
                  <a:lnTo>
                    <a:pt x="212179" y="47781"/>
                  </a:lnTo>
                  <a:lnTo>
                    <a:pt x="207914" y="54117"/>
                  </a:lnTo>
                  <a:lnTo>
                    <a:pt x="201578" y="58382"/>
                  </a:lnTo>
                  <a:lnTo>
                    <a:pt x="193801" y="59943"/>
                  </a:lnTo>
                  <a:lnTo>
                    <a:pt x="246633" y="59943"/>
                  </a:lnTo>
                  <a:lnTo>
                    <a:pt x="238930" y="58382"/>
                  </a:lnTo>
                  <a:lnTo>
                    <a:pt x="232632" y="54117"/>
                  </a:lnTo>
                  <a:lnTo>
                    <a:pt x="228381" y="47781"/>
                  </a:lnTo>
                  <a:lnTo>
                    <a:pt x="226822" y="40004"/>
                  </a:lnTo>
                  <a:lnTo>
                    <a:pt x="226822" y="26035"/>
                  </a:lnTo>
                  <a:close/>
                </a:path>
                <a:path w="276225" h="275589">
                  <a:moveTo>
                    <a:pt x="275844" y="26035"/>
                  </a:moveTo>
                  <a:lnTo>
                    <a:pt x="266573" y="26035"/>
                  </a:lnTo>
                  <a:lnTo>
                    <a:pt x="266573" y="40004"/>
                  </a:lnTo>
                  <a:lnTo>
                    <a:pt x="265093" y="47370"/>
                  </a:lnTo>
                  <a:lnTo>
                    <a:pt x="265011" y="47781"/>
                  </a:lnTo>
                  <a:lnTo>
                    <a:pt x="260746" y="54117"/>
                  </a:lnTo>
                  <a:lnTo>
                    <a:pt x="254410" y="58382"/>
                  </a:lnTo>
                  <a:lnTo>
                    <a:pt x="246633" y="59943"/>
                  </a:lnTo>
                  <a:lnTo>
                    <a:pt x="275844" y="59943"/>
                  </a:lnTo>
                  <a:lnTo>
                    <a:pt x="275844" y="26035"/>
                  </a:lnTo>
                  <a:close/>
                </a:path>
                <a:path w="276225" h="275589">
                  <a:moveTo>
                    <a:pt x="41275" y="0"/>
                  </a:moveTo>
                  <a:lnTo>
                    <a:pt x="29463" y="0"/>
                  </a:lnTo>
                  <a:lnTo>
                    <a:pt x="24637" y="4825"/>
                  </a:lnTo>
                  <a:lnTo>
                    <a:pt x="24637" y="47370"/>
                  </a:lnTo>
                  <a:lnTo>
                    <a:pt x="29463" y="52196"/>
                  </a:lnTo>
                  <a:lnTo>
                    <a:pt x="41275" y="52196"/>
                  </a:lnTo>
                  <a:lnTo>
                    <a:pt x="46100" y="47370"/>
                  </a:lnTo>
                  <a:lnTo>
                    <a:pt x="46100" y="4825"/>
                  </a:lnTo>
                  <a:lnTo>
                    <a:pt x="41275" y="0"/>
                  </a:lnTo>
                  <a:close/>
                </a:path>
                <a:path w="276225" h="275589">
                  <a:moveTo>
                    <a:pt x="94106" y="0"/>
                  </a:moveTo>
                  <a:lnTo>
                    <a:pt x="82296" y="0"/>
                  </a:lnTo>
                  <a:lnTo>
                    <a:pt x="77470" y="4825"/>
                  </a:lnTo>
                  <a:lnTo>
                    <a:pt x="77470" y="47370"/>
                  </a:lnTo>
                  <a:lnTo>
                    <a:pt x="82296" y="52196"/>
                  </a:lnTo>
                  <a:lnTo>
                    <a:pt x="94106" y="52196"/>
                  </a:lnTo>
                  <a:lnTo>
                    <a:pt x="98932" y="47370"/>
                  </a:lnTo>
                  <a:lnTo>
                    <a:pt x="98932" y="4825"/>
                  </a:lnTo>
                  <a:lnTo>
                    <a:pt x="94106" y="0"/>
                  </a:lnTo>
                  <a:close/>
                </a:path>
                <a:path w="276225" h="275589">
                  <a:moveTo>
                    <a:pt x="146938" y="0"/>
                  </a:moveTo>
                  <a:lnTo>
                    <a:pt x="135127" y="0"/>
                  </a:lnTo>
                  <a:lnTo>
                    <a:pt x="130301" y="4825"/>
                  </a:lnTo>
                  <a:lnTo>
                    <a:pt x="130301" y="47370"/>
                  </a:lnTo>
                  <a:lnTo>
                    <a:pt x="135127" y="52196"/>
                  </a:lnTo>
                  <a:lnTo>
                    <a:pt x="146938" y="52196"/>
                  </a:lnTo>
                  <a:lnTo>
                    <a:pt x="151765" y="47370"/>
                  </a:lnTo>
                  <a:lnTo>
                    <a:pt x="151765" y="4825"/>
                  </a:lnTo>
                  <a:lnTo>
                    <a:pt x="146938" y="0"/>
                  </a:lnTo>
                  <a:close/>
                </a:path>
                <a:path w="276225" h="275589">
                  <a:moveTo>
                    <a:pt x="199771" y="0"/>
                  </a:moveTo>
                  <a:lnTo>
                    <a:pt x="187959" y="0"/>
                  </a:lnTo>
                  <a:lnTo>
                    <a:pt x="183133" y="4825"/>
                  </a:lnTo>
                  <a:lnTo>
                    <a:pt x="183133" y="47370"/>
                  </a:lnTo>
                  <a:lnTo>
                    <a:pt x="187959" y="52196"/>
                  </a:lnTo>
                  <a:lnTo>
                    <a:pt x="199771" y="52196"/>
                  </a:lnTo>
                  <a:lnTo>
                    <a:pt x="204597" y="47370"/>
                  </a:lnTo>
                  <a:lnTo>
                    <a:pt x="204597" y="4825"/>
                  </a:lnTo>
                  <a:lnTo>
                    <a:pt x="199771" y="0"/>
                  </a:lnTo>
                  <a:close/>
                </a:path>
                <a:path w="276225" h="275589">
                  <a:moveTo>
                    <a:pt x="252602" y="0"/>
                  </a:moveTo>
                  <a:lnTo>
                    <a:pt x="240792" y="0"/>
                  </a:lnTo>
                  <a:lnTo>
                    <a:pt x="235966" y="4825"/>
                  </a:lnTo>
                  <a:lnTo>
                    <a:pt x="235966" y="47370"/>
                  </a:lnTo>
                  <a:lnTo>
                    <a:pt x="240792" y="52196"/>
                  </a:lnTo>
                  <a:lnTo>
                    <a:pt x="252602" y="52196"/>
                  </a:lnTo>
                  <a:lnTo>
                    <a:pt x="257428" y="47370"/>
                  </a:lnTo>
                  <a:lnTo>
                    <a:pt x="257428" y="4825"/>
                  </a:lnTo>
                  <a:lnTo>
                    <a:pt x="252602" y="0"/>
                  </a:lnTo>
                  <a:close/>
                </a:path>
              </a:pathLst>
            </a:custGeom>
            <a:solidFill>
              <a:srgbClr val="FFFFFF"/>
            </a:solidFill>
          </p:spPr>
          <p:txBody>
            <a:bodyPr wrap="square" lIns="0" tIns="0" rIns="0" bIns="0" rtlCol="0"/>
            <a:lstStyle/>
            <a:p>
              <a:endParaRPr/>
            </a:p>
          </p:txBody>
        </p:sp>
      </p:grpSp>
      <p:sp>
        <p:nvSpPr>
          <p:cNvPr id="24" name="object 24"/>
          <p:cNvSpPr txBox="1"/>
          <p:nvPr/>
        </p:nvSpPr>
        <p:spPr>
          <a:xfrm>
            <a:off x="9462896" y="4324350"/>
            <a:ext cx="3741420" cy="1363980"/>
          </a:xfrm>
          <a:prstGeom prst="rect">
            <a:avLst/>
          </a:prstGeom>
        </p:spPr>
        <p:txBody>
          <a:bodyPr vert="horz" wrap="square" lIns="0" tIns="97790" rIns="0" bIns="0" rtlCol="0">
            <a:spAutoFit/>
          </a:bodyPr>
          <a:lstStyle/>
          <a:p>
            <a:pPr marL="805180">
              <a:lnSpc>
                <a:spcPct val="100000"/>
              </a:lnSpc>
              <a:spcBef>
                <a:spcPts val="770"/>
              </a:spcBef>
            </a:pPr>
            <a:r>
              <a:rPr sz="2400" b="1" spc="-10" dirty="0">
                <a:solidFill>
                  <a:srgbClr val="EC7C30"/>
                </a:solidFill>
                <a:latin typeface="Microsoft JhengHei"/>
                <a:cs typeface="Microsoft JhengHei"/>
              </a:rPr>
              <a:t>情境化句型設計</a:t>
            </a:r>
            <a:endParaRPr sz="2400">
              <a:latin typeface="Microsoft JhengHei"/>
              <a:cs typeface="Microsoft JhengHei"/>
            </a:endParaRPr>
          </a:p>
          <a:p>
            <a:pPr marL="299085" indent="-286385">
              <a:lnSpc>
                <a:spcPct val="100000"/>
              </a:lnSpc>
              <a:spcBef>
                <a:spcPts val="505"/>
              </a:spcBef>
              <a:buFont typeface="Arial MT"/>
              <a:buChar char="•"/>
              <a:tabLst>
                <a:tab pos="299085" algn="l"/>
              </a:tabLst>
            </a:pPr>
            <a:r>
              <a:rPr sz="1800" spc="-5" dirty="0">
                <a:solidFill>
                  <a:srgbClr val="404040"/>
                </a:solidFill>
                <a:latin typeface="Microsoft JhengHei"/>
                <a:cs typeface="Microsoft JhengHei"/>
              </a:rPr>
              <a:t>真實場景復現：實際交流表達方式</a:t>
            </a:r>
            <a:endParaRPr sz="1800">
              <a:latin typeface="Microsoft JhengHei"/>
              <a:cs typeface="Microsoft JhengHei"/>
            </a:endParaRPr>
          </a:p>
          <a:p>
            <a:pPr marL="299085" indent="-286385">
              <a:lnSpc>
                <a:spcPct val="100000"/>
              </a:lnSpc>
              <a:buFont typeface="Arial MT"/>
              <a:buChar char="•"/>
              <a:tabLst>
                <a:tab pos="299085" algn="l"/>
              </a:tabLst>
            </a:pPr>
            <a:r>
              <a:rPr sz="1800" spc="-15" dirty="0">
                <a:solidFill>
                  <a:srgbClr val="404040"/>
                </a:solidFill>
                <a:latin typeface="Microsoft JhengHei"/>
                <a:cs typeface="Microsoft JhengHei"/>
              </a:rPr>
              <a:t>交流目的導向：不同交流目的功能</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文化適切性：文化習慣交際禮儀</a:t>
            </a:r>
            <a:endParaRPr sz="1800">
              <a:latin typeface="Microsoft JhengHei"/>
              <a:cs typeface="Microsoft JhengHei"/>
            </a:endParaRPr>
          </a:p>
        </p:txBody>
      </p:sp>
      <p:sp>
        <p:nvSpPr>
          <p:cNvPr id="27" name="Text Placeholder 1">
            <a:extLst>
              <a:ext uri="{FF2B5EF4-FFF2-40B4-BE49-F238E27FC236}">
                <a16:creationId xmlns:a16="http://schemas.microsoft.com/office/drawing/2014/main" id="{4FE8492D-3AC6-7ED4-BEB7-789BE11B9975}"/>
              </a:ext>
            </a:extLst>
          </p:cNvPr>
          <p:cNvSpPr txBox="1">
            <a:spLocks/>
          </p:cNvSpPr>
          <p:nvPr/>
        </p:nvSpPr>
        <p:spPr>
          <a:xfrm>
            <a:off x="293643" y="320505"/>
            <a:ext cx="5714438" cy="86909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5400" b="1" dirty="0">
                <a:latin typeface="Microsoft JhengHei" panose="020B0604030504040204" pitchFamily="34" charset="-120"/>
                <a:ea typeface="Microsoft JhengHei" panose="020B0604030504040204" pitchFamily="34" charset="-120"/>
              </a:rPr>
              <a:t>跟讀練習提示設計</a:t>
            </a:r>
            <a:endParaRPr lang="en-US" sz="5400" b="1" dirty="0">
              <a:latin typeface="Microsoft JhengHei" panose="020B0604030504040204" pitchFamily="34" charset="-120"/>
              <a:ea typeface="Microsoft JhengHei" panose="020B0604030504040204" pitchFamily="34" charset="-120"/>
            </a:endParaRPr>
          </a:p>
        </p:txBody>
      </p:sp>
      <p:sp>
        <p:nvSpPr>
          <p:cNvPr id="19" name="投影片編號版面配置區 18">
            <a:extLst>
              <a:ext uri="{FF2B5EF4-FFF2-40B4-BE49-F238E27FC236}">
                <a16:creationId xmlns:a16="http://schemas.microsoft.com/office/drawing/2014/main" id="{8D7B2D95-E264-9090-C5E8-A0671CF76265}"/>
              </a:ext>
            </a:extLst>
          </p:cNvPr>
          <p:cNvSpPr>
            <a:spLocks noGrp="1"/>
          </p:cNvSpPr>
          <p:nvPr>
            <p:ph type="sldNum" sz="quarter" idx="7"/>
          </p:nvPr>
        </p:nvSpPr>
        <p:spPr/>
        <p:txBody>
          <a:bodyPr/>
          <a:lstStyle/>
          <a:p>
            <a:pPr marL="12700">
              <a:lnSpc>
                <a:spcPts val="1410"/>
              </a:lnSpc>
            </a:pPr>
            <a:fld id="{81D60167-4931-47E6-BA6A-407CBD079E47}" type="slidenum">
              <a:rPr lang="en-US" altLang="zh-TW" spc="-25" smtClean="0"/>
              <a:t>23</a:t>
            </a:fld>
            <a:endParaRPr lang="en-US" altLang="zh-TW"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827776" y="3000755"/>
            <a:ext cx="2396490" cy="2741930"/>
            <a:chOff x="5827776" y="3000755"/>
            <a:chExt cx="2396490" cy="2741930"/>
          </a:xfrm>
        </p:grpSpPr>
        <p:pic>
          <p:nvPicPr>
            <p:cNvPr id="3" name="object 3"/>
            <p:cNvPicPr/>
            <p:nvPr/>
          </p:nvPicPr>
          <p:blipFill>
            <a:blip r:embed="rId3" cstate="print"/>
            <a:stretch>
              <a:fillRect/>
            </a:stretch>
          </p:blipFill>
          <p:spPr>
            <a:xfrm>
              <a:off x="5827776" y="3000755"/>
              <a:ext cx="2396362" cy="2620391"/>
            </a:xfrm>
            <a:prstGeom prst="rect">
              <a:avLst/>
            </a:prstGeom>
          </p:spPr>
        </p:pic>
        <p:sp>
          <p:nvSpPr>
            <p:cNvPr id="4" name="object 4"/>
            <p:cNvSpPr/>
            <p:nvPr/>
          </p:nvSpPr>
          <p:spPr>
            <a:xfrm>
              <a:off x="6326505" y="3499357"/>
              <a:ext cx="1415415" cy="2243455"/>
            </a:xfrm>
            <a:custGeom>
              <a:avLst/>
              <a:gdLst/>
              <a:ahLst/>
              <a:cxnLst/>
              <a:rect l="l" t="t" r="r" b="b"/>
              <a:pathLst>
                <a:path w="1415415" h="2243454">
                  <a:moveTo>
                    <a:pt x="996315" y="2137156"/>
                  </a:moveTo>
                  <a:lnTo>
                    <a:pt x="419100" y="2137156"/>
                  </a:lnTo>
                  <a:lnTo>
                    <a:pt x="459625" y="2168144"/>
                  </a:lnTo>
                  <a:lnTo>
                    <a:pt x="503720" y="2194217"/>
                  </a:lnTo>
                  <a:lnTo>
                    <a:pt x="550989" y="2215057"/>
                  </a:lnTo>
                  <a:lnTo>
                    <a:pt x="600989" y="2230348"/>
                  </a:lnTo>
                  <a:lnTo>
                    <a:pt x="653351" y="2239746"/>
                  </a:lnTo>
                  <a:lnTo>
                    <a:pt x="707644" y="2242947"/>
                  </a:lnTo>
                  <a:lnTo>
                    <a:pt x="761974" y="2239746"/>
                  </a:lnTo>
                  <a:lnTo>
                    <a:pt x="814374" y="2230348"/>
                  </a:lnTo>
                  <a:lnTo>
                    <a:pt x="864400" y="2215057"/>
                  </a:lnTo>
                  <a:lnTo>
                    <a:pt x="911669" y="2194217"/>
                  </a:lnTo>
                  <a:lnTo>
                    <a:pt x="955776" y="2168144"/>
                  </a:lnTo>
                  <a:lnTo>
                    <a:pt x="996315" y="2137156"/>
                  </a:lnTo>
                  <a:close/>
                </a:path>
                <a:path w="1415415" h="2243454">
                  <a:moveTo>
                    <a:pt x="1061466" y="2002282"/>
                  </a:moveTo>
                  <a:lnTo>
                    <a:pt x="1055331" y="1971865"/>
                  </a:lnTo>
                  <a:lnTo>
                    <a:pt x="1038606" y="1947037"/>
                  </a:lnTo>
                  <a:lnTo>
                    <a:pt x="1013777" y="1930311"/>
                  </a:lnTo>
                  <a:lnTo>
                    <a:pt x="983361" y="1924177"/>
                  </a:lnTo>
                  <a:lnTo>
                    <a:pt x="432054" y="1924177"/>
                  </a:lnTo>
                  <a:lnTo>
                    <a:pt x="401624" y="1930311"/>
                  </a:lnTo>
                  <a:lnTo>
                    <a:pt x="376809" y="1947037"/>
                  </a:lnTo>
                  <a:lnTo>
                    <a:pt x="360070" y="1971865"/>
                  </a:lnTo>
                  <a:lnTo>
                    <a:pt x="353949" y="2002282"/>
                  </a:lnTo>
                  <a:lnTo>
                    <a:pt x="360070" y="2032635"/>
                  </a:lnTo>
                  <a:lnTo>
                    <a:pt x="376809" y="2057425"/>
                  </a:lnTo>
                  <a:lnTo>
                    <a:pt x="401624" y="2074138"/>
                  </a:lnTo>
                  <a:lnTo>
                    <a:pt x="432054" y="2080260"/>
                  </a:lnTo>
                  <a:lnTo>
                    <a:pt x="983361" y="2080260"/>
                  </a:lnTo>
                  <a:lnTo>
                    <a:pt x="1013777" y="2074138"/>
                  </a:lnTo>
                  <a:lnTo>
                    <a:pt x="1038606" y="2057425"/>
                  </a:lnTo>
                  <a:lnTo>
                    <a:pt x="1055331" y="2032635"/>
                  </a:lnTo>
                  <a:lnTo>
                    <a:pt x="1061466" y="2002282"/>
                  </a:lnTo>
                  <a:close/>
                </a:path>
                <a:path w="1415415" h="2243454">
                  <a:moveTo>
                    <a:pt x="1061466" y="1789176"/>
                  </a:moveTo>
                  <a:lnTo>
                    <a:pt x="1055331" y="1758810"/>
                  </a:lnTo>
                  <a:lnTo>
                    <a:pt x="1038606" y="1733981"/>
                  </a:lnTo>
                  <a:lnTo>
                    <a:pt x="1013777" y="1717230"/>
                  </a:lnTo>
                  <a:lnTo>
                    <a:pt x="983361" y="1711071"/>
                  </a:lnTo>
                  <a:lnTo>
                    <a:pt x="432054" y="1711071"/>
                  </a:lnTo>
                  <a:lnTo>
                    <a:pt x="401624" y="1717230"/>
                  </a:lnTo>
                  <a:lnTo>
                    <a:pt x="376809" y="1733981"/>
                  </a:lnTo>
                  <a:lnTo>
                    <a:pt x="360070" y="1758810"/>
                  </a:lnTo>
                  <a:lnTo>
                    <a:pt x="353949" y="1789176"/>
                  </a:lnTo>
                  <a:lnTo>
                    <a:pt x="360070" y="1819605"/>
                  </a:lnTo>
                  <a:lnTo>
                    <a:pt x="376809" y="1844421"/>
                  </a:lnTo>
                  <a:lnTo>
                    <a:pt x="401624" y="1861159"/>
                  </a:lnTo>
                  <a:lnTo>
                    <a:pt x="432054" y="1867281"/>
                  </a:lnTo>
                  <a:lnTo>
                    <a:pt x="983361" y="1867281"/>
                  </a:lnTo>
                  <a:lnTo>
                    <a:pt x="1013777" y="1861159"/>
                  </a:lnTo>
                  <a:lnTo>
                    <a:pt x="1038606" y="1844421"/>
                  </a:lnTo>
                  <a:lnTo>
                    <a:pt x="1055331" y="1819605"/>
                  </a:lnTo>
                  <a:lnTo>
                    <a:pt x="1061466" y="1789176"/>
                  </a:lnTo>
                  <a:close/>
                </a:path>
                <a:path w="1415415" h="2243454">
                  <a:moveTo>
                    <a:pt x="1415288" y="702818"/>
                  </a:moveTo>
                  <a:lnTo>
                    <a:pt x="1413649" y="654710"/>
                  </a:lnTo>
                  <a:lnTo>
                    <a:pt x="1408823" y="607466"/>
                  </a:lnTo>
                  <a:lnTo>
                    <a:pt x="1400911" y="561200"/>
                  </a:lnTo>
                  <a:lnTo>
                    <a:pt x="1390015" y="516001"/>
                  </a:lnTo>
                  <a:lnTo>
                    <a:pt x="1376235" y="471995"/>
                  </a:lnTo>
                  <a:lnTo>
                    <a:pt x="1359687" y="429272"/>
                  </a:lnTo>
                  <a:lnTo>
                    <a:pt x="1340472" y="387946"/>
                  </a:lnTo>
                  <a:lnTo>
                    <a:pt x="1318691" y="348119"/>
                  </a:lnTo>
                  <a:lnTo>
                    <a:pt x="1294447" y="309892"/>
                  </a:lnTo>
                  <a:lnTo>
                    <a:pt x="1267866" y="273367"/>
                  </a:lnTo>
                  <a:lnTo>
                    <a:pt x="1239024" y="238658"/>
                  </a:lnTo>
                  <a:lnTo>
                    <a:pt x="1208049" y="205879"/>
                  </a:lnTo>
                  <a:lnTo>
                    <a:pt x="1175042" y="175107"/>
                  </a:lnTo>
                  <a:lnTo>
                    <a:pt x="1140091" y="146456"/>
                  </a:lnTo>
                  <a:lnTo>
                    <a:pt x="1103325" y="120053"/>
                  </a:lnTo>
                  <a:lnTo>
                    <a:pt x="1064831" y="95973"/>
                  </a:lnTo>
                  <a:lnTo>
                    <a:pt x="1024737" y="74333"/>
                  </a:lnTo>
                  <a:lnTo>
                    <a:pt x="983119" y="55245"/>
                  </a:lnTo>
                  <a:lnTo>
                    <a:pt x="940104" y="38798"/>
                  </a:lnTo>
                  <a:lnTo>
                    <a:pt x="895781" y="25120"/>
                  </a:lnTo>
                  <a:lnTo>
                    <a:pt x="850277" y="14287"/>
                  </a:lnTo>
                  <a:lnTo>
                    <a:pt x="803681" y="6426"/>
                  </a:lnTo>
                  <a:lnTo>
                    <a:pt x="756094" y="1625"/>
                  </a:lnTo>
                  <a:lnTo>
                    <a:pt x="707644" y="0"/>
                  </a:lnTo>
                  <a:lnTo>
                    <a:pt x="659193" y="1625"/>
                  </a:lnTo>
                  <a:lnTo>
                    <a:pt x="611619" y="6426"/>
                  </a:lnTo>
                  <a:lnTo>
                    <a:pt x="565035" y="14287"/>
                  </a:lnTo>
                  <a:lnTo>
                    <a:pt x="519531" y="25120"/>
                  </a:lnTo>
                  <a:lnTo>
                    <a:pt x="475221" y="38798"/>
                  </a:lnTo>
                  <a:lnTo>
                    <a:pt x="432206" y="55245"/>
                  </a:lnTo>
                  <a:lnTo>
                    <a:pt x="390601" y="74333"/>
                  </a:lnTo>
                  <a:lnTo>
                    <a:pt x="350494" y="95973"/>
                  </a:lnTo>
                  <a:lnTo>
                    <a:pt x="312000" y="120053"/>
                  </a:lnTo>
                  <a:lnTo>
                    <a:pt x="275234" y="146456"/>
                  </a:lnTo>
                  <a:lnTo>
                    <a:pt x="240284" y="175107"/>
                  </a:lnTo>
                  <a:lnTo>
                    <a:pt x="207276" y="205879"/>
                  </a:lnTo>
                  <a:lnTo>
                    <a:pt x="176288" y="238658"/>
                  </a:lnTo>
                  <a:lnTo>
                    <a:pt x="147447" y="273367"/>
                  </a:lnTo>
                  <a:lnTo>
                    <a:pt x="120853" y="309892"/>
                  </a:lnTo>
                  <a:lnTo>
                    <a:pt x="96621" y="348119"/>
                  </a:lnTo>
                  <a:lnTo>
                    <a:pt x="74828" y="387946"/>
                  </a:lnTo>
                  <a:lnTo>
                    <a:pt x="55613" y="429272"/>
                  </a:lnTo>
                  <a:lnTo>
                    <a:pt x="39052" y="471995"/>
                  </a:lnTo>
                  <a:lnTo>
                    <a:pt x="25273" y="516001"/>
                  </a:lnTo>
                  <a:lnTo>
                    <a:pt x="14376" y="561200"/>
                  </a:lnTo>
                  <a:lnTo>
                    <a:pt x="6451" y="607466"/>
                  </a:lnTo>
                  <a:lnTo>
                    <a:pt x="1625" y="654710"/>
                  </a:lnTo>
                  <a:lnTo>
                    <a:pt x="0" y="702818"/>
                  </a:lnTo>
                  <a:lnTo>
                    <a:pt x="1816" y="753643"/>
                  </a:lnTo>
                  <a:lnTo>
                    <a:pt x="7213" y="803478"/>
                  </a:lnTo>
                  <a:lnTo>
                    <a:pt x="16078" y="852208"/>
                  </a:lnTo>
                  <a:lnTo>
                    <a:pt x="28295" y="899680"/>
                  </a:lnTo>
                  <a:lnTo>
                    <a:pt x="43738" y="945781"/>
                  </a:lnTo>
                  <a:lnTo>
                    <a:pt x="62306" y="990358"/>
                  </a:lnTo>
                  <a:lnTo>
                    <a:pt x="83883" y="1033297"/>
                  </a:lnTo>
                  <a:lnTo>
                    <a:pt x="108369" y="1074445"/>
                  </a:lnTo>
                  <a:lnTo>
                    <a:pt x="135636" y="1113663"/>
                  </a:lnTo>
                  <a:lnTo>
                    <a:pt x="133477" y="1113663"/>
                  </a:lnTo>
                  <a:lnTo>
                    <a:pt x="160985" y="1148067"/>
                  </a:lnTo>
                  <a:lnTo>
                    <a:pt x="187426" y="1184389"/>
                  </a:lnTo>
                  <a:lnTo>
                    <a:pt x="212750" y="1222603"/>
                  </a:lnTo>
                  <a:lnTo>
                    <a:pt x="236905" y="1262621"/>
                  </a:lnTo>
                  <a:lnTo>
                    <a:pt x="259842" y="1304378"/>
                  </a:lnTo>
                  <a:lnTo>
                    <a:pt x="281520" y="1347825"/>
                  </a:lnTo>
                  <a:lnTo>
                    <a:pt x="301891" y="1392885"/>
                  </a:lnTo>
                  <a:lnTo>
                    <a:pt x="320916" y="1439481"/>
                  </a:lnTo>
                  <a:lnTo>
                    <a:pt x="338531" y="1487576"/>
                  </a:lnTo>
                  <a:lnTo>
                    <a:pt x="354698" y="1537081"/>
                  </a:lnTo>
                  <a:lnTo>
                    <a:pt x="369379" y="1587931"/>
                  </a:lnTo>
                  <a:lnTo>
                    <a:pt x="382524" y="1640078"/>
                  </a:lnTo>
                  <a:lnTo>
                    <a:pt x="1032891" y="1640078"/>
                  </a:lnTo>
                  <a:lnTo>
                    <a:pt x="1046022" y="1587931"/>
                  </a:lnTo>
                  <a:lnTo>
                    <a:pt x="1060704" y="1537081"/>
                  </a:lnTo>
                  <a:lnTo>
                    <a:pt x="1076871" y="1487576"/>
                  </a:lnTo>
                  <a:lnTo>
                    <a:pt x="1094486" y="1439481"/>
                  </a:lnTo>
                  <a:lnTo>
                    <a:pt x="1113510" y="1392885"/>
                  </a:lnTo>
                  <a:lnTo>
                    <a:pt x="1133881" y="1347825"/>
                  </a:lnTo>
                  <a:lnTo>
                    <a:pt x="1155560" y="1304378"/>
                  </a:lnTo>
                  <a:lnTo>
                    <a:pt x="1178496" y="1262621"/>
                  </a:lnTo>
                  <a:lnTo>
                    <a:pt x="1202651" y="1222603"/>
                  </a:lnTo>
                  <a:lnTo>
                    <a:pt x="1227975" y="1184389"/>
                  </a:lnTo>
                  <a:lnTo>
                    <a:pt x="1254417" y="1148067"/>
                  </a:lnTo>
                  <a:lnTo>
                    <a:pt x="1281938" y="1113663"/>
                  </a:lnTo>
                  <a:lnTo>
                    <a:pt x="1279779" y="1113663"/>
                  </a:lnTo>
                  <a:lnTo>
                    <a:pt x="1307033" y="1074445"/>
                  </a:lnTo>
                  <a:lnTo>
                    <a:pt x="1331493" y="1033297"/>
                  </a:lnTo>
                  <a:lnTo>
                    <a:pt x="1353058" y="990358"/>
                  </a:lnTo>
                  <a:lnTo>
                    <a:pt x="1371612" y="945781"/>
                  </a:lnTo>
                  <a:lnTo>
                    <a:pt x="1387043" y="899680"/>
                  </a:lnTo>
                  <a:lnTo>
                    <a:pt x="1399222" y="852208"/>
                  </a:lnTo>
                  <a:lnTo>
                    <a:pt x="1408074" y="803478"/>
                  </a:lnTo>
                  <a:lnTo>
                    <a:pt x="1413459" y="753643"/>
                  </a:lnTo>
                  <a:lnTo>
                    <a:pt x="1415288" y="702818"/>
                  </a:lnTo>
                  <a:close/>
                </a:path>
              </a:pathLst>
            </a:custGeom>
            <a:solidFill>
              <a:srgbClr val="FFC000"/>
            </a:solidFill>
          </p:spPr>
          <p:txBody>
            <a:bodyPr wrap="square" lIns="0" tIns="0" rIns="0" bIns="0" rtlCol="0"/>
            <a:lstStyle/>
            <a:p>
              <a:endParaRPr/>
            </a:p>
          </p:txBody>
        </p:sp>
      </p:grpSp>
      <p:sp>
        <p:nvSpPr>
          <p:cNvPr id="5" name="object 5"/>
          <p:cNvSpPr/>
          <p:nvPr/>
        </p:nvSpPr>
        <p:spPr>
          <a:xfrm>
            <a:off x="8421369" y="2338197"/>
            <a:ext cx="798830" cy="798830"/>
          </a:xfrm>
          <a:custGeom>
            <a:avLst/>
            <a:gdLst/>
            <a:ahLst/>
            <a:cxnLst/>
            <a:rect l="l" t="t" r="r" b="b"/>
            <a:pathLst>
              <a:path w="798829" h="798830">
                <a:moveTo>
                  <a:pt x="399414" y="0"/>
                </a:moveTo>
                <a:lnTo>
                  <a:pt x="352833" y="2685"/>
                </a:lnTo>
                <a:lnTo>
                  <a:pt x="307830" y="10541"/>
                </a:lnTo>
                <a:lnTo>
                  <a:pt x="264705" y="23269"/>
                </a:lnTo>
                <a:lnTo>
                  <a:pt x="223758" y="40570"/>
                </a:lnTo>
                <a:lnTo>
                  <a:pt x="185289" y="62145"/>
                </a:lnTo>
                <a:lnTo>
                  <a:pt x="149597" y="87694"/>
                </a:lnTo>
                <a:lnTo>
                  <a:pt x="116982" y="116919"/>
                </a:lnTo>
                <a:lnTo>
                  <a:pt x="87744" y="149520"/>
                </a:lnTo>
                <a:lnTo>
                  <a:pt x="62182" y="185199"/>
                </a:lnTo>
                <a:lnTo>
                  <a:pt x="40595" y="223656"/>
                </a:lnTo>
                <a:lnTo>
                  <a:pt x="23284" y="264593"/>
                </a:lnTo>
                <a:lnTo>
                  <a:pt x="10548" y="307710"/>
                </a:lnTo>
                <a:lnTo>
                  <a:pt x="2687" y="352708"/>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2" y="399288"/>
                </a:lnTo>
                <a:lnTo>
                  <a:pt x="796016" y="352708"/>
                </a:lnTo>
                <a:lnTo>
                  <a:pt x="788154" y="307710"/>
                </a:lnTo>
                <a:lnTo>
                  <a:pt x="775419" y="264593"/>
                </a:lnTo>
                <a:lnTo>
                  <a:pt x="758110" y="223656"/>
                </a:lnTo>
                <a:lnTo>
                  <a:pt x="736526" y="185199"/>
                </a:lnTo>
                <a:lnTo>
                  <a:pt x="710968" y="149520"/>
                </a:lnTo>
                <a:lnTo>
                  <a:pt x="681736" y="116919"/>
                </a:lnTo>
                <a:lnTo>
                  <a:pt x="649128" y="87694"/>
                </a:lnTo>
                <a:lnTo>
                  <a:pt x="613447" y="62145"/>
                </a:lnTo>
                <a:lnTo>
                  <a:pt x="574990" y="40570"/>
                </a:lnTo>
                <a:lnTo>
                  <a:pt x="534059" y="23269"/>
                </a:lnTo>
                <a:lnTo>
                  <a:pt x="490952" y="10541"/>
                </a:lnTo>
                <a:lnTo>
                  <a:pt x="445971" y="2685"/>
                </a:lnTo>
                <a:lnTo>
                  <a:pt x="399414" y="0"/>
                </a:lnTo>
                <a:close/>
              </a:path>
            </a:pathLst>
          </a:custGeom>
          <a:solidFill>
            <a:srgbClr val="A4A4A4"/>
          </a:solidFill>
        </p:spPr>
        <p:txBody>
          <a:bodyPr wrap="square" lIns="0" tIns="0" rIns="0" bIns="0" rtlCol="0"/>
          <a:lstStyle/>
          <a:p>
            <a:endParaRPr/>
          </a:p>
        </p:txBody>
      </p:sp>
      <p:sp>
        <p:nvSpPr>
          <p:cNvPr id="6" name="object 6"/>
          <p:cNvSpPr/>
          <p:nvPr/>
        </p:nvSpPr>
        <p:spPr>
          <a:xfrm>
            <a:off x="4498085" y="6541389"/>
            <a:ext cx="844550" cy="798830"/>
          </a:xfrm>
          <a:custGeom>
            <a:avLst/>
            <a:gdLst/>
            <a:ahLst/>
            <a:cxnLst/>
            <a:rect l="l" t="t" r="r" b="b"/>
            <a:pathLst>
              <a:path w="844550" h="798829">
                <a:moveTo>
                  <a:pt x="422148" y="0"/>
                </a:moveTo>
                <a:lnTo>
                  <a:pt x="372911" y="2686"/>
                </a:lnTo>
                <a:lnTo>
                  <a:pt x="325345" y="10548"/>
                </a:lnTo>
                <a:lnTo>
                  <a:pt x="279764" y="23283"/>
                </a:lnTo>
                <a:lnTo>
                  <a:pt x="236486" y="40592"/>
                </a:lnTo>
                <a:lnTo>
                  <a:pt x="195827" y="62176"/>
                </a:lnTo>
                <a:lnTo>
                  <a:pt x="158105" y="87734"/>
                </a:lnTo>
                <a:lnTo>
                  <a:pt x="123634" y="116967"/>
                </a:lnTo>
                <a:lnTo>
                  <a:pt x="92732" y="149574"/>
                </a:lnTo>
                <a:lnTo>
                  <a:pt x="65716" y="185255"/>
                </a:lnTo>
                <a:lnTo>
                  <a:pt x="42903" y="223712"/>
                </a:lnTo>
                <a:lnTo>
                  <a:pt x="24607" y="264643"/>
                </a:lnTo>
                <a:lnTo>
                  <a:pt x="11147" y="307750"/>
                </a:lnTo>
                <a:lnTo>
                  <a:pt x="2839" y="352731"/>
                </a:lnTo>
                <a:lnTo>
                  <a:pt x="0" y="399288"/>
                </a:lnTo>
                <a:lnTo>
                  <a:pt x="2839" y="445871"/>
                </a:lnTo>
                <a:lnTo>
                  <a:pt x="11147" y="490876"/>
                </a:lnTo>
                <a:lnTo>
                  <a:pt x="24607" y="534001"/>
                </a:lnTo>
                <a:lnTo>
                  <a:pt x="42903" y="574947"/>
                </a:lnTo>
                <a:lnTo>
                  <a:pt x="65716" y="613415"/>
                </a:lnTo>
                <a:lnTo>
                  <a:pt x="92732" y="649105"/>
                </a:lnTo>
                <a:lnTo>
                  <a:pt x="123634" y="681718"/>
                </a:lnTo>
                <a:lnTo>
                  <a:pt x="158105" y="710954"/>
                </a:lnTo>
                <a:lnTo>
                  <a:pt x="195827" y="736515"/>
                </a:lnTo>
                <a:lnTo>
                  <a:pt x="236486" y="758099"/>
                </a:lnTo>
                <a:lnTo>
                  <a:pt x="279764" y="775408"/>
                </a:lnTo>
                <a:lnTo>
                  <a:pt x="325345" y="788143"/>
                </a:lnTo>
                <a:lnTo>
                  <a:pt x="372911" y="796003"/>
                </a:lnTo>
                <a:lnTo>
                  <a:pt x="422148" y="798690"/>
                </a:lnTo>
                <a:lnTo>
                  <a:pt x="471358" y="796003"/>
                </a:lnTo>
                <a:lnTo>
                  <a:pt x="518903" y="788143"/>
                </a:lnTo>
                <a:lnTo>
                  <a:pt x="564466" y="775408"/>
                </a:lnTo>
                <a:lnTo>
                  <a:pt x="607728" y="758099"/>
                </a:lnTo>
                <a:lnTo>
                  <a:pt x="648374" y="736515"/>
                </a:lnTo>
                <a:lnTo>
                  <a:pt x="686087" y="710954"/>
                </a:lnTo>
                <a:lnTo>
                  <a:pt x="720550" y="681718"/>
                </a:lnTo>
                <a:lnTo>
                  <a:pt x="751446" y="649105"/>
                </a:lnTo>
                <a:lnTo>
                  <a:pt x="778457" y="613415"/>
                </a:lnTo>
                <a:lnTo>
                  <a:pt x="801268" y="574947"/>
                </a:lnTo>
                <a:lnTo>
                  <a:pt x="819562" y="534001"/>
                </a:lnTo>
                <a:lnTo>
                  <a:pt x="833021" y="490876"/>
                </a:lnTo>
                <a:lnTo>
                  <a:pt x="841329" y="445871"/>
                </a:lnTo>
                <a:lnTo>
                  <a:pt x="844168" y="399288"/>
                </a:lnTo>
                <a:lnTo>
                  <a:pt x="841329" y="352731"/>
                </a:lnTo>
                <a:lnTo>
                  <a:pt x="833021" y="307750"/>
                </a:lnTo>
                <a:lnTo>
                  <a:pt x="819562" y="264643"/>
                </a:lnTo>
                <a:lnTo>
                  <a:pt x="801268" y="223712"/>
                </a:lnTo>
                <a:lnTo>
                  <a:pt x="778457" y="185255"/>
                </a:lnTo>
                <a:lnTo>
                  <a:pt x="751446" y="149574"/>
                </a:lnTo>
                <a:lnTo>
                  <a:pt x="720550" y="116967"/>
                </a:lnTo>
                <a:lnTo>
                  <a:pt x="686087" y="87734"/>
                </a:lnTo>
                <a:lnTo>
                  <a:pt x="648374" y="62176"/>
                </a:lnTo>
                <a:lnTo>
                  <a:pt x="607728" y="40592"/>
                </a:lnTo>
                <a:lnTo>
                  <a:pt x="564466" y="23283"/>
                </a:lnTo>
                <a:lnTo>
                  <a:pt x="518903" y="10548"/>
                </a:lnTo>
                <a:lnTo>
                  <a:pt x="471358" y="2686"/>
                </a:lnTo>
                <a:lnTo>
                  <a:pt x="422148" y="0"/>
                </a:lnTo>
                <a:close/>
              </a:path>
            </a:pathLst>
          </a:custGeom>
          <a:solidFill>
            <a:srgbClr val="4471C4"/>
          </a:solidFill>
        </p:spPr>
        <p:txBody>
          <a:bodyPr wrap="square" lIns="0" tIns="0" rIns="0" bIns="0" rtlCol="0"/>
          <a:lstStyle/>
          <a:p>
            <a:endParaRPr/>
          </a:p>
        </p:txBody>
      </p:sp>
      <p:sp>
        <p:nvSpPr>
          <p:cNvPr id="7" name="object 7"/>
          <p:cNvSpPr/>
          <p:nvPr/>
        </p:nvSpPr>
        <p:spPr>
          <a:xfrm>
            <a:off x="5239765" y="2336419"/>
            <a:ext cx="798830" cy="798830"/>
          </a:xfrm>
          <a:custGeom>
            <a:avLst/>
            <a:gdLst/>
            <a:ahLst/>
            <a:cxnLst/>
            <a:rect l="l" t="t" r="r" b="b"/>
            <a:pathLst>
              <a:path w="798829" h="798830">
                <a:moveTo>
                  <a:pt x="399414" y="0"/>
                </a:moveTo>
                <a:lnTo>
                  <a:pt x="352833" y="2686"/>
                </a:lnTo>
                <a:lnTo>
                  <a:pt x="307830" y="10548"/>
                </a:lnTo>
                <a:lnTo>
                  <a:pt x="264705" y="23283"/>
                </a:lnTo>
                <a:lnTo>
                  <a:pt x="223758" y="40592"/>
                </a:lnTo>
                <a:lnTo>
                  <a:pt x="185289" y="62176"/>
                </a:lnTo>
                <a:lnTo>
                  <a:pt x="149597" y="87734"/>
                </a:lnTo>
                <a:lnTo>
                  <a:pt x="116982" y="116967"/>
                </a:lnTo>
                <a:lnTo>
                  <a:pt x="87744" y="149574"/>
                </a:lnTo>
                <a:lnTo>
                  <a:pt x="62182" y="185255"/>
                </a:lnTo>
                <a:lnTo>
                  <a:pt x="40595" y="223712"/>
                </a:lnTo>
                <a:lnTo>
                  <a:pt x="23284" y="264643"/>
                </a:lnTo>
                <a:lnTo>
                  <a:pt x="10548" y="307750"/>
                </a:lnTo>
                <a:lnTo>
                  <a:pt x="2687" y="352731"/>
                </a:lnTo>
                <a:lnTo>
                  <a:pt x="0" y="399288"/>
                </a:lnTo>
                <a:lnTo>
                  <a:pt x="2687" y="445869"/>
                </a:lnTo>
                <a:lnTo>
                  <a:pt x="10548" y="490872"/>
                </a:lnTo>
                <a:lnTo>
                  <a:pt x="23284" y="533997"/>
                </a:lnTo>
                <a:lnTo>
                  <a:pt x="40595" y="574944"/>
                </a:lnTo>
                <a:lnTo>
                  <a:pt x="62182" y="613413"/>
                </a:lnTo>
                <a:lnTo>
                  <a:pt x="87744" y="649105"/>
                </a:lnTo>
                <a:lnTo>
                  <a:pt x="116982" y="681720"/>
                </a:lnTo>
                <a:lnTo>
                  <a:pt x="149597" y="710958"/>
                </a:lnTo>
                <a:lnTo>
                  <a:pt x="185289" y="736520"/>
                </a:lnTo>
                <a:lnTo>
                  <a:pt x="223758" y="758107"/>
                </a:lnTo>
                <a:lnTo>
                  <a:pt x="264705" y="775418"/>
                </a:lnTo>
                <a:lnTo>
                  <a:pt x="307830" y="788154"/>
                </a:lnTo>
                <a:lnTo>
                  <a:pt x="352833" y="796015"/>
                </a:lnTo>
                <a:lnTo>
                  <a:pt x="399414" y="798702"/>
                </a:lnTo>
                <a:lnTo>
                  <a:pt x="445971" y="796015"/>
                </a:lnTo>
                <a:lnTo>
                  <a:pt x="490952" y="788154"/>
                </a:lnTo>
                <a:lnTo>
                  <a:pt x="534059" y="775418"/>
                </a:lnTo>
                <a:lnTo>
                  <a:pt x="574990" y="758107"/>
                </a:lnTo>
                <a:lnTo>
                  <a:pt x="613447" y="736520"/>
                </a:lnTo>
                <a:lnTo>
                  <a:pt x="649128" y="710958"/>
                </a:lnTo>
                <a:lnTo>
                  <a:pt x="681736" y="681720"/>
                </a:lnTo>
                <a:lnTo>
                  <a:pt x="710968" y="649105"/>
                </a:lnTo>
                <a:lnTo>
                  <a:pt x="736526" y="613413"/>
                </a:lnTo>
                <a:lnTo>
                  <a:pt x="758110" y="574944"/>
                </a:lnTo>
                <a:lnTo>
                  <a:pt x="775419" y="533997"/>
                </a:lnTo>
                <a:lnTo>
                  <a:pt x="788154" y="490872"/>
                </a:lnTo>
                <a:lnTo>
                  <a:pt x="796016" y="445869"/>
                </a:lnTo>
                <a:lnTo>
                  <a:pt x="798703" y="399288"/>
                </a:lnTo>
                <a:lnTo>
                  <a:pt x="796016" y="352731"/>
                </a:lnTo>
                <a:lnTo>
                  <a:pt x="788154" y="307750"/>
                </a:lnTo>
                <a:lnTo>
                  <a:pt x="775419" y="264643"/>
                </a:lnTo>
                <a:lnTo>
                  <a:pt x="758110" y="223712"/>
                </a:lnTo>
                <a:lnTo>
                  <a:pt x="736526" y="185255"/>
                </a:lnTo>
                <a:lnTo>
                  <a:pt x="710968" y="149574"/>
                </a:lnTo>
                <a:lnTo>
                  <a:pt x="681736" y="116966"/>
                </a:lnTo>
                <a:lnTo>
                  <a:pt x="649128" y="87734"/>
                </a:lnTo>
                <a:lnTo>
                  <a:pt x="613447" y="62176"/>
                </a:lnTo>
                <a:lnTo>
                  <a:pt x="574990" y="40592"/>
                </a:lnTo>
                <a:lnTo>
                  <a:pt x="534059" y="23283"/>
                </a:lnTo>
                <a:lnTo>
                  <a:pt x="490952" y="10548"/>
                </a:lnTo>
                <a:lnTo>
                  <a:pt x="445971" y="2686"/>
                </a:lnTo>
                <a:lnTo>
                  <a:pt x="399414" y="0"/>
                </a:lnTo>
                <a:close/>
              </a:path>
            </a:pathLst>
          </a:custGeom>
          <a:solidFill>
            <a:srgbClr val="4471C4"/>
          </a:solidFill>
        </p:spPr>
        <p:txBody>
          <a:bodyPr wrap="square" lIns="0" tIns="0" rIns="0" bIns="0" rtlCol="0"/>
          <a:lstStyle/>
          <a:p>
            <a:endParaRPr/>
          </a:p>
        </p:txBody>
      </p:sp>
      <p:grpSp>
        <p:nvGrpSpPr>
          <p:cNvPr id="8" name="object 8"/>
          <p:cNvGrpSpPr/>
          <p:nvPr/>
        </p:nvGrpSpPr>
        <p:grpSpPr>
          <a:xfrm>
            <a:off x="5209413" y="4295775"/>
            <a:ext cx="798830" cy="798830"/>
            <a:chOff x="5209413" y="4295775"/>
            <a:chExt cx="798830" cy="798830"/>
          </a:xfrm>
        </p:grpSpPr>
        <p:sp>
          <p:nvSpPr>
            <p:cNvPr id="9" name="object 9"/>
            <p:cNvSpPr/>
            <p:nvPr/>
          </p:nvSpPr>
          <p:spPr>
            <a:xfrm>
              <a:off x="5209413" y="4295775"/>
              <a:ext cx="798830" cy="798830"/>
            </a:xfrm>
            <a:custGeom>
              <a:avLst/>
              <a:gdLst/>
              <a:ahLst/>
              <a:cxnLst/>
              <a:rect l="l" t="t" r="r" b="b"/>
              <a:pathLst>
                <a:path w="798829" h="798829">
                  <a:moveTo>
                    <a:pt x="399288" y="0"/>
                  </a:moveTo>
                  <a:lnTo>
                    <a:pt x="352731" y="2686"/>
                  </a:lnTo>
                  <a:lnTo>
                    <a:pt x="307750" y="10548"/>
                  </a:lnTo>
                  <a:lnTo>
                    <a:pt x="264643" y="23283"/>
                  </a:lnTo>
                  <a:lnTo>
                    <a:pt x="223712" y="40592"/>
                  </a:lnTo>
                  <a:lnTo>
                    <a:pt x="185255" y="62176"/>
                  </a:lnTo>
                  <a:lnTo>
                    <a:pt x="149574" y="87734"/>
                  </a:lnTo>
                  <a:lnTo>
                    <a:pt x="116966" y="116967"/>
                  </a:lnTo>
                  <a:lnTo>
                    <a:pt x="87734" y="149574"/>
                  </a:lnTo>
                  <a:lnTo>
                    <a:pt x="62176" y="185255"/>
                  </a:lnTo>
                  <a:lnTo>
                    <a:pt x="40592" y="223712"/>
                  </a:lnTo>
                  <a:lnTo>
                    <a:pt x="23283" y="264643"/>
                  </a:lnTo>
                  <a:lnTo>
                    <a:pt x="10548" y="307750"/>
                  </a:lnTo>
                  <a:lnTo>
                    <a:pt x="2686" y="352731"/>
                  </a:lnTo>
                  <a:lnTo>
                    <a:pt x="0" y="399288"/>
                  </a:lnTo>
                  <a:lnTo>
                    <a:pt x="2686" y="445869"/>
                  </a:lnTo>
                  <a:lnTo>
                    <a:pt x="10548" y="490872"/>
                  </a:lnTo>
                  <a:lnTo>
                    <a:pt x="23283" y="533997"/>
                  </a:lnTo>
                  <a:lnTo>
                    <a:pt x="40592" y="574944"/>
                  </a:lnTo>
                  <a:lnTo>
                    <a:pt x="62176" y="613413"/>
                  </a:lnTo>
                  <a:lnTo>
                    <a:pt x="87734" y="649105"/>
                  </a:lnTo>
                  <a:lnTo>
                    <a:pt x="116967" y="681720"/>
                  </a:lnTo>
                  <a:lnTo>
                    <a:pt x="149574" y="710958"/>
                  </a:lnTo>
                  <a:lnTo>
                    <a:pt x="185255" y="736520"/>
                  </a:lnTo>
                  <a:lnTo>
                    <a:pt x="223712" y="758107"/>
                  </a:lnTo>
                  <a:lnTo>
                    <a:pt x="264643" y="775418"/>
                  </a:lnTo>
                  <a:lnTo>
                    <a:pt x="307750" y="788154"/>
                  </a:lnTo>
                  <a:lnTo>
                    <a:pt x="352731" y="796015"/>
                  </a:lnTo>
                  <a:lnTo>
                    <a:pt x="399288" y="798702"/>
                  </a:lnTo>
                  <a:lnTo>
                    <a:pt x="445869" y="796015"/>
                  </a:lnTo>
                  <a:lnTo>
                    <a:pt x="490872" y="788154"/>
                  </a:lnTo>
                  <a:lnTo>
                    <a:pt x="533997" y="775418"/>
                  </a:lnTo>
                  <a:lnTo>
                    <a:pt x="574944" y="758107"/>
                  </a:lnTo>
                  <a:lnTo>
                    <a:pt x="613413" y="736520"/>
                  </a:lnTo>
                  <a:lnTo>
                    <a:pt x="649105" y="710958"/>
                  </a:lnTo>
                  <a:lnTo>
                    <a:pt x="681720" y="681720"/>
                  </a:lnTo>
                  <a:lnTo>
                    <a:pt x="710958" y="649105"/>
                  </a:lnTo>
                  <a:lnTo>
                    <a:pt x="736520" y="613413"/>
                  </a:lnTo>
                  <a:lnTo>
                    <a:pt x="758107" y="574944"/>
                  </a:lnTo>
                  <a:lnTo>
                    <a:pt x="775418" y="533997"/>
                  </a:lnTo>
                  <a:lnTo>
                    <a:pt x="788154" y="490872"/>
                  </a:lnTo>
                  <a:lnTo>
                    <a:pt x="796015" y="445869"/>
                  </a:lnTo>
                  <a:lnTo>
                    <a:pt x="798702" y="399288"/>
                  </a:lnTo>
                  <a:lnTo>
                    <a:pt x="796015" y="352731"/>
                  </a:lnTo>
                  <a:lnTo>
                    <a:pt x="788154" y="307750"/>
                  </a:lnTo>
                  <a:lnTo>
                    <a:pt x="775418" y="264643"/>
                  </a:lnTo>
                  <a:lnTo>
                    <a:pt x="758107" y="223712"/>
                  </a:lnTo>
                  <a:lnTo>
                    <a:pt x="736520" y="185255"/>
                  </a:lnTo>
                  <a:lnTo>
                    <a:pt x="710958" y="149574"/>
                  </a:lnTo>
                  <a:lnTo>
                    <a:pt x="681720" y="116966"/>
                  </a:lnTo>
                  <a:lnTo>
                    <a:pt x="649105" y="87734"/>
                  </a:lnTo>
                  <a:lnTo>
                    <a:pt x="613413" y="62176"/>
                  </a:lnTo>
                  <a:lnTo>
                    <a:pt x="574944" y="40592"/>
                  </a:lnTo>
                  <a:lnTo>
                    <a:pt x="533997" y="23283"/>
                  </a:lnTo>
                  <a:lnTo>
                    <a:pt x="490872" y="10548"/>
                  </a:lnTo>
                  <a:lnTo>
                    <a:pt x="445869" y="2686"/>
                  </a:lnTo>
                  <a:lnTo>
                    <a:pt x="399288" y="0"/>
                  </a:lnTo>
                  <a:close/>
                </a:path>
              </a:pathLst>
            </a:custGeom>
            <a:solidFill>
              <a:srgbClr val="EC7C30"/>
            </a:solidFill>
          </p:spPr>
          <p:txBody>
            <a:bodyPr wrap="square" lIns="0" tIns="0" rIns="0" bIns="0" rtlCol="0"/>
            <a:lstStyle/>
            <a:p>
              <a:endParaRPr/>
            </a:p>
          </p:txBody>
        </p:sp>
        <p:sp>
          <p:nvSpPr>
            <p:cNvPr id="10" name="object 10"/>
            <p:cNvSpPr/>
            <p:nvPr/>
          </p:nvSpPr>
          <p:spPr>
            <a:xfrm>
              <a:off x="5451109" y="4567809"/>
              <a:ext cx="314960" cy="314960"/>
            </a:xfrm>
            <a:custGeom>
              <a:avLst/>
              <a:gdLst/>
              <a:ahLst/>
              <a:cxnLst/>
              <a:rect l="l" t="t" r="r" b="b"/>
              <a:pathLst>
                <a:path w="314960" h="314960">
                  <a:moveTo>
                    <a:pt x="157337" y="41401"/>
                  </a:moveTo>
                  <a:lnTo>
                    <a:pt x="109557" y="51077"/>
                  </a:lnTo>
                  <a:lnTo>
                    <a:pt x="70564" y="77469"/>
                  </a:lnTo>
                  <a:lnTo>
                    <a:pt x="44287" y="116625"/>
                  </a:lnTo>
                  <a:lnTo>
                    <a:pt x="34655" y="164591"/>
                  </a:lnTo>
                  <a:lnTo>
                    <a:pt x="38566" y="195645"/>
                  </a:lnTo>
                  <a:lnTo>
                    <a:pt x="49657" y="223758"/>
                  </a:lnTo>
                  <a:lnTo>
                    <a:pt x="66962" y="247941"/>
                  </a:lnTo>
                  <a:lnTo>
                    <a:pt x="89519" y="267207"/>
                  </a:lnTo>
                  <a:lnTo>
                    <a:pt x="63357" y="314578"/>
                  </a:lnTo>
                  <a:lnTo>
                    <a:pt x="88503" y="314578"/>
                  </a:lnTo>
                  <a:lnTo>
                    <a:pt x="108823" y="277749"/>
                  </a:lnTo>
                  <a:lnTo>
                    <a:pt x="230976" y="277749"/>
                  </a:lnTo>
                  <a:lnTo>
                    <a:pt x="225575" y="267969"/>
                  </a:lnTo>
                  <a:lnTo>
                    <a:pt x="157337" y="267969"/>
                  </a:lnTo>
                  <a:lnTo>
                    <a:pt x="117314" y="259853"/>
                  </a:lnTo>
                  <a:lnTo>
                    <a:pt x="84613" y="237712"/>
                  </a:lnTo>
                  <a:lnTo>
                    <a:pt x="62557" y="204854"/>
                  </a:lnTo>
                  <a:lnTo>
                    <a:pt x="54467" y="164591"/>
                  </a:lnTo>
                  <a:lnTo>
                    <a:pt x="62557" y="124402"/>
                  </a:lnTo>
                  <a:lnTo>
                    <a:pt x="84613" y="91582"/>
                  </a:lnTo>
                  <a:lnTo>
                    <a:pt x="117314" y="69455"/>
                  </a:lnTo>
                  <a:lnTo>
                    <a:pt x="157337" y="61340"/>
                  </a:lnTo>
                  <a:lnTo>
                    <a:pt x="220228" y="61340"/>
                  </a:lnTo>
                  <a:lnTo>
                    <a:pt x="205063" y="51077"/>
                  </a:lnTo>
                  <a:lnTo>
                    <a:pt x="157337" y="41401"/>
                  </a:lnTo>
                  <a:close/>
                </a:path>
                <a:path w="314960" h="314960">
                  <a:moveTo>
                    <a:pt x="230976" y="277749"/>
                  </a:moveTo>
                  <a:lnTo>
                    <a:pt x="205851" y="277749"/>
                  </a:lnTo>
                  <a:lnTo>
                    <a:pt x="226171" y="314578"/>
                  </a:lnTo>
                  <a:lnTo>
                    <a:pt x="251317" y="314578"/>
                  </a:lnTo>
                  <a:lnTo>
                    <a:pt x="230976" y="277749"/>
                  </a:lnTo>
                  <a:close/>
                </a:path>
                <a:path w="314960" h="314960">
                  <a:moveTo>
                    <a:pt x="205851" y="277749"/>
                  </a:moveTo>
                  <a:lnTo>
                    <a:pt x="108823" y="277749"/>
                  </a:lnTo>
                  <a:lnTo>
                    <a:pt x="120243" y="282068"/>
                  </a:lnTo>
                  <a:lnTo>
                    <a:pt x="132175" y="285257"/>
                  </a:lnTo>
                  <a:lnTo>
                    <a:pt x="144559" y="287232"/>
                  </a:lnTo>
                  <a:lnTo>
                    <a:pt x="157337" y="287908"/>
                  </a:lnTo>
                  <a:lnTo>
                    <a:pt x="170114" y="287232"/>
                  </a:lnTo>
                  <a:lnTo>
                    <a:pt x="182499" y="285257"/>
                  </a:lnTo>
                  <a:lnTo>
                    <a:pt x="194431" y="282068"/>
                  </a:lnTo>
                  <a:lnTo>
                    <a:pt x="205851" y="277749"/>
                  </a:lnTo>
                  <a:close/>
                </a:path>
                <a:path w="314960" h="314960">
                  <a:moveTo>
                    <a:pt x="220228" y="61340"/>
                  </a:moveTo>
                  <a:lnTo>
                    <a:pt x="157337" y="61340"/>
                  </a:lnTo>
                  <a:lnTo>
                    <a:pt x="197359" y="69455"/>
                  </a:lnTo>
                  <a:lnTo>
                    <a:pt x="230060" y="91582"/>
                  </a:lnTo>
                  <a:lnTo>
                    <a:pt x="252116" y="124402"/>
                  </a:lnTo>
                  <a:lnTo>
                    <a:pt x="260207" y="164591"/>
                  </a:lnTo>
                  <a:lnTo>
                    <a:pt x="252116" y="204854"/>
                  </a:lnTo>
                  <a:lnTo>
                    <a:pt x="230060" y="237712"/>
                  </a:lnTo>
                  <a:lnTo>
                    <a:pt x="197359" y="259853"/>
                  </a:lnTo>
                  <a:lnTo>
                    <a:pt x="157337" y="267969"/>
                  </a:lnTo>
                  <a:lnTo>
                    <a:pt x="225575" y="267969"/>
                  </a:lnTo>
                  <a:lnTo>
                    <a:pt x="225155" y="267207"/>
                  </a:lnTo>
                  <a:lnTo>
                    <a:pt x="247657" y="247941"/>
                  </a:lnTo>
                  <a:lnTo>
                    <a:pt x="264969" y="223758"/>
                  </a:lnTo>
                  <a:lnTo>
                    <a:pt x="276090" y="195645"/>
                  </a:lnTo>
                  <a:lnTo>
                    <a:pt x="280019" y="164591"/>
                  </a:lnTo>
                  <a:lnTo>
                    <a:pt x="270369" y="116625"/>
                  </a:lnTo>
                  <a:lnTo>
                    <a:pt x="244062" y="77469"/>
                  </a:lnTo>
                  <a:lnTo>
                    <a:pt x="220228" y="61340"/>
                  </a:lnTo>
                  <a:close/>
                </a:path>
                <a:path w="314960" h="314960">
                  <a:moveTo>
                    <a:pt x="163560" y="101726"/>
                  </a:moveTo>
                  <a:lnTo>
                    <a:pt x="151114" y="101726"/>
                  </a:lnTo>
                  <a:lnTo>
                    <a:pt x="146034" y="106806"/>
                  </a:lnTo>
                  <a:lnTo>
                    <a:pt x="146161" y="176021"/>
                  </a:lnTo>
                  <a:lnTo>
                    <a:pt x="151241" y="181101"/>
                  </a:lnTo>
                  <a:lnTo>
                    <a:pt x="220583" y="181101"/>
                  </a:lnTo>
                  <a:lnTo>
                    <a:pt x="225663" y="176021"/>
                  </a:lnTo>
                  <a:lnTo>
                    <a:pt x="225663" y="163575"/>
                  </a:lnTo>
                  <a:lnTo>
                    <a:pt x="220583" y="158495"/>
                  </a:lnTo>
                  <a:lnTo>
                    <a:pt x="168640" y="158495"/>
                  </a:lnTo>
                  <a:lnTo>
                    <a:pt x="168640" y="106806"/>
                  </a:lnTo>
                  <a:lnTo>
                    <a:pt x="163560" y="101726"/>
                  </a:lnTo>
                  <a:close/>
                </a:path>
                <a:path w="314960" h="314960">
                  <a:moveTo>
                    <a:pt x="62341" y="12064"/>
                  </a:moveTo>
                  <a:lnTo>
                    <a:pt x="18272" y="30987"/>
                  </a:lnTo>
                  <a:lnTo>
                    <a:pt x="0" y="75469"/>
                  </a:lnTo>
                  <a:lnTo>
                    <a:pt x="4466" y="99175"/>
                  </a:lnTo>
                  <a:lnTo>
                    <a:pt x="18018" y="120141"/>
                  </a:lnTo>
                  <a:lnTo>
                    <a:pt x="107045" y="29590"/>
                  </a:lnTo>
                  <a:lnTo>
                    <a:pt x="97077" y="21780"/>
                  </a:lnTo>
                  <a:lnTo>
                    <a:pt x="86074" y="16255"/>
                  </a:lnTo>
                  <a:lnTo>
                    <a:pt x="74380" y="13017"/>
                  </a:lnTo>
                  <a:lnTo>
                    <a:pt x="62341" y="12064"/>
                  </a:lnTo>
                  <a:close/>
                </a:path>
                <a:path w="314960" h="314960">
                  <a:moveTo>
                    <a:pt x="252206" y="12064"/>
                  </a:moveTo>
                  <a:lnTo>
                    <a:pt x="240240" y="13017"/>
                  </a:lnTo>
                  <a:lnTo>
                    <a:pt x="228584" y="16255"/>
                  </a:lnTo>
                  <a:lnTo>
                    <a:pt x="217594" y="21780"/>
                  </a:lnTo>
                  <a:lnTo>
                    <a:pt x="207629" y="29590"/>
                  </a:lnTo>
                  <a:lnTo>
                    <a:pt x="296656" y="120141"/>
                  </a:lnTo>
                  <a:lnTo>
                    <a:pt x="310134" y="99175"/>
                  </a:lnTo>
                  <a:lnTo>
                    <a:pt x="314563" y="75469"/>
                  </a:lnTo>
                  <a:lnTo>
                    <a:pt x="309943" y="51812"/>
                  </a:lnTo>
                  <a:lnTo>
                    <a:pt x="275717" y="16954"/>
                  </a:lnTo>
                  <a:lnTo>
                    <a:pt x="252206" y="12064"/>
                  </a:lnTo>
                  <a:close/>
                </a:path>
                <a:path w="314960" h="314960">
                  <a:moveTo>
                    <a:pt x="174863" y="0"/>
                  </a:moveTo>
                  <a:lnTo>
                    <a:pt x="139684" y="0"/>
                  </a:lnTo>
                  <a:lnTo>
                    <a:pt x="133461" y="6350"/>
                  </a:lnTo>
                  <a:lnTo>
                    <a:pt x="133461" y="28193"/>
                  </a:lnTo>
                  <a:lnTo>
                    <a:pt x="181213" y="28193"/>
                  </a:lnTo>
                  <a:lnTo>
                    <a:pt x="181213" y="6350"/>
                  </a:lnTo>
                  <a:lnTo>
                    <a:pt x="174863"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5643753" y="6068995"/>
            <a:ext cx="3970020" cy="1664970"/>
          </a:xfrm>
          <a:prstGeom prst="rect">
            <a:avLst/>
          </a:prstGeom>
        </p:spPr>
        <p:txBody>
          <a:bodyPr vert="horz" wrap="square" lIns="0" tIns="113030" rIns="0" bIns="0" rtlCol="0">
            <a:spAutoFit/>
          </a:bodyPr>
          <a:lstStyle/>
          <a:p>
            <a:pPr marL="1177290">
              <a:lnSpc>
                <a:spcPct val="100000"/>
              </a:lnSpc>
              <a:spcBef>
                <a:spcPts val="890"/>
              </a:spcBef>
            </a:pPr>
            <a:r>
              <a:rPr sz="2400" b="1" spc="-20" dirty="0">
                <a:solidFill>
                  <a:srgbClr val="4471C4"/>
                </a:solidFill>
                <a:latin typeface="Microsoft JhengHei"/>
                <a:cs typeface="Microsoft JhengHei"/>
              </a:rPr>
              <a:t>設計原理</a:t>
            </a:r>
            <a:endParaRPr sz="2400">
              <a:latin typeface="Microsoft JhengHei"/>
              <a:cs typeface="Microsoft JhengHei"/>
            </a:endParaRPr>
          </a:p>
          <a:p>
            <a:pPr marL="299085" indent="-286385">
              <a:lnSpc>
                <a:spcPct val="100000"/>
              </a:lnSpc>
              <a:spcBef>
                <a:spcPts val="595"/>
              </a:spcBef>
              <a:buFont typeface="Arial MT"/>
              <a:buChar char="•"/>
              <a:tabLst>
                <a:tab pos="299085" algn="l"/>
              </a:tabLst>
            </a:pPr>
            <a:r>
              <a:rPr sz="1800" spc="-15" dirty="0">
                <a:solidFill>
                  <a:srgbClr val="404040"/>
                </a:solidFill>
                <a:latin typeface="Microsoft JhengHei"/>
                <a:cs typeface="Microsoft JhengHei"/>
              </a:rPr>
              <a:t>循序漸進原理：簡單到複雜安排</a:t>
            </a:r>
            <a:endParaRPr sz="1800">
              <a:latin typeface="Microsoft JhengHei"/>
              <a:cs typeface="Microsoft JhengHei"/>
            </a:endParaRPr>
          </a:p>
          <a:p>
            <a:pPr marL="299085" indent="-286385">
              <a:lnSpc>
                <a:spcPct val="100000"/>
              </a:lnSpc>
              <a:spcBef>
                <a:spcPts val="5"/>
              </a:spcBef>
              <a:buFont typeface="Arial MT"/>
              <a:buChar char="•"/>
              <a:tabLst>
                <a:tab pos="299085" algn="l"/>
              </a:tabLst>
            </a:pPr>
            <a:r>
              <a:rPr sz="1800" spc="-5" dirty="0">
                <a:solidFill>
                  <a:srgbClr val="404040"/>
                </a:solidFill>
                <a:latin typeface="Microsoft JhengHei"/>
                <a:cs typeface="Microsoft JhengHei"/>
              </a:rPr>
              <a:t>直接理解測試原理：測試理解能力</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量身定制反饋原理：具體針對反饋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主題多元化原理：廣泛語言應用場景</a:t>
            </a:r>
            <a:endParaRPr sz="1800">
              <a:latin typeface="Microsoft JhengHei"/>
              <a:cs typeface="Microsoft JhengHei"/>
            </a:endParaRPr>
          </a:p>
        </p:txBody>
      </p:sp>
      <p:sp>
        <p:nvSpPr>
          <p:cNvPr id="12" name="object 12"/>
          <p:cNvSpPr/>
          <p:nvPr/>
        </p:nvSpPr>
        <p:spPr>
          <a:xfrm>
            <a:off x="9349867" y="4419853"/>
            <a:ext cx="276225" cy="275590"/>
          </a:xfrm>
          <a:custGeom>
            <a:avLst/>
            <a:gdLst/>
            <a:ahLst/>
            <a:cxnLst/>
            <a:rect l="l" t="t" r="r" b="b"/>
            <a:pathLst>
              <a:path w="276225" h="275589">
                <a:moveTo>
                  <a:pt x="15493" y="26035"/>
                </a:moveTo>
                <a:lnTo>
                  <a:pt x="0" y="26035"/>
                </a:lnTo>
                <a:lnTo>
                  <a:pt x="0" y="275082"/>
                </a:lnTo>
                <a:lnTo>
                  <a:pt x="275843" y="275082"/>
                </a:lnTo>
                <a:lnTo>
                  <a:pt x="275843" y="241935"/>
                </a:lnTo>
                <a:lnTo>
                  <a:pt x="57911" y="241935"/>
                </a:lnTo>
                <a:lnTo>
                  <a:pt x="55244" y="239268"/>
                </a:lnTo>
                <a:lnTo>
                  <a:pt x="55244" y="232537"/>
                </a:lnTo>
                <a:lnTo>
                  <a:pt x="57911" y="229743"/>
                </a:lnTo>
                <a:lnTo>
                  <a:pt x="275843" y="229743"/>
                </a:lnTo>
                <a:lnTo>
                  <a:pt x="275843" y="213741"/>
                </a:lnTo>
                <a:lnTo>
                  <a:pt x="57911" y="213741"/>
                </a:lnTo>
                <a:lnTo>
                  <a:pt x="55244" y="211074"/>
                </a:lnTo>
                <a:lnTo>
                  <a:pt x="55244" y="204216"/>
                </a:lnTo>
                <a:lnTo>
                  <a:pt x="57911" y="201549"/>
                </a:lnTo>
                <a:lnTo>
                  <a:pt x="275843" y="201549"/>
                </a:lnTo>
                <a:lnTo>
                  <a:pt x="275843" y="185547"/>
                </a:lnTo>
                <a:lnTo>
                  <a:pt x="57911" y="185547"/>
                </a:lnTo>
                <a:lnTo>
                  <a:pt x="55244" y="182880"/>
                </a:lnTo>
                <a:lnTo>
                  <a:pt x="55244" y="176022"/>
                </a:lnTo>
                <a:lnTo>
                  <a:pt x="57911" y="173355"/>
                </a:lnTo>
                <a:lnTo>
                  <a:pt x="275843" y="173355"/>
                </a:lnTo>
                <a:lnTo>
                  <a:pt x="275843" y="157353"/>
                </a:lnTo>
                <a:lnTo>
                  <a:pt x="57911" y="157353"/>
                </a:lnTo>
                <a:lnTo>
                  <a:pt x="55244" y="154686"/>
                </a:lnTo>
                <a:lnTo>
                  <a:pt x="55244" y="147828"/>
                </a:lnTo>
                <a:lnTo>
                  <a:pt x="57911" y="145161"/>
                </a:lnTo>
                <a:lnTo>
                  <a:pt x="275843" y="145161"/>
                </a:lnTo>
                <a:lnTo>
                  <a:pt x="275843" y="129159"/>
                </a:lnTo>
                <a:lnTo>
                  <a:pt x="57911" y="129159"/>
                </a:lnTo>
                <a:lnTo>
                  <a:pt x="55244" y="126492"/>
                </a:lnTo>
                <a:lnTo>
                  <a:pt x="55244" y="119634"/>
                </a:lnTo>
                <a:lnTo>
                  <a:pt x="57911" y="116967"/>
                </a:lnTo>
                <a:lnTo>
                  <a:pt x="275843" y="116967"/>
                </a:lnTo>
                <a:lnTo>
                  <a:pt x="275843" y="100965"/>
                </a:lnTo>
                <a:lnTo>
                  <a:pt x="57911" y="100965"/>
                </a:lnTo>
                <a:lnTo>
                  <a:pt x="55244" y="98298"/>
                </a:lnTo>
                <a:lnTo>
                  <a:pt x="55244" y="91440"/>
                </a:lnTo>
                <a:lnTo>
                  <a:pt x="57911" y="88773"/>
                </a:lnTo>
                <a:lnTo>
                  <a:pt x="275843" y="88773"/>
                </a:lnTo>
                <a:lnTo>
                  <a:pt x="275843" y="59944"/>
                </a:lnTo>
                <a:lnTo>
                  <a:pt x="35432" y="59944"/>
                </a:lnTo>
                <a:lnTo>
                  <a:pt x="27709" y="58382"/>
                </a:lnTo>
                <a:lnTo>
                  <a:pt x="21367" y="54117"/>
                </a:lnTo>
                <a:lnTo>
                  <a:pt x="17073" y="47781"/>
                </a:lnTo>
                <a:lnTo>
                  <a:pt x="15493" y="40005"/>
                </a:lnTo>
                <a:lnTo>
                  <a:pt x="15493" y="26035"/>
                </a:lnTo>
                <a:close/>
              </a:path>
              <a:path w="276225" h="275589">
                <a:moveTo>
                  <a:pt x="275843" y="229743"/>
                </a:moveTo>
                <a:lnTo>
                  <a:pt x="217931" y="229743"/>
                </a:lnTo>
                <a:lnTo>
                  <a:pt x="220725" y="232537"/>
                </a:lnTo>
                <a:lnTo>
                  <a:pt x="220725" y="239268"/>
                </a:lnTo>
                <a:lnTo>
                  <a:pt x="217931" y="241935"/>
                </a:lnTo>
                <a:lnTo>
                  <a:pt x="275843" y="241935"/>
                </a:lnTo>
                <a:lnTo>
                  <a:pt x="275843" y="229743"/>
                </a:lnTo>
                <a:close/>
              </a:path>
              <a:path w="276225" h="275589">
                <a:moveTo>
                  <a:pt x="275843" y="201549"/>
                </a:moveTo>
                <a:lnTo>
                  <a:pt x="217931" y="201549"/>
                </a:lnTo>
                <a:lnTo>
                  <a:pt x="220725" y="204216"/>
                </a:lnTo>
                <a:lnTo>
                  <a:pt x="220725" y="211074"/>
                </a:lnTo>
                <a:lnTo>
                  <a:pt x="217931" y="213741"/>
                </a:lnTo>
                <a:lnTo>
                  <a:pt x="275843" y="213741"/>
                </a:lnTo>
                <a:lnTo>
                  <a:pt x="275843" y="201549"/>
                </a:lnTo>
                <a:close/>
              </a:path>
              <a:path w="276225" h="275589">
                <a:moveTo>
                  <a:pt x="275843" y="173355"/>
                </a:moveTo>
                <a:lnTo>
                  <a:pt x="217931" y="173355"/>
                </a:lnTo>
                <a:lnTo>
                  <a:pt x="220725" y="176022"/>
                </a:lnTo>
                <a:lnTo>
                  <a:pt x="220725" y="182880"/>
                </a:lnTo>
                <a:lnTo>
                  <a:pt x="217931" y="185547"/>
                </a:lnTo>
                <a:lnTo>
                  <a:pt x="275843" y="185547"/>
                </a:lnTo>
                <a:lnTo>
                  <a:pt x="275843" y="173355"/>
                </a:lnTo>
                <a:close/>
              </a:path>
              <a:path w="276225" h="275589">
                <a:moveTo>
                  <a:pt x="275843" y="145161"/>
                </a:moveTo>
                <a:lnTo>
                  <a:pt x="217931" y="145161"/>
                </a:lnTo>
                <a:lnTo>
                  <a:pt x="220725" y="147828"/>
                </a:lnTo>
                <a:lnTo>
                  <a:pt x="220725" y="154686"/>
                </a:lnTo>
                <a:lnTo>
                  <a:pt x="217931" y="157353"/>
                </a:lnTo>
                <a:lnTo>
                  <a:pt x="275843" y="157353"/>
                </a:lnTo>
                <a:lnTo>
                  <a:pt x="275843" y="145161"/>
                </a:lnTo>
                <a:close/>
              </a:path>
              <a:path w="276225" h="275589">
                <a:moveTo>
                  <a:pt x="275843" y="116967"/>
                </a:moveTo>
                <a:lnTo>
                  <a:pt x="217931" y="116967"/>
                </a:lnTo>
                <a:lnTo>
                  <a:pt x="220725" y="119634"/>
                </a:lnTo>
                <a:lnTo>
                  <a:pt x="220725" y="126492"/>
                </a:lnTo>
                <a:lnTo>
                  <a:pt x="217931" y="129159"/>
                </a:lnTo>
                <a:lnTo>
                  <a:pt x="275843" y="129159"/>
                </a:lnTo>
                <a:lnTo>
                  <a:pt x="275843" y="116967"/>
                </a:lnTo>
                <a:close/>
              </a:path>
              <a:path w="276225" h="275589">
                <a:moveTo>
                  <a:pt x="275843" y="88773"/>
                </a:moveTo>
                <a:lnTo>
                  <a:pt x="217931" y="88773"/>
                </a:lnTo>
                <a:lnTo>
                  <a:pt x="220725" y="91440"/>
                </a:lnTo>
                <a:lnTo>
                  <a:pt x="220725" y="98298"/>
                </a:lnTo>
                <a:lnTo>
                  <a:pt x="217931" y="100965"/>
                </a:lnTo>
                <a:lnTo>
                  <a:pt x="275843" y="100965"/>
                </a:lnTo>
                <a:lnTo>
                  <a:pt x="275843"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4"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24" y="47371"/>
                </a:lnTo>
                <a:lnTo>
                  <a:pt x="106642" y="47781"/>
                </a:lnTo>
                <a:lnTo>
                  <a:pt x="102377" y="54117"/>
                </a:lnTo>
                <a:lnTo>
                  <a:pt x="96041" y="58382"/>
                </a:lnTo>
                <a:lnTo>
                  <a:pt x="88264" y="59944"/>
                </a:lnTo>
                <a:lnTo>
                  <a:pt x="141097" y="59944"/>
                </a:lnTo>
                <a:lnTo>
                  <a:pt x="133320" y="58382"/>
                </a:lnTo>
                <a:lnTo>
                  <a:pt x="126984" y="54117"/>
                </a:lnTo>
                <a:lnTo>
                  <a:pt x="122719" y="47781"/>
                </a:lnTo>
                <a:lnTo>
                  <a:pt x="121157" y="40005"/>
                </a:lnTo>
                <a:lnTo>
                  <a:pt x="121157" y="26035"/>
                </a:lnTo>
                <a:close/>
              </a:path>
              <a:path w="276225" h="275589">
                <a:moveTo>
                  <a:pt x="173989" y="26035"/>
                </a:moveTo>
                <a:lnTo>
                  <a:pt x="161035" y="26035"/>
                </a:lnTo>
                <a:lnTo>
                  <a:pt x="161035" y="40005"/>
                </a:lnTo>
                <a:lnTo>
                  <a:pt x="159556" y="47371"/>
                </a:lnTo>
                <a:lnTo>
                  <a:pt x="159474" y="47781"/>
                </a:lnTo>
                <a:lnTo>
                  <a:pt x="155209" y="54117"/>
                </a:lnTo>
                <a:lnTo>
                  <a:pt x="148873" y="58382"/>
                </a:lnTo>
                <a:lnTo>
                  <a:pt x="141097" y="59944"/>
                </a:lnTo>
                <a:lnTo>
                  <a:pt x="193928" y="59944"/>
                </a:lnTo>
                <a:lnTo>
                  <a:pt x="186152" y="58382"/>
                </a:lnTo>
                <a:lnTo>
                  <a:pt x="179816" y="54117"/>
                </a:lnTo>
                <a:lnTo>
                  <a:pt x="175551" y="47781"/>
                </a:lnTo>
                <a:lnTo>
                  <a:pt x="173989" y="40005"/>
                </a:lnTo>
                <a:lnTo>
                  <a:pt x="173989" y="26035"/>
                </a:lnTo>
                <a:close/>
              </a:path>
              <a:path w="276225" h="275589">
                <a:moveTo>
                  <a:pt x="226822" y="26035"/>
                </a:moveTo>
                <a:lnTo>
                  <a:pt x="213867" y="26035"/>
                </a:lnTo>
                <a:lnTo>
                  <a:pt x="213867" y="40005"/>
                </a:lnTo>
                <a:lnTo>
                  <a:pt x="212388" y="47371"/>
                </a:lnTo>
                <a:lnTo>
                  <a:pt x="212306" y="47781"/>
                </a:lnTo>
                <a:lnTo>
                  <a:pt x="208041" y="54117"/>
                </a:lnTo>
                <a:lnTo>
                  <a:pt x="201705" y="58382"/>
                </a:lnTo>
                <a:lnTo>
                  <a:pt x="193928" y="59944"/>
                </a:lnTo>
                <a:lnTo>
                  <a:pt x="246760" y="59944"/>
                </a:lnTo>
                <a:lnTo>
                  <a:pt x="238984" y="58382"/>
                </a:lnTo>
                <a:lnTo>
                  <a:pt x="232648" y="54117"/>
                </a:lnTo>
                <a:lnTo>
                  <a:pt x="228383" y="47781"/>
                </a:lnTo>
                <a:lnTo>
                  <a:pt x="226822" y="40005"/>
                </a:lnTo>
                <a:lnTo>
                  <a:pt x="226822" y="26035"/>
                </a:lnTo>
                <a:close/>
              </a:path>
              <a:path w="276225" h="275589">
                <a:moveTo>
                  <a:pt x="275843" y="26035"/>
                </a:moveTo>
                <a:lnTo>
                  <a:pt x="266700" y="26035"/>
                </a:lnTo>
                <a:lnTo>
                  <a:pt x="266700" y="40005"/>
                </a:lnTo>
                <a:lnTo>
                  <a:pt x="265203" y="47371"/>
                </a:lnTo>
                <a:lnTo>
                  <a:pt x="265120" y="47781"/>
                </a:lnTo>
                <a:lnTo>
                  <a:pt x="260826" y="54117"/>
                </a:lnTo>
                <a:lnTo>
                  <a:pt x="254484" y="58382"/>
                </a:lnTo>
                <a:lnTo>
                  <a:pt x="246760" y="59944"/>
                </a:lnTo>
                <a:lnTo>
                  <a:pt x="275843" y="59944"/>
                </a:lnTo>
                <a:lnTo>
                  <a:pt x="275843" y="26035"/>
                </a:lnTo>
                <a:close/>
              </a:path>
              <a:path w="276225" h="275589">
                <a:moveTo>
                  <a:pt x="41401" y="0"/>
                </a:moveTo>
                <a:lnTo>
                  <a:pt x="29590" y="0"/>
                </a:lnTo>
                <a:lnTo>
                  <a:pt x="24764" y="4825"/>
                </a:lnTo>
                <a:lnTo>
                  <a:pt x="24764" y="47371"/>
                </a:lnTo>
                <a:lnTo>
                  <a:pt x="29590" y="52197"/>
                </a:lnTo>
                <a:lnTo>
                  <a:pt x="41401" y="52197"/>
                </a:lnTo>
                <a:lnTo>
                  <a:pt x="46227" y="47371"/>
                </a:lnTo>
                <a:lnTo>
                  <a:pt x="46227" y="4825"/>
                </a:lnTo>
                <a:lnTo>
                  <a:pt x="41401" y="0"/>
                </a:lnTo>
                <a:close/>
              </a:path>
              <a:path w="276225" h="275589">
                <a:moveTo>
                  <a:pt x="94233" y="0"/>
                </a:moveTo>
                <a:lnTo>
                  <a:pt x="82296" y="0"/>
                </a:lnTo>
                <a:lnTo>
                  <a:pt x="77597" y="4825"/>
                </a:lnTo>
                <a:lnTo>
                  <a:pt x="77597" y="47371"/>
                </a:lnTo>
                <a:lnTo>
                  <a:pt x="82296" y="52197"/>
                </a:lnTo>
                <a:lnTo>
                  <a:pt x="94233" y="52197"/>
                </a:lnTo>
                <a:lnTo>
                  <a:pt x="99059" y="47371"/>
                </a:lnTo>
                <a:lnTo>
                  <a:pt x="99059" y="4825"/>
                </a:lnTo>
                <a:lnTo>
                  <a:pt x="94233" y="0"/>
                </a:lnTo>
                <a:close/>
              </a:path>
              <a:path w="276225" h="275589">
                <a:moveTo>
                  <a:pt x="147065" y="0"/>
                </a:moveTo>
                <a:lnTo>
                  <a:pt x="135127" y="0"/>
                </a:lnTo>
                <a:lnTo>
                  <a:pt x="130428" y="4825"/>
                </a:lnTo>
                <a:lnTo>
                  <a:pt x="130428" y="47371"/>
                </a:lnTo>
                <a:lnTo>
                  <a:pt x="135127" y="52197"/>
                </a:lnTo>
                <a:lnTo>
                  <a:pt x="147065" y="52197"/>
                </a:lnTo>
                <a:lnTo>
                  <a:pt x="151764" y="47371"/>
                </a:lnTo>
                <a:lnTo>
                  <a:pt x="151764" y="4825"/>
                </a:lnTo>
                <a:lnTo>
                  <a:pt x="147065" y="0"/>
                </a:lnTo>
                <a:close/>
              </a:path>
              <a:path w="276225" h="275589">
                <a:moveTo>
                  <a:pt x="199898" y="0"/>
                </a:moveTo>
                <a:lnTo>
                  <a:pt x="187959" y="0"/>
                </a:lnTo>
                <a:lnTo>
                  <a:pt x="183133" y="4825"/>
                </a:lnTo>
                <a:lnTo>
                  <a:pt x="183133" y="47371"/>
                </a:lnTo>
                <a:lnTo>
                  <a:pt x="187959" y="52197"/>
                </a:lnTo>
                <a:lnTo>
                  <a:pt x="199898" y="52197"/>
                </a:lnTo>
                <a:lnTo>
                  <a:pt x="204597" y="47371"/>
                </a:lnTo>
                <a:lnTo>
                  <a:pt x="204597" y="4825"/>
                </a:lnTo>
                <a:lnTo>
                  <a:pt x="199898" y="0"/>
                </a:lnTo>
                <a:close/>
              </a:path>
              <a:path w="276225" h="275589">
                <a:moveTo>
                  <a:pt x="252602" y="0"/>
                </a:moveTo>
                <a:lnTo>
                  <a:pt x="240791" y="0"/>
                </a:lnTo>
                <a:lnTo>
                  <a:pt x="235965" y="4825"/>
                </a:lnTo>
                <a:lnTo>
                  <a:pt x="235965" y="47371"/>
                </a:lnTo>
                <a:lnTo>
                  <a:pt x="240791" y="52197"/>
                </a:lnTo>
                <a:lnTo>
                  <a:pt x="252602" y="52197"/>
                </a:lnTo>
                <a:lnTo>
                  <a:pt x="257428" y="47371"/>
                </a:lnTo>
                <a:lnTo>
                  <a:pt x="257428" y="4825"/>
                </a:lnTo>
                <a:lnTo>
                  <a:pt x="252602" y="0"/>
                </a:lnTo>
                <a:close/>
              </a:path>
            </a:pathLst>
          </a:custGeom>
          <a:solidFill>
            <a:srgbClr val="FFFFFF"/>
          </a:solidFill>
        </p:spPr>
        <p:txBody>
          <a:bodyPr wrap="square" lIns="0" tIns="0" rIns="0" bIns="0" rtlCol="0"/>
          <a:lstStyle/>
          <a:p>
            <a:endParaRPr/>
          </a:p>
        </p:txBody>
      </p:sp>
      <p:sp>
        <p:nvSpPr>
          <p:cNvPr id="13" name="object 13"/>
          <p:cNvSpPr/>
          <p:nvPr/>
        </p:nvSpPr>
        <p:spPr>
          <a:xfrm>
            <a:off x="5511419" y="2614041"/>
            <a:ext cx="280670" cy="280670"/>
          </a:xfrm>
          <a:custGeom>
            <a:avLst/>
            <a:gdLst/>
            <a:ahLst/>
            <a:cxnLst/>
            <a:rect l="l" t="t" r="r" b="b"/>
            <a:pathLst>
              <a:path w="280670" h="280669">
                <a:moveTo>
                  <a:pt x="280542" y="143383"/>
                </a:moveTo>
                <a:lnTo>
                  <a:pt x="143382" y="143383"/>
                </a:lnTo>
                <a:lnTo>
                  <a:pt x="143382" y="280543"/>
                </a:lnTo>
                <a:lnTo>
                  <a:pt x="233806" y="280543"/>
                </a:lnTo>
                <a:lnTo>
                  <a:pt x="251985" y="276865"/>
                </a:lnTo>
                <a:lnTo>
                  <a:pt x="266842" y="266842"/>
                </a:lnTo>
                <a:lnTo>
                  <a:pt x="276865" y="251985"/>
                </a:lnTo>
                <a:lnTo>
                  <a:pt x="278847" y="242188"/>
                </a:lnTo>
                <a:lnTo>
                  <a:pt x="174878" y="242188"/>
                </a:lnTo>
                <a:lnTo>
                  <a:pt x="174878" y="217424"/>
                </a:lnTo>
                <a:lnTo>
                  <a:pt x="280542" y="217424"/>
                </a:lnTo>
                <a:lnTo>
                  <a:pt x="280542" y="205105"/>
                </a:lnTo>
                <a:lnTo>
                  <a:pt x="174878" y="205105"/>
                </a:lnTo>
                <a:lnTo>
                  <a:pt x="174878" y="180212"/>
                </a:lnTo>
                <a:lnTo>
                  <a:pt x="280542" y="180212"/>
                </a:lnTo>
                <a:lnTo>
                  <a:pt x="280542" y="143383"/>
                </a:lnTo>
                <a:close/>
              </a:path>
              <a:path w="280670" h="280669">
                <a:moveTo>
                  <a:pt x="280542" y="217424"/>
                </a:moveTo>
                <a:lnTo>
                  <a:pt x="252348" y="217424"/>
                </a:lnTo>
                <a:lnTo>
                  <a:pt x="252348" y="242188"/>
                </a:lnTo>
                <a:lnTo>
                  <a:pt x="278847" y="242188"/>
                </a:lnTo>
                <a:lnTo>
                  <a:pt x="280542" y="233807"/>
                </a:lnTo>
                <a:lnTo>
                  <a:pt x="280542" y="217424"/>
                </a:lnTo>
                <a:close/>
              </a:path>
              <a:path w="280670" h="280669">
                <a:moveTo>
                  <a:pt x="280542" y="180212"/>
                </a:moveTo>
                <a:lnTo>
                  <a:pt x="252348" y="180212"/>
                </a:lnTo>
                <a:lnTo>
                  <a:pt x="252348" y="205105"/>
                </a:lnTo>
                <a:lnTo>
                  <a:pt x="280542" y="205105"/>
                </a:lnTo>
                <a:lnTo>
                  <a:pt x="280542" y="180212"/>
                </a:lnTo>
                <a:close/>
              </a:path>
              <a:path w="280670" h="280669">
                <a:moveTo>
                  <a:pt x="137159" y="143383"/>
                </a:moveTo>
                <a:lnTo>
                  <a:pt x="0" y="143383"/>
                </a:lnTo>
                <a:lnTo>
                  <a:pt x="0" y="233807"/>
                </a:lnTo>
                <a:lnTo>
                  <a:pt x="3677" y="251985"/>
                </a:lnTo>
                <a:lnTo>
                  <a:pt x="13700" y="266842"/>
                </a:lnTo>
                <a:lnTo>
                  <a:pt x="28557" y="276865"/>
                </a:lnTo>
                <a:lnTo>
                  <a:pt x="46735" y="280543"/>
                </a:lnTo>
                <a:lnTo>
                  <a:pt x="137159" y="280543"/>
                </a:lnTo>
                <a:lnTo>
                  <a:pt x="137159" y="247396"/>
                </a:lnTo>
                <a:lnTo>
                  <a:pt x="50291" y="247396"/>
                </a:lnTo>
                <a:lnTo>
                  <a:pt x="32765" y="229870"/>
                </a:lnTo>
                <a:lnTo>
                  <a:pt x="51434" y="211200"/>
                </a:lnTo>
                <a:lnTo>
                  <a:pt x="32765" y="192659"/>
                </a:lnTo>
                <a:lnTo>
                  <a:pt x="50291" y="175133"/>
                </a:lnTo>
                <a:lnTo>
                  <a:pt x="137159" y="175133"/>
                </a:lnTo>
                <a:lnTo>
                  <a:pt x="137159" y="143383"/>
                </a:lnTo>
                <a:close/>
              </a:path>
              <a:path w="280670" h="280669">
                <a:moveTo>
                  <a:pt x="68960" y="228726"/>
                </a:moveTo>
                <a:lnTo>
                  <a:pt x="50291" y="247396"/>
                </a:lnTo>
                <a:lnTo>
                  <a:pt x="87502" y="247396"/>
                </a:lnTo>
                <a:lnTo>
                  <a:pt x="68960" y="228726"/>
                </a:lnTo>
                <a:close/>
              </a:path>
              <a:path w="280670" h="280669">
                <a:moveTo>
                  <a:pt x="137159" y="175133"/>
                </a:moveTo>
                <a:lnTo>
                  <a:pt x="87502" y="175133"/>
                </a:lnTo>
                <a:lnTo>
                  <a:pt x="105028" y="192659"/>
                </a:lnTo>
                <a:lnTo>
                  <a:pt x="86486" y="211200"/>
                </a:lnTo>
                <a:lnTo>
                  <a:pt x="105028" y="229870"/>
                </a:lnTo>
                <a:lnTo>
                  <a:pt x="87502" y="247396"/>
                </a:lnTo>
                <a:lnTo>
                  <a:pt x="137159" y="247396"/>
                </a:lnTo>
                <a:lnTo>
                  <a:pt x="137159" y="175133"/>
                </a:lnTo>
                <a:close/>
              </a:path>
              <a:path w="280670" h="280669">
                <a:moveTo>
                  <a:pt x="87502" y="175133"/>
                </a:moveTo>
                <a:lnTo>
                  <a:pt x="50291" y="175133"/>
                </a:lnTo>
                <a:lnTo>
                  <a:pt x="68960" y="193675"/>
                </a:lnTo>
                <a:lnTo>
                  <a:pt x="87502" y="175133"/>
                </a:lnTo>
                <a:close/>
              </a:path>
              <a:path w="280670" h="280669">
                <a:moveTo>
                  <a:pt x="137159" y="0"/>
                </a:moveTo>
                <a:lnTo>
                  <a:pt x="46735" y="0"/>
                </a:lnTo>
                <a:lnTo>
                  <a:pt x="28557" y="3677"/>
                </a:lnTo>
                <a:lnTo>
                  <a:pt x="13700" y="13700"/>
                </a:lnTo>
                <a:lnTo>
                  <a:pt x="3677" y="28557"/>
                </a:lnTo>
                <a:lnTo>
                  <a:pt x="51" y="46482"/>
                </a:lnTo>
                <a:lnTo>
                  <a:pt x="0" y="137160"/>
                </a:lnTo>
                <a:lnTo>
                  <a:pt x="137159" y="137160"/>
                </a:lnTo>
                <a:lnTo>
                  <a:pt x="137159" y="106172"/>
                </a:lnTo>
                <a:lnTo>
                  <a:pt x="56514" y="106172"/>
                </a:lnTo>
                <a:lnTo>
                  <a:pt x="56514" y="79883"/>
                </a:lnTo>
                <a:lnTo>
                  <a:pt x="30225" y="79883"/>
                </a:lnTo>
                <a:lnTo>
                  <a:pt x="30225" y="55118"/>
                </a:lnTo>
                <a:lnTo>
                  <a:pt x="56514" y="55118"/>
                </a:lnTo>
                <a:lnTo>
                  <a:pt x="56514" y="28701"/>
                </a:lnTo>
                <a:lnTo>
                  <a:pt x="137159" y="28701"/>
                </a:lnTo>
                <a:lnTo>
                  <a:pt x="137159" y="0"/>
                </a:lnTo>
                <a:close/>
              </a:path>
              <a:path w="280670" h="280669">
                <a:moveTo>
                  <a:pt x="233806" y="0"/>
                </a:moveTo>
                <a:lnTo>
                  <a:pt x="143382" y="0"/>
                </a:lnTo>
                <a:lnTo>
                  <a:pt x="143382" y="137160"/>
                </a:lnTo>
                <a:lnTo>
                  <a:pt x="280542" y="137160"/>
                </a:lnTo>
                <a:lnTo>
                  <a:pt x="280542" y="107823"/>
                </a:lnTo>
                <a:lnTo>
                  <a:pt x="206755" y="107823"/>
                </a:lnTo>
                <a:lnTo>
                  <a:pt x="201294" y="102235"/>
                </a:lnTo>
                <a:lnTo>
                  <a:pt x="201294" y="88519"/>
                </a:lnTo>
                <a:lnTo>
                  <a:pt x="206755" y="82931"/>
                </a:lnTo>
                <a:lnTo>
                  <a:pt x="280542" y="82931"/>
                </a:lnTo>
                <a:lnTo>
                  <a:pt x="280542" y="79883"/>
                </a:lnTo>
                <a:lnTo>
                  <a:pt x="174878" y="79883"/>
                </a:lnTo>
                <a:lnTo>
                  <a:pt x="174878" y="55118"/>
                </a:lnTo>
                <a:lnTo>
                  <a:pt x="280542" y="55118"/>
                </a:lnTo>
                <a:lnTo>
                  <a:pt x="280542" y="51943"/>
                </a:lnTo>
                <a:lnTo>
                  <a:pt x="206755" y="51943"/>
                </a:lnTo>
                <a:lnTo>
                  <a:pt x="201294" y="46482"/>
                </a:lnTo>
                <a:lnTo>
                  <a:pt x="201294" y="32766"/>
                </a:lnTo>
                <a:lnTo>
                  <a:pt x="206755" y="27178"/>
                </a:lnTo>
                <a:lnTo>
                  <a:pt x="275935" y="27178"/>
                </a:lnTo>
                <a:lnTo>
                  <a:pt x="266842" y="13700"/>
                </a:lnTo>
                <a:lnTo>
                  <a:pt x="251985" y="3677"/>
                </a:lnTo>
                <a:lnTo>
                  <a:pt x="233806" y="0"/>
                </a:lnTo>
                <a:close/>
              </a:path>
              <a:path w="280670" h="280669">
                <a:moveTo>
                  <a:pt x="280542" y="82931"/>
                </a:moveTo>
                <a:lnTo>
                  <a:pt x="220471" y="82931"/>
                </a:lnTo>
                <a:lnTo>
                  <a:pt x="226059" y="88519"/>
                </a:lnTo>
                <a:lnTo>
                  <a:pt x="226059" y="102235"/>
                </a:lnTo>
                <a:lnTo>
                  <a:pt x="220471" y="107823"/>
                </a:lnTo>
                <a:lnTo>
                  <a:pt x="280542" y="107823"/>
                </a:lnTo>
                <a:lnTo>
                  <a:pt x="280542" y="82931"/>
                </a:lnTo>
                <a:close/>
              </a:path>
              <a:path w="280670" h="280669">
                <a:moveTo>
                  <a:pt x="137159" y="28701"/>
                </a:moveTo>
                <a:lnTo>
                  <a:pt x="81279" y="28701"/>
                </a:lnTo>
                <a:lnTo>
                  <a:pt x="81279" y="55118"/>
                </a:lnTo>
                <a:lnTo>
                  <a:pt x="107695" y="55118"/>
                </a:lnTo>
                <a:lnTo>
                  <a:pt x="107695" y="79883"/>
                </a:lnTo>
                <a:lnTo>
                  <a:pt x="81279" y="79883"/>
                </a:lnTo>
                <a:lnTo>
                  <a:pt x="81279" y="106172"/>
                </a:lnTo>
                <a:lnTo>
                  <a:pt x="137159" y="106172"/>
                </a:lnTo>
                <a:lnTo>
                  <a:pt x="137159" y="28701"/>
                </a:lnTo>
                <a:close/>
              </a:path>
              <a:path w="280670" h="280669">
                <a:moveTo>
                  <a:pt x="280542" y="55118"/>
                </a:moveTo>
                <a:lnTo>
                  <a:pt x="252348" y="55118"/>
                </a:lnTo>
                <a:lnTo>
                  <a:pt x="252348" y="79883"/>
                </a:lnTo>
                <a:lnTo>
                  <a:pt x="280542" y="79883"/>
                </a:lnTo>
                <a:lnTo>
                  <a:pt x="280542" y="55118"/>
                </a:lnTo>
                <a:close/>
              </a:path>
              <a:path w="280670" h="280669">
                <a:moveTo>
                  <a:pt x="275935" y="27178"/>
                </a:moveTo>
                <a:lnTo>
                  <a:pt x="220471" y="27178"/>
                </a:lnTo>
                <a:lnTo>
                  <a:pt x="226059" y="32766"/>
                </a:lnTo>
                <a:lnTo>
                  <a:pt x="226059" y="46482"/>
                </a:lnTo>
                <a:lnTo>
                  <a:pt x="220471" y="51943"/>
                </a:lnTo>
                <a:lnTo>
                  <a:pt x="280542" y="51943"/>
                </a:lnTo>
                <a:lnTo>
                  <a:pt x="280491" y="46482"/>
                </a:lnTo>
                <a:lnTo>
                  <a:pt x="276895" y="28701"/>
                </a:lnTo>
                <a:lnTo>
                  <a:pt x="276865" y="28557"/>
                </a:lnTo>
                <a:lnTo>
                  <a:pt x="275935" y="27178"/>
                </a:lnTo>
                <a:close/>
              </a:path>
            </a:pathLst>
          </a:custGeom>
          <a:solidFill>
            <a:srgbClr val="FFFFFF"/>
          </a:solidFill>
        </p:spPr>
        <p:txBody>
          <a:bodyPr wrap="square" lIns="0" tIns="0" rIns="0" bIns="0" rtlCol="0"/>
          <a:lstStyle/>
          <a:p>
            <a:endParaRPr/>
          </a:p>
        </p:txBody>
      </p:sp>
      <p:sp>
        <p:nvSpPr>
          <p:cNvPr id="14" name="object 14"/>
          <p:cNvSpPr/>
          <p:nvPr/>
        </p:nvSpPr>
        <p:spPr>
          <a:xfrm>
            <a:off x="4749165" y="6802119"/>
            <a:ext cx="316230" cy="299085"/>
          </a:xfrm>
          <a:custGeom>
            <a:avLst/>
            <a:gdLst/>
            <a:ahLst/>
            <a:cxnLst/>
            <a:rect l="l" t="t" r="r" b="b"/>
            <a:pathLst>
              <a:path w="316229" h="299084">
                <a:moveTo>
                  <a:pt x="315975" y="0"/>
                </a:moveTo>
                <a:lnTo>
                  <a:pt x="0" y="0"/>
                </a:lnTo>
                <a:lnTo>
                  <a:pt x="0" y="298932"/>
                </a:lnTo>
                <a:lnTo>
                  <a:pt x="315975" y="298932"/>
                </a:lnTo>
                <a:lnTo>
                  <a:pt x="315975" y="263385"/>
                </a:lnTo>
                <a:lnTo>
                  <a:pt x="37592" y="263385"/>
                </a:lnTo>
                <a:lnTo>
                  <a:pt x="37592" y="35559"/>
                </a:lnTo>
                <a:lnTo>
                  <a:pt x="40512" y="35559"/>
                </a:lnTo>
                <a:lnTo>
                  <a:pt x="40512" y="35178"/>
                </a:lnTo>
                <a:lnTo>
                  <a:pt x="315975" y="35178"/>
                </a:lnTo>
                <a:lnTo>
                  <a:pt x="315975" y="0"/>
                </a:lnTo>
                <a:close/>
              </a:path>
              <a:path w="316229" h="299084">
                <a:moveTo>
                  <a:pt x="58547" y="109346"/>
                </a:moveTo>
                <a:lnTo>
                  <a:pt x="42545" y="154304"/>
                </a:lnTo>
                <a:lnTo>
                  <a:pt x="78696" y="167778"/>
                </a:lnTo>
                <a:lnTo>
                  <a:pt x="106775" y="195895"/>
                </a:lnTo>
                <a:lnTo>
                  <a:pt x="129377" y="230487"/>
                </a:lnTo>
                <a:lnTo>
                  <a:pt x="149098" y="263385"/>
                </a:lnTo>
                <a:lnTo>
                  <a:pt x="153924" y="263385"/>
                </a:lnTo>
                <a:lnTo>
                  <a:pt x="174252" y="221006"/>
                </a:lnTo>
                <a:lnTo>
                  <a:pt x="196225" y="177520"/>
                </a:lnTo>
                <a:lnTo>
                  <a:pt x="150622" y="177520"/>
                </a:lnTo>
                <a:lnTo>
                  <a:pt x="132609" y="154627"/>
                </a:lnTo>
                <a:lnTo>
                  <a:pt x="114347" y="136585"/>
                </a:lnTo>
                <a:lnTo>
                  <a:pt x="91203" y="121967"/>
                </a:lnTo>
                <a:lnTo>
                  <a:pt x="58547" y="109346"/>
                </a:lnTo>
                <a:close/>
              </a:path>
              <a:path w="316229" h="299084">
                <a:moveTo>
                  <a:pt x="315975" y="35178"/>
                </a:moveTo>
                <a:lnTo>
                  <a:pt x="278764" y="35178"/>
                </a:lnTo>
                <a:lnTo>
                  <a:pt x="278764" y="55117"/>
                </a:lnTo>
                <a:lnTo>
                  <a:pt x="278384" y="55117"/>
                </a:lnTo>
                <a:lnTo>
                  <a:pt x="278384" y="263385"/>
                </a:lnTo>
                <a:lnTo>
                  <a:pt x="315975" y="263385"/>
                </a:lnTo>
                <a:lnTo>
                  <a:pt x="315975" y="35178"/>
                </a:lnTo>
                <a:close/>
              </a:path>
              <a:path w="316229" h="299084">
                <a:moveTo>
                  <a:pt x="270256" y="55117"/>
                </a:moveTo>
                <a:lnTo>
                  <a:pt x="217805" y="55117"/>
                </a:lnTo>
                <a:lnTo>
                  <a:pt x="198074" y="86302"/>
                </a:lnTo>
                <a:lnTo>
                  <a:pt x="181975" y="114471"/>
                </a:lnTo>
                <a:lnTo>
                  <a:pt x="166995" y="143564"/>
                </a:lnTo>
                <a:lnTo>
                  <a:pt x="150622" y="177520"/>
                </a:lnTo>
                <a:lnTo>
                  <a:pt x="196225" y="177520"/>
                </a:lnTo>
                <a:lnTo>
                  <a:pt x="196427" y="177121"/>
                </a:lnTo>
                <a:lnTo>
                  <a:pt x="220071" y="133599"/>
                </a:lnTo>
                <a:lnTo>
                  <a:pt x="244807" y="92309"/>
                </a:lnTo>
                <a:lnTo>
                  <a:pt x="270256" y="55117"/>
                </a:lnTo>
                <a:close/>
              </a:path>
            </a:pathLst>
          </a:custGeom>
          <a:solidFill>
            <a:srgbClr val="FFFFFF"/>
          </a:solidFill>
        </p:spPr>
        <p:txBody>
          <a:bodyPr wrap="square" lIns="0" tIns="0" rIns="0" bIns="0" rtlCol="0"/>
          <a:lstStyle/>
          <a:p>
            <a:endParaRPr/>
          </a:p>
        </p:txBody>
      </p:sp>
      <p:sp>
        <p:nvSpPr>
          <p:cNvPr id="15" name="object 15"/>
          <p:cNvSpPr/>
          <p:nvPr/>
        </p:nvSpPr>
        <p:spPr>
          <a:xfrm>
            <a:off x="8638540" y="2573654"/>
            <a:ext cx="351790" cy="351790"/>
          </a:xfrm>
          <a:custGeom>
            <a:avLst/>
            <a:gdLst/>
            <a:ahLst/>
            <a:cxnLst/>
            <a:rect l="l" t="t" r="r" b="b"/>
            <a:pathLst>
              <a:path w="351790" h="351789">
                <a:moveTo>
                  <a:pt x="175640" y="0"/>
                </a:moveTo>
                <a:lnTo>
                  <a:pt x="128940" y="6272"/>
                </a:lnTo>
                <a:lnTo>
                  <a:pt x="86980" y="23974"/>
                </a:lnTo>
                <a:lnTo>
                  <a:pt x="51435" y="51435"/>
                </a:lnTo>
                <a:lnTo>
                  <a:pt x="23974" y="86980"/>
                </a:lnTo>
                <a:lnTo>
                  <a:pt x="6272" y="128940"/>
                </a:lnTo>
                <a:lnTo>
                  <a:pt x="0" y="175641"/>
                </a:lnTo>
                <a:lnTo>
                  <a:pt x="6272" y="222351"/>
                </a:lnTo>
                <a:lnTo>
                  <a:pt x="23974" y="264334"/>
                </a:lnTo>
                <a:lnTo>
                  <a:pt x="51435" y="299910"/>
                </a:lnTo>
                <a:lnTo>
                  <a:pt x="86980" y="327401"/>
                </a:lnTo>
                <a:lnTo>
                  <a:pt x="128940" y="345127"/>
                </a:lnTo>
                <a:lnTo>
                  <a:pt x="175640" y="351409"/>
                </a:lnTo>
                <a:lnTo>
                  <a:pt x="222395" y="345127"/>
                </a:lnTo>
                <a:lnTo>
                  <a:pt x="264390" y="327401"/>
                </a:lnTo>
                <a:lnTo>
                  <a:pt x="281472" y="314198"/>
                </a:lnTo>
                <a:lnTo>
                  <a:pt x="175640" y="314198"/>
                </a:lnTo>
                <a:lnTo>
                  <a:pt x="131872" y="307139"/>
                </a:lnTo>
                <a:lnTo>
                  <a:pt x="93840" y="287481"/>
                </a:lnTo>
                <a:lnTo>
                  <a:pt x="63837" y="257496"/>
                </a:lnTo>
                <a:lnTo>
                  <a:pt x="44154" y="219458"/>
                </a:lnTo>
                <a:lnTo>
                  <a:pt x="37083" y="175641"/>
                </a:lnTo>
                <a:lnTo>
                  <a:pt x="44154" y="131872"/>
                </a:lnTo>
                <a:lnTo>
                  <a:pt x="63837" y="93840"/>
                </a:lnTo>
                <a:lnTo>
                  <a:pt x="93840" y="63837"/>
                </a:lnTo>
                <a:lnTo>
                  <a:pt x="131872" y="44154"/>
                </a:lnTo>
                <a:lnTo>
                  <a:pt x="175640" y="37084"/>
                </a:lnTo>
                <a:lnTo>
                  <a:pt x="281370" y="37084"/>
                </a:lnTo>
                <a:lnTo>
                  <a:pt x="264390" y="23974"/>
                </a:lnTo>
                <a:lnTo>
                  <a:pt x="222395" y="6272"/>
                </a:lnTo>
                <a:lnTo>
                  <a:pt x="175640" y="0"/>
                </a:lnTo>
                <a:close/>
              </a:path>
              <a:path w="351790" h="351789">
                <a:moveTo>
                  <a:pt x="281370" y="37084"/>
                </a:moveTo>
                <a:lnTo>
                  <a:pt x="175640" y="37084"/>
                </a:lnTo>
                <a:lnTo>
                  <a:pt x="219471" y="44154"/>
                </a:lnTo>
                <a:lnTo>
                  <a:pt x="257540" y="63837"/>
                </a:lnTo>
                <a:lnTo>
                  <a:pt x="287563" y="93840"/>
                </a:lnTo>
                <a:lnTo>
                  <a:pt x="307253" y="131872"/>
                </a:lnTo>
                <a:lnTo>
                  <a:pt x="314325" y="175641"/>
                </a:lnTo>
                <a:lnTo>
                  <a:pt x="307253" y="219458"/>
                </a:lnTo>
                <a:lnTo>
                  <a:pt x="287563" y="257496"/>
                </a:lnTo>
                <a:lnTo>
                  <a:pt x="257540" y="287481"/>
                </a:lnTo>
                <a:lnTo>
                  <a:pt x="219471" y="307139"/>
                </a:lnTo>
                <a:lnTo>
                  <a:pt x="175640" y="314198"/>
                </a:lnTo>
                <a:lnTo>
                  <a:pt x="281472" y="314198"/>
                </a:lnTo>
                <a:lnTo>
                  <a:pt x="299958" y="299910"/>
                </a:lnTo>
                <a:lnTo>
                  <a:pt x="327429" y="264334"/>
                </a:lnTo>
                <a:lnTo>
                  <a:pt x="345136" y="222351"/>
                </a:lnTo>
                <a:lnTo>
                  <a:pt x="351408" y="175641"/>
                </a:lnTo>
                <a:lnTo>
                  <a:pt x="345136" y="128940"/>
                </a:lnTo>
                <a:lnTo>
                  <a:pt x="327429" y="86980"/>
                </a:lnTo>
                <a:lnTo>
                  <a:pt x="299958" y="51435"/>
                </a:lnTo>
                <a:lnTo>
                  <a:pt x="281370" y="37084"/>
                </a:lnTo>
                <a:close/>
              </a:path>
              <a:path w="351790" h="351789">
                <a:moveTo>
                  <a:pt x="124967" y="100075"/>
                </a:moveTo>
                <a:lnTo>
                  <a:pt x="124967" y="251333"/>
                </a:lnTo>
                <a:lnTo>
                  <a:pt x="255396" y="175641"/>
                </a:lnTo>
                <a:lnTo>
                  <a:pt x="124967" y="100075"/>
                </a:lnTo>
                <a:close/>
              </a:path>
            </a:pathLst>
          </a:custGeom>
          <a:solidFill>
            <a:srgbClr val="FFFFFF"/>
          </a:solidFill>
        </p:spPr>
        <p:txBody>
          <a:bodyPr wrap="square" lIns="0" tIns="0" rIns="0" bIns="0" rtlCol="0"/>
          <a:lstStyle/>
          <a:p>
            <a:endParaRPr/>
          </a:p>
        </p:txBody>
      </p:sp>
      <p:sp>
        <p:nvSpPr>
          <p:cNvPr id="16" name="object 16"/>
          <p:cNvSpPr/>
          <p:nvPr/>
        </p:nvSpPr>
        <p:spPr>
          <a:xfrm>
            <a:off x="5564504" y="6166611"/>
            <a:ext cx="173355" cy="377825"/>
          </a:xfrm>
          <a:custGeom>
            <a:avLst/>
            <a:gdLst/>
            <a:ahLst/>
            <a:cxnLst/>
            <a:rect l="l" t="t" r="r" b="b"/>
            <a:pathLst>
              <a:path w="173354" h="377825">
                <a:moveTo>
                  <a:pt x="16510" y="187451"/>
                </a:moveTo>
                <a:lnTo>
                  <a:pt x="0" y="188721"/>
                </a:lnTo>
                <a:lnTo>
                  <a:pt x="7794" y="218570"/>
                </a:lnTo>
                <a:lnTo>
                  <a:pt x="24828" y="243014"/>
                </a:lnTo>
                <a:lnTo>
                  <a:pt x="49006" y="260123"/>
                </a:lnTo>
                <a:lnTo>
                  <a:pt x="78705" y="268096"/>
                </a:lnTo>
                <a:lnTo>
                  <a:pt x="78232" y="268096"/>
                </a:lnTo>
                <a:lnTo>
                  <a:pt x="78232" y="323214"/>
                </a:lnTo>
                <a:lnTo>
                  <a:pt x="81851" y="323214"/>
                </a:lnTo>
                <a:lnTo>
                  <a:pt x="70993" y="323595"/>
                </a:lnTo>
                <a:lnTo>
                  <a:pt x="19669" y="346757"/>
                </a:lnTo>
                <a:lnTo>
                  <a:pt x="6731" y="377570"/>
                </a:lnTo>
                <a:lnTo>
                  <a:pt x="166243" y="375285"/>
                </a:lnTo>
                <a:lnTo>
                  <a:pt x="135507" y="333940"/>
                </a:lnTo>
                <a:lnTo>
                  <a:pt x="102171" y="323595"/>
                </a:lnTo>
                <a:lnTo>
                  <a:pt x="104647" y="323595"/>
                </a:lnTo>
                <a:lnTo>
                  <a:pt x="94742" y="323214"/>
                </a:lnTo>
                <a:lnTo>
                  <a:pt x="94742" y="268096"/>
                </a:lnTo>
                <a:lnTo>
                  <a:pt x="125630" y="259306"/>
                </a:lnTo>
                <a:lnTo>
                  <a:pt x="134968" y="252221"/>
                </a:lnTo>
                <a:lnTo>
                  <a:pt x="89154" y="252221"/>
                </a:lnTo>
                <a:lnTo>
                  <a:pt x="62355" y="247977"/>
                </a:lnTo>
                <a:lnTo>
                  <a:pt x="39830" y="234457"/>
                </a:lnTo>
                <a:lnTo>
                  <a:pt x="23806" y="213627"/>
                </a:lnTo>
                <a:lnTo>
                  <a:pt x="16510" y="187451"/>
                </a:lnTo>
                <a:close/>
              </a:path>
              <a:path w="173354" h="377825">
                <a:moveTo>
                  <a:pt x="173100" y="182118"/>
                </a:moveTo>
                <a:lnTo>
                  <a:pt x="156591" y="182118"/>
                </a:lnTo>
                <a:lnTo>
                  <a:pt x="151358" y="208716"/>
                </a:lnTo>
                <a:lnTo>
                  <a:pt x="137017" y="230695"/>
                </a:lnTo>
                <a:lnTo>
                  <a:pt x="115603" y="245911"/>
                </a:lnTo>
                <a:lnTo>
                  <a:pt x="89154" y="252221"/>
                </a:lnTo>
                <a:lnTo>
                  <a:pt x="134968" y="252221"/>
                </a:lnTo>
                <a:lnTo>
                  <a:pt x="150494" y="240442"/>
                </a:lnTo>
                <a:lnTo>
                  <a:pt x="167072" y="213911"/>
                </a:lnTo>
                <a:lnTo>
                  <a:pt x="172980" y="182752"/>
                </a:lnTo>
                <a:lnTo>
                  <a:pt x="173100" y="182118"/>
                </a:lnTo>
                <a:close/>
              </a:path>
              <a:path w="173354" h="377825">
                <a:moveTo>
                  <a:pt x="86487" y="0"/>
                </a:moveTo>
                <a:lnTo>
                  <a:pt x="66542" y="4032"/>
                </a:lnTo>
                <a:lnTo>
                  <a:pt x="50276" y="15017"/>
                </a:lnTo>
                <a:lnTo>
                  <a:pt x="39320" y="31289"/>
                </a:lnTo>
                <a:lnTo>
                  <a:pt x="35306" y="51181"/>
                </a:lnTo>
                <a:lnTo>
                  <a:pt x="35306" y="182752"/>
                </a:lnTo>
                <a:lnTo>
                  <a:pt x="39320" y="202644"/>
                </a:lnTo>
                <a:lnTo>
                  <a:pt x="50276" y="218916"/>
                </a:lnTo>
                <a:lnTo>
                  <a:pt x="66542" y="229901"/>
                </a:lnTo>
                <a:lnTo>
                  <a:pt x="86487" y="233933"/>
                </a:lnTo>
                <a:lnTo>
                  <a:pt x="106378" y="229901"/>
                </a:lnTo>
                <a:lnTo>
                  <a:pt x="122650" y="218916"/>
                </a:lnTo>
                <a:lnTo>
                  <a:pt x="133635" y="202644"/>
                </a:lnTo>
                <a:lnTo>
                  <a:pt x="137668" y="182752"/>
                </a:lnTo>
                <a:lnTo>
                  <a:pt x="137668" y="51181"/>
                </a:lnTo>
                <a:lnTo>
                  <a:pt x="133635" y="31289"/>
                </a:lnTo>
                <a:lnTo>
                  <a:pt x="122650" y="15017"/>
                </a:lnTo>
                <a:lnTo>
                  <a:pt x="106378" y="4032"/>
                </a:lnTo>
                <a:lnTo>
                  <a:pt x="86487" y="0"/>
                </a:lnTo>
                <a:close/>
              </a:path>
            </a:pathLst>
          </a:custGeom>
          <a:solidFill>
            <a:srgbClr val="FFFFFF"/>
          </a:solidFill>
        </p:spPr>
        <p:txBody>
          <a:bodyPr wrap="square" lIns="0" tIns="0" rIns="0" bIns="0" rtlCol="0"/>
          <a:lstStyle/>
          <a:p>
            <a:endParaRPr/>
          </a:p>
        </p:txBody>
      </p:sp>
      <p:sp>
        <p:nvSpPr>
          <p:cNvPr id="18" name="object 18"/>
          <p:cNvSpPr txBox="1"/>
          <p:nvPr/>
        </p:nvSpPr>
        <p:spPr>
          <a:xfrm>
            <a:off x="937361" y="1803907"/>
            <a:ext cx="3974465" cy="3818254"/>
          </a:xfrm>
          <a:prstGeom prst="rect">
            <a:avLst/>
          </a:prstGeom>
        </p:spPr>
        <p:txBody>
          <a:bodyPr vert="horz" wrap="square" lIns="0" tIns="158750" rIns="0" bIns="0" rtlCol="0">
            <a:spAutoFit/>
          </a:bodyPr>
          <a:lstStyle/>
          <a:p>
            <a:pPr marL="1308735">
              <a:lnSpc>
                <a:spcPct val="100000"/>
              </a:lnSpc>
              <a:spcBef>
                <a:spcPts val="1250"/>
              </a:spcBef>
            </a:pPr>
            <a:r>
              <a:rPr sz="2400" b="1" spc="-15" dirty="0">
                <a:solidFill>
                  <a:srgbClr val="4471C4"/>
                </a:solidFill>
                <a:latin typeface="Microsoft JhengHei"/>
                <a:cs typeface="Microsoft JhengHei"/>
              </a:rPr>
              <a:t>核心架構</a:t>
            </a:r>
            <a:endParaRPr sz="2400">
              <a:latin typeface="Microsoft JhengHei"/>
              <a:cs typeface="Microsoft JhengHei"/>
            </a:endParaRPr>
          </a:p>
          <a:p>
            <a:pPr marL="299085" indent="-286385">
              <a:lnSpc>
                <a:spcPct val="100000"/>
              </a:lnSpc>
              <a:spcBef>
                <a:spcPts val="865"/>
              </a:spcBef>
              <a:buFont typeface="Arial MT"/>
              <a:buChar char="•"/>
              <a:tabLst>
                <a:tab pos="299085" algn="l"/>
              </a:tabLst>
            </a:pPr>
            <a:r>
              <a:rPr sz="1800" spc="-5" dirty="0">
                <a:solidFill>
                  <a:srgbClr val="404040"/>
                </a:solidFill>
                <a:latin typeface="Microsoft JhengHei"/>
                <a:cs typeface="Microsoft JhengHei"/>
              </a:rPr>
              <a:t>系統角色定位：英語語言助手</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內容生成指南：難度長度風格指導</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主題與目標設定：明確學習重點</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學習指南與範例：具體指導示例內容</a:t>
            </a:r>
            <a:endParaRPr sz="1800">
              <a:latin typeface="Microsoft JhengHei"/>
              <a:cs typeface="Microsoft JhengHei"/>
            </a:endParaRPr>
          </a:p>
          <a:p>
            <a:pPr>
              <a:lnSpc>
                <a:spcPct val="100000"/>
              </a:lnSpc>
              <a:spcBef>
                <a:spcPts val="2605"/>
              </a:spcBef>
              <a:buClr>
                <a:srgbClr val="404040"/>
              </a:buClr>
              <a:buFont typeface="Arial MT"/>
              <a:buChar char="•"/>
            </a:pPr>
            <a:endParaRPr sz="1800">
              <a:latin typeface="Microsoft JhengHei"/>
              <a:cs typeface="Microsoft JhengHei"/>
            </a:endParaRPr>
          </a:p>
          <a:p>
            <a:pPr marL="1370330">
              <a:lnSpc>
                <a:spcPct val="100000"/>
              </a:lnSpc>
              <a:spcBef>
                <a:spcPts val="5"/>
              </a:spcBef>
            </a:pPr>
            <a:r>
              <a:rPr sz="2400" b="1" spc="-15" dirty="0">
                <a:solidFill>
                  <a:srgbClr val="EC7C30"/>
                </a:solidFill>
                <a:latin typeface="Microsoft JhengHei"/>
                <a:cs typeface="Microsoft JhengHei"/>
              </a:rPr>
              <a:t>主題分類</a:t>
            </a:r>
            <a:endParaRPr sz="2400">
              <a:latin typeface="Microsoft JhengHei"/>
              <a:cs typeface="Microsoft JhengHei"/>
            </a:endParaRPr>
          </a:p>
          <a:p>
            <a:pPr marL="299085" indent="-286385">
              <a:lnSpc>
                <a:spcPct val="100000"/>
              </a:lnSpc>
              <a:spcBef>
                <a:spcPts val="1045"/>
              </a:spcBef>
              <a:buFont typeface="Arial MT"/>
              <a:buChar char="•"/>
              <a:tabLst>
                <a:tab pos="299085" algn="l"/>
              </a:tabLst>
            </a:pPr>
            <a:r>
              <a:rPr sz="1800" spc="-5" dirty="0">
                <a:solidFill>
                  <a:srgbClr val="404040"/>
                </a:solidFill>
                <a:latin typeface="Microsoft JhengHei"/>
                <a:cs typeface="Microsoft JhengHei"/>
              </a:rPr>
              <a:t>日常情境覆蓋：八主要主題</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視覺化輔助：直觀圖標描述說明</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目標明確性：明確學習目標重點</a:t>
            </a:r>
            <a:endParaRPr sz="1800">
              <a:latin typeface="Microsoft JhengHei"/>
              <a:cs typeface="Microsoft JhengHei"/>
            </a:endParaRPr>
          </a:p>
        </p:txBody>
      </p:sp>
      <p:grpSp>
        <p:nvGrpSpPr>
          <p:cNvPr id="19" name="object 19"/>
          <p:cNvGrpSpPr/>
          <p:nvPr/>
        </p:nvGrpSpPr>
        <p:grpSpPr>
          <a:xfrm>
            <a:off x="8169909" y="4089146"/>
            <a:ext cx="798830" cy="798830"/>
            <a:chOff x="8169909" y="4089146"/>
            <a:chExt cx="798830" cy="798830"/>
          </a:xfrm>
        </p:grpSpPr>
        <p:sp>
          <p:nvSpPr>
            <p:cNvPr id="20" name="object 20"/>
            <p:cNvSpPr/>
            <p:nvPr/>
          </p:nvSpPr>
          <p:spPr>
            <a:xfrm>
              <a:off x="8169909" y="4089146"/>
              <a:ext cx="798830" cy="798830"/>
            </a:xfrm>
            <a:custGeom>
              <a:avLst/>
              <a:gdLst/>
              <a:ahLst/>
              <a:cxnLst/>
              <a:rect l="l" t="t" r="r" b="b"/>
              <a:pathLst>
                <a:path w="798829" h="798829">
                  <a:moveTo>
                    <a:pt x="399288" y="0"/>
                  </a:moveTo>
                  <a:lnTo>
                    <a:pt x="352731" y="2685"/>
                  </a:lnTo>
                  <a:lnTo>
                    <a:pt x="307750" y="10541"/>
                  </a:lnTo>
                  <a:lnTo>
                    <a:pt x="264643" y="23269"/>
                  </a:lnTo>
                  <a:lnTo>
                    <a:pt x="223712" y="40570"/>
                  </a:lnTo>
                  <a:lnTo>
                    <a:pt x="185255" y="62145"/>
                  </a:lnTo>
                  <a:lnTo>
                    <a:pt x="149574" y="87694"/>
                  </a:lnTo>
                  <a:lnTo>
                    <a:pt x="116966" y="116919"/>
                  </a:lnTo>
                  <a:lnTo>
                    <a:pt x="87734" y="149520"/>
                  </a:lnTo>
                  <a:lnTo>
                    <a:pt x="62176" y="185199"/>
                  </a:lnTo>
                  <a:lnTo>
                    <a:pt x="40592" y="223656"/>
                  </a:lnTo>
                  <a:lnTo>
                    <a:pt x="23283" y="264593"/>
                  </a:lnTo>
                  <a:lnTo>
                    <a:pt x="10548" y="307710"/>
                  </a:lnTo>
                  <a:lnTo>
                    <a:pt x="2686" y="352708"/>
                  </a:lnTo>
                  <a:lnTo>
                    <a:pt x="0" y="399288"/>
                  </a:lnTo>
                  <a:lnTo>
                    <a:pt x="2686" y="445869"/>
                  </a:lnTo>
                  <a:lnTo>
                    <a:pt x="10548" y="490872"/>
                  </a:lnTo>
                  <a:lnTo>
                    <a:pt x="23283" y="533997"/>
                  </a:lnTo>
                  <a:lnTo>
                    <a:pt x="40592" y="574944"/>
                  </a:lnTo>
                  <a:lnTo>
                    <a:pt x="62176" y="613413"/>
                  </a:lnTo>
                  <a:lnTo>
                    <a:pt x="87734" y="649105"/>
                  </a:lnTo>
                  <a:lnTo>
                    <a:pt x="116966" y="681720"/>
                  </a:lnTo>
                  <a:lnTo>
                    <a:pt x="149574" y="710958"/>
                  </a:lnTo>
                  <a:lnTo>
                    <a:pt x="185255" y="736520"/>
                  </a:lnTo>
                  <a:lnTo>
                    <a:pt x="223712" y="758107"/>
                  </a:lnTo>
                  <a:lnTo>
                    <a:pt x="264643" y="775418"/>
                  </a:lnTo>
                  <a:lnTo>
                    <a:pt x="307750" y="788154"/>
                  </a:lnTo>
                  <a:lnTo>
                    <a:pt x="352731" y="796015"/>
                  </a:lnTo>
                  <a:lnTo>
                    <a:pt x="399288" y="798702"/>
                  </a:lnTo>
                  <a:lnTo>
                    <a:pt x="445869" y="796015"/>
                  </a:lnTo>
                  <a:lnTo>
                    <a:pt x="490872" y="788154"/>
                  </a:lnTo>
                  <a:lnTo>
                    <a:pt x="533997" y="775418"/>
                  </a:lnTo>
                  <a:lnTo>
                    <a:pt x="574944" y="758107"/>
                  </a:lnTo>
                  <a:lnTo>
                    <a:pt x="613413" y="736520"/>
                  </a:lnTo>
                  <a:lnTo>
                    <a:pt x="649105" y="710958"/>
                  </a:lnTo>
                  <a:lnTo>
                    <a:pt x="681720" y="681720"/>
                  </a:lnTo>
                  <a:lnTo>
                    <a:pt x="710958" y="649105"/>
                  </a:lnTo>
                  <a:lnTo>
                    <a:pt x="736520" y="613413"/>
                  </a:lnTo>
                  <a:lnTo>
                    <a:pt x="758107" y="574944"/>
                  </a:lnTo>
                  <a:lnTo>
                    <a:pt x="775418" y="533997"/>
                  </a:lnTo>
                  <a:lnTo>
                    <a:pt x="788154" y="490872"/>
                  </a:lnTo>
                  <a:lnTo>
                    <a:pt x="796015" y="445869"/>
                  </a:lnTo>
                  <a:lnTo>
                    <a:pt x="798703" y="399288"/>
                  </a:lnTo>
                  <a:lnTo>
                    <a:pt x="796015" y="352708"/>
                  </a:lnTo>
                  <a:lnTo>
                    <a:pt x="788154" y="307710"/>
                  </a:lnTo>
                  <a:lnTo>
                    <a:pt x="775418" y="264593"/>
                  </a:lnTo>
                  <a:lnTo>
                    <a:pt x="758107" y="223656"/>
                  </a:lnTo>
                  <a:lnTo>
                    <a:pt x="736520" y="185199"/>
                  </a:lnTo>
                  <a:lnTo>
                    <a:pt x="710958" y="149520"/>
                  </a:lnTo>
                  <a:lnTo>
                    <a:pt x="681720" y="116919"/>
                  </a:lnTo>
                  <a:lnTo>
                    <a:pt x="649105" y="87694"/>
                  </a:lnTo>
                  <a:lnTo>
                    <a:pt x="613413" y="62145"/>
                  </a:lnTo>
                  <a:lnTo>
                    <a:pt x="574944" y="40570"/>
                  </a:lnTo>
                  <a:lnTo>
                    <a:pt x="533997" y="23269"/>
                  </a:lnTo>
                  <a:lnTo>
                    <a:pt x="490872" y="10541"/>
                  </a:lnTo>
                  <a:lnTo>
                    <a:pt x="445869" y="2685"/>
                  </a:lnTo>
                  <a:lnTo>
                    <a:pt x="399288" y="0"/>
                  </a:lnTo>
                  <a:close/>
                </a:path>
              </a:pathLst>
            </a:custGeom>
            <a:solidFill>
              <a:srgbClr val="EC7C30"/>
            </a:solidFill>
          </p:spPr>
          <p:txBody>
            <a:bodyPr wrap="square" lIns="0" tIns="0" rIns="0" bIns="0" rtlCol="0"/>
            <a:lstStyle/>
            <a:p>
              <a:endParaRPr/>
            </a:p>
          </p:txBody>
        </p:sp>
        <p:sp>
          <p:nvSpPr>
            <p:cNvPr id="21" name="object 21"/>
            <p:cNvSpPr/>
            <p:nvPr/>
          </p:nvSpPr>
          <p:spPr>
            <a:xfrm>
              <a:off x="8437752" y="4359402"/>
              <a:ext cx="276225" cy="275590"/>
            </a:xfrm>
            <a:custGeom>
              <a:avLst/>
              <a:gdLst/>
              <a:ahLst/>
              <a:cxnLst/>
              <a:rect l="l" t="t" r="r" b="b"/>
              <a:pathLst>
                <a:path w="276225" h="275589">
                  <a:moveTo>
                    <a:pt x="15494" y="26035"/>
                  </a:moveTo>
                  <a:lnTo>
                    <a:pt x="0" y="26035"/>
                  </a:lnTo>
                  <a:lnTo>
                    <a:pt x="0" y="275082"/>
                  </a:lnTo>
                  <a:lnTo>
                    <a:pt x="275844" y="275082"/>
                  </a:lnTo>
                  <a:lnTo>
                    <a:pt x="275844" y="241935"/>
                  </a:lnTo>
                  <a:lnTo>
                    <a:pt x="57912" y="241935"/>
                  </a:lnTo>
                  <a:lnTo>
                    <a:pt x="55118" y="239268"/>
                  </a:lnTo>
                  <a:lnTo>
                    <a:pt x="55118" y="232410"/>
                  </a:lnTo>
                  <a:lnTo>
                    <a:pt x="57912" y="229743"/>
                  </a:lnTo>
                  <a:lnTo>
                    <a:pt x="275844" y="229743"/>
                  </a:lnTo>
                  <a:lnTo>
                    <a:pt x="275844" y="213740"/>
                  </a:lnTo>
                  <a:lnTo>
                    <a:pt x="57912" y="213740"/>
                  </a:lnTo>
                  <a:lnTo>
                    <a:pt x="55118" y="211074"/>
                  </a:lnTo>
                  <a:lnTo>
                    <a:pt x="55118" y="204215"/>
                  </a:lnTo>
                  <a:lnTo>
                    <a:pt x="57912" y="201549"/>
                  </a:lnTo>
                  <a:lnTo>
                    <a:pt x="275844" y="201549"/>
                  </a:lnTo>
                  <a:lnTo>
                    <a:pt x="275844" y="185547"/>
                  </a:lnTo>
                  <a:lnTo>
                    <a:pt x="57912" y="185547"/>
                  </a:lnTo>
                  <a:lnTo>
                    <a:pt x="55118" y="182880"/>
                  </a:lnTo>
                  <a:lnTo>
                    <a:pt x="55118" y="176022"/>
                  </a:lnTo>
                  <a:lnTo>
                    <a:pt x="57912" y="173355"/>
                  </a:lnTo>
                  <a:lnTo>
                    <a:pt x="275844" y="173355"/>
                  </a:lnTo>
                  <a:lnTo>
                    <a:pt x="275844" y="157352"/>
                  </a:lnTo>
                  <a:lnTo>
                    <a:pt x="57912" y="157352"/>
                  </a:lnTo>
                  <a:lnTo>
                    <a:pt x="55118" y="154686"/>
                  </a:lnTo>
                  <a:lnTo>
                    <a:pt x="55118" y="147827"/>
                  </a:lnTo>
                  <a:lnTo>
                    <a:pt x="57912" y="145161"/>
                  </a:lnTo>
                  <a:lnTo>
                    <a:pt x="275844" y="145161"/>
                  </a:lnTo>
                  <a:lnTo>
                    <a:pt x="275844" y="129159"/>
                  </a:lnTo>
                  <a:lnTo>
                    <a:pt x="57912" y="129159"/>
                  </a:lnTo>
                  <a:lnTo>
                    <a:pt x="55118" y="126492"/>
                  </a:lnTo>
                  <a:lnTo>
                    <a:pt x="55118" y="119634"/>
                  </a:lnTo>
                  <a:lnTo>
                    <a:pt x="57912" y="116967"/>
                  </a:lnTo>
                  <a:lnTo>
                    <a:pt x="275844" y="116967"/>
                  </a:lnTo>
                  <a:lnTo>
                    <a:pt x="275844" y="100964"/>
                  </a:lnTo>
                  <a:lnTo>
                    <a:pt x="57912" y="100964"/>
                  </a:lnTo>
                  <a:lnTo>
                    <a:pt x="55118" y="98171"/>
                  </a:lnTo>
                  <a:lnTo>
                    <a:pt x="55118" y="91439"/>
                  </a:lnTo>
                  <a:lnTo>
                    <a:pt x="57912" y="88773"/>
                  </a:lnTo>
                  <a:lnTo>
                    <a:pt x="275844" y="88773"/>
                  </a:lnTo>
                  <a:lnTo>
                    <a:pt x="275844" y="59944"/>
                  </a:lnTo>
                  <a:lnTo>
                    <a:pt x="35432" y="59944"/>
                  </a:lnTo>
                  <a:lnTo>
                    <a:pt x="27656" y="58382"/>
                  </a:lnTo>
                  <a:lnTo>
                    <a:pt x="21320" y="54117"/>
                  </a:lnTo>
                  <a:lnTo>
                    <a:pt x="17055" y="47781"/>
                  </a:lnTo>
                  <a:lnTo>
                    <a:pt x="15494" y="40005"/>
                  </a:lnTo>
                  <a:lnTo>
                    <a:pt x="15494" y="26035"/>
                  </a:lnTo>
                  <a:close/>
                </a:path>
                <a:path w="276225" h="275589">
                  <a:moveTo>
                    <a:pt x="275844" y="229743"/>
                  </a:moveTo>
                  <a:lnTo>
                    <a:pt x="217931" y="229743"/>
                  </a:lnTo>
                  <a:lnTo>
                    <a:pt x="220725" y="232410"/>
                  </a:lnTo>
                  <a:lnTo>
                    <a:pt x="220725" y="239268"/>
                  </a:lnTo>
                  <a:lnTo>
                    <a:pt x="217931" y="241935"/>
                  </a:lnTo>
                  <a:lnTo>
                    <a:pt x="275844" y="241935"/>
                  </a:lnTo>
                  <a:lnTo>
                    <a:pt x="275844" y="229743"/>
                  </a:lnTo>
                  <a:close/>
                </a:path>
                <a:path w="276225" h="275589">
                  <a:moveTo>
                    <a:pt x="275844" y="201549"/>
                  </a:moveTo>
                  <a:lnTo>
                    <a:pt x="217931" y="201549"/>
                  </a:lnTo>
                  <a:lnTo>
                    <a:pt x="220725" y="204215"/>
                  </a:lnTo>
                  <a:lnTo>
                    <a:pt x="220725" y="211074"/>
                  </a:lnTo>
                  <a:lnTo>
                    <a:pt x="217931" y="213740"/>
                  </a:lnTo>
                  <a:lnTo>
                    <a:pt x="275844" y="213740"/>
                  </a:lnTo>
                  <a:lnTo>
                    <a:pt x="275844" y="201549"/>
                  </a:lnTo>
                  <a:close/>
                </a:path>
                <a:path w="276225" h="275589">
                  <a:moveTo>
                    <a:pt x="275844" y="173355"/>
                  </a:moveTo>
                  <a:lnTo>
                    <a:pt x="217931" y="173355"/>
                  </a:lnTo>
                  <a:lnTo>
                    <a:pt x="220725" y="176022"/>
                  </a:lnTo>
                  <a:lnTo>
                    <a:pt x="220725" y="182880"/>
                  </a:lnTo>
                  <a:lnTo>
                    <a:pt x="217931" y="185547"/>
                  </a:lnTo>
                  <a:lnTo>
                    <a:pt x="275844" y="185547"/>
                  </a:lnTo>
                  <a:lnTo>
                    <a:pt x="275844" y="173355"/>
                  </a:lnTo>
                  <a:close/>
                </a:path>
                <a:path w="276225" h="275589">
                  <a:moveTo>
                    <a:pt x="275844" y="145161"/>
                  </a:moveTo>
                  <a:lnTo>
                    <a:pt x="217931" y="145161"/>
                  </a:lnTo>
                  <a:lnTo>
                    <a:pt x="220725" y="147827"/>
                  </a:lnTo>
                  <a:lnTo>
                    <a:pt x="220725" y="154686"/>
                  </a:lnTo>
                  <a:lnTo>
                    <a:pt x="217931" y="157352"/>
                  </a:lnTo>
                  <a:lnTo>
                    <a:pt x="275844" y="157352"/>
                  </a:lnTo>
                  <a:lnTo>
                    <a:pt x="275844" y="145161"/>
                  </a:lnTo>
                  <a:close/>
                </a:path>
                <a:path w="276225" h="275589">
                  <a:moveTo>
                    <a:pt x="275844" y="116967"/>
                  </a:moveTo>
                  <a:lnTo>
                    <a:pt x="217931" y="116967"/>
                  </a:lnTo>
                  <a:lnTo>
                    <a:pt x="220725" y="119634"/>
                  </a:lnTo>
                  <a:lnTo>
                    <a:pt x="220725" y="126492"/>
                  </a:lnTo>
                  <a:lnTo>
                    <a:pt x="217931" y="129159"/>
                  </a:lnTo>
                  <a:lnTo>
                    <a:pt x="275844" y="129159"/>
                  </a:lnTo>
                  <a:lnTo>
                    <a:pt x="275844" y="116967"/>
                  </a:lnTo>
                  <a:close/>
                </a:path>
                <a:path w="276225" h="275589">
                  <a:moveTo>
                    <a:pt x="275844" y="88773"/>
                  </a:moveTo>
                  <a:lnTo>
                    <a:pt x="217931" y="88773"/>
                  </a:lnTo>
                  <a:lnTo>
                    <a:pt x="220725" y="91439"/>
                  </a:lnTo>
                  <a:lnTo>
                    <a:pt x="220725" y="98171"/>
                  </a:lnTo>
                  <a:lnTo>
                    <a:pt x="217931" y="100964"/>
                  </a:lnTo>
                  <a:lnTo>
                    <a:pt x="275844" y="100964"/>
                  </a:lnTo>
                  <a:lnTo>
                    <a:pt x="275844" y="88773"/>
                  </a:lnTo>
                  <a:close/>
                </a:path>
                <a:path w="276225" h="275589">
                  <a:moveTo>
                    <a:pt x="68325" y="26035"/>
                  </a:moveTo>
                  <a:lnTo>
                    <a:pt x="55372" y="26035"/>
                  </a:lnTo>
                  <a:lnTo>
                    <a:pt x="55372" y="40005"/>
                  </a:lnTo>
                  <a:lnTo>
                    <a:pt x="53892" y="47371"/>
                  </a:lnTo>
                  <a:lnTo>
                    <a:pt x="53810" y="47781"/>
                  </a:lnTo>
                  <a:lnTo>
                    <a:pt x="49545" y="54117"/>
                  </a:lnTo>
                  <a:lnTo>
                    <a:pt x="43209" y="58382"/>
                  </a:lnTo>
                  <a:lnTo>
                    <a:pt x="35432" y="59944"/>
                  </a:lnTo>
                  <a:lnTo>
                    <a:pt x="88265" y="59944"/>
                  </a:lnTo>
                  <a:lnTo>
                    <a:pt x="80488" y="58382"/>
                  </a:lnTo>
                  <a:lnTo>
                    <a:pt x="74152" y="54117"/>
                  </a:lnTo>
                  <a:lnTo>
                    <a:pt x="69887" y="47781"/>
                  </a:lnTo>
                  <a:lnTo>
                    <a:pt x="68325" y="40005"/>
                  </a:lnTo>
                  <a:lnTo>
                    <a:pt x="68325" y="26035"/>
                  </a:lnTo>
                  <a:close/>
                </a:path>
                <a:path w="276225" h="275589">
                  <a:moveTo>
                    <a:pt x="121157" y="26035"/>
                  </a:moveTo>
                  <a:lnTo>
                    <a:pt x="108203" y="26035"/>
                  </a:lnTo>
                  <a:lnTo>
                    <a:pt x="108203" y="40005"/>
                  </a:lnTo>
                  <a:lnTo>
                    <a:pt x="106707" y="47371"/>
                  </a:lnTo>
                  <a:lnTo>
                    <a:pt x="106624" y="47781"/>
                  </a:lnTo>
                  <a:lnTo>
                    <a:pt x="102330" y="54117"/>
                  </a:lnTo>
                  <a:lnTo>
                    <a:pt x="95988" y="58382"/>
                  </a:lnTo>
                  <a:lnTo>
                    <a:pt x="88265" y="59944"/>
                  </a:lnTo>
                  <a:lnTo>
                    <a:pt x="141097" y="59944"/>
                  </a:lnTo>
                  <a:lnTo>
                    <a:pt x="133320" y="58382"/>
                  </a:lnTo>
                  <a:lnTo>
                    <a:pt x="126984" y="54117"/>
                  </a:lnTo>
                  <a:lnTo>
                    <a:pt x="122719" y="47781"/>
                  </a:lnTo>
                  <a:lnTo>
                    <a:pt x="121157" y="40005"/>
                  </a:lnTo>
                  <a:lnTo>
                    <a:pt x="121157" y="26035"/>
                  </a:lnTo>
                  <a:close/>
                </a:path>
                <a:path w="276225" h="275589">
                  <a:moveTo>
                    <a:pt x="173990" y="26035"/>
                  </a:moveTo>
                  <a:lnTo>
                    <a:pt x="161036" y="26035"/>
                  </a:lnTo>
                  <a:lnTo>
                    <a:pt x="161036" y="40005"/>
                  </a:lnTo>
                  <a:lnTo>
                    <a:pt x="159539" y="47371"/>
                  </a:lnTo>
                  <a:lnTo>
                    <a:pt x="159456" y="47781"/>
                  </a:lnTo>
                  <a:lnTo>
                    <a:pt x="155162" y="54117"/>
                  </a:lnTo>
                  <a:lnTo>
                    <a:pt x="148820" y="58382"/>
                  </a:lnTo>
                  <a:lnTo>
                    <a:pt x="141097" y="59944"/>
                  </a:lnTo>
                  <a:lnTo>
                    <a:pt x="193928" y="59944"/>
                  </a:lnTo>
                  <a:lnTo>
                    <a:pt x="186152" y="58382"/>
                  </a:lnTo>
                  <a:lnTo>
                    <a:pt x="179816" y="54117"/>
                  </a:lnTo>
                  <a:lnTo>
                    <a:pt x="175551" y="47781"/>
                  </a:lnTo>
                  <a:lnTo>
                    <a:pt x="173990" y="40005"/>
                  </a:lnTo>
                  <a:lnTo>
                    <a:pt x="173990" y="26035"/>
                  </a:lnTo>
                  <a:close/>
                </a:path>
                <a:path w="276225" h="275589">
                  <a:moveTo>
                    <a:pt x="226822" y="26035"/>
                  </a:moveTo>
                  <a:lnTo>
                    <a:pt x="213741" y="26035"/>
                  </a:lnTo>
                  <a:lnTo>
                    <a:pt x="213741" y="40005"/>
                  </a:lnTo>
                  <a:lnTo>
                    <a:pt x="212263" y="47371"/>
                  </a:lnTo>
                  <a:lnTo>
                    <a:pt x="212181" y="47781"/>
                  </a:lnTo>
                  <a:lnTo>
                    <a:pt x="207930" y="54117"/>
                  </a:lnTo>
                  <a:lnTo>
                    <a:pt x="201632" y="58382"/>
                  </a:lnTo>
                  <a:lnTo>
                    <a:pt x="193928" y="59944"/>
                  </a:lnTo>
                  <a:lnTo>
                    <a:pt x="246633" y="59944"/>
                  </a:lnTo>
                  <a:lnTo>
                    <a:pt x="238930" y="58382"/>
                  </a:lnTo>
                  <a:lnTo>
                    <a:pt x="232632" y="54117"/>
                  </a:lnTo>
                  <a:lnTo>
                    <a:pt x="228381" y="47781"/>
                  </a:lnTo>
                  <a:lnTo>
                    <a:pt x="226822" y="40005"/>
                  </a:lnTo>
                  <a:lnTo>
                    <a:pt x="226822" y="26035"/>
                  </a:lnTo>
                  <a:close/>
                </a:path>
                <a:path w="276225" h="275589">
                  <a:moveTo>
                    <a:pt x="275844" y="26035"/>
                  </a:moveTo>
                  <a:lnTo>
                    <a:pt x="266573" y="26035"/>
                  </a:lnTo>
                  <a:lnTo>
                    <a:pt x="266573" y="40005"/>
                  </a:lnTo>
                  <a:lnTo>
                    <a:pt x="265093" y="47371"/>
                  </a:lnTo>
                  <a:lnTo>
                    <a:pt x="265011" y="47781"/>
                  </a:lnTo>
                  <a:lnTo>
                    <a:pt x="260746" y="54117"/>
                  </a:lnTo>
                  <a:lnTo>
                    <a:pt x="254410" y="58382"/>
                  </a:lnTo>
                  <a:lnTo>
                    <a:pt x="246633" y="59944"/>
                  </a:lnTo>
                  <a:lnTo>
                    <a:pt x="275844" y="59944"/>
                  </a:lnTo>
                  <a:lnTo>
                    <a:pt x="275844" y="26035"/>
                  </a:lnTo>
                  <a:close/>
                </a:path>
                <a:path w="276225" h="275589">
                  <a:moveTo>
                    <a:pt x="41401" y="0"/>
                  </a:moveTo>
                  <a:lnTo>
                    <a:pt x="29464" y="0"/>
                  </a:lnTo>
                  <a:lnTo>
                    <a:pt x="24638" y="4825"/>
                  </a:lnTo>
                  <a:lnTo>
                    <a:pt x="24638" y="47371"/>
                  </a:lnTo>
                  <a:lnTo>
                    <a:pt x="29464" y="52070"/>
                  </a:lnTo>
                  <a:lnTo>
                    <a:pt x="41401" y="52070"/>
                  </a:lnTo>
                  <a:lnTo>
                    <a:pt x="46100" y="47371"/>
                  </a:lnTo>
                  <a:lnTo>
                    <a:pt x="46100" y="4825"/>
                  </a:lnTo>
                  <a:lnTo>
                    <a:pt x="41401" y="0"/>
                  </a:lnTo>
                  <a:close/>
                </a:path>
                <a:path w="276225" h="275589">
                  <a:moveTo>
                    <a:pt x="94106" y="0"/>
                  </a:moveTo>
                  <a:lnTo>
                    <a:pt x="82296" y="0"/>
                  </a:lnTo>
                  <a:lnTo>
                    <a:pt x="77470" y="4825"/>
                  </a:lnTo>
                  <a:lnTo>
                    <a:pt x="77470" y="47371"/>
                  </a:lnTo>
                  <a:lnTo>
                    <a:pt x="82296" y="52070"/>
                  </a:lnTo>
                  <a:lnTo>
                    <a:pt x="94106" y="52070"/>
                  </a:lnTo>
                  <a:lnTo>
                    <a:pt x="98932" y="47371"/>
                  </a:lnTo>
                  <a:lnTo>
                    <a:pt x="98932" y="4825"/>
                  </a:lnTo>
                  <a:lnTo>
                    <a:pt x="94106" y="0"/>
                  </a:lnTo>
                  <a:close/>
                </a:path>
                <a:path w="276225" h="275589">
                  <a:moveTo>
                    <a:pt x="146939" y="0"/>
                  </a:moveTo>
                  <a:lnTo>
                    <a:pt x="135127" y="0"/>
                  </a:lnTo>
                  <a:lnTo>
                    <a:pt x="130301" y="4825"/>
                  </a:lnTo>
                  <a:lnTo>
                    <a:pt x="130301" y="47371"/>
                  </a:lnTo>
                  <a:lnTo>
                    <a:pt x="135127" y="52070"/>
                  </a:lnTo>
                  <a:lnTo>
                    <a:pt x="146939" y="52070"/>
                  </a:lnTo>
                  <a:lnTo>
                    <a:pt x="151765" y="47371"/>
                  </a:lnTo>
                  <a:lnTo>
                    <a:pt x="151765" y="4825"/>
                  </a:lnTo>
                  <a:lnTo>
                    <a:pt x="146939" y="0"/>
                  </a:lnTo>
                  <a:close/>
                </a:path>
                <a:path w="276225" h="275589">
                  <a:moveTo>
                    <a:pt x="199771" y="0"/>
                  </a:moveTo>
                  <a:lnTo>
                    <a:pt x="187960" y="0"/>
                  </a:lnTo>
                  <a:lnTo>
                    <a:pt x="183133" y="4825"/>
                  </a:lnTo>
                  <a:lnTo>
                    <a:pt x="183133" y="47371"/>
                  </a:lnTo>
                  <a:lnTo>
                    <a:pt x="187960" y="52070"/>
                  </a:lnTo>
                  <a:lnTo>
                    <a:pt x="199771" y="52070"/>
                  </a:lnTo>
                  <a:lnTo>
                    <a:pt x="204597" y="47371"/>
                  </a:lnTo>
                  <a:lnTo>
                    <a:pt x="204597" y="4825"/>
                  </a:lnTo>
                  <a:lnTo>
                    <a:pt x="199771" y="0"/>
                  </a:lnTo>
                  <a:close/>
                </a:path>
                <a:path w="276225" h="275589">
                  <a:moveTo>
                    <a:pt x="252602" y="0"/>
                  </a:moveTo>
                  <a:lnTo>
                    <a:pt x="240792" y="0"/>
                  </a:lnTo>
                  <a:lnTo>
                    <a:pt x="235966" y="4825"/>
                  </a:lnTo>
                  <a:lnTo>
                    <a:pt x="235966" y="47371"/>
                  </a:lnTo>
                  <a:lnTo>
                    <a:pt x="240792" y="52070"/>
                  </a:lnTo>
                  <a:lnTo>
                    <a:pt x="252602" y="52070"/>
                  </a:lnTo>
                  <a:lnTo>
                    <a:pt x="257428" y="47371"/>
                  </a:lnTo>
                  <a:lnTo>
                    <a:pt x="257428" y="4825"/>
                  </a:lnTo>
                  <a:lnTo>
                    <a:pt x="252602" y="0"/>
                  </a:lnTo>
                  <a:close/>
                </a:path>
              </a:pathLst>
            </a:custGeom>
            <a:solidFill>
              <a:srgbClr val="FFFFFF"/>
            </a:solidFill>
          </p:spPr>
          <p:txBody>
            <a:bodyPr wrap="square" lIns="0" tIns="0" rIns="0" bIns="0" rtlCol="0"/>
            <a:lstStyle/>
            <a:p>
              <a:endParaRPr/>
            </a:p>
          </p:txBody>
        </p:sp>
      </p:grpSp>
      <p:sp>
        <p:nvSpPr>
          <p:cNvPr id="22" name="object 22"/>
          <p:cNvSpPr txBox="1"/>
          <p:nvPr/>
        </p:nvSpPr>
        <p:spPr>
          <a:xfrm>
            <a:off x="9299829" y="1860930"/>
            <a:ext cx="4132579" cy="3413760"/>
          </a:xfrm>
          <a:prstGeom prst="rect">
            <a:avLst/>
          </a:prstGeom>
        </p:spPr>
        <p:txBody>
          <a:bodyPr vert="horz" wrap="square" lIns="0" tIns="12700" rIns="0" bIns="0" rtlCol="0">
            <a:spAutoFit/>
          </a:bodyPr>
          <a:lstStyle/>
          <a:p>
            <a:pPr marL="820419">
              <a:lnSpc>
                <a:spcPct val="100000"/>
              </a:lnSpc>
              <a:spcBef>
                <a:spcPts val="100"/>
              </a:spcBef>
            </a:pPr>
            <a:r>
              <a:rPr sz="2400" b="1" spc="-10" dirty="0">
                <a:solidFill>
                  <a:srgbClr val="A4A4A4"/>
                </a:solidFill>
                <a:latin typeface="Microsoft JhengHei"/>
                <a:cs typeface="Microsoft JhengHei"/>
              </a:rPr>
              <a:t>問題生成與評估機制</a:t>
            </a:r>
            <a:endParaRPr sz="2400">
              <a:latin typeface="Microsoft JhengHei"/>
              <a:cs typeface="Microsoft JhengHei"/>
            </a:endParaRPr>
          </a:p>
          <a:p>
            <a:pPr marL="461645" indent="-286385">
              <a:lnSpc>
                <a:spcPct val="100000"/>
              </a:lnSpc>
              <a:spcBef>
                <a:spcPts val="1565"/>
              </a:spcBef>
              <a:buFont typeface="Arial MT"/>
              <a:buChar char="•"/>
              <a:tabLst>
                <a:tab pos="461645" algn="l"/>
              </a:tabLst>
            </a:pPr>
            <a:r>
              <a:rPr sz="1800" spc="-5" dirty="0">
                <a:solidFill>
                  <a:srgbClr val="404040"/>
                </a:solidFill>
                <a:latin typeface="Microsoft JhengHei"/>
                <a:cs typeface="Microsoft JhengHei"/>
              </a:rPr>
              <a:t>自動問題生成：理解性問題測試</a:t>
            </a:r>
            <a:endParaRPr sz="1800">
              <a:latin typeface="Microsoft JhengHei"/>
              <a:cs typeface="Microsoft JhengHei"/>
            </a:endParaRPr>
          </a:p>
          <a:p>
            <a:pPr marL="461645" indent="-286385">
              <a:lnSpc>
                <a:spcPct val="100000"/>
              </a:lnSpc>
              <a:buFont typeface="Arial MT"/>
              <a:buChar char="•"/>
              <a:tabLst>
                <a:tab pos="461645" algn="l"/>
              </a:tabLst>
            </a:pPr>
            <a:r>
              <a:rPr sz="1800" spc="-5" dirty="0">
                <a:solidFill>
                  <a:srgbClr val="404040"/>
                </a:solidFill>
                <a:latin typeface="Microsoft JhengHei"/>
                <a:cs typeface="Microsoft JhengHei"/>
              </a:rPr>
              <a:t>答案智慧評估：量化質性反</a:t>
            </a:r>
            <a:endParaRPr sz="1800">
              <a:latin typeface="Microsoft JhengHei"/>
              <a:cs typeface="Microsoft JhengHei"/>
            </a:endParaRPr>
          </a:p>
          <a:p>
            <a:pPr marL="461645" indent="-286385">
              <a:lnSpc>
                <a:spcPct val="100000"/>
              </a:lnSpc>
              <a:buFont typeface="Arial MT"/>
              <a:buChar char="•"/>
              <a:tabLst>
                <a:tab pos="461645" algn="l"/>
              </a:tabLst>
            </a:pPr>
            <a:r>
              <a:rPr sz="1800" spc="-5" dirty="0">
                <a:solidFill>
                  <a:srgbClr val="404040"/>
                </a:solidFill>
                <a:latin typeface="Microsoft JhengHei"/>
                <a:cs typeface="Microsoft JhengHei"/>
              </a:rPr>
              <a:t>饋難度適應性評估：問題數量複雜度</a:t>
            </a:r>
            <a:endParaRPr sz="1800">
              <a:latin typeface="Microsoft JhengHei"/>
              <a:cs typeface="Microsoft JhengHei"/>
            </a:endParaRPr>
          </a:p>
          <a:p>
            <a:pPr>
              <a:lnSpc>
                <a:spcPct val="100000"/>
              </a:lnSpc>
              <a:spcBef>
                <a:spcPts val="2740"/>
              </a:spcBef>
            </a:pPr>
            <a:endParaRPr sz="1800">
              <a:latin typeface="Microsoft JhengHei"/>
              <a:cs typeface="Microsoft JhengHei"/>
            </a:endParaRPr>
          </a:p>
          <a:p>
            <a:pPr marL="969644">
              <a:lnSpc>
                <a:spcPct val="100000"/>
              </a:lnSpc>
            </a:pPr>
            <a:r>
              <a:rPr sz="2400" b="1" spc="-10" dirty="0">
                <a:solidFill>
                  <a:srgbClr val="EC7C30"/>
                </a:solidFill>
                <a:latin typeface="Microsoft JhengHei"/>
                <a:cs typeface="Microsoft JhengHei"/>
              </a:rPr>
              <a:t>難度調整機制</a:t>
            </a:r>
            <a:endParaRPr sz="2400">
              <a:latin typeface="Microsoft JhengHei"/>
              <a:cs typeface="Microsoft JhengHei"/>
            </a:endParaRPr>
          </a:p>
          <a:p>
            <a:pPr marL="299085" indent="-286385">
              <a:lnSpc>
                <a:spcPct val="100000"/>
              </a:lnSpc>
              <a:spcBef>
                <a:spcPts val="340"/>
              </a:spcBef>
              <a:buFont typeface="Arial MT"/>
              <a:buChar char="•"/>
              <a:tabLst>
                <a:tab pos="299085" algn="l"/>
              </a:tabLst>
            </a:pPr>
            <a:r>
              <a:rPr sz="1800" spc="-5" dirty="0">
                <a:solidFill>
                  <a:srgbClr val="404040"/>
                </a:solidFill>
                <a:latin typeface="Microsoft JhengHei"/>
                <a:cs typeface="Microsoft JhengHei"/>
              </a:rPr>
              <a:t>內容長度控制：字數範圍精確控制</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語言複雜度梯度：詞彙句型難度</a:t>
            </a:r>
            <a:endParaRPr sz="1800">
              <a:latin typeface="Microsoft JhengHei"/>
              <a:cs typeface="Microsoft JhengHei"/>
            </a:endParaRPr>
          </a:p>
          <a:p>
            <a:pPr marL="299085" indent="-286385">
              <a:lnSpc>
                <a:spcPct val="100000"/>
              </a:lnSpc>
              <a:buFont typeface="Arial MT"/>
              <a:buChar char="•"/>
              <a:tabLst>
                <a:tab pos="299085" algn="l"/>
              </a:tabLst>
            </a:pPr>
            <a:r>
              <a:rPr sz="1800" spc="-5" dirty="0">
                <a:solidFill>
                  <a:srgbClr val="404040"/>
                </a:solidFill>
                <a:latin typeface="Microsoft JhengHei"/>
                <a:cs typeface="Microsoft JhengHei"/>
              </a:rPr>
              <a:t>主題深度層級：基本到專業討論</a:t>
            </a:r>
            <a:endParaRPr sz="1800">
              <a:latin typeface="Microsoft JhengHei"/>
              <a:cs typeface="Microsoft JhengHei"/>
            </a:endParaRPr>
          </a:p>
        </p:txBody>
      </p:sp>
      <p:sp>
        <p:nvSpPr>
          <p:cNvPr id="25" name="Text Placeholder 1">
            <a:extLst>
              <a:ext uri="{FF2B5EF4-FFF2-40B4-BE49-F238E27FC236}">
                <a16:creationId xmlns:a16="http://schemas.microsoft.com/office/drawing/2014/main" id="{F8E1F1F5-2809-77F8-471D-5ECCBE1578C5}"/>
              </a:ext>
            </a:extLst>
          </p:cNvPr>
          <p:cNvSpPr txBox="1">
            <a:spLocks/>
          </p:cNvSpPr>
          <p:nvPr/>
        </p:nvSpPr>
        <p:spPr>
          <a:xfrm>
            <a:off x="293642" y="201235"/>
            <a:ext cx="6048163" cy="86909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TW" altLang="en-US" sz="5400" b="1" dirty="0">
                <a:latin typeface="Microsoft JhengHei" panose="020B0604030504040204" pitchFamily="34" charset="-120"/>
                <a:ea typeface="Microsoft JhengHei" panose="020B0604030504040204" pitchFamily="34" charset="-120"/>
              </a:rPr>
              <a:t>聽力練習提示設計</a:t>
            </a:r>
            <a:endParaRPr lang="en-US" sz="5400" b="1" dirty="0">
              <a:latin typeface="Microsoft JhengHei" panose="020B0604030504040204" pitchFamily="34" charset="-120"/>
              <a:ea typeface="Microsoft JhengHei" panose="020B0604030504040204" pitchFamily="34" charset="-120"/>
            </a:endParaRPr>
          </a:p>
        </p:txBody>
      </p:sp>
      <p:sp>
        <p:nvSpPr>
          <p:cNvPr id="17" name="投影片編號版面配置區 16">
            <a:extLst>
              <a:ext uri="{FF2B5EF4-FFF2-40B4-BE49-F238E27FC236}">
                <a16:creationId xmlns:a16="http://schemas.microsoft.com/office/drawing/2014/main" id="{93F6BF5F-F206-619C-5DAF-482323BE4365}"/>
              </a:ext>
            </a:extLst>
          </p:cNvPr>
          <p:cNvSpPr>
            <a:spLocks noGrp="1"/>
          </p:cNvSpPr>
          <p:nvPr>
            <p:ph type="sldNum" sz="quarter" idx="7"/>
          </p:nvPr>
        </p:nvSpPr>
        <p:spPr/>
        <p:txBody>
          <a:bodyPr/>
          <a:lstStyle/>
          <a:p>
            <a:pPr marL="12700">
              <a:lnSpc>
                <a:spcPts val="1410"/>
              </a:lnSpc>
            </a:pPr>
            <a:fld id="{81D60167-4931-47E6-BA6A-407CBD079E47}" type="slidenum">
              <a:rPr lang="en-US" altLang="zh-TW" spc="-25" smtClean="0"/>
              <a:t>24</a:t>
            </a:fld>
            <a:endParaRPr lang="en-US" altLang="zh-TW"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6883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系統架構與運作流程</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1088" y="310718"/>
            <a:ext cx="2768600" cy="848994"/>
          </a:xfrm>
          <a:prstGeom prst="rect">
            <a:avLst/>
          </a:prstGeom>
        </p:spPr>
        <p:txBody>
          <a:bodyPr vert="horz" wrap="square" lIns="0" tIns="12700" rIns="0" bIns="0" rtlCol="0">
            <a:spAutoFit/>
          </a:bodyPr>
          <a:lstStyle/>
          <a:p>
            <a:pPr marL="12700">
              <a:lnSpc>
                <a:spcPct val="100000"/>
              </a:lnSpc>
              <a:spcBef>
                <a:spcPts val="100"/>
              </a:spcBef>
            </a:pPr>
            <a:r>
              <a:rPr spc="-20" dirty="0"/>
              <a:t>系統架構</a:t>
            </a:r>
          </a:p>
        </p:txBody>
      </p:sp>
      <p:grpSp>
        <p:nvGrpSpPr>
          <p:cNvPr id="3" name="object 3"/>
          <p:cNvGrpSpPr/>
          <p:nvPr/>
        </p:nvGrpSpPr>
        <p:grpSpPr>
          <a:xfrm>
            <a:off x="743381" y="1673479"/>
            <a:ext cx="9860280" cy="4695825"/>
            <a:chOff x="743381" y="1673479"/>
            <a:chExt cx="9860280" cy="4695825"/>
          </a:xfrm>
        </p:grpSpPr>
        <p:pic>
          <p:nvPicPr>
            <p:cNvPr id="4" name="object 4"/>
            <p:cNvPicPr/>
            <p:nvPr/>
          </p:nvPicPr>
          <p:blipFill>
            <a:blip r:embed="rId3" cstate="print"/>
            <a:stretch>
              <a:fillRect/>
            </a:stretch>
          </p:blipFill>
          <p:spPr>
            <a:xfrm>
              <a:off x="4340733" y="2589657"/>
              <a:ext cx="6262497" cy="3779647"/>
            </a:xfrm>
            <a:prstGeom prst="rect">
              <a:avLst/>
            </a:prstGeom>
          </p:spPr>
        </p:pic>
        <p:sp>
          <p:nvSpPr>
            <p:cNvPr id="5" name="object 5"/>
            <p:cNvSpPr/>
            <p:nvPr/>
          </p:nvSpPr>
          <p:spPr>
            <a:xfrm>
              <a:off x="749731" y="1679829"/>
              <a:ext cx="4006215" cy="1631314"/>
            </a:xfrm>
            <a:custGeom>
              <a:avLst/>
              <a:gdLst/>
              <a:ahLst/>
              <a:cxnLst/>
              <a:rect l="l" t="t" r="r" b="b"/>
              <a:pathLst>
                <a:path w="4006215" h="1631314">
                  <a:moveTo>
                    <a:pt x="3734130" y="0"/>
                  </a:moveTo>
                  <a:lnTo>
                    <a:pt x="271881" y="0"/>
                  </a:lnTo>
                  <a:lnTo>
                    <a:pt x="223011" y="4378"/>
                  </a:lnTo>
                  <a:lnTo>
                    <a:pt x="177014" y="17003"/>
                  </a:lnTo>
                  <a:lnTo>
                    <a:pt x="134659" y="37107"/>
                  </a:lnTo>
                  <a:lnTo>
                    <a:pt x="96713" y="63925"/>
                  </a:lnTo>
                  <a:lnTo>
                    <a:pt x="63944" y="96691"/>
                  </a:lnTo>
                  <a:lnTo>
                    <a:pt x="37120" y="134638"/>
                  </a:lnTo>
                  <a:lnTo>
                    <a:pt x="17010" y="177001"/>
                  </a:lnTo>
                  <a:lnTo>
                    <a:pt x="4380" y="223012"/>
                  </a:lnTo>
                  <a:lnTo>
                    <a:pt x="0" y="271907"/>
                  </a:lnTo>
                  <a:lnTo>
                    <a:pt x="0" y="1359281"/>
                  </a:lnTo>
                  <a:lnTo>
                    <a:pt x="4380" y="1408175"/>
                  </a:lnTo>
                  <a:lnTo>
                    <a:pt x="17010" y="1454186"/>
                  </a:lnTo>
                  <a:lnTo>
                    <a:pt x="37120" y="1496549"/>
                  </a:lnTo>
                  <a:lnTo>
                    <a:pt x="63944" y="1534496"/>
                  </a:lnTo>
                  <a:lnTo>
                    <a:pt x="96713" y="1567262"/>
                  </a:lnTo>
                  <a:lnTo>
                    <a:pt x="134659" y="1594080"/>
                  </a:lnTo>
                  <a:lnTo>
                    <a:pt x="177014" y="1614184"/>
                  </a:lnTo>
                  <a:lnTo>
                    <a:pt x="223011" y="1626809"/>
                  </a:lnTo>
                  <a:lnTo>
                    <a:pt x="271881" y="1631188"/>
                  </a:lnTo>
                  <a:lnTo>
                    <a:pt x="3734130" y="1631188"/>
                  </a:lnTo>
                  <a:lnTo>
                    <a:pt x="3782986" y="1626809"/>
                  </a:lnTo>
                  <a:lnTo>
                    <a:pt x="3828968" y="1614184"/>
                  </a:lnTo>
                  <a:lnTo>
                    <a:pt x="3871309" y="1594080"/>
                  </a:lnTo>
                  <a:lnTo>
                    <a:pt x="3909240" y="1567262"/>
                  </a:lnTo>
                  <a:lnTo>
                    <a:pt x="3941995" y="1534496"/>
                  </a:lnTo>
                  <a:lnTo>
                    <a:pt x="3968807" y="1496549"/>
                  </a:lnTo>
                  <a:lnTo>
                    <a:pt x="3988908" y="1454186"/>
                  </a:lnTo>
                  <a:lnTo>
                    <a:pt x="4001531" y="1408175"/>
                  </a:lnTo>
                  <a:lnTo>
                    <a:pt x="4005910" y="1359281"/>
                  </a:lnTo>
                  <a:lnTo>
                    <a:pt x="4005910" y="271907"/>
                  </a:lnTo>
                  <a:lnTo>
                    <a:pt x="4001531" y="223012"/>
                  </a:lnTo>
                  <a:lnTo>
                    <a:pt x="3988908" y="177001"/>
                  </a:lnTo>
                  <a:lnTo>
                    <a:pt x="3968807" y="134638"/>
                  </a:lnTo>
                  <a:lnTo>
                    <a:pt x="3941995" y="96691"/>
                  </a:lnTo>
                  <a:lnTo>
                    <a:pt x="3909240" y="63925"/>
                  </a:lnTo>
                  <a:lnTo>
                    <a:pt x="3871309" y="37107"/>
                  </a:lnTo>
                  <a:lnTo>
                    <a:pt x="3828968" y="17003"/>
                  </a:lnTo>
                  <a:lnTo>
                    <a:pt x="3782986" y="4378"/>
                  </a:lnTo>
                  <a:lnTo>
                    <a:pt x="3734130" y="0"/>
                  </a:lnTo>
                  <a:close/>
                </a:path>
              </a:pathLst>
            </a:custGeom>
            <a:solidFill>
              <a:srgbClr val="FFC000"/>
            </a:solidFill>
          </p:spPr>
          <p:txBody>
            <a:bodyPr wrap="square" lIns="0" tIns="0" rIns="0" bIns="0" rtlCol="0"/>
            <a:lstStyle/>
            <a:p>
              <a:endParaRPr/>
            </a:p>
          </p:txBody>
        </p:sp>
        <p:sp>
          <p:nvSpPr>
            <p:cNvPr id="6" name="object 6"/>
            <p:cNvSpPr/>
            <p:nvPr/>
          </p:nvSpPr>
          <p:spPr>
            <a:xfrm>
              <a:off x="749731" y="1679829"/>
              <a:ext cx="4006215" cy="1631314"/>
            </a:xfrm>
            <a:custGeom>
              <a:avLst/>
              <a:gdLst/>
              <a:ahLst/>
              <a:cxnLst/>
              <a:rect l="l" t="t" r="r" b="b"/>
              <a:pathLst>
                <a:path w="4006215" h="1631314">
                  <a:moveTo>
                    <a:pt x="0" y="271907"/>
                  </a:moveTo>
                  <a:lnTo>
                    <a:pt x="4380" y="223012"/>
                  </a:lnTo>
                  <a:lnTo>
                    <a:pt x="17010" y="177001"/>
                  </a:lnTo>
                  <a:lnTo>
                    <a:pt x="37120" y="134638"/>
                  </a:lnTo>
                  <a:lnTo>
                    <a:pt x="63944" y="96691"/>
                  </a:lnTo>
                  <a:lnTo>
                    <a:pt x="96713" y="63925"/>
                  </a:lnTo>
                  <a:lnTo>
                    <a:pt x="134659" y="37107"/>
                  </a:lnTo>
                  <a:lnTo>
                    <a:pt x="177014" y="17003"/>
                  </a:lnTo>
                  <a:lnTo>
                    <a:pt x="223011" y="4378"/>
                  </a:lnTo>
                  <a:lnTo>
                    <a:pt x="271881" y="0"/>
                  </a:lnTo>
                  <a:lnTo>
                    <a:pt x="3734130" y="0"/>
                  </a:lnTo>
                  <a:lnTo>
                    <a:pt x="3782986" y="4378"/>
                  </a:lnTo>
                  <a:lnTo>
                    <a:pt x="3828968" y="17003"/>
                  </a:lnTo>
                  <a:lnTo>
                    <a:pt x="3871309" y="37107"/>
                  </a:lnTo>
                  <a:lnTo>
                    <a:pt x="3909240" y="63925"/>
                  </a:lnTo>
                  <a:lnTo>
                    <a:pt x="3941995" y="96691"/>
                  </a:lnTo>
                  <a:lnTo>
                    <a:pt x="3968807" y="134638"/>
                  </a:lnTo>
                  <a:lnTo>
                    <a:pt x="3988908" y="177001"/>
                  </a:lnTo>
                  <a:lnTo>
                    <a:pt x="4001531" y="223012"/>
                  </a:lnTo>
                  <a:lnTo>
                    <a:pt x="4005910" y="271907"/>
                  </a:lnTo>
                  <a:lnTo>
                    <a:pt x="4005910" y="1359281"/>
                  </a:lnTo>
                  <a:lnTo>
                    <a:pt x="4001531" y="1408175"/>
                  </a:lnTo>
                  <a:lnTo>
                    <a:pt x="3988908" y="1454186"/>
                  </a:lnTo>
                  <a:lnTo>
                    <a:pt x="3968807" y="1496549"/>
                  </a:lnTo>
                  <a:lnTo>
                    <a:pt x="3941995" y="1534496"/>
                  </a:lnTo>
                  <a:lnTo>
                    <a:pt x="3909240" y="1567262"/>
                  </a:lnTo>
                  <a:lnTo>
                    <a:pt x="3871309" y="1594080"/>
                  </a:lnTo>
                  <a:lnTo>
                    <a:pt x="3828968" y="1614184"/>
                  </a:lnTo>
                  <a:lnTo>
                    <a:pt x="3782986" y="1626809"/>
                  </a:lnTo>
                  <a:lnTo>
                    <a:pt x="3734130" y="1631188"/>
                  </a:lnTo>
                  <a:lnTo>
                    <a:pt x="271881" y="1631188"/>
                  </a:lnTo>
                  <a:lnTo>
                    <a:pt x="223011" y="1626809"/>
                  </a:lnTo>
                  <a:lnTo>
                    <a:pt x="177014" y="1614184"/>
                  </a:lnTo>
                  <a:lnTo>
                    <a:pt x="134659" y="1594080"/>
                  </a:lnTo>
                  <a:lnTo>
                    <a:pt x="96713" y="1567262"/>
                  </a:lnTo>
                  <a:lnTo>
                    <a:pt x="63944" y="1534496"/>
                  </a:lnTo>
                  <a:lnTo>
                    <a:pt x="37120" y="1496549"/>
                  </a:lnTo>
                  <a:lnTo>
                    <a:pt x="17010" y="1454186"/>
                  </a:lnTo>
                  <a:lnTo>
                    <a:pt x="4380" y="1408175"/>
                  </a:lnTo>
                  <a:lnTo>
                    <a:pt x="0" y="1359281"/>
                  </a:lnTo>
                  <a:lnTo>
                    <a:pt x="0" y="271907"/>
                  </a:lnTo>
                  <a:close/>
                </a:path>
              </a:pathLst>
            </a:custGeom>
            <a:ln w="12700">
              <a:solidFill>
                <a:srgbClr val="EDB500"/>
              </a:solidFill>
            </a:ln>
          </p:spPr>
          <p:txBody>
            <a:bodyPr wrap="square" lIns="0" tIns="0" rIns="0" bIns="0" rtlCol="0"/>
            <a:lstStyle/>
            <a:p>
              <a:endParaRPr/>
            </a:p>
          </p:txBody>
        </p:sp>
      </p:grpSp>
      <p:sp>
        <p:nvSpPr>
          <p:cNvPr id="7" name="object 7"/>
          <p:cNvSpPr txBox="1"/>
          <p:nvPr/>
        </p:nvSpPr>
        <p:spPr>
          <a:xfrm>
            <a:off x="908100" y="1791080"/>
            <a:ext cx="3235960" cy="1397635"/>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Microsoft JhengHei"/>
                <a:cs typeface="Microsoft JhengHei"/>
              </a:rPr>
              <a:t>前端設計</a:t>
            </a:r>
            <a:endParaRPr sz="1800">
              <a:latin typeface="Microsoft JhengHei"/>
              <a:cs typeface="Microsoft JhengHei"/>
            </a:endParaRPr>
          </a:p>
          <a:p>
            <a:pPr marL="12700">
              <a:lnSpc>
                <a:spcPct val="100000"/>
              </a:lnSpc>
            </a:pPr>
            <a:r>
              <a:rPr sz="1800" spc="-10" dirty="0">
                <a:latin typeface="Microsoft JhengHei"/>
                <a:cs typeface="Microsoft JhengHei"/>
              </a:rPr>
              <a:t>LINE</a:t>
            </a:r>
            <a:r>
              <a:rPr sz="1800" spc="-5" dirty="0">
                <a:latin typeface="Microsoft JhengHei"/>
                <a:cs typeface="Microsoft JhengHei"/>
              </a:rPr>
              <a:t>平台聊天介面，免安裝</a:t>
            </a:r>
            <a:r>
              <a:rPr sz="1800" spc="-25" dirty="0">
                <a:latin typeface="Microsoft JhengHei"/>
                <a:cs typeface="Microsoft JhengHei"/>
              </a:rPr>
              <a:t>APP</a:t>
            </a:r>
            <a:endParaRPr sz="1800">
              <a:latin typeface="Microsoft JhengHei"/>
              <a:cs typeface="Microsoft JhengHei"/>
            </a:endParaRPr>
          </a:p>
          <a:p>
            <a:pPr marL="12700" marR="471805">
              <a:lnSpc>
                <a:spcPct val="100000"/>
              </a:lnSpc>
            </a:pPr>
            <a:r>
              <a:rPr sz="1800" spc="-5" dirty="0">
                <a:latin typeface="Microsoft JhengHei"/>
                <a:cs typeface="Microsoft JhengHei"/>
              </a:rPr>
              <a:t>支援文字與語音雙向互動</a:t>
            </a:r>
            <a:r>
              <a:rPr sz="1800" spc="-50" dirty="0">
                <a:latin typeface="Microsoft JhengHei"/>
                <a:cs typeface="Microsoft JhengHei"/>
              </a:rPr>
              <a:t> </a:t>
            </a:r>
            <a:r>
              <a:rPr sz="1800" spc="-5" dirty="0">
                <a:latin typeface="Microsoft JhengHei"/>
                <a:cs typeface="Microsoft JhengHei"/>
              </a:rPr>
              <a:t>圖文選單快速選擇學習模式視覺化設計，操作簡單直覺</a:t>
            </a:r>
            <a:endParaRPr sz="1800">
              <a:latin typeface="Microsoft JhengHei"/>
              <a:cs typeface="Microsoft JhengHei"/>
            </a:endParaRPr>
          </a:p>
        </p:txBody>
      </p:sp>
      <p:grpSp>
        <p:nvGrpSpPr>
          <p:cNvPr id="8" name="object 8"/>
          <p:cNvGrpSpPr/>
          <p:nvPr/>
        </p:nvGrpSpPr>
        <p:grpSpPr>
          <a:xfrm>
            <a:off x="668566" y="3653535"/>
            <a:ext cx="4018915" cy="1644014"/>
            <a:chOff x="668566" y="3653535"/>
            <a:chExt cx="4018915" cy="1644014"/>
          </a:xfrm>
        </p:grpSpPr>
        <p:sp>
          <p:nvSpPr>
            <p:cNvPr id="9" name="object 9"/>
            <p:cNvSpPr/>
            <p:nvPr/>
          </p:nvSpPr>
          <p:spPr>
            <a:xfrm>
              <a:off x="674916" y="3659885"/>
              <a:ext cx="4006215" cy="1631314"/>
            </a:xfrm>
            <a:custGeom>
              <a:avLst/>
              <a:gdLst/>
              <a:ahLst/>
              <a:cxnLst/>
              <a:rect l="l" t="t" r="r" b="b"/>
              <a:pathLst>
                <a:path w="4006215" h="1631314">
                  <a:moveTo>
                    <a:pt x="3734015" y="0"/>
                  </a:moveTo>
                  <a:lnTo>
                    <a:pt x="271868" y="0"/>
                  </a:lnTo>
                  <a:lnTo>
                    <a:pt x="222999" y="4378"/>
                  </a:lnTo>
                  <a:lnTo>
                    <a:pt x="177003" y="17003"/>
                  </a:lnTo>
                  <a:lnTo>
                    <a:pt x="134650" y="37107"/>
                  </a:lnTo>
                  <a:lnTo>
                    <a:pt x="96705" y="63925"/>
                  </a:lnTo>
                  <a:lnTo>
                    <a:pt x="63939" y="96691"/>
                  </a:lnTo>
                  <a:lnTo>
                    <a:pt x="37117" y="134638"/>
                  </a:lnTo>
                  <a:lnTo>
                    <a:pt x="17008" y="177001"/>
                  </a:lnTo>
                  <a:lnTo>
                    <a:pt x="4380" y="223012"/>
                  </a:lnTo>
                  <a:lnTo>
                    <a:pt x="0" y="271906"/>
                  </a:lnTo>
                  <a:lnTo>
                    <a:pt x="0" y="1359408"/>
                  </a:lnTo>
                  <a:lnTo>
                    <a:pt x="4380" y="1408264"/>
                  </a:lnTo>
                  <a:lnTo>
                    <a:pt x="17008" y="1454246"/>
                  </a:lnTo>
                  <a:lnTo>
                    <a:pt x="37117" y="1496586"/>
                  </a:lnTo>
                  <a:lnTo>
                    <a:pt x="63939" y="1534518"/>
                  </a:lnTo>
                  <a:lnTo>
                    <a:pt x="96705" y="1567273"/>
                  </a:lnTo>
                  <a:lnTo>
                    <a:pt x="134650" y="1594085"/>
                  </a:lnTo>
                  <a:lnTo>
                    <a:pt x="177003" y="1614186"/>
                  </a:lnTo>
                  <a:lnTo>
                    <a:pt x="222999" y="1626809"/>
                  </a:lnTo>
                  <a:lnTo>
                    <a:pt x="271868" y="1631188"/>
                  </a:lnTo>
                  <a:lnTo>
                    <a:pt x="3734015" y="1631188"/>
                  </a:lnTo>
                  <a:lnTo>
                    <a:pt x="3782910" y="1626809"/>
                  </a:lnTo>
                  <a:lnTo>
                    <a:pt x="3828921" y="1614186"/>
                  </a:lnTo>
                  <a:lnTo>
                    <a:pt x="3871284" y="1594085"/>
                  </a:lnTo>
                  <a:lnTo>
                    <a:pt x="3909231" y="1567273"/>
                  </a:lnTo>
                  <a:lnTo>
                    <a:pt x="3941997" y="1534518"/>
                  </a:lnTo>
                  <a:lnTo>
                    <a:pt x="3968815" y="1496586"/>
                  </a:lnTo>
                  <a:lnTo>
                    <a:pt x="3988919" y="1454246"/>
                  </a:lnTo>
                  <a:lnTo>
                    <a:pt x="4001544" y="1408264"/>
                  </a:lnTo>
                  <a:lnTo>
                    <a:pt x="4005922" y="1359408"/>
                  </a:lnTo>
                  <a:lnTo>
                    <a:pt x="4005922" y="271906"/>
                  </a:lnTo>
                  <a:lnTo>
                    <a:pt x="4001544" y="223012"/>
                  </a:lnTo>
                  <a:lnTo>
                    <a:pt x="3988919" y="177001"/>
                  </a:lnTo>
                  <a:lnTo>
                    <a:pt x="3968815" y="134638"/>
                  </a:lnTo>
                  <a:lnTo>
                    <a:pt x="3941997" y="96691"/>
                  </a:lnTo>
                  <a:lnTo>
                    <a:pt x="3909231" y="63925"/>
                  </a:lnTo>
                  <a:lnTo>
                    <a:pt x="3871284" y="37107"/>
                  </a:lnTo>
                  <a:lnTo>
                    <a:pt x="3828921" y="17003"/>
                  </a:lnTo>
                  <a:lnTo>
                    <a:pt x="3782910" y="4378"/>
                  </a:lnTo>
                  <a:lnTo>
                    <a:pt x="3734015" y="0"/>
                  </a:lnTo>
                  <a:close/>
                </a:path>
              </a:pathLst>
            </a:custGeom>
            <a:solidFill>
              <a:srgbClr val="4471C4"/>
            </a:solidFill>
          </p:spPr>
          <p:txBody>
            <a:bodyPr wrap="square" lIns="0" tIns="0" rIns="0" bIns="0" rtlCol="0"/>
            <a:lstStyle/>
            <a:p>
              <a:endParaRPr/>
            </a:p>
          </p:txBody>
        </p:sp>
        <p:sp>
          <p:nvSpPr>
            <p:cNvPr id="10" name="object 10"/>
            <p:cNvSpPr/>
            <p:nvPr/>
          </p:nvSpPr>
          <p:spPr>
            <a:xfrm>
              <a:off x="674916" y="3659885"/>
              <a:ext cx="4006215" cy="1631314"/>
            </a:xfrm>
            <a:custGeom>
              <a:avLst/>
              <a:gdLst/>
              <a:ahLst/>
              <a:cxnLst/>
              <a:rect l="l" t="t" r="r" b="b"/>
              <a:pathLst>
                <a:path w="4006215" h="1631314">
                  <a:moveTo>
                    <a:pt x="0" y="271906"/>
                  </a:moveTo>
                  <a:lnTo>
                    <a:pt x="4380" y="223012"/>
                  </a:lnTo>
                  <a:lnTo>
                    <a:pt x="17008" y="177001"/>
                  </a:lnTo>
                  <a:lnTo>
                    <a:pt x="37117" y="134638"/>
                  </a:lnTo>
                  <a:lnTo>
                    <a:pt x="63939" y="96691"/>
                  </a:lnTo>
                  <a:lnTo>
                    <a:pt x="96705" y="63925"/>
                  </a:lnTo>
                  <a:lnTo>
                    <a:pt x="134650" y="37107"/>
                  </a:lnTo>
                  <a:lnTo>
                    <a:pt x="177003" y="17003"/>
                  </a:lnTo>
                  <a:lnTo>
                    <a:pt x="222999" y="4378"/>
                  </a:lnTo>
                  <a:lnTo>
                    <a:pt x="271868" y="0"/>
                  </a:lnTo>
                  <a:lnTo>
                    <a:pt x="3734015" y="0"/>
                  </a:lnTo>
                  <a:lnTo>
                    <a:pt x="3782910" y="4378"/>
                  </a:lnTo>
                  <a:lnTo>
                    <a:pt x="3828921" y="17003"/>
                  </a:lnTo>
                  <a:lnTo>
                    <a:pt x="3871284" y="37107"/>
                  </a:lnTo>
                  <a:lnTo>
                    <a:pt x="3909231" y="63925"/>
                  </a:lnTo>
                  <a:lnTo>
                    <a:pt x="3941997" y="96691"/>
                  </a:lnTo>
                  <a:lnTo>
                    <a:pt x="3968815" y="134638"/>
                  </a:lnTo>
                  <a:lnTo>
                    <a:pt x="3988919" y="177001"/>
                  </a:lnTo>
                  <a:lnTo>
                    <a:pt x="4001544" y="223012"/>
                  </a:lnTo>
                  <a:lnTo>
                    <a:pt x="4005922" y="271906"/>
                  </a:lnTo>
                  <a:lnTo>
                    <a:pt x="4005922" y="1359408"/>
                  </a:lnTo>
                  <a:lnTo>
                    <a:pt x="4001544" y="1408264"/>
                  </a:lnTo>
                  <a:lnTo>
                    <a:pt x="3988919" y="1454246"/>
                  </a:lnTo>
                  <a:lnTo>
                    <a:pt x="3968815" y="1496586"/>
                  </a:lnTo>
                  <a:lnTo>
                    <a:pt x="3941997" y="1534518"/>
                  </a:lnTo>
                  <a:lnTo>
                    <a:pt x="3909231" y="1567273"/>
                  </a:lnTo>
                  <a:lnTo>
                    <a:pt x="3871284" y="1594085"/>
                  </a:lnTo>
                  <a:lnTo>
                    <a:pt x="3828921" y="1614186"/>
                  </a:lnTo>
                  <a:lnTo>
                    <a:pt x="3782910" y="1626809"/>
                  </a:lnTo>
                  <a:lnTo>
                    <a:pt x="3734015" y="1631188"/>
                  </a:lnTo>
                  <a:lnTo>
                    <a:pt x="271868" y="1631188"/>
                  </a:lnTo>
                  <a:lnTo>
                    <a:pt x="222999" y="1626809"/>
                  </a:lnTo>
                  <a:lnTo>
                    <a:pt x="177003" y="1614186"/>
                  </a:lnTo>
                  <a:lnTo>
                    <a:pt x="134650" y="1594085"/>
                  </a:lnTo>
                  <a:lnTo>
                    <a:pt x="96705" y="1567273"/>
                  </a:lnTo>
                  <a:lnTo>
                    <a:pt x="63939" y="1534518"/>
                  </a:lnTo>
                  <a:lnTo>
                    <a:pt x="37117" y="1496586"/>
                  </a:lnTo>
                  <a:lnTo>
                    <a:pt x="17008" y="1454246"/>
                  </a:lnTo>
                  <a:lnTo>
                    <a:pt x="4380" y="1408264"/>
                  </a:lnTo>
                  <a:lnTo>
                    <a:pt x="0" y="1359408"/>
                  </a:lnTo>
                  <a:lnTo>
                    <a:pt x="0" y="271906"/>
                  </a:lnTo>
                  <a:close/>
                </a:path>
              </a:pathLst>
            </a:custGeom>
            <a:ln w="12700">
              <a:solidFill>
                <a:srgbClr val="4471C4"/>
              </a:solidFill>
            </a:ln>
          </p:spPr>
          <p:txBody>
            <a:bodyPr wrap="square" lIns="0" tIns="0" rIns="0" bIns="0" rtlCol="0"/>
            <a:lstStyle/>
            <a:p>
              <a:endParaRPr/>
            </a:p>
          </p:txBody>
        </p:sp>
      </p:grpSp>
      <p:sp>
        <p:nvSpPr>
          <p:cNvPr id="11" name="object 11"/>
          <p:cNvSpPr txBox="1"/>
          <p:nvPr/>
        </p:nvSpPr>
        <p:spPr>
          <a:xfrm>
            <a:off x="833424" y="3771646"/>
            <a:ext cx="3630295" cy="139763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後端應用模組</a:t>
            </a:r>
            <a:endParaRPr sz="1800">
              <a:latin typeface="Microsoft JhengHei"/>
              <a:cs typeface="Microsoft JhengHei"/>
            </a:endParaRPr>
          </a:p>
          <a:p>
            <a:pPr marL="12700" marR="1189355">
              <a:lnSpc>
                <a:spcPct val="100000"/>
              </a:lnSpc>
            </a:pPr>
            <a:r>
              <a:rPr sz="1800" spc="-20" dirty="0">
                <a:latin typeface="Microsoft JhengHei"/>
                <a:cs typeface="Microsoft JhengHei"/>
              </a:rPr>
              <a:t>Flask</a:t>
            </a:r>
            <a:r>
              <a:rPr sz="1800" spc="-10" dirty="0">
                <a:latin typeface="Microsoft JhengHei"/>
                <a:cs typeface="Microsoft JhengHei"/>
              </a:rPr>
              <a:t>框架建立網路應用</a:t>
            </a:r>
            <a:r>
              <a:rPr sz="1800" spc="-50" dirty="0">
                <a:latin typeface="Microsoft JhengHei"/>
                <a:cs typeface="Microsoft JhengHei"/>
              </a:rPr>
              <a:t> </a:t>
            </a:r>
            <a:r>
              <a:rPr sz="1800" dirty="0">
                <a:latin typeface="Microsoft JhengHei"/>
                <a:cs typeface="Microsoft JhengHei"/>
              </a:rPr>
              <a:t>LINE</a:t>
            </a:r>
            <a:r>
              <a:rPr sz="1800" spc="-10" dirty="0">
                <a:latin typeface="Microsoft JhengHei"/>
                <a:cs typeface="Microsoft JhengHei"/>
              </a:rPr>
              <a:t> </a:t>
            </a:r>
            <a:r>
              <a:rPr sz="1800" spc="-20" dirty="0">
                <a:latin typeface="Microsoft JhengHei"/>
                <a:cs typeface="Microsoft JhengHei"/>
              </a:rPr>
              <a:t>API</a:t>
            </a:r>
            <a:r>
              <a:rPr sz="1800" spc="-10" dirty="0">
                <a:latin typeface="Microsoft JhengHei"/>
                <a:cs typeface="Microsoft JhengHei"/>
              </a:rPr>
              <a:t>連接處理訊息</a:t>
            </a:r>
            <a:r>
              <a:rPr sz="1800" spc="-50" dirty="0">
                <a:latin typeface="Microsoft JhengHei"/>
                <a:cs typeface="Microsoft JhengHei"/>
              </a:rPr>
              <a:t> </a:t>
            </a:r>
            <a:r>
              <a:rPr sz="1800" spc="-25" dirty="0">
                <a:latin typeface="Microsoft JhengHei"/>
                <a:cs typeface="Microsoft JhengHei"/>
              </a:rPr>
              <a:t>Webhook</a:t>
            </a:r>
            <a:r>
              <a:rPr sz="1800" spc="-20" dirty="0">
                <a:latin typeface="Microsoft JhengHei"/>
                <a:cs typeface="Microsoft JhengHei"/>
              </a:rPr>
              <a:t>接收用戶請求</a:t>
            </a:r>
            <a:endParaRPr sz="1800">
              <a:latin typeface="Microsoft JhengHei"/>
              <a:cs typeface="Microsoft JhengHei"/>
            </a:endParaRPr>
          </a:p>
          <a:p>
            <a:pPr marL="12700">
              <a:lnSpc>
                <a:spcPct val="100000"/>
              </a:lnSpc>
            </a:pPr>
            <a:r>
              <a:rPr sz="1800" spc="-25" dirty="0">
                <a:latin typeface="Microsoft JhengHei"/>
                <a:cs typeface="Microsoft JhengHei"/>
              </a:rPr>
              <a:t>ngrok</a:t>
            </a:r>
            <a:r>
              <a:rPr sz="1800" spc="-5" dirty="0">
                <a:latin typeface="Microsoft JhengHei"/>
                <a:cs typeface="Microsoft JhengHei"/>
              </a:rPr>
              <a:t>本機伺服器暴露到網上的工具</a:t>
            </a:r>
            <a:endParaRPr sz="1800">
              <a:latin typeface="Microsoft JhengHei"/>
              <a:cs typeface="Microsoft JhengHei"/>
            </a:endParaRPr>
          </a:p>
        </p:txBody>
      </p:sp>
      <p:grpSp>
        <p:nvGrpSpPr>
          <p:cNvPr id="12" name="object 12"/>
          <p:cNvGrpSpPr/>
          <p:nvPr/>
        </p:nvGrpSpPr>
        <p:grpSpPr>
          <a:xfrm>
            <a:off x="668566" y="5633592"/>
            <a:ext cx="4018915" cy="1644014"/>
            <a:chOff x="668566" y="5633592"/>
            <a:chExt cx="4018915" cy="1644014"/>
          </a:xfrm>
        </p:grpSpPr>
        <p:sp>
          <p:nvSpPr>
            <p:cNvPr id="13" name="object 13"/>
            <p:cNvSpPr/>
            <p:nvPr/>
          </p:nvSpPr>
          <p:spPr>
            <a:xfrm>
              <a:off x="674916" y="5639942"/>
              <a:ext cx="4006215" cy="1631314"/>
            </a:xfrm>
            <a:custGeom>
              <a:avLst/>
              <a:gdLst/>
              <a:ahLst/>
              <a:cxnLst/>
              <a:rect l="l" t="t" r="r" b="b"/>
              <a:pathLst>
                <a:path w="4006215" h="1631315">
                  <a:moveTo>
                    <a:pt x="3734015" y="0"/>
                  </a:moveTo>
                  <a:lnTo>
                    <a:pt x="271868" y="0"/>
                  </a:lnTo>
                  <a:lnTo>
                    <a:pt x="222999" y="4382"/>
                  </a:lnTo>
                  <a:lnTo>
                    <a:pt x="177003" y="17017"/>
                  </a:lnTo>
                  <a:lnTo>
                    <a:pt x="134650" y="37135"/>
                  </a:lnTo>
                  <a:lnTo>
                    <a:pt x="96705" y="63967"/>
                  </a:lnTo>
                  <a:lnTo>
                    <a:pt x="63939" y="96743"/>
                  </a:lnTo>
                  <a:lnTo>
                    <a:pt x="37117" y="134695"/>
                  </a:lnTo>
                  <a:lnTo>
                    <a:pt x="17008" y="177052"/>
                  </a:lnTo>
                  <a:lnTo>
                    <a:pt x="4380" y="223046"/>
                  </a:lnTo>
                  <a:lnTo>
                    <a:pt x="0" y="271906"/>
                  </a:lnTo>
                  <a:lnTo>
                    <a:pt x="0" y="1359382"/>
                  </a:lnTo>
                  <a:lnTo>
                    <a:pt x="4380" y="1408252"/>
                  </a:lnTo>
                  <a:lnTo>
                    <a:pt x="17008" y="1454247"/>
                  </a:lnTo>
                  <a:lnTo>
                    <a:pt x="37117" y="1496601"/>
                  </a:lnTo>
                  <a:lnTo>
                    <a:pt x="63939" y="1534545"/>
                  </a:lnTo>
                  <a:lnTo>
                    <a:pt x="96705" y="1567312"/>
                  </a:lnTo>
                  <a:lnTo>
                    <a:pt x="134650" y="1594134"/>
                  </a:lnTo>
                  <a:lnTo>
                    <a:pt x="177003" y="1614243"/>
                  </a:lnTo>
                  <a:lnTo>
                    <a:pt x="222999" y="1626871"/>
                  </a:lnTo>
                  <a:lnTo>
                    <a:pt x="271868" y="1631251"/>
                  </a:lnTo>
                  <a:lnTo>
                    <a:pt x="3734015" y="1631251"/>
                  </a:lnTo>
                  <a:lnTo>
                    <a:pt x="3782910" y="1626871"/>
                  </a:lnTo>
                  <a:lnTo>
                    <a:pt x="3828921" y="1614243"/>
                  </a:lnTo>
                  <a:lnTo>
                    <a:pt x="3871284" y="1594134"/>
                  </a:lnTo>
                  <a:lnTo>
                    <a:pt x="3909231" y="1567312"/>
                  </a:lnTo>
                  <a:lnTo>
                    <a:pt x="3941997" y="1534545"/>
                  </a:lnTo>
                  <a:lnTo>
                    <a:pt x="3968815" y="1496601"/>
                  </a:lnTo>
                  <a:lnTo>
                    <a:pt x="3988919" y="1454247"/>
                  </a:lnTo>
                  <a:lnTo>
                    <a:pt x="4001544" y="1408252"/>
                  </a:lnTo>
                  <a:lnTo>
                    <a:pt x="4005922" y="1359382"/>
                  </a:lnTo>
                  <a:lnTo>
                    <a:pt x="4005922" y="271906"/>
                  </a:lnTo>
                  <a:lnTo>
                    <a:pt x="4001544" y="223046"/>
                  </a:lnTo>
                  <a:lnTo>
                    <a:pt x="3988919" y="177052"/>
                  </a:lnTo>
                  <a:lnTo>
                    <a:pt x="3968815" y="134695"/>
                  </a:lnTo>
                  <a:lnTo>
                    <a:pt x="3941997" y="96743"/>
                  </a:lnTo>
                  <a:lnTo>
                    <a:pt x="3909231" y="63967"/>
                  </a:lnTo>
                  <a:lnTo>
                    <a:pt x="3871284" y="37135"/>
                  </a:lnTo>
                  <a:lnTo>
                    <a:pt x="3828921" y="17017"/>
                  </a:lnTo>
                  <a:lnTo>
                    <a:pt x="3782910" y="4382"/>
                  </a:lnTo>
                  <a:lnTo>
                    <a:pt x="3734015" y="0"/>
                  </a:lnTo>
                  <a:close/>
                </a:path>
              </a:pathLst>
            </a:custGeom>
            <a:solidFill>
              <a:srgbClr val="EC7C30"/>
            </a:solidFill>
          </p:spPr>
          <p:txBody>
            <a:bodyPr wrap="square" lIns="0" tIns="0" rIns="0" bIns="0" rtlCol="0"/>
            <a:lstStyle/>
            <a:p>
              <a:endParaRPr/>
            </a:p>
          </p:txBody>
        </p:sp>
        <p:sp>
          <p:nvSpPr>
            <p:cNvPr id="14" name="object 14"/>
            <p:cNvSpPr/>
            <p:nvPr/>
          </p:nvSpPr>
          <p:spPr>
            <a:xfrm>
              <a:off x="674916" y="5639942"/>
              <a:ext cx="4006215" cy="1631314"/>
            </a:xfrm>
            <a:custGeom>
              <a:avLst/>
              <a:gdLst/>
              <a:ahLst/>
              <a:cxnLst/>
              <a:rect l="l" t="t" r="r" b="b"/>
              <a:pathLst>
                <a:path w="4006215" h="1631315">
                  <a:moveTo>
                    <a:pt x="0" y="271906"/>
                  </a:moveTo>
                  <a:lnTo>
                    <a:pt x="4380" y="223046"/>
                  </a:lnTo>
                  <a:lnTo>
                    <a:pt x="17008" y="177052"/>
                  </a:lnTo>
                  <a:lnTo>
                    <a:pt x="37117" y="134695"/>
                  </a:lnTo>
                  <a:lnTo>
                    <a:pt x="63939" y="96743"/>
                  </a:lnTo>
                  <a:lnTo>
                    <a:pt x="96705" y="63967"/>
                  </a:lnTo>
                  <a:lnTo>
                    <a:pt x="134650" y="37135"/>
                  </a:lnTo>
                  <a:lnTo>
                    <a:pt x="177003" y="17017"/>
                  </a:lnTo>
                  <a:lnTo>
                    <a:pt x="222999" y="4382"/>
                  </a:lnTo>
                  <a:lnTo>
                    <a:pt x="271868" y="0"/>
                  </a:lnTo>
                  <a:lnTo>
                    <a:pt x="3734015" y="0"/>
                  </a:lnTo>
                  <a:lnTo>
                    <a:pt x="3782910" y="4382"/>
                  </a:lnTo>
                  <a:lnTo>
                    <a:pt x="3828921" y="17017"/>
                  </a:lnTo>
                  <a:lnTo>
                    <a:pt x="3871284" y="37135"/>
                  </a:lnTo>
                  <a:lnTo>
                    <a:pt x="3909231" y="63967"/>
                  </a:lnTo>
                  <a:lnTo>
                    <a:pt x="3941997" y="96743"/>
                  </a:lnTo>
                  <a:lnTo>
                    <a:pt x="3968815" y="134695"/>
                  </a:lnTo>
                  <a:lnTo>
                    <a:pt x="3988919" y="177052"/>
                  </a:lnTo>
                  <a:lnTo>
                    <a:pt x="4001544" y="223046"/>
                  </a:lnTo>
                  <a:lnTo>
                    <a:pt x="4005922" y="271906"/>
                  </a:lnTo>
                  <a:lnTo>
                    <a:pt x="4005922" y="1359382"/>
                  </a:lnTo>
                  <a:lnTo>
                    <a:pt x="4001544" y="1408252"/>
                  </a:lnTo>
                  <a:lnTo>
                    <a:pt x="3988919" y="1454247"/>
                  </a:lnTo>
                  <a:lnTo>
                    <a:pt x="3968815" y="1496601"/>
                  </a:lnTo>
                  <a:lnTo>
                    <a:pt x="3941997" y="1534545"/>
                  </a:lnTo>
                  <a:lnTo>
                    <a:pt x="3909231" y="1567312"/>
                  </a:lnTo>
                  <a:lnTo>
                    <a:pt x="3871284" y="1594134"/>
                  </a:lnTo>
                  <a:lnTo>
                    <a:pt x="3828921" y="1614243"/>
                  </a:lnTo>
                  <a:lnTo>
                    <a:pt x="3782910" y="1626871"/>
                  </a:lnTo>
                  <a:lnTo>
                    <a:pt x="3734015" y="1631251"/>
                  </a:lnTo>
                  <a:lnTo>
                    <a:pt x="271868" y="1631251"/>
                  </a:lnTo>
                  <a:lnTo>
                    <a:pt x="222999" y="1626871"/>
                  </a:lnTo>
                  <a:lnTo>
                    <a:pt x="177003" y="1614243"/>
                  </a:lnTo>
                  <a:lnTo>
                    <a:pt x="134650" y="1594134"/>
                  </a:lnTo>
                  <a:lnTo>
                    <a:pt x="96705" y="1567312"/>
                  </a:lnTo>
                  <a:lnTo>
                    <a:pt x="63939" y="1534545"/>
                  </a:lnTo>
                  <a:lnTo>
                    <a:pt x="37117" y="1496601"/>
                  </a:lnTo>
                  <a:lnTo>
                    <a:pt x="17008" y="1454247"/>
                  </a:lnTo>
                  <a:lnTo>
                    <a:pt x="4380" y="1408252"/>
                  </a:lnTo>
                  <a:lnTo>
                    <a:pt x="0" y="1359382"/>
                  </a:lnTo>
                  <a:lnTo>
                    <a:pt x="0" y="271906"/>
                  </a:lnTo>
                  <a:close/>
                </a:path>
              </a:pathLst>
            </a:custGeom>
            <a:ln w="12699">
              <a:solidFill>
                <a:srgbClr val="EC7C30"/>
              </a:solidFill>
            </a:ln>
          </p:spPr>
          <p:txBody>
            <a:bodyPr wrap="square" lIns="0" tIns="0" rIns="0" bIns="0" rtlCol="0"/>
            <a:lstStyle/>
            <a:p>
              <a:endParaRPr/>
            </a:p>
          </p:txBody>
        </p:sp>
      </p:grpSp>
      <p:sp>
        <p:nvSpPr>
          <p:cNvPr id="15" name="object 15"/>
          <p:cNvSpPr txBox="1"/>
          <p:nvPr/>
        </p:nvSpPr>
        <p:spPr>
          <a:xfrm>
            <a:off x="833424" y="5751652"/>
            <a:ext cx="3163570" cy="1397635"/>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Microsoft JhengHei"/>
                <a:cs typeface="Microsoft JhengHei"/>
              </a:rPr>
              <a:t>後端服務模組</a:t>
            </a:r>
            <a:endParaRPr sz="1800">
              <a:latin typeface="Microsoft JhengHei"/>
              <a:cs typeface="Microsoft JhengHei"/>
            </a:endParaRPr>
          </a:p>
          <a:p>
            <a:pPr marL="12700" marR="5080">
              <a:lnSpc>
                <a:spcPct val="100000"/>
              </a:lnSpc>
              <a:spcBef>
                <a:spcPts val="5"/>
              </a:spcBef>
            </a:pPr>
            <a:r>
              <a:rPr sz="1800" spc="-10" dirty="0">
                <a:latin typeface="Microsoft JhengHei"/>
                <a:cs typeface="Microsoft JhengHei"/>
              </a:rPr>
              <a:t>GPT-3.5：處理英語對話與回饋</a:t>
            </a:r>
            <a:r>
              <a:rPr sz="1800" spc="-50" dirty="0">
                <a:latin typeface="Microsoft JhengHei"/>
                <a:cs typeface="Microsoft JhengHei"/>
              </a:rPr>
              <a:t> </a:t>
            </a:r>
            <a:r>
              <a:rPr sz="1800" spc="-20" dirty="0">
                <a:latin typeface="Microsoft JhengHei"/>
                <a:cs typeface="Microsoft JhengHei"/>
              </a:rPr>
              <a:t>Whisper：語音轉文字</a:t>
            </a:r>
            <a:r>
              <a:rPr sz="1800" spc="500" dirty="0">
                <a:latin typeface="Microsoft JhengHei"/>
                <a:cs typeface="Microsoft JhengHei"/>
              </a:rPr>
              <a:t>  </a:t>
            </a:r>
            <a:r>
              <a:rPr sz="1800" dirty="0">
                <a:latin typeface="Microsoft JhengHei"/>
                <a:cs typeface="Microsoft JhengHei"/>
              </a:rPr>
              <a:t>gTTS</a:t>
            </a:r>
            <a:r>
              <a:rPr sz="1800" spc="-10" dirty="0">
                <a:latin typeface="Microsoft JhengHei"/>
                <a:cs typeface="Microsoft JhengHei"/>
              </a:rPr>
              <a:t>：文字轉語音</a:t>
            </a:r>
            <a:endParaRPr sz="1800">
              <a:latin typeface="Microsoft JhengHei"/>
              <a:cs typeface="Microsoft JhengHei"/>
            </a:endParaRPr>
          </a:p>
          <a:p>
            <a:pPr marL="12700">
              <a:lnSpc>
                <a:spcPct val="100000"/>
              </a:lnSpc>
            </a:pPr>
            <a:r>
              <a:rPr sz="1800" spc="-20" dirty="0">
                <a:latin typeface="Microsoft JhengHei"/>
                <a:cs typeface="Microsoft JhengHei"/>
              </a:rPr>
              <a:t>API</a:t>
            </a:r>
            <a:r>
              <a:rPr sz="1800" spc="-10" dirty="0">
                <a:latin typeface="Microsoft JhengHei"/>
                <a:cs typeface="Microsoft JhengHei"/>
              </a:rPr>
              <a:t>串接方式，靈活調用</a:t>
            </a:r>
            <a:endParaRPr sz="1800">
              <a:latin typeface="Microsoft JhengHei"/>
              <a:cs typeface="Microsoft JhengHei"/>
            </a:endParaRPr>
          </a:p>
        </p:txBody>
      </p:sp>
      <p:grpSp>
        <p:nvGrpSpPr>
          <p:cNvPr id="16" name="object 16"/>
          <p:cNvGrpSpPr/>
          <p:nvPr/>
        </p:nvGrpSpPr>
        <p:grpSpPr>
          <a:xfrm>
            <a:off x="10160889" y="1409953"/>
            <a:ext cx="4018915" cy="1644014"/>
            <a:chOff x="10160889" y="1409953"/>
            <a:chExt cx="4018915" cy="1644014"/>
          </a:xfrm>
        </p:grpSpPr>
        <p:sp>
          <p:nvSpPr>
            <p:cNvPr id="17" name="object 17"/>
            <p:cNvSpPr/>
            <p:nvPr/>
          </p:nvSpPr>
          <p:spPr>
            <a:xfrm>
              <a:off x="10167239" y="1416303"/>
              <a:ext cx="4006215" cy="1631314"/>
            </a:xfrm>
            <a:custGeom>
              <a:avLst/>
              <a:gdLst/>
              <a:ahLst/>
              <a:cxnLst/>
              <a:rect l="l" t="t" r="r" b="b"/>
              <a:pathLst>
                <a:path w="4006215" h="1631314">
                  <a:moveTo>
                    <a:pt x="3734053" y="0"/>
                  </a:moveTo>
                  <a:lnTo>
                    <a:pt x="271906" y="0"/>
                  </a:lnTo>
                  <a:lnTo>
                    <a:pt x="223046" y="4382"/>
                  </a:lnTo>
                  <a:lnTo>
                    <a:pt x="177052" y="17017"/>
                  </a:lnTo>
                  <a:lnTo>
                    <a:pt x="134695" y="37135"/>
                  </a:lnTo>
                  <a:lnTo>
                    <a:pt x="96743" y="63967"/>
                  </a:lnTo>
                  <a:lnTo>
                    <a:pt x="63967" y="96743"/>
                  </a:lnTo>
                  <a:lnTo>
                    <a:pt x="37135" y="134695"/>
                  </a:lnTo>
                  <a:lnTo>
                    <a:pt x="17017" y="177052"/>
                  </a:lnTo>
                  <a:lnTo>
                    <a:pt x="4382" y="223046"/>
                  </a:lnTo>
                  <a:lnTo>
                    <a:pt x="0" y="271906"/>
                  </a:lnTo>
                  <a:lnTo>
                    <a:pt x="0" y="1359408"/>
                  </a:lnTo>
                  <a:lnTo>
                    <a:pt x="4382" y="1408264"/>
                  </a:lnTo>
                  <a:lnTo>
                    <a:pt x="17017" y="1454246"/>
                  </a:lnTo>
                  <a:lnTo>
                    <a:pt x="37135" y="1496586"/>
                  </a:lnTo>
                  <a:lnTo>
                    <a:pt x="63967" y="1534518"/>
                  </a:lnTo>
                  <a:lnTo>
                    <a:pt x="96743" y="1567273"/>
                  </a:lnTo>
                  <a:lnTo>
                    <a:pt x="134695" y="1594085"/>
                  </a:lnTo>
                  <a:lnTo>
                    <a:pt x="177052" y="1614186"/>
                  </a:lnTo>
                  <a:lnTo>
                    <a:pt x="223046" y="1626809"/>
                  </a:lnTo>
                  <a:lnTo>
                    <a:pt x="271906" y="1631188"/>
                  </a:lnTo>
                  <a:lnTo>
                    <a:pt x="3734053" y="1631188"/>
                  </a:lnTo>
                  <a:lnTo>
                    <a:pt x="3782948" y="1626809"/>
                  </a:lnTo>
                  <a:lnTo>
                    <a:pt x="3828959" y="1614186"/>
                  </a:lnTo>
                  <a:lnTo>
                    <a:pt x="3871322" y="1594085"/>
                  </a:lnTo>
                  <a:lnTo>
                    <a:pt x="3909269" y="1567273"/>
                  </a:lnTo>
                  <a:lnTo>
                    <a:pt x="3942035" y="1534518"/>
                  </a:lnTo>
                  <a:lnTo>
                    <a:pt x="3968853" y="1496586"/>
                  </a:lnTo>
                  <a:lnTo>
                    <a:pt x="3988957" y="1454246"/>
                  </a:lnTo>
                  <a:lnTo>
                    <a:pt x="4001582" y="1408264"/>
                  </a:lnTo>
                  <a:lnTo>
                    <a:pt x="4005960" y="1359408"/>
                  </a:lnTo>
                  <a:lnTo>
                    <a:pt x="4005960" y="271906"/>
                  </a:lnTo>
                  <a:lnTo>
                    <a:pt x="4001582" y="223046"/>
                  </a:lnTo>
                  <a:lnTo>
                    <a:pt x="3988957" y="177052"/>
                  </a:lnTo>
                  <a:lnTo>
                    <a:pt x="3968853" y="134695"/>
                  </a:lnTo>
                  <a:lnTo>
                    <a:pt x="3942035" y="96743"/>
                  </a:lnTo>
                  <a:lnTo>
                    <a:pt x="3909269" y="63967"/>
                  </a:lnTo>
                  <a:lnTo>
                    <a:pt x="3871322" y="37135"/>
                  </a:lnTo>
                  <a:lnTo>
                    <a:pt x="3828959" y="17017"/>
                  </a:lnTo>
                  <a:lnTo>
                    <a:pt x="3782948" y="4382"/>
                  </a:lnTo>
                  <a:lnTo>
                    <a:pt x="3734053" y="0"/>
                  </a:lnTo>
                  <a:close/>
                </a:path>
              </a:pathLst>
            </a:custGeom>
            <a:solidFill>
              <a:srgbClr val="6FAC46"/>
            </a:solidFill>
          </p:spPr>
          <p:txBody>
            <a:bodyPr wrap="square" lIns="0" tIns="0" rIns="0" bIns="0" rtlCol="0"/>
            <a:lstStyle/>
            <a:p>
              <a:endParaRPr/>
            </a:p>
          </p:txBody>
        </p:sp>
        <p:sp>
          <p:nvSpPr>
            <p:cNvPr id="18" name="object 18"/>
            <p:cNvSpPr/>
            <p:nvPr/>
          </p:nvSpPr>
          <p:spPr>
            <a:xfrm>
              <a:off x="10167239" y="1416303"/>
              <a:ext cx="4006215" cy="1631314"/>
            </a:xfrm>
            <a:custGeom>
              <a:avLst/>
              <a:gdLst/>
              <a:ahLst/>
              <a:cxnLst/>
              <a:rect l="l" t="t" r="r" b="b"/>
              <a:pathLst>
                <a:path w="4006215" h="1631314">
                  <a:moveTo>
                    <a:pt x="0" y="271906"/>
                  </a:moveTo>
                  <a:lnTo>
                    <a:pt x="4382" y="223046"/>
                  </a:lnTo>
                  <a:lnTo>
                    <a:pt x="17017" y="177052"/>
                  </a:lnTo>
                  <a:lnTo>
                    <a:pt x="37135" y="134695"/>
                  </a:lnTo>
                  <a:lnTo>
                    <a:pt x="63967" y="96743"/>
                  </a:lnTo>
                  <a:lnTo>
                    <a:pt x="96743" y="63967"/>
                  </a:lnTo>
                  <a:lnTo>
                    <a:pt x="134695" y="37135"/>
                  </a:lnTo>
                  <a:lnTo>
                    <a:pt x="177052" y="17017"/>
                  </a:lnTo>
                  <a:lnTo>
                    <a:pt x="223046" y="4382"/>
                  </a:lnTo>
                  <a:lnTo>
                    <a:pt x="271906" y="0"/>
                  </a:lnTo>
                  <a:lnTo>
                    <a:pt x="3734053" y="0"/>
                  </a:lnTo>
                  <a:lnTo>
                    <a:pt x="3782948" y="4382"/>
                  </a:lnTo>
                  <a:lnTo>
                    <a:pt x="3828959" y="17017"/>
                  </a:lnTo>
                  <a:lnTo>
                    <a:pt x="3871322" y="37135"/>
                  </a:lnTo>
                  <a:lnTo>
                    <a:pt x="3909269" y="63967"/>
                  </a:lnTo>
                  <a:lnTo>
                    <a:pt x="3942035" y="96743"/>
                  </a:lnTo>
                  <a:lnTo>
                    <a:pt x="3968853" y="134695"/>
                  </a:lnTo>
                  <a:lnTo>
                    <a:pt x="3988957" y="177052"/>
                  </a:lnTo>
                  <a:lnTo>
                    <a:pt x="4001582" y="223046"/>
                  </a:lnTo>
                  <a:lnTo>
                    <a:pt x="4005960" y="271906"/>
                  </a:lnTo>
                  <a:lnTo>
                    <a:pt x="4005960" y="1359408"/>
                  </a:lnTo>
                  <a:lnTo>
                    <a:pt x="4001582" y="1408264"/>
                  </a:lnTo>
                  <a:lnTo>
                    <a:pt x="3988957" y="1454246"/>
                  </a:lnTo>
                  <a:lnTo>
                    <a:pt x="3968853" y="1496586"/>
                  </a:lnTo>
                  <a:lnTo>
                    <a:pt x="3942035" y="1534518"/>
                  </a:lnTo>
                  <a:lnTo>
                    <a:pt x="3909269" y="1567273"/>
                  </a:lnTo>
                  <a:lnTo>
                    <a:pt x="3871322" y="1594085"/>
                  </a:lnTo>
                  <a:lnTo>
                    <a:pt x="3828959" y="1614186"/>
                  </a:lnTo>
                  <a:lnTo>
                    <a:pt x="3782948" y="1626809"/>
                  </a:lnTo>
                  <a:lnTo>
                    <a:pt x="3734053" y="1631188"/>
                  </a:lnTo>
                  <a:lnTo>
                    <a:pt x="271906" y="1631188"/>
                  </a:lnTo>
                  <a:lnTo>
                    <a:pt x="223046" y="1626809"/>
                  </a:lnTo>
                  <a:lnTo>
                    <a:pt x="177052" y="1614186"/>
                  </a:lnTo>
                  <a:lnTo>
                    <a:pt x="134695" y="1594085"/>
                  </a:lnTo>
                  <a:lnTo>
                    <a:pt x="96743" y="1567273"/>
                  </a:lnTo>
                  <a:lnTo>
                    <a:pt x="63967" y="1534518"/>
                  </a:lnTo>
                  <a:lnTo>
                    <a:pt x="37135" y="1496586"/>
                  </a:lnTo>
                  <a:lnTo>
                    <a:pt x="17017" y="1454246"/>
                  </a:lnTo>
                  <a:lnTo>
                    <a:pt x="4382" y="1408264"/>
                  </a:lnTo>
                  <a:lnTo>
                    <a:pt x="0" y="1359408"/>
                  </a:lnTo>
                  <a:lnTo>
                    <a:pt x="0" y="271906"/>
                  </a:lnTo>
                  <a:close/>
                </a:path>
              </a:pathLst>
            </a:custGeom>
            <a:ln w="12700">
              <a:solidFill>
                <a:srgbClr val="6FAC46"/>
              </a:solidFill>
            </a:ln>
          </p:spPr>
          <p:txBody>
            <a:bodyPr wrap="square" lIns="0" tIns="0" rIns="0" bIns="0" rtlCol="0"/>
            <a:lstStyle/>
            <a:p>
              <a:endParaRPr/>
            </a:p>
          </p:txBody>
        </p:sp>
      </p:grpSp>
      <p:sp>
        <p:nvSpPr>
          <p:cNvPr id="19" name="object 19"/>
          <p:cNvSpPr txBox="1"/>
          <p:nvPr/>
        </p:nvSpPr>
        <p:spPr>
          <a:xfrm>
            <a:off x="10326751" y="1527809"/>
            <a:ext cx="2768600" cy="139763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提示工程模組</a:t>
            </a:r>
            <a:endParaRPr sz="1800">
              <a:latin typeface="Microsoft JhengHei"/>
              <a:cs typeface="Microsoft JhengHei"/>
            </a:endParaRPr>
          </a:p>
          <a:p>
            <a:pPr marL="12700" marR="5080">
              <a:lnSpc>
                <a:spcPct val="100000"/>
              </a:lnSpc>
            </a:pPr>
            <a:r>
              <a:rPr sz="1800" spc="-5" dirty="0">
                <a:latin typeface="Microsoft JhengHei"/>
                <a:cs typeface="Microsoft JhengHei"/>
              </a:rPr>
              <a:t>分析用戶學習情境與意圖</a:t>
            </a:r>
            <a:r>
              <a:rPr sz="1800" spc="-50" dirty="0">
                <a:latin typeface="Microsoft JhengHei"/>
                <a:cs typeface="Microsoft JhengHei"/>
              </a:rPr>
              <a:t> </a:t>
            </a:r>
            <a:r>
              <a:rPr sz="1800" spc="-5" dirty="0">
                <a:latin typeface="Microsoft JhengHei"/>
                <a:cs typeface="Microsoft JhengHei"/>
              </a:rPr>
              <a:t>管理不同學習模式提示模板動態生成教育導向提示</a:t>
            </a:r>
            <a:endParaRPr sz="1800">
              <a:latin typeface="Microsoft JhengHei"/>
              <a:cs typeface="Microsoft JhengHei"/>
            </a:endParaRPr>
          </a:p>
          <a:p>
            <a:pPr marL="12700">
              <a:lnSpc>
                <a:spcPct val="100000"/>
              </a:lnSpc>
            </a:pPr>
            <a:r>
              <a:rPr sz="1800" spc="-10" dirty="0">
                <a:latin typeface="Microsoft JhengHei"/>
                <a:cs typeface="Microsoft JhengHei"/>
              </a:rPr>
              <a:t>確保</a:t>
            </a:r>
            <a:r>
              <a:rPr sz="1800" spc="-20" dirty="0">
                <a:latin typeface="Microsoft JhengHei"/>
                <a:cs typeface="Microsoft JhengHei"/>
              </a:rPr>
              <a:t>AI回應符合教學目標</a:t>
            </a:r>
            <a:endParaRPr sz="1800">
              <a:latin typeface="Microsoft JhengHei"/>
              <a:cs typeface="Microsoft JhengHei"/>
            </a:endParaRPr>
          </a:p>
        </p:txBody>
      </p:sp>
      <p:grpSp>
        <p:nvGrpSpPr>
          <p:cNvPr id="20" name="object 20"/>
          <p:cNvGrpSpPr/>
          <p:nvPr/>
        </p:nvGrpSpPr>
        <p:grpSpPr>
          <a:xfrm>
            <a:off x="10403967" y="5755513"/>
            <a:ext cx="4018915" cy="1644014"/>
            <a:chOff x="10403967" y="5755513"/>
            <a:chExt cx="4018915" cy="1644014"/>
          </a:xfrm>
        </p:grpSpPr>
        <p:sp>
          <p:nvSpPr>
            <p:cNvPr id="21" name="object 21"/>
            <p:cNvSpPr/>
            <p:nvPr/>
          </p:nvSpPr>
          <p:spPr>
            <a:xfrm>
              <a:off x="10410317" y="5761863"/>
              <a:ext cx="4006215" cy="1631314"/>
            </a:xfrm>
            <a:custGeom>
              <a:avLst/>
              <a:gdLst/>
              <a:ahLst/>
              <a:cxnLst/>
              <a:rect l="l" t="t" r="r" b="b"/>
              <a:pathLst>
                <a:path w="4006215" h="1631315">
                  <a:moveTo>
                    <a:pt x="3734180" y="0"/>
                  </a:moveTo>
                  <a:lnTo>
                    <a:pt x="271906" y="0"/>
                  </a:lnTo>
                  <a:lnTo>
                    <a:pt x="223046" y="4378"/>
                  </a:lnTo>
                  <a:lnTo>
                    <a:pt x="177052" y="17001"/>
                  </a:lnTo>
                  <a:lnTo>
                    <a:pt x="134695" y="37102"/>
                  </a:lnTo>
                  <a:lnTo>
                    <a:pt x="96743" y="63914"/>
                  </a:lnTo>
                  <a:lnTo>
                    <a:pt x="63967" y="96669"/>
                  </a:lnTo>
                  <a:lnTo>
                    <a:pt x="37135" y="134601"/>
                  </a:lnTo>
                  <a:lnTo>
                    <a:pt x="17017" y="176941"/>
                  </a:lnTo>
                  <a:lnTo>
                    <a:pt x="4382" y="222923"/>
                  </a:lnTo>
                  <a:lnTo>
                    <a:pt x="0" y="271780"/>
                  </a:lnTo>
                  <a:lnTo>
                    <a:pt x="0" y="1359306"/>
                  </a:lnTo>
                  <a:lnTo>
                    <a:pt x="4382" y="1408175"/>
                  </a:lnTo>
                  <a:lnTo>
                    <a:pt x="17017" y="1454171"/>
                  </a:lnTo>
                  <a:lnTo>
                    <a:pt x="37135" y="1496525"/>
                  </a:lnTo>
                  <a:lnTo>
                    <a:pt x="63967" y="1534469"/>
                  </a:lnTo>
                  <a:lnTo>
                    <a:pt x="96743" y="1567236"/>
                  </a:lnTo>
                  <a:lnTo>
                    <a:pt x="134695" y="1594057"/>
                  </a:lnTo>
                  <a:lnTo>
                    <a:pt x="177052" y="1614166"/>
                  </a:lnTo>
                  <a:lnTo>
                    <a:pt x="223046" y="1626795"/>
                  </a:lnTo>
                  <a:lnTo>
                    <a:pt x="271906" y="1631175"/>
                  </a:lnTo>
                  <a:lnTo>
                    <a:pt x="3734180" y="1631175"/>
                  </a:lnTo>
                  <a:lnTo>
                    <a:pt x="3783037" y="1626795"/>
                  </a:lnTo>
                  <a:lnTo>
                    <a:pt x="3829019" y="1614166"/>
                  </a:lnTo>
                  <a:lnTo>
                    <a:pt x="3871359" y="1594057"/>
                  </a:lnTo>
                  <a:lnTo>
                    <a:pt x="3909291" y="1567236"/>
                  </a:lnTo>
                  <a:lnTo>
                    <a:pt x="3942046" y="1534469"/>
                  </a:lnTo>
                  <a:lnTo>
                    <a:pt x="3968858" y="1496525"/>
                  </a:lnTo>
                  <a:lnTo>
                    <a:pt x="3988959" y="1454171"/>
                  </a:lnTo>
                  <a:lnTo>
                    <a:pt x="4001582" y="1408175"/>
                  </a:lnTo>
                  <a:lnTo>
                    <a:pt x="4005961" y="1359306"/>
                  </a:lnTo>
                  <a:lnTo>
                    <a:pt x="4005961" y="271780"/>
                  </a:lnTo>
                  <a:lnTo>
                    <a:pt x="4001582" y="222923"/>
                  </a:lnTo>
                  <a:lnTo>
                    <a:pt x="3988959" y="176941"/>
                  </a:lnTo>
                  <a:lnTo>
                    <a:pt x="3968858" y="134601"/>
                  </a:lnTo>
                  <a:lnTo>
                    <a:pt x="3942046" y="96669"/>
                  </a:lnTo>
                  <a:lnTo>
                    <a:pt x="3909291" y="63914"/>
                  </a:lnTo>
                  <a:lnTo>
                    <a:pt x="3871359" y="37102"/>
                  </a:lnTo>
                  <a:lnTo>
                    <a:pt x="3829019" y="17001"/>
                  </a:lnTo>
                  <a:lnTo>
                    <a:pt x="3783037" y="4378"/>
                  </a:lnTo>
                  <a:lnTo>
                    <a:pt x="3734180" y="0"/>
                  </a:lnTo>
                  <a:close/>
                </a:path>
              </a:pathLst>
            </a:custGeom>
            <a:solidFill>
              <a:srgbClr val="A6A6A6"/>
            </a:solidFill>
          </p:spPr>
          <p:txBody>
            <a:bodyPr wrap="square" lIns="0" tIns="0" rIns="0" bIns="0" rtlCol="0"/>
            <a:lstStyle/>
            <a:p>
              <a:endParaRPr/>
            </a:p>
          </p:txBody>
        </p:sp>
        <p:sp>
          <p:nvSpPr>
            <p:cNvPr id="22" name="object 22"/>
            <p:cNvSpPr/>
            <p:nvPr/>
          </p:nvSpPr>
          <p:spPr>
            <a:xfrm>
              <a:off x="10410317" y="5761863"/>
              <a:ext cx="4006215" cy="1631314"/>
            </a:xfrm>
            <a:custGeom>
              <a:avLst/>
              <a:gdLst/>
              <a:ahLst/>
              <a:cxnLst/>
              <a:rect l="l" t="t" r="r" b="b"/>
              <a:pathLst>
                <a:path w="4006215" h="1631315">
                  <a:moveTo>
                    <a:pt x="0" y="271780"/>
                  </a:moveTo>
                  <a:lnTo>
                    <a:pt x="4382" y="222923"/>
                  </a:lnTo>
                  <a:lnTo>
                    <a:pt x="17017" y="176941"/>
                  </a:lnTo>
                  <a:lnTo>
                    <a:pt x="37135" y="134601"/>
                  </a:lnTo>
                  <a:lnTo>
                    <a:pt x="63967" y="96669"/>
                  </a:lnTo>
                  <a:lnTo>
                    <a:pt x="96743" y="63914"/>
                  </a:lnTo>
                  <a:lnTo>
                    <a:pt x="134695" y="37102"/>
                  </a:lnTo>
                  <a:lnTo>
                    <a:pt x="177052" y="17001"/>
                  </a:lnTo>
                  <a:lnTo>
                    <a:pt x="223046" y="4378"/>
                  </a:lnTo>
                  <a:lnTo>
                    <a:pt x="271906" y="0"/>
                  </a:lnTo>
                  <a:lnTo>
                    <a:pt x="3734180" y="0"/>
                  </a:lnTo>
                  <a:lnTo>
                    <a:pt x="3783037" y="4378"/>
                  </a:lnTo>
                  <a:lnTo>
                    <a:pt x="3829019" y="17001"/>
                  </a:lnTo>
                  <a:lnTo>
                    <a:pt x="3871359" y="37102"/>
                  </a:lnTo>
                  <a:lnTo>
                    <a:pt x="3909291" y="63914"/>
                  </a:lnTo>
                  <a:lnTo>
                    <a:pt x="3942046" y="96669"/>
                  </a:lnTo>
                  <a:lnTo>
                    <a:pt x="3968858" y="134601"/>
                  </a:lnTo>
                  <a:lnTo>
                    <a:pt x="3988959" y="176941"/>
                  </a:lnTo>
                  <a:lnTo>
                    <a:pt x="4001582" y="222923"/>
                  </a:lnTo>
                  <a:lnTo>
                    <a:pt x="4005961" y="271780"/>
                  </a:lnTo>
                  <a:lnTo>
                    <a:pt x="4005961" y="1359306"/>
                  </a:lnTo>
                  <a:lnTo>
                    <a:pt x="4001582" y="1408175"/>
                  </a:lnTo>
                  <a:lnTo>
                    <a:pt x="3988959" y="1454171"/>
                  </a:lnTo>
                  <a:lnTo>
                    <a:pt x="3968858" y="1496525"/>
                  </a:lnTo>
                  <a:lnTo>
                    <a:pt x="3942046" y="1534469"/>
                  </a:lnTo>
                  <a:lnTo>
                    <a:pt x="3909291" y="1567236"/>
                  </a:lnTo>
                  <a:lnTo>
                    <a:pt x="3871359" y="1594057"/>
                  </a:lnTo>
                  <a:lnTo>
                    <a:pt x="3829019" y="1614166"/>
                  </a:lnTo>
                  <a:lnTo>
                    <a:pt x="3783037" y="1626795"/>
                  </a:lnTo>
                  <a:lnTo>
                    <a:pt x="3734180" y="1631175"/>
                  </a:lnTo>
                  <a:lnTo>
                    <a:pt x="271906" y="1631175"/>
                  </a:lnTo>
                  <a:lnTo>
                    <a:pt x="223046" y="1626795"/>
                  </a:lnTo>
                  <a:lnTo>
                    <a:pt x="177052" y="1614166"/>
                  </a:lnTo>
                  <a:lnTo>
                    <a:pt x="134695" y="1594057"/>
                  </a:lnTo>
                  <a:lnTo>
                    <a:pt x="96743" y="1567236"/>
                  </a:lnTo>
                  <a:lnTo>
                    <a:pt x="63967" y="1534469"/>
                  </a:lnTo>
                  <a:lnTo>
                    <a:pt x="37135" y="1496525"/>
                  </a:lnTo>
                  <a:lnTo>
                    <a:pt x="17017" y="1454171"/>
                  </a:lnTo>
                  <a:lnTo>
                    <a:pt x="4382" y="1408175"/>
                  </a:lnTo>
                  <a:lnTo>
                    <a:pt x="0" y="1359306"/>
                  </a:lnTo>
                  <a:lnTo>
                    <a:pt x="0" y="271780"/>
                  </a:lnTo>
                  <a:close/>
                </a:path>
              </a:pathLst>
            </a:custGeom>
            <a:ln w="12700">
              <a:solidFill>
                <a:srgbClr val="6FAC46"/>
              </a:solidFill>
            </a:ln>
          </p:spPr>
          <p:txBody>
            <a:bodyPr wrap="square" lIns="0" tIns="0" rIns="0" bIns="0" rtlCol="0"/>
            <a:lstStyle/>
            <a:p>
              <a:endParaRPr/>
            </a:p>
          </p:txBody>
        </p:sp>
      </p:grpSp>
      <p:sp>
        <p:nvSpPr>
          <p:cNvPr id="23" name="object 23"/>
          <p:cNvSpPr txBox="1"/>
          <p:nvPr/>
        </p:nvSpPr>
        <p:spPr>
          <a:xfrm>
            <a:off x="10569702" y="6010732"/>
            <a:ext cx="3225800" cy="1123315"/>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Microsoft JhengHei"/>
                <a:cs typeface="Microsoft JhengHei"/>
              </a:rPr>
              <a:t>架構特點</a:t>
            </a:r>
            <a:endParaRPr sz="1800">
              <a:latin typeface="Microsoft JhengHei"/>
              <a:cs typeface="Microsoft JhengHei"/>
            </a:endParaRPr>
          </a:p>
          <a:p>
            <a:pPr marL="12700" marR="462280">
              <a:lnSpc>
                <a:spcPct val="100000"/>
              </a:lnSpc>
              <a:spcBef>
                <a:spcPts val="5"/>
              </a:spcBef>
            </a:pPr>
            <a:r>
              <a:rPr sz="1800" spc="-5" dirty="0">
                <a:latin typeface="Microsoft JhengHei"/>
                <a:cs typeface="Microsoft JhengHei"/>
              </a:rPr>
              <a:t>模組化設計，便於維護擴展</a:t>
            </a:r>
            <a:r>
              <a:rPr sz="1800" spc="-10" dirty="0">
                <a:latin typeface="Microsoft JhengHei"/>
                <a:cs typeface="Microsoft JhengHei"/>
              </a:rPr>
              <a:t>輕量化部署，成本低</a:t>
            </a:r>
            <a:endParaRPr sz="1800">
              <a:latin typeface="Microsoft JhengHei"/>
              <a:cs typeface="Microsoft JhengHei"/>
            </a:endParaRPr>
          </a:p>
          <a:p>
            <a:pPr marL="12700">
              <a:lnSpc>
                <a:spcPct val="100000"/>
              </a:lnSpc>
            </a:pPr>
            <a:r>
              <a:rPr sz="1800" spc="-5" dirty="0">
                <a:latin typeface="Microsoft JhengHei"/>
                <a:cs typeface="Microsoft JhengHei"/>
              </a:rPr>
              <a:t>教育目標導向，專為初學者設計</a:t>
            </a:r>
            <a:endParaRPr sz="1800">
              <a:latin typeface="Microsoft JhengHei"/>
              <a:cs typeface="Microsoft JhengHei"/>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9468" y="79324"/>
            <a:ext cx="4140200" cy="848994"/>
          </a:xfrm>
          <a:prstGeom prst="rect">
            <a:avLst/>
          </a:prstGeom>
        </p:spPr>
        <p:txBody>
          <a:bodyPr vert="horz" wrap="square" lIns="0" tIns="12700" rIns="0" bIns="0" rtlCol="0">
            <a:spAutoFit/>
          </a:bodyPr>
          <a:lstStyle/>
          <a:p>
            <a:pPr marL="12700">
              <a:lnSpc>
                <a:spcPct val="100000"/>
              </a:lnSpc>
              <a:spcBef>
                <a:spcPts val="100"/>
              </a:spcBef>
            </a:pPr>
            <a:r>
              <a:rPr spc="-20" dirty="0"/>
              <a:t>系統運作流程</a:t>
            </a:r>
          </a:p>
        </p:txBody>
      </p:sp>
      <p:grpSp>
        <p:nvGrpSpPr>
          <p:cNvPr id="3" name="object 3"/>
          <p:cNvGrpSpPr/>
          <p:nvPr/>
        </p:nvGrpSpPr>
        <p:grpSpPr>
          <a:xfrm>
            <a:off x="223367" y="3623564"/>
            <a:ext cx="13689965" cy="1601470"/>
            <a:chOff x="223367" y="3623564"/>
            <a:chExt cx="13689965" cy="1601470"/>
          </a:xfrm>
        </p:grpSpPr>
        <p:sp>
          <p:nvSpPr>
            <p:cNvPr id="4" name="object 4"/>
            <p:cNvSpPr/>
            <p:nvPr/>
          </p:nvSpPr>
          <p:spPr>
            <a:xfrm>
              <a:off x="223367" y="4264025"/>
              <a:ext cx="2082164" cy="396240"/>
            </a:xfrm>
            <a:custGeom>
              <a:avLst/>
              <a:gdLst/>
              <a:ahLst/>
              <a:cxnLst/>
              <a:rect l="l" t="t" r="r" b="b"/>
              <a:pathLst>
                <a:path w="2082164" h="396239">
                  <a:moveTo>
                    <a:pt x="1873783" y="0"/>
                  </a:moveTo>
                  <a:lnTo>
                    <a:pt x="0" y="0"/>
                  </a:lnTo>
                  <a:lnTo>
                    <a:pt x="207835" y="197865"/>
                  </a:lnTo>
                  <a:lnTo>
                    <a:pt x="0" y="395732"/>
                  </a:lnTo>
                  <a:lnTo>
                    <a:pt x="1873783" y="395732"/>
                  </a:lnTo>
                  <a:lnTo>
                    <a:pt x="2081682" y="197865"/>
                  </a:lnTo>
                  <a:lnTo>
                    <a:pt x="1873783" y="0"/>
                  </a:lnTo>
                  <a:close/>
                </a:path>
              </a:pathLst>
            </a:custGeom>
            <a:solidFill>
              <a:srgbClr val="6FAC46"/>
            </a:solidFill>
          </p:spPr>
          <p:txBody>
            <a:bodyPr wrap="square" lIns="0" tIns="0" rIns="0" bIns="0" rtlCol="0"/>
            <a:lstStyle/>
            <a:p>
              <a:endParaRPr/>
            </a:p>
          </p:txBody>
        </p:sp>
        <p:sp>
          <p:nvSpPr>
            <p:cNvPr id="5" name="object 5"/>
            <p:cNvSpPr/>
            <p:nvPr/>
          </p:nvSpPr>
          <p:spPr>
            <a:xfrm>
              <a:off x="2140711" y="4264025"/>
              <a:ext cx="2081530" cy="396240"/>
            </a:xfrm>
            <a:custGeom>
              <a:avLst/>
              <a:gdLst/>
              <a:ahLst/>
              <a:cxnLst/>
              <a:rect l="l" t="t" r="r" b="b"/>
              <a:pathLst>
                <a:path w="2081529" h="396239">
                  <a:moveTo>
                    <a:pt x="1873758" y="0"/>
                  </a:moveTo>
                  <a:lnTo>
                    <a:pt x="0" y="0"/>
                  </a:lnTo>
                  <a:lnTo>
                    <a:pt x="207771" y="197865"/>
                  </a:lnTo>
                  <a:lnTo>
                    <a:pt x="0" y="395732"/>
                  </a:lnTo>
                  <a:lnTo>
                    <a:pt x="1873758" y="395732"/>
                  </a:lnTo>
                  <a:lnTo>
                    <a:pt x="2081529" y="197865"/>
                  </a:lnTo>
                  <a:lnTo>
                    <a:pt x="1873758" y="0"/>
                  </a:lnTo>
                  <a:close/>
                </a:path>
              </a:pathLst>
            </a:custGeom>
            <a:solidFill>
              <a:srgbClr val="4471C4"/>
            </a:solidFill>
          </p:spPr>
          <p:txBody>
            <a:bodyPr wrap="square" lIns="0" tIns="0" rIns="0" bIns="0" rtlCol="0"/>
            <a:lstStyle/>
            <a:p>
              <a:endParaRPr/>
            </a:p>
          </p:txBody>
        </p:sp>
        <p:sp>
          <p:nvSpPr>
            <p:cNvPr id="6" name="object 6"/>
            <p:cNvSpPr/>
            <p:nvPr/>
          </p:nvSpPr>
          <p:spPr>
            <a:xfrm>
              <a:off x="4089526" y="4264025"/>
              <a:ext cx="2081530" cy="396240"/>
            </a:xfrm>
            <a:custGeom>
              <a:avLst/>
              <a:gdLst/>
              <a:ahLst/>
              <a:cxnLst/>
              <a:rect l="l" t="t" r="r" b="b"/>
              <a:pathLst>
                <a:path w="2081529" h="396239">
                  <a:moveTo>
                    <a:pt x="1873758" y="0"/>
                  </a:moveTo>
                  <a:lnTo>
                    <a:pt x="0" y="0"/>
                  </a:lnTo>
                  <a:lnTo>
                    <a:pt x="207772" y="197865"/>
                  </a:lnTo>
                  <a:lnTo>
                    <a:pt x="0" y="395732"/>
                  </a:lnTo>
                  <a:lnTo>
                    <a:pt x="1873758" y="395732"/>
                  </a:lnTo>
                  <a:lnTo>
                    <a:pt x="2081530" y="197865"/>
                  </a:lnTo>
                  <a:lnTo>
                    <a:pt x="1873758" y="0"/>
                  </a:lnTo>
                  <a:close/>
                </a:path>
              </a:pathLst>
            </a:custGeom>
            <a:solidFill>
              <a:srgbClr val="EC7C30"/>
            </a:solidFill>
          </p:spPr>
          <p:txBody>
            <a:bodyPr wrap="square" lIns="0" tIns="0" rIns="0" bIns="0" rtlCol="0"/>
            <a:lstStyle/>
            <a:p>
              <a:endParaRPr/>
            </a:p>
          </p:txBody>
        </p:sp>
        <p:sp>
          <p:nvSpPr>
            <p:cNvPr id="7" name="object 7"/>
            <p:cNvSpPr/>
            <p:nvPr/>
          </p:nvSpPr>
          <p:spPr>
            <a:xfrm>
              <a:off x="6027800" y="4264025"/>
              <a:ext cx="2082164" cy="396240"/>
            </a:xfrm>
            <a:custGeom>
              <a:avLst/>
              <a:gdLst/>
              <a:ahLst/>
              <a:cxnLst/>
              <a:rect l="l" t="t" r="r" b="b"/>
              <a:pathLst>
                <a:path w="2082165" h="396239">
                  <a:moveTo>
                    <a:pt x="1873757" y="0"/>
                  </a:moveTo>
                  <a:lnTo>
                    <a:pt x="0" y="0"/>
                  </a:lnTo>
                  <a:lnTo>
                    <a:pt x="207899" y="197865"/>
                  </a:lnTo>
                  <a:lnTo>
                    <a:pt x="0" y="395732"/>
                  </a:lnTo>
                  <a:lnTo>
                    <a:pt x="1873757" y="395732"/>
                  </a:lnTo>
                  <a:lnTo>
                    <a:pt x="2081656" y="197865"/>
                  </a:lnTo>
                  <a:lnTo>
                    <a:pt x="1873757" y="0"/>
                  </a:lnTo>
                  <a:close/>
                </a:path>
              </a:pathLst>
            </a:custGeom>
            <a:solidFill>
              <a:srgbClr val="A4A4A4"/>
            </a:solidFill>
          </p:spPr>
          <p:txBody>
            <a:bodyPr wrap="square" lIns="0" tIns="0" rIns="0" bIns="0" rtlCol="0"/>
            <a:lstStyle/>
            <a:p>
              <a:endParaRPr/>
            </a:p>
          </p:txBody>
        </p:sp>
        <p:sp>
          <p:nvSpPr>
            <p:cNvPr id="8" name="object 8"/>
            <p:cNvSpPr/>
            <p:nvPr/>
          </p:nvSpPr>
          <p:spPr>
            <a:xfrm>
              <a:off x="7966201" y="4264025"/>
              <a:ext cx="2081530" cy="396240"/>
            </a:xfrm>
            <a:custGeom>
              <a:avLst/>
              <a:gdLst/>
              <a:ahLst/>
              <a:cxnLst/>
              <a:rect l="l" t="t" r="r" b="b"/>
              <a:pathLst>
                <a:path w="2081529" h="396239">
                  <a:moveTo>
                    <a:pt x="1873757" y="0"/>
                  </a:moveTo>
                  <a:lnTo>
                    <a:pt x="0" y="0"/>
                  </a:lnTo>
                  <a:lnTo>
                    <a:pt x="207772" y="197865"/>
                  </a:lnTo>
                  <a:lnTo>
                    <a:pt x="0" y="395732"/>
                  </a:lnTo>
                  <a:lnTo>
                    <a:pt x="1873757" y="395732"/>
                  </a:lnTo>
                  <a:lnTo>
                    <a:pt x="2081529" y="197865"/>
                  </a:lnTo>
                  <a:lnTo>
                    <a:pt x="1873757" y="0"/>
                  </a:lnTo>
                  <a:close/>
                </a:path>
              </a:pathLst>
            </a:custGeom>
            <a:solidFill>
              <a:srgbClr val="FFC000"/>
            </a:solidFill>
          </p:spPr>
          <p:txBody>
            <a:bodyPr wrap="square" lIns="0" tIns="0" rIns="0" bIns="0" rtlCol="0"/>
            <a:lstStyle/>
            <a:p>
              <a:endParaRPr/>
            </a:p>
          </p:txBody>
        </p:sp>
        <p:sp>
          <p:nvSpPr>
            <p:cNvPr id="9" name="object 9"/>
            <p:cNvSpPr/>
            <p:nvPr/>
          </p:nvSpPr>
          <p:spPr>
            <a:xfrm>
              <a:off x="776135" y="4157472"/>
              <a:ext cx="573405" cy="560070"/>
            </a:xfrm>
            <a:custGeom>
              <a:avLst/>
              <a:gdLst/>
              <a:ahLst/>
              <a:cxnLst/>
              <a:rect l="l" t="t" r="r" b="b"/>
              <a:pathLst>
                <a:path w="573405"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69"/>
                  </a:lnTo>
                  <a:lnTo>
                    <a:pt x="332986" y="556405"/>
                  </a:lnTo>
                  <a:lnTo>
                    <a:pt x="377070" y="545796"/>
                  </a:lnTo>
                  <a:lnTo>
                    <a:pt x="418175" y="528818"/>
                  </a:lnTo>
                  <a:lnTo>
                    <a:pt x="455711" y="506047"/>
                  </a:lnTo>
                  <a:lnTo>
                    <a:pt x="489089" y="478059"/>
                  </a:lnTo>
                  <a:lnTo>
                    <a:pt x="517720" y="445431"/>
                  </a:lnTo>
                  <a:lnTo>
                    <a:pt x="541015" y="408739"/>
                  </a:lnTo>
                  <a:lnTo>
                    <a:pt x="558383" y="368558"/>
                  </a:lnTo>
                  <a:lnTo>
                    <a:pt x="569237" y="325464"/>
                  </a:lnTo>
                  <a:lnTo>
                    <a:pt x="572985" y="280035"/>
                  </a:lnTo>
                  <a:lnTo>
                    <a:pt x="569237" y="234605"/>
                  </a:lnTo>
                  <a:lnTo>
                    <a:pt x="558383" y="191511"/>
                  </a:lnTo>
                  <a:lnTo>
                    <a:pt x="541015" y="151330"/>
                  </a:lnTo>
                  <a:lnTo>
                    <a:pt x="517720" y="114638"/>
                  </a:lnTo>
                  <a:lnTo>
                    <a:pt x="489089" y="82010"/>
                  </a:lnTo>
                  <a:lnTo>
                    <a:pt x="455711" y="54022"/>
                  </a:lnTo>
                  <a:lnTo>
                    <a:pt x="418175" y="31251"/>
                  </a:lnTo>
                  <a:lnTo>
                    <a:pt x="377070" y="14273"/>
                  </a:lnTo>
                  <a:lnTo>
                    <a:pt x="332986" y="3664"/>
                  </a:lnTo>
                  <a:lnTo>
                    <a:pt x="286512" y="0"/>
                  </a:lnTo>
                  <a:close/>
                </a:path>
              </a:pathLst>
            </a:custGeom>
            <a:solidFill>
              <a:srgbClr val="FFFFFF"/>
            </a:solidFill>
          </p:spPr>
          <p:txBody>
            <a:bodyPr wrap="square" lIns="0" tIns="0" rIns="0" bIns="0" rtlCol="0"/>
            <a:lstStyle/>
            <a:p>
              <a:endParaRPr/>
            </a:p>
          </p:txBody>
        </p:sp>
        <p:sp>
          <p:nvSpPr>
            <p:cNvPr id="10" name="object 10"/>
            <p:cNvSpPr/>
            <p:nvPr/>
          </p:nvSpPr>
          <p:spPr>
            <a:xfrm>
              <a:off x="836193" y="4216145"/>
              <a:ext cx="453390" cy="1008380"/>
            </a:xfrm>
            <a:custGeom>
              <a:avLst/>
              <a:gdLst/>
              <a:ahLst/>
              <a:cxnLst/>
              <a:rect l="l" t="t" r="r" b="b"/>
              <a:pathLst>
                <a:path w="453390" h="1008379">
                  <a:moveTo>
                    <a:pt x="289953" y="944880"/>
                  </a:moveTo>
                  <a:lnTo>
                    <a:pt x="284962" y="920178"/>
                  </a:lnTo>
                  <a:lnTo>
                    <a:pt x="271348" y="899985"/>
                  </a:lnTo>
                  <a:lnTo>
                    <a:pt x="251167" y="886383"/>
                  </a:lnTo>
                  <a:lnTo>
                    <a:pt x="235978" y="883310"/>
                  </a:lnTo>
                  <a:lnTo>
                    <a:pt x="235978" y="881380"/>
                  </a:lnTo>
                  <a:lnTo>
                    <a:pt x="235978" y="442722"/>
                  </a:lnTo>
                  <a:lnTo>
                    <a:pt x="226453" y="442722"/>
                  </a:lnTo>
                  <a:lnTo>
                    <a:pt x="216928" y="442722"/>
                  </a:lnTo>
                  <a:lnTo>
                    <a:pt x="216928" y="883310"/>
                  </a:lnTo>
                  <a:lnTo>
                    <a:pt x="201726" y="886383"/>
                  </a:lnTo>
                  <a:lnTo>
                    <a:pt x="181546" y="899985"/>
                  </a:lnTo>
                  <a:lnTo>
                    <a:pt x="167932" y="920178"/>
                  </a:lnTo>
                  <a:lnTo>
                    <a:pt x="162953" y="944880"/>
                  </a:lnTo>
                  <a:lnTo>
                    <a:pt x="167932" y="969594"/>
                  </a:lnTo>
                  <a:lnTo>
                    <a:pt x="181546" y="989774"/>
                  </a:lnTo>
                  <a:lnTo>
                    <a:pt x="201726" y="1003388"/>
                  </a:lnTo>
                  <a:lnTo>
                    <a:pt x="226453" y="1008380"/>
                  </a:lnTo>
                  <a:lnTo>
                    <a:pt x="251167" y="1003388"/>
                  </a:lnTo>
                  <a:lnTo>
                    <a:pt x="271348" y="989774"/>
                  </a:lnTo>
                  <a:lnTo>
                    <a:pt x="284962" y="969594"/>
                  </a:lnTo>
                  <a:lnTo>
                    <a:pt x="289953" y="944880"/>
                  </a:lnTo>
                  <a:close/>
                </a:path>
                <a:path w="453390" h="1008379">
                  <a:moveTo>
                    <a:pt x="452856" y="221361"/>
                  </a:moveTo>
                  <a:lnTo>
                    <a:pt x="448246" y="176784"/>
                  </a:lnTo>
                  <a:lnTo>
                    <a:pt x="435063" y="135242"/>
                  </a:lnTo>
                  <a:lnTo>
                    <a:pt x="414197" y="97637"/>
                  </a:lnTo>
                  <a:lnTo>
                    <a:pt x="386549" y="64871"/>
                  </a:lnTo>
                  <a:lnTo>
                    <a:pt x="375272" y="55778"/>
                  </a:lnTo>
                  <a:lnTo>
                    <a:pt x="375272" y="221361"/>
                  </a:lnTo>
                  <a:lnTo>
                    <a:pt x="367677" y="266788"/>
                  </a:lnTo>
                  <a:lnTo>
                    <a:pt x="346557" y="306222"/>
                  </a:lnTo>
                  <a:lnTo>
                    <a:pt x="314337" y="337299"/>
                  </a:lnTo>
                  <a:lnTo>
                    <a:pt x="273481" y="357682"/>
                  </a:lnTo>
                  <a:lnTo>
                    <a:pt x="226453" y="364998"/>
                  </a:lnTo>
                  <a:lnTo>
                    <a:pt x="179412" y="357682"/>
                  </a:lnTo>
                  <a:lnTo>
                    <a:pt x="138569" y="337299"/>
                  </a:lnTo>
                  <a:lnTo>
                    <a:pt x="106349" y="306222"/>
                  </a:lnTo>
                  <a:lnTo>
                    <a:pt x="85229" y="266788"/>
                  </a:lnTo>
                  <a:lnTo>
                    <a:pt x="77647" y="221361"/>
                  </a:lnTo>
                  <a:lnTo>
                    <a:pt x="85229" y="175945"/>
                  </a:lnTo>
                  <a:lnTo>
                    <a:pt x="106349" y="136512"/>
                  </a:lnTo>
                  <a:lnTo>
                    <a:pt x="138569" y="105435"/>
                  </a:lnTo>
                  <a:lnTo>
                    <a:pt x="179412" y="85051"/>
                  </a:lnTo>
                  <a:lnTo>
                    <a:pt x="226453" y="77724"/>
                  </a:lnTo>
                  <a:lnTo>
                    <a:pt x="273481" y="85051"/>
                  </a:lnTo>
                  <a:lnTo>
                    <a:pt x="314337" y="105435"/>
                  </a:lnTo>
                  <a:lnTo>
                    <a:pt x="346557" y="136512"/>
                  </a:lnTo>
                  <a:lnTo>
                    <a:pt x="367677" y="175945"/>
                  </a:lnTo>
                  <a:lnTo>
                    <a:pt x="375272" y="221361"/>
                  </a:lnTo>
                  <a:lnTo>
                    <a:pt x="375272" y="55778"/>
                  </a:lnTo>
                  <a:lnTo>
                    <a:pt x="353047" y="37833"/>
                  </a:lnTo>
                  <a:lnTo>
                    <a:pt x="314591" y="17411"/>
                  </a:lnTo>
                  <a:lnTo>
                    <a:pt x="272084" y="4508"/>
                  </a:lnTo>
                  <a:lnTo>
                    <a:pt x="226453" y="0"/>
                  </a:lnTo>
                  <a:lnTo>
                    <a:pt x="180809" y="4508"/>
                  </a:lnTo>
                  <a:lnTo>
                    <a:pt x="138303" y="17411"/>
                  </a:lnTo>
                  <a:lnTo>
                    <a:pt x="99834" y="37833"/>
                  </a:lnTo>
                  <a:lnTo>
                    <a:pt x="66319" y="64871"/>
                  </a:lnTo>
                  <a:lnTo>
                    <a:pt x="38671" y="97637"/>
                  </a:lnTo>
                  <a:lnTo>
                    <a:pt x="17792" y="135242"/>
                  </a:lnTo>
                  <a:lnTo>
                    <a:pt x="4597" y="176784"/>
                  </a:lnTo>
                  <a:lnTo>
                    <a:pt x="0" y="221361"/>
                  </a:lnTo>
                  <a:lnTo>
                    <a:pt x="4597" y="265950"/>
                  </a:lnTo>
                  <a:lnTo>
                    <a:pt x="17792" y="307492"/>
                  </a:lnTo>
                  <a:lnTo>
                    <a:pt x="38671" y="345097"/>
                  </a:lnTo>
                  <a:lnTo>
                    <a:pt x="66319" y="377863"/>
                  </a:lnTo>
                  <a:lnTo>
                    <a:pt x="99834" y="404901"/>
                  </a:lnTo>
                  <a:lnTo>
                    <a:pt x="138303" y="425323"/>
                  </a:lnTo>
                  <a:lnTo>
                    <a:pt x="180809" y="438226"/>
                  </a:lnTo>
                  <a:lnTo>
                    <a:pt x="226453" y="442722"/>
                  </a:lnTo>
                  <a:lnTo>
                    <a:pt x="272084" y="438226"/>
                  </a:lnTo>
                  <a:lnTo>
                    <a:pt x="314591" y="425323"/>
                  </a:lnTo>
                  <a:lnTo>
                    <a:pt x="353047" y="404901"/>
                  </a:lnTo>
                  <a:lnTo>
                    <a:pt x="386549" y="377863"/>
                  </a:lnTo>
                  <a:lnTo>
                    <a:pt x="397395" y="364998"/>
                  </a:lnTo>
                  <a:lnTo>
                    <a:pt x="414197" y="345097"/>
                  </a:lnTo>
                  <a:lnTo>
                    <a:pt x="435063" y="307492"/>
                  </a:lnTo>
                  <a:lnTo>
                    <a:pt x="448246" y="265950"/>
                  </a:lnTo>
                  <a:lnTo>
                    <a:pt x="452856" y="221361"/>
                  </a:lnTo>
                  <a:close/>
                </a:path>
              </a:pathLst>
            </a:custGeom>
            <a:solidFill>
              <a:srgbClr val="6FAC46"/>
            </a:solidFill>
          </p:spPr>
          <p:txBody>
            <a:bodyPr wrap="square" lIns="0" tIns="0" rIns="0" bIns="0" rtlCol="0"/>
            <a:lstStyle/>
            <a:p>
              <a:endParaRPr/>
            </a:p>
          </p:txBody>
        </p:sp>
        <p:sp>
          <p:nvSpPr>
            <p:cNvPr id="11" name="object 11"/>
            <p:cNvSpPr/>
            <p:nvPr/>
          </p:nvSpPr>
          <p:spPr>
            <a:xfrm>
              <a:off x="2693416" y="4141597"/>
              <a:ext cx="573405" cy="560070"/>
            </a:xfrm>
            <a:custGeom>
              <a:avLst/>
              <a:gdLst/>
              <a:ahLst/>
              <a:cxnLst/>
              <a:rect l="l" t="t" r="r" b="b"/>
              <a:pathLst>
                <a:path w="573404" h="560070">
                  <a:moveTo>
                    <a:pt x="286511" y="0"/>
                  </a:moveTo>
                  <a:lnTo>
                    <a:pt x="240036" y="3664"/>
                  </a:lnTo>
                  <a:lnTo>
                    <a:pt x="195949" y="14272"/>
                  </a:lnTo>
                  <a:lnTo>
                    <a:pt x="154840" y="31248"/>
                  </a:lnTo>
                  <a:lnTo>
                    <a:pt x="117299" y="54014"/>
                  </a:lnTo>
                  <a:lnTo>
                    <a:pt x="83915" y="81994"/>
                  </a:lnTo>
                  <a:lnTo>
                    <a:pt x="55278" y="114610"/>
                  </a:lnTo>
                  <a:lnTo>
                    <a:pt x="31978" y="151287"/>
                  </a:lnTo>
                  <a:lnTo>
                    <a:pt x="14606" y="191446"/>
                  </a:lnTo>
                  <a:lnTo>
                    <a:pt x="3749" y="234512"/>
                  </a:lnTo>
                  <a:lnTo>
                    <a:pt x="0" y="279907"/>
                  </a:lnTo>
                  <a:lnTo>
                    <a:pt x="3749" y="325337"/>
                  </a:lnTo>
                  <a:lnTo>
                    <a:pt x="14606" y="368431"/>
                  </a:lnTo>
                  <a:lnTo>
                    <a:pt x="31978" y="408612"/>
                  </a:lnTo>
                  <a:lnTo>
                    <a:pt x="55278" y="445304"/>
                  </a:lnTo>
                  <a:lnTo>
                    <a:pt x="83915" y="477932"/>
                  </a:lnTo>
                  <a:lnTo>
                    <a:pt x="117299" y="505920"/>
                  </a:lnTo>
                  <a:lnTo>
                    <a:pt x="154840" y="528691"/>
                  </a:lnTo>
                  <a:lnTo>
                    <a:pt x="195949" y="545669"/>
                  </a:lnTo>
                  <a:lnTo>
                    <a:pt x="240036" y="556278"/>
                  </a:lnTo>
                  <a:lnTo>
                    <a:pt x="286511" y="559942"/>
                  </a:lnTo>
                  <a:lnTo>
                    <a:pt x="332987" y="556278"/>
                  </a:lnTo>
                  <a:lnTo>
                    <a:pt x="377074" y="545669"/>
                  </a:lnTo>
                  <a:lnTo>
                    <a:pt x="418183" y="528691"/>
                  </a:lnTo>
                  <a:lnTo>
                    <a:pt x="455724" y="505920"/>
                  </a:lnTo>
                  <a:lnTo>
                    <a:pt x="489108" y="477932"/>
                  </a:lnTo>
                  <a:lnTo>
                    <a:pt x="517745" y="445304"/>
                  </a:lnTo>
                  <a:lnTo>
                    <a:pt x="541045" y="408612"/>
                  </a:lnTo>
                  <a:lnTo>
                    <a:pt x="558417" y="368431"/>
                  </a:lnTo>
                  <a:lnTo>
                    <a:pt x="569274" y="325337"/>
                  </a:lnTo>
                  <a:lnTo>
                    <a:pt x="573023" y="279907"/>
                  </a:lnTo>
                  <a:lnTo>
                    <a:pt x="569274" y="234512"/>
                  </a:lnTo>
                  <a:lnTo>
                    <a:pt x="558417" y="191446"/>
                  </a:lnTo>
                  <a:lnTo>
                    <a:pt x="541045" y="151287"/>
                  </a:lnTo>
                  <a:lnTo>
                    <a:pt x="517745" y="114610"/>
                  </a:lnTo>
                  <a:lnTo>
                    <a:pt x="489108" y="81994"/>
                  </a:lnTo>
                  <a:lnTo>
                    <a:pt x="455724" y="54014"/>
                  </a:lnTo>
                  <a:lnTo>
                    <a:pt x="418183" y="31248"/>
                  </a:lnTo>
                  <a:lnTo>
                    <a:pt x="377074" y="14272"/>
                  </a:lnTo>
                  <a:lnTo>
                    <a:pt x="332987" y="3664"/>
                  </a:lnTo>
                  <a:lnTo>
                    <a:pt x="286511" y="0"/>
                  </a:lnTo>
                  <a:close/>
                </a:path>
              </a:pathLst>
            </a:custGeom>
            <a:solidFill>
              <a:srgbClr val="FFFFFF"/>
            </a:solidFill>
          </p:spPr>
          <p:txBody>
            <a:bodyPr wrap="square" lIns="0" tIns="0" rIns="0" bIns="0" rtlCol="0"/>
            <a:lstStyle/>
            <a:p>
              <a:endParaRPr/>
            </a:p>
          </p:txBody>
        </p:sp>
        <p:sp>
          <p:nvSpPr>
            <p:cNvPr id="12" name="object 12"/>
            <p:cNvSpPr/>
            <p:nvPr/>
          </p:nvSpPr>
          <p:spPr>
            <a:xfrm>
              <a:off x="2753487" y="3634485"/>
              <a:ext cx="453390" cy="1008380"/>
            </a:xfrm>
            <a:custGeom>
              <a:avLst/>
              <a:gdLst/>
              <a:ahLst/>
              <a:cxnLst/>
              <a:rect l="l" t="t" r="r" b="b"/>
              <a:pathLst>
                <a:path w="453389" h="1008379">
                  <a:moveTo>
                    <a:pt x="289941" y="63500"/>
                  </a:moveTo>
                  <a:lnTo>
                    <a:pt x="284937" y="38798"/>
                  </a:lnTo>
                  <a:lnTo>
                    <a:pt x="271322" y="18605"/>
                  </a:lnTo>
                  <a:lnTo>
                    <a:pt x="251142" y="5003"/>
                  </a:lnTo>
                  <a:lnTo>
                    <a:pt x="226441" y="0"/>
                  </a:lnTo>
                  <a:lnTo>
                    <a:pt x="201726" y="5003"/>
                  </a:lnTo>
                  <a:lnTo>
                    <a:pt x="181546" y="18605"/>
                  </a:lnTo>
                  <a:lnTo>
                    <a:pt x="167932" y="38798"/>
                  </a:lnTo>
                  <a:lnTo>
                    <a:pt x="162941" y="63500"/>
                  </a:lnTo>
                  <a:lnTo>
                    <a:pt x="167932" y="88214"/>
                  </a:lnTo>
                  <a:lnTo>
                    <a:pt x="181546" y="108407"/>
                  </a:lnTo>
                  <a:lnTo>
                    <a:pt x="201726" y="122008"/>
                  </a:lnTo>
                  <a:lnTo>
                    <a:pt x="216916" y="125082"/>
                  </a:lnTo>
                  <a:lnTo>
                    <a:pt x="216916" y="565785"/>
                  </a:lnTo>
                  <a:lnTo>
                    <a:pt x="226441" y="565785"/>
                  </a:lnTo>
                  <a:lnTo>
                    <a:pt x="235966" y="565785"/>
                  </a:lnTo>
                  <a:lnTo>
                    <a:pt x="235966" y="127000"/>
                  </a:lnTo>
                  <a:lnTo>
                    <a:pt x="235966" y="125082"/>
                  </a:lnTo>
                  <a:lnTo>
                    <a:pt x="251142" y="122008"/>
                  </a:lnTo>
                  <a:lnTo>
                    <a:pt x="271322" y="108407"/>
                  </a:lnTo>
                  <a:lnTo>
                    <a:pt x="284937" y="88214"/>
                  </a:lnTo>
                  <a:lnTo>
                    <a:pt x="289941" y="63500"/>
                  </a:lnTo>
                  <a:close/>
                </a:path>
                <a:path w="453389" h="1008379">
                  <a:moveTo>
                    <a:pt x="452882" y="787019"/>
                  </a:moveTo>
                  <a:lnTo>
                    <a:pt x="448271" y="742442"/>
                  </a:lnTo>
                  <a:lnTo>
                    <a:pt x="435089" y="700913"/>
                  </a:lnTo>
                  <a:lnTo>
                    <a:pt x="414210" y="663333"/>
                  </a:lnTo>
                  <a:lnTo>
                    <a:pt x="386562" y="630593"/>
                  </a:lnTo>
                  <a:lnTo>
                    <a:pt x="375285" y="621512"/>
                  </a:lnTo>
                  <a:lnTo>
                    <a:pt x="375285" y="787019"/>
                  </a:lnTo>
                  <a:lnTo>
                    <a:pt x="367690" y="832459"/>
                  </a:lnTo>
                  <a:lnTo>
                    <a:pt x="346544" y="871918"/>
                  </a:lnTo>
                  <a:lnTo>
                    <a:pt x="314325" y="903046"/>
                  </a:lnTo>
                  <a:lnTo>
                    <a:pt x="273469" y="923455"/>
                  </a:lnTo>
                  <a:lnTo>
                    <a:pt x="226441" y="930783"/>
                  </a:lnTo>
                  <a:lnTo>
                    <a:pt x="179400" y="923455"/>
                  </a:lnTo>
                  <a:lnTo>
                    <a:pt x="138544" y="903046"/>
                  </a:lnTo>
                  <a:lnTo>
                    <a:pt x="106324" y="871918"/>
                  </a:lnTo>
                  <a:lnTo>
                    <a:pt x="85178" y="832459"/>
                  </a:lnTo>
                  <a:lnTo>
                    <a:pt x="77597" y="787019"/>
                  </a:lnTo>
                  <a:lnTo>
                    <a:pt x="85178" y="741654"/>
                  </a:lnTo>
                  <a:lnTo>
                    <a:pt x="106324" y="702233"/>
                  </a:lnTo>
                  <a:lnTo>
                    <a:pt x="138544" y="671118"/>
                  </a:lnTo>
                  <a:lnTo>
                    <a:pt x="179400" y="650722"/>
                  </a:lnTo>
                  <a:lnTo>
                    <a:pt x="226441" y="643382"/>
                  </a:lnTo>
                  <a:lnTo>
                    <a:pt x="273469" y="650722"/>
                  </a:lnTo>
                  <a:lnTo>
                    <a:pt x="314325" y="671118"/>
                  </a:lnTo>
                  <a:lnTo>
                    <a:pt x="346544" y="702233"/>
                  </a:lnTo>
                  <a:lnTo>
                    <a:pt x="367690" y="741654"/>
                  </a:lnTo>
                  <a:lnTo>
                    <a:pt x="375285" y="787019"/>
                  </a:lnTo>
                  <a:lnTo>
                    <a:pt x="375285" y="621512"/>
                  </a:lnTo>
                  <a:lnTo>
                    <a:pt x="353060" y="603580"/>
                  </a:lnTo>
                  <a:lnTo>
                    <a:pt x="314591" y="583184"/>
                  </a:lnTo>
                  <a:lnTo>
                    <a:pt x="272084" y="570280"/>
                  </a:lnTo>
                  <a:lnTo>
                    <a:pt x="226441" y="565785"/>
                  </a:lnTo>
                  <a:lnTo>
                    <a:pt x="180784" y="570280"/>
                  </a:lnTo>
                  <a:lnTo>
                    <a:pt x="138277" y="583184"/>
                  </a:lnTo>
                  <a:lnTo>
                    <a:pt x="99809" y="603580"/>
                  </a:lnTo>
                  <a:lnTo>
                    <a:pt x="66306" y="630593"/>
                  </a:lnTo>
                  <a:lnTo>
                    <a:pt x="38658" y="663333"/>
                  </a:lnTo>
                  <a:lnTo>
                    <a:pt x="17780" y="700913"/>
                  </a:lnTo>
                  <a:lnTo>
                    <a:pt x="4597" y="742442"/>
                  </a:lnTo>
                  <a:lnTo>
                    <a:pt x="0" y="787019"/>
                  </a:lnTo>
                  <a:lnTo>
                    <a:pt x="4597" y="831646"/>
                  </a:lnTo>
                  <a:lnTo>
                    <a:pt x="17780" y="873213"/>
                  </a:lnTo>
                  <a:lnTo>
                    <a:pt x="38658" y="910805"/>
                  </a:lnTo>
                  <a:lnTo>
                    <a:pt x="66306" y="943571"/>
                  </a:lnTo>
                  <a:lnTo>
                    <a:pt x="99809" y="970597"/>
                  </a:lnTo>
                  <a:lnTo>
                    <a:pt x="138277" y="990993"/>
                  </a:lnTo>
                  <a:lnTo>
                    <a:pt x="180784" y="1003896"/>
                  </a:lnTo>
                  <a:lnTo>
                    <a:pt x="226441" y="1008380"/>
                  </a:lnTo>
                  <a:lnTo>
                    <a:pt x="272084" y="1003896"/>
                  </a:lnTo>
                  <a:lnTo>
                    <a:pt x="314591" y="990993"/>
                  </a:lnTo>
                  <a:lnTo>
                    <a:pt x="353060" y="970597"/>
                  </a:lnTo>
                  <a:lnTo>
                    <a:pt x="386562" y="943571"/>
                  </a:lnTo>
                  <a:lnTo>
                    <a:pt x="397344" y="930783"/>
                  </a:lnTo>
                  <a:lnTo>
                    <a:pt x="414210" y="910805"/>
                  </a:lnTo>
                  <a:lnTo>
                    <a:pt x="435089" y="873213"/>
                  </a:lnTo>
                  <a:lnTo>
                    <a:pt x="448271" y="831646"/>
                  </a:lnTo>
                  <a:lnTo>
                    <a:pt x="452882" y="787019"/>
                  </a:lnTo>
                  <a:close/>
                </a:path>
              </a:pathLst>
            </a:custGeom>
            <a:solidFill>
              <a:srgbClr val="4471C4"/>
            </a:solidFill>
          </p:spPr>
          <p:txBody>
            <a:bodyPr wrap="square" lIns="0" tIns="0" rIns="0" bIns="0" rtlCol="0"/>
            <a:lstStyle/>
            <a:p>
              <a:endParaRPr/>
            </a:p>
          </p:txBody>
        </p:sp>
        <p:sp>
          <p:nvSpPr>
            <p:cNvPr id="13" name="object 13"/>
            <p:cNvSpPr/>
            <p:nvPr/>
          </p:nvSpPr>
          <p:spPr>
            <a:xfrm>
              <a:off x="4642230" y="4157472"/>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69"/>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14" name="object 14"/>
            <p:cNvSpPr/>
            <p:nvPr/>
          </p:nvSpPr>
          <p:spPr>
            <a:xfrm>
              <a:off x="4702302" y="4216145"/>
              <a:ext cx="453390" cy="1008380"/>
            </a:xfrm>
            <a:custGeom>
              <a:avLst/>
              <a:gdLst/>
              <a:ahLst/>
              <a:cxnLst/>
              <a:rect l="l" t="t" r="r" b="b"/>
              <a:pathLst>
                <a:path w="453389" h="1008379">
                  <a:moveTo>
                    <a:pt x="289941" y="944880"/>
                  </a:moveTo>
                  <a:lnTo>
                    <a:pt x="284937" y="920178"/>
                  </a:lnTo>
                  <a:lnTo>
                    <a:pt x="271335" y="899985"/>
                  </a:lnTo>
                  <a:lnTo>
                    <a:pt x="251142" y="886383"/>
                  </a:lnTo>
                  <a:lnTo>
                    <a:pt x="235966" y="883310"/>
                  </a:lnTo>
                  <a:lnTo>
                    <a:pt x="235966" y="881380"/>
                  </a:lnTo>
                  <a:lnTo>
                    <a:pt x="235966" y="442722"/>
                  </a:lnTo>
                  <a:lnTo>
                    <a:pt x="226441" y="442722"/>
                  </a:lnTo>
                  <a:lnTo>
                    <a:pt x="216916" y="442722"/>
                  </a:lnTo>
                  <a:lnTo>
                    <a:pt x="216916" y="883310"/>
                  </a:lnTo>
                  <a:lnTo>
                    <a:pt x="201726" y="886383"/>
                  </a:lnTo>
                  <a:lnTo>
                    <a:pt x="181533" y="899985"/>
                  </a:lnTo>
                  <a:lnTo>
                    <a:pt x="167932" y="920178"/>
                  </a:lnTo>
                  <a:lnTo>
                    <a:pt x="162941" y="944880"/>
                  </a:lnTo>
                  <a:lnTo>
                    <a:pt x="167932" y="969594"/>
                  </a:lnTo>
                  <a:lnTo>
                    <a:pt x="181533" y="989774"/>
                  </a:lnTo>
                  <a:lnTo>
                    <a:pt x="201726" y="1003388"/>
                  </a:lnTo>
                  <a:lnTo>
                    <a:pt x="226441" y="1008380"/>
                  </a:lnTo>
                  <a:lnTo>
                    <a:pt x="251142" y="1003388"/>
                  </a:lnTo>
                  <a:lnTo>
                    <a:pt x="271335" y="989774"/>
                  </a:lnTo>
                  <a:lnTo>
                    <a:pt x="284937" y="969594"/>
                  </a:lnTo>
                  <a:lnTo>
                    <a:pt x="289941" y="944880"/>
                  </a:lnTo>
                  <a:close/>
                </a:path>
                <a:path w="453389" h="1008379">
                  <a:moveTo>
                    <a:pt x="452882" y="221361"/>
                  </a:moveTo>
                  <a:lnTo>
                    <a:pt x="448271" y="176784"/>
                  </a:lnTo>
                  <a:lnTo>
                    <a:pt x="435089" y="135242"/>
                  </a:lnTo>
                  <a:lnTo>
                    <a:pt x="414210" y="97637"/>
                  </a:lnTo>
                  <a:lnTo>
                    <a:pt x="386562" y="64871"/>
                  </a:lnTo>
                  <a:lnTo>
                    <a:pt x="375285" y="55778"/>
                  </a:lnTo>
                  <a:lnTo>
                    <a:pt x="375285" y="221361"/>
                  </a:lnTo>
                  <a:lnTo>
                    <a:pt x="367690" y="266788"/>
                  </a:lnTo>
                  <a:lnTo>
                    <a:pt x="346544" y="306222"/>
                  </a:lnTo>
                  <a:lnTo>
                    <a:pt x="314325" y="337299"/>
                  </a:lnTo>
                  <a:lnTo>
                    <a:pt x="273469" y="357682"/>
                  </a:lnTo>
                  <a:lnTo>
                    <a:pt x="226441" y="364998"/>
                  </a:lnTo>
                  <a:lnTo>
                    <a:pt x="179412" y="357682"/>
                  </a:lnTo>
                  <a:lnTo>
                    <a:pt x="138595" y="337299"/>
                  </a:lnTo>
                  <a:lnTo>
                    <a:pt x="106400" y="306222"/>
                  </a:lnTo>
                  <a:lnTo>
                    <a:pt x="85293" y="266788"/>
                  </a:lnTo>
                  <a:lnTo>
                    <a:pt x="77724" y="221361"/>
                  </a:lnTo>
                  <a:lnTo>
                    <a:pt x="85293" y="175945"/>
                  </a:lnTo>
                  <a:lnTo>
                    <a:pt x="106400" y="136512"/>
                  </a:lnTo>
                  <a:lnTo>
                    <a:pt x="138595" y="105435"/>
                  </a:lnTo>
                  <a:lnTo>
                    <a:pt x="179412" y="85051"/>
                  </a:lnTo>
                  <a:lnTo>
                    <a:pt x="226441" y="77724"/>
                  </a:lnTo>
                  <a:lnTo>
                    <a:pt x="273469" y="85051"/>
                  </a:lnTo>
                  <a:lnTo>
                    <a:pt x="314325" y="105435"/>
                  </a:lnTo>
                  <a:lnTo>
                    <a:pt x="346544" y="136512"/>
                  </a:lnTo>
                  <a:lnTo>
                    <a:pt x="367690" y="175945"/>
                  </a:lnTo>
                  <a:lnTo>
                    <a:pt x="375285" y="221361"/>
                  </a:lnTo>
                  <a:lnTo>
                    <a:pt x="375285" y="55778"/>
                  </a:lnTo>
                  <a:lnTo>
                    <a:pt x="353060" y="37833"/>
                  </a:lnTo>
                  <a:lnTo>
                    <a:pt x="314591" y="17411"/>
                  </a:lnTo>
                  <a:lnTo>
                    <a:pt x="272084" y="4508"/>
                  </a:lnTo>
                  <a:lnTo>
                    <a:pt x="226441" y="0"/>
                  </a:lnTo>
                  <a:lnTo>
                    <a:pt x="180822" y="4508"/>
                  </a:lnTo>
                  <a:lnTo>
                    <a:pt x="138328" y="17411"/>
                  </a:lnTo>
                  <a:lnTo>
                    <a:pt x="99872" y="37833"/>
                  </a:lnTo>
                  <a:lnTo>
                    <a:pt x="66357" y="64871"/>
                  </a:lnTo>
                  <a:lnTo>
                    <a:pt x="38684" y="97637"/>
                  </a:lnTo>
                  <a:lnTo>
                    <a:pt x="17805" y="135242"/>
                  </a:lnTo>
                  <a:lnTo>
                    <a:pt x="4597" y="176784"/>
                  </a:lnTo>
                  <a:lnTo>
                    <a:pt x="0" y="221361"/>
                  </a:lnTo>
                  <a:lnTo>
                    <a:pt x="4597" y="265950"/>
                  </a:lnTo>
                  <a:lnTo>
                    <a:pt x="17805" y="307492"/>
                  </a:lnTo>
                  <a:lnTo>
                    <a:pt x="38684" y="345097"/>
                  </a:lnTo>
                  <a:lnTo>
                    <a:pt x="66357" y="377863"/>
                  </a:lnTo>
                  <a:lnTo>
                    <a:pt x="99872" y="404901"/>
                  </a:lnTo>
                  <a:lnTo>
                    <a:pt x="138328" y="425323"/>
                  </a:lnTo>
                  <a:lnTo>
                    <a:pt x="180822" y="438226"/>
                  </a:lnTo>
                  <a:lnTo>
                    <a:pt x="226441" y="442722"/>
                  </a:lnTo>
                  <a:lnTo>
                    <a:pt x="272084" y="438226"/>
                  </a:lnTo>
                  <a:lnTo>
                    <a:pt x="314591" y="425323"/>
                  </a:lnTo>
                  <a:lnTo>
                    <a:pt x="353060" y="404901"/>
                  </a:lnTo>
                  <a:lnTo>
                    <a:pt x="386562" y="377863"/>
                  </a:lnTo>
                  <a:lnTo>
                    <a:pt x="414210" y="345097"/>
                  </a:lnTo>
                  <a:lnTo>
                    <a:pt x="435089" y="307492"/>
                  </a:lnTo>
                  <a:lnTo>
                    <a:pt x="448271" y="265950"/>
                  </a:lnTo>
                  <a:lnTo>
                    <a:pt x="452882" y="221361"/>
                  </a:lnTo>
                  <a:close/>
                </a:path>
              </a:pathLst>
            </a:custGeom>
            <a:solidFill>
              <a:srgbClr val="EC7C30"/>
            </a:solidFill>
          </p:spPr>
          <p:txBody>
            <a:bodyPr wrap="square" lIns="0" tIns="0" rIns="0" bIns="0" rtlCol="0"/>
            <a:lstStyle/>
            <a:p>
              <a:endParaRPr/>
            </a:p>
          </p:txBody>
        </p:sp>
        <p:sp>
          <p:nvSpPr>
            <p:cNvPr id="15" name="object 15"/>
            <p:cNvSpPr/>
            <p:nvPr/>
          </p:nvSpPr>
          <p:spPr>
            <a:xfrm>
              <a:off x="6580631" y="4162552"/>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70"/>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16" name="object 16"/>
            <p:cNvSpPr/>
            <p:nvPr/>
          </p:nvSpPr>
          <p:spPr>
            <a:xfrm>
              <a:off x="6640703" y="3655567"/>
              <a:ext cx="453390" cy="1008380"/>
            </a:xfrm>
            <a:custGeom>
              <a:avLst/>
              <a:gdLst/>
              <a:ahLst/>
              <a:cxnLst/>
              <a:rect l="l" t="t" r="r" b="b"/>
              <a:pathLst>
                <a:path w="453390" h="1008379">
                  <a:moveTo>
                    <a:pt x="289941" y="63500"/>
                  </a:moveTo>
                  <a:lnTo>
                    <a:pt x="284937" y="38798"/>
                  </a:lnTo>
                  <a:lnTo>
                    <a:pt x="271335" y="18605"/>
                  </a:lnTo>
                  <a:lnTo>
                    <a:pt x="251142" y="5003"/>
                  </a:lnTo>
                  <a:lnTo>
                    <a:pt x="226441" y="0"/>
                  </a:lnTo>
                  <a:lnTo>
                    <a:pt x="201726" y="5003"/>
                  </a:lnTo>
                  <a:lnTo>
                    <a:pt x="181546" y="18605"/>
                  </a:lnTo>
                  <a:lnTo>
                    <a:pt x="167932" y="38798"/>
                  </a:lnTo>
                  <a:lnTo>
                    <a:pt x="162941" y="63500"/>
                  </a:lnTo>
                  <a:lnTo>
                    <a:pt x="167932" y="88214"/>
                  </a:lnTo>
                  <a:lnTo>
                    <a:pt x="181546" y="108394"/>
                  </a:lnTo>
                  <a:lnTo>
                    <a:pt x="201726" y="122008"/>
                  </a:lnTo>
                  <a:lnTo>
                    <a:pt x="216916" y="125082"/>
                  </a:lnTo>
                  <a:lnTo>
                    <a:pt x="216916" y="565658"/>
                  </a:lnTo>
                  <a:lnTo>
                    <a:pt x="226441" y="565658"/>
                  </a:lnTo>
                  <a:lnTo>
                    <a:pt x="235966" y="565658"/>
                  </a:lnTo>
                  <a:lnTo>
                    <a:pt x="235966" y="127000"/>
                  </a:lnTo>
                  <a:lnTo>
                    <a:pt x="235966" y="125082"/>
                  </a:lnTo>
                  <a:lnTo>
                    <a:pt x="251142" y="122008"/>
                  </a:lnTo>
                  <a:lnTo>
                    <a:pt x="271335" y="108394"/>
                  </a:lnTo>
                  <a:lnTo>
                    <a:pt x="284937" y="88214"/>
                  </a:lnTo>
                  <a:lnTo>
                    <a:pt x="289941" y="63500"/>
                  </a:lnTo>
                  <a:close/>
                </a:path>
                <a:path w="453390" h="1008379">
                  <a:moveTo>
                    <a:pt x="452882" y="787019"/>
                  </a:moveTo>
                  <a:lnTo>
                    <a:pt x="448271" y="742403"/>
                  </a:lnTo>
                  <a:lnTo>
                    <a:pt x="435089" y="700836"/>
                  </a:lnTo>
                  <a:lnTo>
                    <a:pt x="414210" y="663244"/>
                  </a:lnTo>
                  <a:lnTo>
                    <a:pt x="386562" y="630478"/>
                  </a:lnTo>
                  <a:lnTo>
                    <a:pt x="375158" y="621284"/>
                  </a:lnTo>
                  <a:lnTo>
                    <a:pt x="375158" y="787019"/>
                  </a:lnTo>
                  <a:lnTo>
                    <a:pt x="367576" y="832446"/>
                  </a:lnTo>
                  <a:lnTo>
                    <a:pt x="346468" y="871880"/>
                  </a:lnTo>
                  <a:lnTo>
                    <a:pt x="314274" y="902957"/>
                  </a:lnTo>
                  <a:lnTo>
                    <a:pt x="273456" y="923340"/>
                  </a:lnTo>
                  <a:lnTo>
                    <a:pt x="226441" y="930656"/>
                  </a:lnTo>
                  <a:lnTo>
                    <a:pt x="179400" y="923340"/>
                  </a:lnTo>
                  <a:lnTo>
                    <a:pt x="138544" y="902957"/>
                  </a:lnTo>
                  <a:lnTo>
                    <a:pt x="106324" y="871880"/>
                  </a:lnTo>
                  <a:lnTo>
                    <a:pt x="85178" y="832446"/>
                  </a:lnTo>
                  <a:lnTo>
                    <a:pt x="77597" y="787019"/>
                  </a:lnTo>
                  <a:lnTo>
                    <a:pt x="85178" y="741603"/>
                  </a:lnTo>
                  <a:lnTo>
                    <a:pt x="106324" y="702170"/>
                  </a:lnTo>
                  <a:lnTo>
                    <a:pt x="138544" y="671093"/>
                  </a:lnTo>
                  <a:lnTo>
                    <a:pt x="179400" y="650709"/>
                  </a:lnTo>
                  <a:lnTo>
                    <a:pt x="226441" y="643382"/>
                  </a:lnTo>
                  <a:lnTo>
                    <a:pt x="273456" y="650709"/>
                  </a:lnTo>
                  <a:lnTo>
                    <a:pt x="314274" y="671093"/>
                  </a:lnTo>
                  <a:lnTo>
                    <a:pt x="346468" y="702170"/>
                  </a:lnTo>
                  <a:lnTo>
                    <a:pt x="367576" y="741603"/>
                  </a:lnTo>
                  <a:lnTo>
                    <a:pt x="375158" y="787019"/>
                  </a:lnTo>
                  <a:lnTo>
                    <a:pt x="375158" y="621284"/>
                  </a:lnTo>
                  <a:lnTo>
                    <a:pt x="353060" y="603453"/>
                  </a:lnTo>
                  <a:lnTo>
                    <a:pt x="314591" y="583057"/>
                  </a:lnTo>
                  <a:lnTo>
                    <a:pt x="272084" y="570153"/>
                  </a:lnTo>
                  <a:lnTo>
                    <a:pt x="226441" y="565658"/>
                  </a:lnTo>
                  <a:lnTo>
                    <a:pt x="180784" y="570153"/>
                  </a:lnTo>
                  <a:lnTo>
                    <a:pt x="138277" y="583057"/>
                  </a:lnTo>
                  <a:lnTo>
                    <a:pt x="99809" y="603453"/>
                  </a:lnTo>
                  <a:lnTo>
                    <a:pt x="66306" y="630478"/>
                  </a:lnTo>
                  <a:lnTo>
                    <a:pt x="38658" y="663244"/>
                  </a:lnTo>
                  <a:lnTo>
                    <a:pt x="17780" y="700836"/>
                  </a:lnTo>
                  <a:lnTo>
                    <a:pt x="4597" y="742403"/>
                  </a:lnTo>
                  <a:lnTo>
                    <a:pt x="0" y="787019"/>
                  </a:lnTo>
                  <a:lnTo>
                    <a:pt x="4597" y="831608"/>
                  </a:lnTo>
                  <a:lnTo>
                    <a:pt x="17780" y="873137"/>
                  </a:lnTo>
                  <a:lnTo>
                    <a:pt x="38658" y="910717"/>
                  </a:lnTo>
                  <a:lnTo>
                    <a:pt x="66306" y="943457"/>
                  </a:lnTo>
                  <a:lnTo>
                    <a:pt x="99809" y="970470"/>
                  </a:lnTo>
                  <a:lnTo>
                    <a:pt x="138277" y="990866"/>
                  </a:lnTo>
                  <a:lnTo>
                    <a:pt x="180784" y="1003769"/>
                  </a:lnTo>
                  <a:lnTo>
                    <a:pt x="226441" y="1008253"/>
                  </a:lnTo>
                  <a:lnTo>
                    <a:pt x="272084" y="1003769"/>
                  </a:lnTo>
                  <a:lnTo>
                    <a:pt x="314591" y="990866"/>
                  </a:lnTo>
                  <a:lnTo>
                    <a:pt x="353060" y="970470"/>
                  </a:lnTo>
                  <a:lnTo>
                    <a:pt x="386562" y="943457"/>
                  </a:lnTo>
                  <a:lnTo>
                    <a:pt x="397370" y="930656"/>
                  </a:lnTo>
                  <a:lnTo>
                    <a:pt x="414210" y="910717"/>
                  </a:lnTo>
                  <a:lnTo>
                    <a:pt x="435089" y="873137"/>
                  </a:lnTo>
                  <a:lnTo>
                    <a:pt x="448271" y="831608"/>
                  </a:lnTo>
                  <a:lnTo>
                    <a:pt x="452882" y="787019"/>
                  </a:lnTo>
                  <a:close/>
                </a:path>
              </a:pathLst>
            </a:custGeom>
            <a:solidFill>
              <a:srgbClr val="A4A4A4"/>
            </a:solidFill>
          </p:spPr>
          <p:txBody>
            <a:bodyPr wrap="square" lIns="0" tIns="0" rIns="0" bIns="0" rtlCol="0"/>
            <a:lstStyle/>
            <a:p>
              <a:endParaRPr/>
            </a:p>
          </p:txBody>
        </p:sp>
        <p:sp>
          <p:nvSpPr>
            <p:cNvPr id="17" name="object 17"/>
            <p:cNvSpPr/>
            <p:nvPr/>
          </p:nvSpPr>
          <p:spPr>
            <a:xfrm>
              <a:off x="8518906" y="4157472"/>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69"/>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18" name="object 18"/>
            <p:cNvSpPr/>
            <p:nvPr/>
          </p:nvSpPr>
          <p:spPr>
            <a:xfrm>
              <a:off x="8578977" y="4216145"/>
              <a:ext cx="453390" cy="1008380"/>
            </a:xfrm>
            <a:custGeom>
              <a:avLst/>
              <a:gdLst/>
              <a:ahLst/>
              <a:cxnLst/>
              <a:rect l="l" t="t" r="r" b="b"/>
              <a:pathLst>
                <a:path w="453390" h="1008379">
                  <a:moveTo>
                    <a:pt x="289941" y="944880"/>
                  </a:moveTo>
                  <a:lnTo>
                    <a:pt x="284937" y="920178"/>
                  </a:lnTo>
                  <a:lnTo>
                    <a:pt x="271335" y="899985"/>
                  </a:lnTo>
                  <a:lnTo>
                    <a:pt x="251142" y="886383"/>
                  </a:lnTo>
                  <a:lnTo>
                    <a:pt x="235966" y="883310"/>
                  </a:lnTo>
                  <a:lnTo>
                    <a:pt x="235966" y="881380"/>
                  </a:lnTo>
                  <a:lnTo>
                    <a:pt x="235966" y="442722"/>
                  </a:lnTo>
                  <a:lnTo>
                    <a:pt x="226441" y="442722"/>
                  </a:lnTo>
                  <a:lnTo>
                    <a:pt x="216916" y="442722"/>
                  </a:lnTo>
                  <a:lnTo>
                    <a:pt x="216916" y="883310"/>
                  </a:lnTo>
                  <a:lnTo>
                    <a:pt x="201726" y="886383"/>
                  </a:lnTo>
                  <a:lnTo>
                    <a:pt x="181546" y="899985"/>
                  </a:lnTo>
                  <a:lnTo>
                    <a:pt x="167932" y="920178"/>
                  </a:lnTo>
                  <a:lnTo>
                    <a:pt x="162941" y="944880"/>
                  </a:lnTo>
                  <a:lnTo>
                    <a:pt x="167932" y="969594"/>
                  </a:lnTo>
                  <a:lnTo>
                    <a:pt x="181546" y="989774"/>
                  </a:lnTo>
                  <a:lnTo>
                    <a:pt x="201726" y="1003388"/>
                  </a:lnTo>
                  <a:lnTo>
                    <a:pt x="226441" y="1008380"/>
                  </a:lnTo>
                  <a:lnTo>
                    <a:pt x="251142" y="1003388"/>
                  </a:lnTo>
                  <a:lnTo>
                    <a:pt x="271335" y="989774"/>
                  </a:lnTo>
                  <a:lnTo>
                    <a:pt x="284937" y="969594"/>
                  </a:lnTo>
                  <a:lnTo>
                    <a:pt x="289941" y="944880"/>
                  </a:lnTo>
                  <a:close/>
                </a:path>
                <a:path w="453390" h="1008379">
                  <a:moveTo>
                    <a:pt x="452882" y="221361"/>
                  </a:moveTo>
                  <a:lnTo>
                    <a:pt x="448271" y="176784"/>
                  </a:lnTo>
                  <a:lnTo>
                    <a:pt x="435089" y="135242"/>
                  </a:lnTo>
                  <a:lnTo>
                    <a:pt x="414210" y="97637"/>
                  </a:lnTo>
                  <a:lnTo>
                    <a:pt x="386562" y="64871"/>
                  </a:lnTo>
                  <a:lnTo>
                    <a:pt x="375285" y="55778"/>
                  </a:lnTo>
                  <a:lnTo>
                    <a:pt x="375285" y="221361"/>
                  </a:lnTo>
                  <a:lnTo>
                    <a:pt x="367690" y="266788"/>
                  </a:lnTo>
                  <a:lnTo>
                    <a:pt x="346544" y="306222"/>
                  </a:lnTo>
                  <a:lnTo>
                    <a:pt x="314325" y="337299"/>
                  </a:lnTo>
                  <a:lnTo>
                    <a:pt x="273469" y="357682"/>
                  </a:lnTo>
                  <a:lnTo>
                    <a:pt x="226441" y="364998"/>
                  </a:lnTo>
                  <a:lnTo>
                    <a:pt x="179400" y="357682"/>
                  </a:lnTo>
                  <a:lnTo>
                    <a:pt x="138544" y="337299"/>
                  </a:lnTo>
                  <a:lnTo>
                    <a:pt x="106324" y="306222"/>
                  </a:lnTo>
                  <a:lnTo>
                    <a:pt x="85178" y="266788"/>
                  </a:lnTo>
                  <a:lnTo>
                    <a:pt x="77597" y="221361"/>
                  </a:lnTo>
                  <a:lnTo>
                    <a:pt x="85178" y="175945"/>
                  </a:lnTo>
                  <a:lnTo>
                    <a:pt x="106324" y="136512"/>
                  </a:lnTo>
                  <a:lnTo>
                    <a:pt x="138544" y="105435"/>
                  </a:lnTo>
                  <a:lnTo>
                    <a:pt x="179400" y="85051"/>
                  </a:lnTo>
                  <a:lnTo>
                    <a:pt x="226441" y="77724"/>
                  </a:lnTo>
                  <a:lnTo>
                    <a:pt x="273469" y="85051"/>
                  </a:lnTo>
                  <a:lnTo>
                    <a:pt x="314325" y="105435"/>
                  </a:lnTo>
                  <a:lnTo>
                    <a:pt x="346544" y="136512"/>
                  </a:lnTo>
                  <a:lnTo>
                    <a:pt x="367690" y="175945"/>
                  </a:lnTo>
                  <a:lnTo>
                    <a:pt x="375285" y="221361"/>
                  </a:lnTo>
                  <a:lnTo>
                    <a:pt x="375285" y="55778"/>
                  </a:lnTo>
                  <a:lnTo>
                    <a:pt x="353060" y="37833"/>
                  </a:lnTo>
                  <a:lnTo>
                    <a:pt x="314591" y="17411"/>
                  </a:lnTo>
                  <a:lnTo>
                    <a:pt x="272084" y="4508"/>
                  </a:lnTo>
                  <a:lnTo>
                    <a:pt x="226441" y="0"/>
                  </a:lnTo>
                  <a:lnTo>
                    <a:pt x="180784" y="4508"/>
                  </a:lnTo>
                  <a:lnTo>
                    <a:pt x="138277" y="17411"/>
                  </a:lnTo>
                  <a:lnTo>
                    <a:pt x="99809" y="37833"/>
                  </a:lnTo>
                  <a:lnTo>
                    <a:pt x="66306" y="64871"/>
                  </a:lnTo>
                  <a:lnTo>
                    <a:pt x="38658" y="97637"/>
                  </a:lnTo>
                  <a:lnTo>
                    <a:pt x="17780" y="135242"/>
                  </a:lnTo>
                  <a:lnTo>
                    <a:pt x="4597" y="176784"/>
                  </a:lnTo>
                  <a:lnTo>
                    <a:pt x="0" y="221361"/>
                  </a:lnTo>
                  <a:lnTo>
                    <a:pt x="4597" y="265950"/>
                  </a:lnTo>
                  <a:lnTo>
                    <a:pt x="17780" y="307492"/>
                  </a:lnTo>
                  <a:lnTo>
                    <a:pt x="38658" y="345097"/>
                  </a:lnTo>
                  <a:lnTo>
                    <a:pt x="66306" y="377863"/>
                  </a:lnTo>
                  <a:lnTo>
                    <a:pt x="99809" y="404901"/>
                  </a:lnTo>
                  <a:lnTo>
                    <a:pt x="138277" y="425323"/>
                  </a:lnTo>
                  <a:lnTo>
                    <a:pt x="180784" y="438226"/>
                  </a:lnTo>
                  <a:lnTo>
                    <a:pt x="226441" y="442722"/>
                  </a:lnTo>
                  <a:lnTo>
                    <a:pt x="272084" y="438226"/>
                  </a:lnTo>
                  <a:lnTo>
                    <a:pt x="314591" y="425323"/>
                  </a:lnTo>
                  <a:lnTo>
                    <a:pt x="353060" y="404901"/>
                  </a:lnTo>
                  <a:lnTo>
                    <a:pt x="386562" y="377863"/>
                  </a:lnTo>
                  <a:lnTo>
                    <a:pt x="414210" y="345097"/>
                  </a:lnTo>
                  <a:lnTo>
                    <a:pt x="435089" y="307492"/>
                  </a:lnTo>
                  <a:lnTo>
                    <a:pt x="448271" y="265950"/>
                  </a:lnTo>
                  <a:lnTo>
                    <a:pt x="452882" y="221361"/>
                  </a:lnTo>
                  <a:close/>
                </a:path>
              </a:pathLst>
            </a:custGeom>
            <a:solidFill>
              <a:srgbClr val="FFC000"/>
            </a:solidFill>
          </p:spPr>
          <p:txBody>
            <a:bodyPr wrap="square" lIns="0" tIns="0" rIns="0" bIns="0" rtlCol="0"/>
            <a:lstStyle/>
            <a:p>
              <a:endParaRPr/>
            </a:p>
          </p:txBody>
        </p:sp>
        <p:sp>
          <p:nvSpPr>
            <p:cNvPr id="19" name="object 19"/>
            <p:cNvSpPr/>
            <p:nvPr/>
          </p:nvSpPr>
          <p:spPr>
            <a:xfrm>
              <a:off x="9893046" y="4252976"/>
              <a:ext cx="2082164" cy="396240"/>
            </a:xfrm>
            <a:custGeom>
              <a:avLst/>
              <a:gdLst/>
              <a:ahLst/>
              <a:cxnLst/>
              <a:rect l="l" t="t" r="r" b="b"/>
              <a:pathLst>
                <a:path w="2082165" h="396239">
                  <a:moveTo>
                    <a:pt x="1873757" y="0"/>
                  </a:moveTo>
                  <a:lnTo>
                    <a:pt x="0" y="0"/>
                  </a:lnTo>
                  <a:lnTo>
                    <a:pt x="207899" y="197865"/>
                  </a:lnTo>
                  <a:lnTo>
                    <a:pt x="0" y="395732"/>
                  </a:lnTo>
                  <a:lnTo>
                    <a:pt x="1873757" y="395732"/>
                  </a:lnTo>
                  <a:lnTo>
                    <a:pt x="2081656" y="197865"/>
                  </a:lnTo>
                  <a:lnTo>
                    <a:pt x="1873757" y="0"/>
                  </a:lnTo>
                  <a:close/>
                </a:path>
              </a:pathLst>
            </a:custGeom>
            <a:solidFill>
              <a:srgbClr val="4471C4"/>
            </a:solidFill>
          </p:spPr>
          <p:txBody>
            <a:bodyPr wrap="square" lIns="0" tIns="0" rIns="0" bIns="0" rtlCol="0"/>
            <a:lstStyle/>
            <a:p>
              <a:endParaRPr/>
            </a:p>
          </p:txBody>
        </p:sp>
        <p:sp>
          <p:nvSpPr>
            <p:cNvPr id="20" name="object 20"/>
            <p:cNvSpPr/>
            <p:nvPr/>
          </p:nvSpPr>
          <p:spPr>
            <a:xfrm>
              <a:off x="10445876" y="4130548"/>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30"/>
                  </a:lnTo>
                  <a:lnTo>
                    <a:pt x="14606" y="368496"/>
                  </a:lnTo>
                  <a:lnTo>
                    <a:pt x="31978" y="408655"/>
                  </a:lnTo>
                  <a:lnTo>
                    <a:pt x="55278" y="445332"/>
                  </a:lnTo>
                  <a:lnTo>
                    <a:pt x="83915" y="477948"/>
                  </a:lnTo>
                  <a:lnTo>
                    <a:pt x="117299" y="505928"/>
                  </a:lnTo>
                  <a:lnTo>
                    <a:pt x="154840" y="528694"/>
                  </a:lnTo>
                  <a:lnTo>
                    <a:pt x="195949" y="545670"/>
                  </a:lnTo>
                  <a:lnTo>
                    <a:pt x="240036" y="556278"/>
                  </a:lnTo>
                  <a:lnTo>
                    <a:pt x="286512" y="559942"/>
                  </a:lnTo>
                  <a:lnTo>
                    <a:pt x="332987" y="556278"/>
                  </a:lnTo>
                  <a:lnTo>
                    <a:pt x="377074" y="545670"/>
                  </a:lnTo>
                  <a:lnTo>
                    <a:pt x="418183" y="528694"/>
                  </a:lnTo>
                  <a:lnTo>
                    <a:pt x="455724" y="505928"/>
                  </a:lnTo>
                  <a:lnTo>
                    <a:pt x="489108" y="477948"/>
                  </a:lnTo>
                  <a:lnTo>
                    <a:pt x="517745" y="445332"/>
                  </a:lnTo>
                  <a:lnTo>
                    <a:pt x="541045" y="408655"/>
                  </a:lnTo>
                  <a:lnTo>
                    <a:pt x="558417" y="368496"/>
                  </a:lnTo>
                  <a:lnTo>
                    <a:pt x="569274" y="325430"/>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21" name="object 21"/>
            <p:cNvSpPr/>
            <p:nvPr/>
          </p:nvSpPr>
          <p:spPr>
            <a:xfrm>
              <a:off x="10505948" y="3623563"/>
              <a:ext cx="453390" cy="1008380"/>
            </a:xfrm>
            <a:custGeom>
              <a:avLst/>
              <a:gdLst/>
              <a:ahLst/>
              <a:cxnLst/>
              <a:rect l="l" t="t" r="r" b="b"/>
              <a:pathLst>
                <a:path w="453390" h="1008379">
                  <a:moveTo>
                    <a:pt x="289941" y="63500"/>
                  </a:moveTo>
                  <a:lnTo>
                    <a:pt x="284937" y="38747"/>
                  </a:lnTo>
                  <a:lnTo>
                    <a:pt x="271335" y="18567"/>
                  </a:lnTo>
                  <a:lnTo>
                    <a:pt x="251142" y="4978"/>
                  </a:lnTo>
                  <a:lnTo>
                    <a:pt x="226441" y="0"/>
                  </a:lnTo>
                  <a:lnTo>
                    <a:pt x="201726" y="4978"/>
                  </a:lnTo>
                  <a:lnTo>
                    <a:pt x="181546" y="18567"/>
                  </a:lnTo>
                  <a:lnTo>
                    <a:pt x="167932" y="38747"/>
                  </a:lnTo>
                  <a:lnTo>
                    <a:pt x="162941" y="63500"/>
                  </a:lnTo>
                  <a:lnTo>
                    <a:pt x="167932" y="88214"/>
                  </a:lnTo>
                  <a:lnTo>
                    <a:pt x="181546" y="108394"/>
                  </a:lnTo>
                  <a:lnTo>
                    <a:pt x="201726" y="122008"/>
                  </a:lnTo>
                  <a:lnTo>
                    <a:pt x="216916" y="125082"/>
                  </a:lnTo>
                  <a:lnTo>
                    <a:pt x="216916" y="565658"/>
                  </a:lnTo>
                  <a:lnTo>
                    <a:pt x="226441" y="565658"/>
                  </a:lnTo>
                  <a:lnTo>
                    <a:pt x="235966" y="565658"/>
                  </a:lnTo>
                  <a:lnTo>
                    <a:pt x="235966" y="127000"/>
                  </a:lnTo>
                  <a:lnTo>
                    <a:pt x="235966" y="125082"/>
                  </a:lnTo>
                  <a:lnTo>
                    <a:pt x="251142" y="122008"/>
                  </a:lnTo>
                  <a:lnTo>
                    <a:pt x="271335" y="108394"/>
                  </a:lnTo>
                  <a:lnTo>
                    <a:pt x="284937" y="88214"/>
                  </a:lnTo>
                  <a:lnTo>
                    <a:pt x="289941" y="63500"/>
                  </a:lnTo>
                  <a:close/>
                </a:path>
                <a:path w="453390" h="1008379">
                  <a:moveTo>
                    <a:pt x="452882" y="787019"/>
                  </a:moveTo>
                  <a:lnTo>
                    <a:pt x="448271" y="742403"/>
                  </a:lnTo>
                  <a:lnTo>
                    <a:pt x="435063" y="700836"/>
                  </a:lnTo>
                  <a:lnTo>
                    <a:pt x="414185" y="663244"/>
                  </a:lnTo>
                  <a:lnTo>
                    <a:pt x="397306" y="643255"/>
                  </a:lnTo>
                  <a:lnTo>
                    <a:pt x="386524" y="630478"/>
                  </a:lnTo>
                  <a:lnTo>
                    <a:pt x="375158" y="621322"/>
                  </a:lnTo>
                  <a:lnTo>
                    <a:pt x="375158" y="787019"/>
                  </a:lnTo>
                  <a:lnTo>
                    <a:pt x="367576" y="832396"/>
                  </a:lnTo>
                  <a:lnTo>
                    <a:pt x="346468" y="871816"/>
                  </a:lnTo>
                  <a:lnTo>
                    <a:pt x="314274" y="902919"/>
                  </a:lnTo>
                  <a:lnTo>
                    <a:pt x="273456" y="923328"/>
                  </a:lnTo>
                  <a:lnTo>
                    <a:pt x="226441" y="930656"/>
                  </a:lnTo>
                  <a:lnTo>
                    <a:pt x="179400" y="923328"/>
                  </a:lnTo>
                  <a:lnTo>
                    <a:pt x="138544" y="902919"/>
                  </a:lnTo>
                  <a:lnTo>
                    <a:pt x="106324" y="871816"/>
                  </a:lnTo>
                  <a:lnTo>
                    <a:pt x="85178" y="832396"/>
                  </a:lnTo>
                  <a:lnTo>
                    <a:pt x="77597" y="787019"/>
                  </a:lnTo>
                  <a:lnTo>
                    <a:pt x="85178" y="741591"/>
                  </a:lnTo>
                  <a:lnTo>
                    <a:pt x="106324" y="702132"/>
                  </a:lnTo>
                  <a:lnTo>
                    <a:pt x="138544" y="671004"/>
                  </a:lnTo>
                  <a:lnTo>
                    <a:pt x="179400" y="650595"/>
                  </a:lnTo>
                  <a:lnTo>
                    <a:pt x="226441" y="643255"/>
                  </a:lnTo>
                  <a:lnTo>
                    <a:pt x="273456" y="650595"/>
                  </a:lnTo>
                  <a:lnTo>
                    <a:pt x="314274" y="671004"/>
                  </a:lnTo>
                  <a:lnTo>
                    <a:pt x="346468" y="702132"/>
                  </a:lnTo>
                  <a:lnTo>
                    <a:pt x="367576" y="741591"/>
                  </a:lnTo>
                  <a:lnTo>
                    <a:pt x="375158" y="787019"/>
                  </a:lnTo>
                  <a:lnTo>
                    <a:pt x="375158" y="621322"/>
                  </a:lnTo>
                  <a:lnTo>
                    <a:pt x="352996" y="603453"/>
                  </a:lnTo>
                  <a:lnTo>
                    <a:pt x="314540" y="583057"/>
                  </a:lnTo>
                  <a:lnTo>
                    <a:pt x="272046" y="570153"/>
                  </a:lnTo>
                  <a:lnTo>
                    <a:pt x="226441" y="565658"/>
                  </a:lnTo>
                  <a:lnTo>
                    <a:pt x="180784" y="570153"/>
                  </a:lnTo>
                  <a:lnTo>
                    <a:pt x="138277" y="583057"/>
                  </a:lnTo>
                  <a:lnTo>
                    <a:pt x="99809" y="603453"/>
                  </a:lnTo>
                  <a:lnTo>
                    <a:pt x="66306" y="630478"/>
                  </a:lnTo>
                  <a:lnTo>
                    <a:pt x="38658" y="663244"/>
                  </a:lnTo>
                  <a:lnTo>
                    <a:pt x="17780" y="700836"/>
                  </a:lnTo>
                  <a:lnTo>
                    <a:pt x="4597" y="742403"/>
                  </a:lnTo>
                  <a:lnTo>
                    <a:pt x="0" y="787019"/>
                  </a:lnTo>
                  <a:lnTo>
                    <a:pt x="4597" y="831608"/>
                  </a:lnTo>
                  <a:lnTo>
                    <a:pt x="17780" y="873137"/>
                  </a:lnTo>
                  <a:lnTo>
                    <a:pt x="38658" y="910717"/>
                  </a:lnTo>
                  <a:lnTo>
                    <a:pt x="66306" y="943457"/>
                  </a:lnTo>
                  <a:lnTo>
                    <a:pt x="99809" y="970470"/>
                  </a:lnTo>
                  <a:lnTo>
                    <a:pt x="138277" y="990866"/>
                  </a:lnTo>
                  <a:lnTo>
                    <a:pt x="180784" y="1003769"/>
                  </a:lnTo>
                  <a:lnTo>
                    <a:pt x="226441" y="1008253"/>
                  </a:lnTo>
                  <a:lnTo>
                    <a:pt x="272046" y="1003769"/>
                  </a:lnTo>
                  <a:lnTo>
                    <a:pt x="314540" y="990866"/>
                  </a:lnTo>
                  <a:lnTo>
                    <a:pt x="352996" y="970470"/>
                  </a:lnTo>
                  <a:lnTo>
                    <a:pt x="386511" y="943457"/>
                  </a:lnTo>
                  <a:lnTo>
                    <a:pt x="414185" y="910717"/>
                  </a:lnTo>
                  <a:lnTo>
                    <a:pt x="435063" y="873137"/>
                  </a:lnTo>
                  <a:lnTo>
                    <a:pt x="448271" y="831608"/>
                  </a:lnTo>
                  <a:lnTo>
                    <a:pt x="452882" y="787019"/>
                  </a:lnTo>
                  <a:close/>
                </a:path>
              </a:pathLst>
            </a:custGeom>
            <a:solidFill>
              <a:srgbClr val="4471C4"/>
            </a:solidFill>
          </p:spPr>
          <p:txBody>
            <a:bodyPr wrap="square" lIns="0" tIns="0" rIns="0" bIns="0" rtlCol="0"/>
            <a:lstStyle/>
            <a:p>
              <a:endParaRPr/>
            </a:p>
          </p:txBody>
        </p:sp>
        <p:sp>
          <p:nvSpPr>
            <p:cNvPr id="22" name="object 22"/>
            <p:cNvSpPr/>
            <p:nvPr/>
          </p:nvSpPr>
          <p:spPr>
            <a:xfrm>
              <a:off x="11831573" y="4242943"/>
              <a:ext cx="2082164" cy="396240"/>
            </a:xfrm>
            <a:custGeom>
              <a:avLst/>
              <a:gdLst/>
              <a:ahLst/>
              <a:cxnLst/>
              <a:rect l="l" t="t" r="r" b="b"/>
              <a:pathLst>
                <a:path w="2082165" h="396239">
                  <a:moveTo>
                    <a:pt x="1873758" y="0"/>
                  </a:moveTo>
                  <a:lnTo>
                    <a:pt x="0" y="0"/>
                  </a:lnTo>
                  <a:lnTo>
                    <a:pt x="207772" y="197866"/>
                  </a:lnTo>
                  <a:lnTo>
                    <a:pt x="0" y="395732"/>
                  </a:lnTo>
                  <a:lnTo>
                    <a:pt x="1873758" y="395732"/>
                  </a:lnTo>
                  <a:lnTo>
                    <a:pt x="2081656" y="197866"/>
                  </a:lnTo>
                  <a:lnTo>
                    <a:pt x="1873758" y="0"/>
                  </a:lnTo>
                  <a:close/>
                </a:path>
              </a:pathLst>
            </a:custGeom>
            <a:solidFill>
              <a:srgbClr val="6FAC46"/>
            </a:solidFill>
          </p:spPr>
          <p:txBody>
            <a:bodyPr wrap="square" lIns="0" tIns="0" rIns="0" bIns="0" rtlCol="0"/>
            <a:lstStyle/>
            <a:p>
              <a:endParaRPr/>
            </a:p>
          </p:txBody>
        </p:sp>
        <p:sp>
          <p:nvSpPr>
            <p:cNvPr id="23" name="object 23"/>
            <p:cNvSpPr/>
            <p:nvPr/>
          </p:nvSpPr>
          <p:spPr>
            <a:xfrm>
              <a:off x="12384278" y="4136390"/>
              <a:ext cx="573405" cy="560070"/>
            </a:xfrm>
            <a:custGeom>
              <a:avLst/>
              <a:gdLst/>
              <a:ahLst/>
              <a:cxnLst/>
              <a:rect l="l" t="t" r="r" b="b"/>
              <a:pathLst>
                <a:path w="573404" h="560070">
                  <a:moveTo>
                    <a:pt x="286512" y="0"/>
                  </a:moveTo>
                  <a:lnTo>
                    <a:pt x="240036" y="3664"/>
                  </a:lnTo>
                  <a:lnTo>
                    <a:pt x="195949" y="14273"/>
                  </a:lnTo>
                  <a:lnTo>
                    <a:pt x="154840" y="31251"/>
                  </a:lnTo>
                  <a:lnTo>
                    <a:pt x="117299" y="54022"/>
                  </a:lnTo>
                  <a:lnTo>
                    <a:pt x="83915" y="82010"/>
                  </a:lnTo>
                  <a:lnTo>
                    <a:pt x="55278" y="114638"/>
                  </a:lnTo>
                  <a:lnTo>
                    <a:pt x="31978" y="151330"/>
                  </a:lnTo>
                  <a:lnTo>
                    <a:pt x="14606" y="191511"/>
                  </a:lnTo>
                  <a:lnTo>
                    <a:pt x="3749" y="234605"/>
                  </a:lnTo>
                  <a:lnTo>
                    <a:pt x="0" y="280035"/>
                  </a:lnTo>
                  <a:lnTo>
                    <a:pt x="3749" y="325464"/>
                  </a:lnTo>
                  <a:lnTo>
                    <a:pt x="14606" y="368558"/>
                  </a:lnTo>
                  <a:lnTo>
                    <a:pt x="31978" y="408739"/>
                  </a:lnTo>
                  <a:lnTo>
                    <a:pt x="55278" y="445431"/>
                  </a:lnTo>
                  <a:lnTo>
                    <a:pt x="83915" y="478059"/>
                  </a:lnTo>
                  <a:lnTo>
                    <a:pt x="117299" y="506047"/>
                  </a:lnTo>
                  <a:lnTo>
                    <a:pt x="154840" y="528818"/>
                  </a:lnTo>
                  <a:lnTo>
                    <a:pt x="195949" y="545796"/>
                  </a:lnTo>
                  <a:lnTo>
                    <a:pt x="240036" y="556405"/>
                  </a:lnTo>
                  <a:lnTo>
                    <a:pt x="286512" y="560070"/>
                  </a:lnTo>
                  <a:lnTo>
                    <a:pt x="332987" y="556405"/>
                  </a:lnTo>
                  <a:lnTo>
                    <a:pt x="377074" y="545796"/>
                  </a:lnTo>
                  <a:lnTo>
                    <a:pt x="418183" y="528818"/>
                  </a:lnTo>
                  <a:lnTo>
                    <a:pt x="455724" y="506047"/>
                  </a:lnTo>
                  <a:lnTo>
                    <a:pt x="489108" y="478059"/>
                  </a:lnTo>
                  <a:lnTo>
                    <a:pt x="517745" y="445431"/>
                  </a:lnTo>
                  <a:lnTo>
                    <a:pt x="541045" y="408739"/>
                  </a:lnTo>
                  <a:lnTo>
                    <a:pt x="558417" y="368558"/>
                  </a:lnTo>
                  <a:lnTo>
                    <a:pt x="569274" y="325464"/>
                  </a:lnTo>
                  <a:lnTo>
                    <a:pt x="573024" y="280035"/>
                  </a:lnTo>
                  <a:lnTo>
                    <a:pt x="569274" y="234605"/>
                  </a:lnTo>
                  <a:lnTo>
                    <a:pt x="558417" y="191511"/>
                  </a:lnTo>
                  <a:lnTo>
                    <a:pt x="541045" y="151330"/>
                  </a:lnTo>
                  <a:lnTo>
                    <a:pt x="517745" y="114638"/>
                  </a:lnTo>
                  <a:lnTo>
                    <a:pt x="489108" y="82010"/>
                  </a:lnTo>
                  <a:lnTo>
                    <a:pt x="455724" y="54022"/>
                  </a:lnTo>
                  <a:lnTo>
                    <a:pt x="418183" y="31251"/>
                  </a:lnTo>
                  <a:lnTo>
                    <a:pt x="377074" y="14273"/>
                  </a:lnTo>
                  <a:lnTo>
                    <a:pt x="332987" y="3664"/>
                  </a:lnTo>
                  <a:lnTo>
                    <a:pt x="286512" y="0"/>
                  </a:lnTo>
                  <a:close/>
                </a:path>
              </a:pathLst>
            </a:custGeom>
            <a:solidFill>
              <a:srgbClr val="FFFFFF"/>
            </a:solidFill>
          </p:spPr>
          <p:txBody>
            <a:bodyPr wrap="square" lIns="0" tIns="0" rIns="0" bIns="0" rtlCol="0"/>
            <a:lstStyle/>
            <a:p>
              <a:endParaRPr/>
            </a:p>
          </p:txBody>
        </p:sp>
        <p:sp>
          <p:nvSpPr>
            <p:cNvPr id="24" name="object 24"/>
            <p:cNvSpPr/>
            <p:nvPr/>
          </p:nvSpPr>
          <p:spPr>
            <a:xfrm>
              <a:off x="12444349" y="4195063"/>
              <a:ext cx="453390" cy="1008380"/>
            </a:xfrm>
            <a:custGeom>
              <a:avLst/>
              <a:gdLst/>
              <a:ahLst/>
              <a:cxnLst/>
              <a:rect l="l" t="t" r="r" b="b"/>
              <a:pathLst>
                <a:path w="453390" h="1008379">
                  <a:moveTo>
                    <a:pt x="289941" y="944880"/>
                  </a:moveTo>
                  <a:lnTo>
                    <a:pt x="284962" y="920178"/>
                  </a:lnTo>
                  <a:lnTo>
                    <a:pt x="271373" y="899985"/>
                  </a:lnTo>
                  <a:lnTo>
                    <a:pt x="251193" y="886383"/>
                  </a:lnTo>
                  <a:lnTo>
                    <a:pt x="235978" y="883310"/>
                  </a:lnTo>
                  <a:lnTo>
                    <a:pt x="235966" y="944880"/>
                  </a:lnTo>
                  <a:lnTo>
                    <a:pt x="235966" y="883310"/>
                  </a:lnTo>
                  <a:lnTo>
                    <a:pt x="235966" y="881380"/>
                  </a:lnTo>
                  <a:lnTo>
                    <a:pt x="235966" y="442722"/>
                  </a:lnTo>
                  <a:lnTo>
                    <a:pt x="226441" y="442722"/>
                  </a:lnTo>
                  <a:lnTo>
                    <a:pt x="216916" y="442722"/>
                  </a:lnTo>
                  <a:lnTo>
                    <a:pt x="216916" y="883310"/>
                  </a:lnTo>
                  <a:lnTo>
                    <a:pt x="201726" y="886383"/>
                  </a:lnTo>
                  <a:lnTo>
                    <a:pt x="181546" y="899985"/>
                  </a:lnTo>
                  <a:lnTo>
                    <a:pt x="167932" y="920178"/>
                  </a:lnTo>
                  <a:lnTo>
                    <a:pt x="162941" y="944880"/>
                  </a:lnTo>
                  <a:lnTo>
                    <a:pt x="167932" y="969594"/>
                  </a:lnTo>
                  <a:lnTo>
                    <a:pt x="181546" y="989774"/>
                  </a:lnTo>
                  <a:lnTo>
                    <a:pt x="201726" y="1003388"/>
                  </a:lnTo>
                  <a:lnTo>
                    <a:pt x="226441" y="1008380"/>
                  </a:lnTo>
                  <a:lnTo>
                    <a:pt x="251193" y="1003388"/>
                  </a:lnTo>
                  <a:lnTo>
                    <a:pt x="271373" y="989774"/>
                  </a:lnTo>
                  <a:lnTo>
                    <a:pt x="284962" y="969594"/>
                  </a:lnTo>
                  <a:lnTo>
                    <a:pt x="289941" y="944880"/>
                  </a:lnTo>
                  <a:close/>
                </a:path>
                <a:path w="453390" h="1008379">
                  <a:moveTo>
                    <a:pt x="453009" y="221361"/>
                  </a:moveTo>
                  <a:lnTo>
                    <a:pt x="448398" y="176784"/>
                  </a:lnTo>
                  <a:lnTo>
                    <a:pt x="435190" y="135242"/>
                  </a:lnTo>
                  <a:lnTo>
                    <a:pt x="414299" y="97637"/>
                  </a:lnTo>
                  <a:lnTo>
                    <a:pt x="386626" y="64871"/>
                  </a:lnTo>
                  <a:lnTo>
                    <a:pt x="375285" y="55727"/>
                  </a:lnTo>
                  <a:lnTo>
                    <a:pt x="375285" y="221361"/>
                  </a:lnTo>
                  <a:lnTo>
                    <a:pt x="367703" y="266788"/>
                  </a:lnTo>
                  <a:lnTo>
                    <a:pt x="346583" y="306222"/>
                  </a:lnTo>
                  <a:lnTo>
                    <a:pt x="314375" y="337299"/>
                  </a:lnTo>
                  <a:lnTo>
                    <a:pt x="273519" y="357682"/>
                  </a:lnTo>
                  <a:lnTo>
                    <a:pt x="226441" y="364998"/>
                  </a:lnTo>
                  <a:lnTo>
                    <a:pt x="179412" y="357682"/>
                  </a:lnTo>
                  <a:lnTo>
                    <a:pt x="138595" y="337299"/>
                  </a:lnTo>
                  <a:lnTo>
                    <a:pt x="106400" y="306222"/>
                  </a:lnTo>
                  <a:lnTo>
                    <a:pt x="85293" y="266788"/>
                  </a:lnTo>
                  <a:lnTo>
                    <a:pt x="77724" y="221361"/>
                  </a:lnTo>
                  <a:lnTo>
                    <a:pt x="85293" y="175945"/>
                  </a:lnTo>
                  <a:lnTo>
                    <a:pt x="106400" y="136512"/>
                  </a:lnTo>
                  <a:lnTo>
                    <a:pt x="138595" y="105435"/>
                  </a:lnTo>
                  <a:lnTo>
                    <a:pt x="179412" y="85051"/>
                  </a:lnTo>
                  <a:lnTo>
                    <a:pt x="226441" y="77724"/>
                  </a:lnTo>
                  <a:lnTo>
                    <a:pt x="273519" y="85051"/>
                  </a:lnTo>
                  <a:lnTo>
                    <a:pt x="314375" y="105435"/>
                  </a:lnTo>
                  <a:lnTo>
                    <a:pt x="346583" y="136512"/>
                  </a:lnTo>
                  <a:lnTo>
                    <a:pt x="367703" y="175945"/>
                  </a:lnTo>
                  <a:lnTo>
                    <a:pt x="375285" y="221361"/>
                  </a:lnTo>
                  <a:lnTo>
                    <a:pt x="375285" y="55727"/>
                  </a:lnTo>
                  <a:lnTo>
                    <a:pt x="353098" y="37833"/>
                  </a:lnTo>
                  <a:lnTo>
                    <a:pt x="314604" y="17411"/>
                  </a:lnTo>
                  <a:lnTo>
                    <a:pt x="272084" y="4508"/>
                  </a:lnTo>
                  <a:lnTo>
                    <a:pt x="226441" y="0"/>
                  </a:lnTo>
                  <a:lnTo>
                    <a:pt x="180822" y="4508"/>
                  </a:lnTo>
                  <a:lnTo>
                    <a:pt x="138328" y="17411"/>
                  </a:lnTo>
                  <a:lnTo>
                    <a:pt x="99872" y="37833"/>
                  </a:lnTo>
                  <a:lnTo>
                    <a:pt x="66357" y="64871"/>
                  </a:lnTo>
                  <a:lnTo>
                    <a:pt x="38684" y="97637"/>
                  </a:lnTo>
                  <a:lnTo>
                    <a:pt x="17805" y="135242"/>
                  </a:lnTo>
                  <a:lnTo>
                    <a:pt x="4597" y="176784"/>
                  </a:lnTo>
                  <a:lnTo>
                    <a:pt x="0" y="221361"/>
                  </a:lnTo>
                  <a:lnTo>
                    <a:pt x="4597" y="265950"/>
                  </a:lnTo>
                  <a:lnTo>
                    <a:pt x="17805" y="307492"/>
                  </a:lnTo>
                  <a:lnTo>
                    <a:pt x="38684" y="345097"/>
                  </a:lnTo>
                  <a:lnTo>
                    <a:pt x="66357" y="377863"/>
                  </a:lnTo>
                  <a:lnTo>
                    <a:pt x="99872" y="404901"/>
                  </a:lnTo>
                  <a:lnTo>
                    <a:pt x="138328" y="425323"/>
                  </a:lnTo>
                  <a:lnTo>
                    <a:pt x="180822" y="438226"/>
                  </a:lnTo>
                  <a:lnTo>
                    <a:pt x="226441" y="442722"/>
                  </a:lnTo>
                  <a:lnTo>
                    <a:pt x="272084" y="438226"/>
                  </a:lnTo>
                  <a:lnTo>
                    <a:pt x="314604" y="425323"/>
                  </a:lnTo>
                  <a:lnTo>
                    <a:pt x="353098" y="404901"/>
                  </a:lnTo>
                  <a:lnTo>
                    <a:pt x="386626" y="377863"/>
                  </a:lnTo>
                  <a:lnTo>
                    <a:pt x="397484" y="364998"/>
                  </a:lnTo>
                  <a:lnTo>
                    <a:pt x="414299" y="345097"/>
                  </a:lnTo>
                  <a:lnTo>
                    <a:pt x="435190" y="307492"/>
                  </a:lnTo>
                  <a:lnTo>
                    <a:pt x="448398" y="265950"/>
                  </a:lnTo>
                  <a:lnTo>
                    <a:pt x="453009" y="221361"/>
                  </a:lnTo>
                  <a:close/>
                </a:path>
              </a:pathLst>
            </a:custGeom>
            <a:solidFill>
              <a:srgbClr val="6FAC46"/>
            </a:solidFill>
          </p:spPr>
          <p:txBody>
            <a:bodyPr wrap="square" lIns="0" tIns="0" rIns="0" bIns="0" rtlCol="0"/>
            <a:lstStyle/>
            <a:p>
              <a:endParaRPr/>
            </a:p>
          </p:txBody>
        </p:sp>
      </p:grpSp>
      <p:sp>
        <p:nvSpPr>
          <p:cNvPr id="25" name="object 25"/>
          <p:cNvSpPr txBox="1"/>
          <p:nvPr/>
        </p:nvSpPr>
        <p:spPr>
          <a:xfrm>
            <a:off x="2256282" y="2586050"/>
            <a:ext cx="1447165" cy="636270"/>
          </a:xfrm>
          <a:prstGeom prst="rect">
            <a:avLst/>
          </a:prstGeom>
        </p:spPr>
        <p:txBody>
          <a:bodyPr vert="horz" wrap="square" lIns="0" tIns="13335" rIns="0" bIns="0" rtlCol="0">
            <a:spAutoFit/>
          </a:bodyPr>
          <a:lstStyle/>
          <a:p>
            <a:pPr marL="1270" algn="ctr">
              <a:lnSpc>
                <a:spcPct val="100000"/>
              </a:lnSpc>
              <a:spcBef>
                <a:spcPts val="105"/>
              </a:spcBef>
            </a:pPr>
            <a:r>
              <a:rPr sz="2000" b="1" dirty="0">
                <a:solidFill>
                  <a:srgbClr val="4471C4"/>
                </a:solidFill>
                <a:latin typeface="Microsoft JhengHei"/>
                <a:cs typeface="Microsoft JhengHei"/>
              </a:rPr>
              <a:t>LINE</a:t>
            </a:r>
            <a:r>
              <a:rPr sz="2000" b="1" spc="-20" dirty="0">
                <a:solidFill>
                  <a:srgbClr val="4471C4"/>
                </a:solidFill>
                <a:latin typeface="Microsoft JhengHei"/>
                <a:cs typeface="Microsoft JhengHei"/>
              </a:rPr>
              <a:t> </a:t>
            </a:r>
            <a:r>
              <a:rPr sz="2000" b="1" spc="-25" dirty="0">
                <a:solidFill>
                  <a:srgbClr val="4471C4"/>
                </a:solidFill>
                <a:latin typeface="Microsoft JhengHei"/>
                <a:cs typeface="Microsoft JhengHei"/>
              </a:rPr>
              <a:t>Bot</a:t>
            </a:r>
            <a:endParaRPr sz="2000">
              <a:latin typeface="Microsoft JhengHei"/>
              <a:cs typeface="Microsoft JhengHei"/>
            </a:endParaRPr>
          </a:p>
          <a:p>
            <a:pPr algn="ctr">
              <a:lnSpc>
                <a:spcPct val="100000"/>
              </a:lnSpc>
            </a:pPr>
            <a:r>
              <a:rPr sz="2000" b="1" dirty="0">
                <a:solidFill>
                  <a:srgbClr val="4471C4"/>
                </a:solidFill>
                <a:latin typeface="Microsoft JhengHei"/>
                <a:cs typeface="Microsoft JhengHei"/>
              </a:rPr>
              <a:t>(接受</a:t>
            </a:r>
            <a:r>
              <a:rPr sz="2000" b="1" spc="-10" dirty="0">
                <a:solidFill>
                  <a:srgbClr val="4471C4"/>
                </a:solidFill>
                <a:latin typeface="Microsoft JhengHei"/>
                <a:cs typeface="Microsoft JhengHei"/>
              </a:rPr>
              <a:t>&amp;</a:t>
            </a:r>
            <a:r>
              <a:rPr sz="2000" b="1" spc="-20" dirty="0">
                <a:solidFill>
                  <a:srgbClr val="4471C4"/>
                </a:solidFill>
                <a:latin typeface="Microsoft JhengHei"/>
                <a:cs typeface="Microsoft JhengHei"/>
              </a:rPr>
              <a:t>回應)</a:t>
            </a:r>
            <a:endParaRPr sz="2000">
              <a:latin typeface="Microsoft JhengHei"/>
              <a:cs typeface="Microsoft JhengHei"/>
            </a:endParaRPr>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27</a:t>
            </a:fld>
            <a:endParaRPr spc="-25" dirty="0"/>
          </a:p>
        </p:txBody>
      </p:sp>
      <p:sp>
        <p:nvSpPr>
          <p:cNvPr id="26" name="object 26"/>
          <p:cNvSpPr txBox="1"/>
          <p:nvPr/>
        </p:nvSpPr>
        <p:spPr>
          <a:xfrm>
            <a:off x="5576442" y="2839338"/>
            <a:ext cx="2666365" cy="635635"/>
          </a:xfrm>
          <a:prstGeom prst="rect">
            <a:avLst/>
          </a:prstGeom>
        </p:spPr>
        <p:txBody>
          <a:bodyPr vert="horz" wrap="square" lIns="0" tIns="13335" rIns="0" bIns="0" rtlCol="0">
            <a:spAutoFit/>
          </a:bodyPr>
          <a:lstStyle/>
          <a:p>
            <a:pPr marL="780415">
              <a:lnSpc>
                <a:spcPct val="100000"/>
              </a:lnSpc>
              <a:spcBef>
                <a:spcPts val="105"/>
              </a:spcBef>
            </a:pPr>
            <a:r>
              <a:rPr sz="2000" b="1" spc="-15" dirty="0">
                <a:solidFill>
                  <a:srgbClr val="A4A4A4"/>
                </a:solidFill>
                <a:latin typeface="Microsoft JhengHei"/>
                <a:cs typeface="Microsoft JhengHei"/>
              </a:rPr>
              <a:t>提示工程</a:t>
            </a:r>
            <a:endParaRPr sz="2000">
              <a:latin typeface="Microsoft JhengHei"/>
              <a:cs typeface="Microsoft JhengHei"/>
            </a:endParaRPr>
          </a:p>
          <a:p>
            <a:pPr marL="12700">
              <a:lnSpc>
                <a:spcPct val="100000"/>
              </a:lnSpc>
            </a:pPr>
            <a:r>
              <a:rPr sz="2000" b="1" dirty="0">
                <a:solidFill>
                  <a:srgbClr val="A4A4A4"/>
                </a:solidFill>
                <a:latin typeface="Microsoft JhengHei"/>
                <a:cs typeface="Microsoft JhengHei"/>
              </a:rPr>
              <a:t>(Prompt</a:t>
            </a:r>
            <a:r>
              <a:rPr sz="2000" b="1" spc="-95" dirty="0">
                <a:solidFill>
                  <a:srgbClr val="A4A4A4"/>
                </a:solidFill>
                <a:latin typeface="Microsoft JhengHei"/>
                <a:cs typeface="Microsoft JhengHei"/>
              </a:rPr>
              <a:t> </a:t>
            </a:r>
            <a:r>
              <a:rPr sz="2000" b="1" spc="-10" dirty="0">
                <a:solidFill>
                  <a:srgbClr val="A4A4A4"/>
                </a:solidFill>
                <a:latin typeface="Microsoft JhengHei"/>
                <a:cs typeface="Microsoft JhengHei"/>
              </a:rPr>
              <a:t>Engineering)</a:t>
            </a:r>
            <a:endParaRPr sz="2000">
              <a:latin typeface="Microsoft JhengHei"/>
              <a:cs typeface="Microsoft JhengHei"/>
            </a:endParaRPr>
          </a:p>
        </p:txBody>
      </p:sp>
      <p:sp>
        <p:nvSpPr>
          <p:cNvPr id="27" name="object 27"/>
          <p:cNvSpPr txBox="1"/>
          <p:nvPr/>
        </p:nvSpPr>
        <p:spPr>
          <a:xfrm>
            <a:off x="3973829" y="5397753"/>
            <a:ext cx="1912620" cy="636270"/>
          </a:xfrm>
          <a:prstGeom prst="rect">
            <a:avLst/>
          </a:prstGeom>
        </p:spPr>
        <p:txBody>
          <a:bodyPr vert="horz" wrap="square" lIns="0" tIns="12700" rIns="0" bIns="0" rtlCol="0">
            <a:spAutoFit/>
          </a:bodyPr>
          <a:lstStyle/>
          <a:p>
            <a:pPr algn="ctr">
              <a:lnSpc>
                <a:spcPct val="100000"/>
              </a:lnSpc>
              <a:spcBef>
                <a:spcPts val="100"/>
              </a:spcBef>
            </a:pPr>
            <a:r>
              <a:rPr sz="2000" b="1" spc="-10" dirty="0">
                <a:solidFill>
                  <a:srgbClr val="EC7C30"/>
                </a:solidFill>
                <a:latin typeface="Microsoft JhengHei"/>
                <a:cs typeface="Microsoft JhengHei"/>
              </a:rPr>
              <a:t>Flask後端伺服器</a:t>
            </a:r>
            <a:endParaRPr sz="2000">
              <a:latin typeface="Microsoft JhengHei"/>
              <a:cs typeface="Microsoft JhengHei"/>
            </a:endParaRPr>
          </a:p>
          <a:p>
            <a:pPr algn="ctr">
              <a:lnSpc>
                <a:spcPct val="100000"/>
              </a:lnSpc>
            </a:pPr>
            <a:r>
              <a:rPr sz="2000" b="1" spc="-20" dirty="0">
                <a:solidFill>
                  <a:srgbClr val="EC7C30"/>
                </a:solidFill>
                <a:latin typeface="Microsoft JhengHei"/>
                <a:cs typeface="Microsoft JhengHei"/>
              </a:rPr>
              <a:t>(處理請求)</a:t>
            </a:r>
            <a:endParaRPr sz="2000">
              <a:latin typeface="Microsoft JhengHei"/>
              <a:cs typeface="Microsoft JhengHei"/>
            </a:endParaRPr>
          </a:p>
        </p:txBody>
      </p:sp>
      <p:sp>
        <p:nvSpPr>
          <p:cNvPr id="28" name="object 28"/>
          <p:cNvSpPr txBox="1"/>
          <p:nvPr/>
        </p:nvSpPr>
        <p:spPr>
          <a:xfrm>
            <a:off x="189992" y="5468239"/>
            <a:ext cx="1986914" cy="330835"/>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6FAC46"/>
                </a:solidFill>
                <a:latin typeface="Microsoft JhengHei"/>
                <a:cs typeface="Microsoft JhengHei"/>
              </a:rPr>
              <a:t>使用者(輸入訊息)</a:t>
            </a:r>
            <a:endParaRPr sz="2000">
              <a:latin typeface="Microsoft JhengHei"/>
              <a:cs typeface="Microsoft JhengHei"/>
            </a:endParaRPr>
          </a:p>
        </p:txBody>
      </p:sp>
      <p:sp>
        <p:nvSpPr>
          <p:cNvPr id="29" name="object 29"/>
          <p:cNvSpPr txBox="1"/>
          <p:nvPr/>
        </p:nvSpPr>
        <p:spPr>
          <a:xfrm>
            <a:off x="7994650" y="5762371"/>
            <a:ext cx="2061845" cy="1187450"/>
          </a:xfrm>
          <a:prstGeom prst="rect">
            <a:avLst/>
          </a:prstGeom>
        </p:spPr>
        <p:txBody>
          <a:bodyPr vert="horz" wrap="square" lIns="0" tIns="12700" rIns="0" bIns="0" rtlCol="0">
            <a:spAutoFit/>
          </a:bodyPr>
          <a:lstStyle/>
          <a:p>
            <a:pPr algn="ctr">
              <a:lnSpc>
                <a:spcPct val="100000"/>
              </a:lnSpc>
              <a:spcBef>
                <a:spcPts val="100"/>
              </a:spcBef>
            </a:pPr>
            <a:r>
              <a:rPr sz="2000" b="1" spc="-10" dirty="0">
                <a:solidFill>
                  <a:srgbClr val="FFC000"/>
                </a:solidFill>
                <a:latin typeface="Microsoft JhengHei"/>
                <a:cs typeface="Microsoft JhengHei"/>
              </a:rPr>
              <a:t>GPT-</a:t>
            </a:r>
            <a:r>
              <a:rPr sz="2000" b="1" spc="-25" dirty="0">
                <a:solidFill>
                  <a:srgbClr val="FFC000"/>
                </a:solidFill>
                <a:latin typeface="Microsoft JhengHei"/>
                <a:cs typeface="Microsoft JhengHei"/>
              </a:rPr>
              <a:t>3.5</a:t>
            </a:r>
            <a:endParaRPr sz="2000">
              <a:latin typeface="Microsoft JhengHei"/>
              <a:cs typeface="Microsoft JhengHei"/>
            </a:endParaRPr>
          </a:p>
          <a:p>
            <a:pPr algn="ctr">
              <a:lnSpc>
                <a:spcPct val="100000"/>
              </a:lnSpc>
            </a:pPr>
            <a:r>
              <a:rPr sz="2000" b="1" dirty="0">
                <a:solidFill>
                  <a:srgbClr val="FFC000"/>
                </a:solidFill>
                <a:latin typeface="Microsoft JhengHei"/>
                <a:cs typeface="Microsoft JhengHei"/>
              </a:rPr>
              <a:t>（大型語言模型</a:t>
            </a:r>
            <a:r>
              <a:rPr sz="2000" b="1" spc="-50" dirty="0">
                <a:solidFill>
                  <a:srgbClr val="FFC000"/>
                </a:solidFill>
                <a:latin typeface="Microsoft JhengHei"/>
                <a:cs typeface="Microsoft JhengHei"/>
              </a:rPr>
              <a:t>）</a:t>
            </a:r>
            <a:endParaRPr sz="2000">
              <a:latin typeface="Microsoft JhengHei"/>
              <a:cs typeface="Microsoft JhengHei"/>
            </a:endParaRPr>
          </a:p>
          <a:p>
            <a:pPr marL="125095" marR="104139" indent="202565">
              <a:lnSpc>
                <a:spcPct val="100000"/>
              </a:lnSpc>
              <a:spcBef>
                <a:spcPts val="505"/>
              </a:spcBef>
            </a:pPr>
            <a:r>
              <a:rPr sz="1600" spc="-30" dirty="0">
                <a:solidFill>
                  <a:srgbClr val="404040"/>
                </a:solidFill>
                <a:latin typeface="Microsoft JhengHei"/>
                <a:cs typeface="Microsoft JhengHei"/>
              </a:rPr>
              <a:t>接受結構話提示</a:t>
            </a:r>
            <a:r>
              <a:rPr sz="1600" spc="-25" dirty="0">
                <a:solidFill>
                  <a:srgbClr val="404040"/>
                </a:solidFill>
                <a:latin typeface="Microsoft JhengHei"/>
                <a:cs typeface="Microsoft JhengHei"/>
              </a:rPr>
              <a:t> </a:t>
            </a:r>
            <a:r>
              <a:rPr sz="1600" spc="-30" dirty="0">
                <a:solidFill>
                  <a:srgbClr val="404040"/>
                </a:solidFill>
                <a:latin typeface="Microsoft JhengHei"/>
                <a:cs typeface="Microsoft JhengHei"/>
              </a:rPr>
              <a:t>並生成高於學習內容</a:t>
            </a:r>
            <a:endParaRPr sz="1600">
              <a:latin typeface="Microsoft JhengHei"/>
              <a:cs typeface="Microsoft JhengHei"/>
            </a:endParaRPr>
          </a:p>
        </p:txBody>
      </p:sp>
      <p:sp>
        <p:nvSpPr>
          <p:cNvPr id="30" name="object 30"/>
          <p:cNvSpPr txBox="1"/>
          <p:nvPr/>
        </p:nvSpPr>
        <p:spPr>
          <a:xfrm>
            <a:off x="9743693" y="2082090"/>
            <a:ext cx="1895475" cy="1431290"/>
          </a:xfrm>
          <a:prstGeom prst="rect">
            <a:avLst/>
          </a:prstGeom>
        </p:spPr>
        <p:txBody>
          <a:bodyPr vert="horz" wrap="square" lIns="0" tIns="82550" rIns="0" bIns="0" rtlCol="0">
            <a:spAutoFit/>
          </a:bodyPr>
          <a:lstStyle/>
          <a:p>
            <a:pPr marL="480695">
              <a:lnSpc>
                <a:spcPct val="100000"/>
              </a:lnSpc>
              <a:spcBef>
                <a:spcPts val="650"/>
              </a:spcBef>
            </a:pPr>
            <a:r>
              <a:rPr sz="2000" b="1" spc="-20" dirty="0">
                <a:solidFill>
                  <a:srgbClr val="4471C4"/>
                </a:solidFill>
                <a:latin typeface="Microsoft JhengHei"/>
                <a:cs typeface="Microsoft JhengHei"/>
              </a:rPr>
              <a:t>語音處理</a:t>
            </a:r>
            <a:endParaRPr sz="2000">
              <a:latin typeface="Microsoft JhengHei"/>
              <a:cs typeface="Microsoft JhengHei"/>
            </a:endParaRPr>
          </a:p>
          <a:p>
            <a:pPr marL="509270" indent="-286385">
              <a:lnSpc>
                <a:spcPct val="100000"/>
              </a:lnSpc>
              <a:spcBef>
                <a:spcPts val="434"/>
              </a:spcBef>
              <a:buFont typeface="Arial MT"/>
              <a:buChar char="•"/>
              <a:tabLst>
                <a:tab pos="509270" algn="l"/>
              </a:tabLst>
            </a:pPr>
            <a:r>
              <a:rPr sz="1600" dirty="0">
                <a:solidFill>
                  <a:srgbClr val="404040"/>
                </a:solidFill>
                <a:latin typeface="Microsoft JhengHei"/>
                <a:cs typeface="Microsoft JhengHei"/>
              </a:rPr>
              <a:t>Whisper</a:t>
            </a:r>
            <a:r>
              <a:rPr sz="1600" spc="-90" dirty="0">
                <a:solidFill>
                  <a:srgbClr val="404040"/>
                </a:solidFill>
                <a:latin typeface="Microsoft JhengHei"/>
                <a:cs typeface="Microsoft JhengHei"/>
              </a:rPr>
              <a:t> </a:t>
            </a:r>
            <a:r>
              <a:rPr sz="1600" spc="-25" dirty="0">
                <a:solidFill>
                  <a:srgbClr val="404040"/>
                </a:solidFill>
                <a:latin typeface="Microsoft JhengHei"/>
                <a:cs typeface="Microsoft JhengHei"/>
              </a:rPr>
              <a:t>API</a:t>
            </a:r>
            <a:endParaRPr sz="1600">
              <a:latin typeface="Microsoft JhengHei"/>
              <a:cs typeface="Microsoft JhengHei"/>
            </a:endParaRPr>
          </a:p>
          <a:p>
            <a:pPr marL="12700">
              <a:lnSpc>
                <a:spcPct val="100000"/>
              </a:lnSpc>
            </a:pPr>
            <a:r>
              <a:rPr sz="1600" spc="-25" dirty="0">
                <a:solidFill>
                  <a:srgbClr val="404040"/>
                </a:solidFill>
                <a:latin typeface="Microsoft JhengHei"/>
                <a:cs typeface="Microsoft JhengHei"/>
              </a:rPr>
              <a:t>（</a:t>
            </a:r>
            <a:r>
              <a:rPr sz="1600" spc="-15" dirty="0">
                <a:solidFill>
                  <a:srgbClr val="404040"/>
                </a:solidFill>
                <a:latin typeface="Microsoft JhengHei"/>
                <a:cs typeface="Microsoft JhengHei"/>
              </a:rPr>
              <a:t>語音轉文字, </a:t>
            </a:r>
            <a:r>
              <a:rPr sz="1600" spc="-20" dirty="0">
                <a:solidFill>
                  <a:srgbClr val="404040"/>
                </a:solidFill>
                <a:latin typeface="Microsoft JhengHei"/>
                <a:cs typeface="Microsoft JhengHei"/>
              </a:rPr>
              <a:t>STT）</a:t>
            </a:r>
            <a:endParaRPr sz="1600">
              <a:latin typeface="Microsoft JhengHei"/>
              <a:cs typeface="Microsoft JhengHei"/>
            </a:endParaRPr>
          </a:p>
          <a:p>
            <a:pPr marL="852169" lvl="1" indent="-286385">
              <a:lnSpc>
                <a:spcPct val="100000"/>
              </a:lnSpc>
              <a:buFont typeface="Arial MT"/>
              <a:buChar char="•"/>
              <a:tabLst>
                <a:tab pos="852169" algn="l"/>
              </a:tabLst>
            </a:pPr>
            <a:r>
              <a:rPr sz="1600" spc="-20" dirty="0">
                <a:solidFill>
                  <a:srgbClr val="404040"/>
                </a:solidFill>
                <a:latin typeface="Microsoft JhengHei"/>
                <a:cs typeface="Microsoft JhengHei"/>
              </a:rPr>
              <a:t>gTTS</a:t>
            </a:r>
            <a:endParaRPr sz="1600">
              <a:latin typeface="Microsoft JhengHei"/>
              <a:cs typeface="Microsoft JhengHei"/>
            </a:endParaRPr>
          </a:p>
          <a:p>
            <a:pPr marL="12700">
              <a:lnSpc>
                <a:spcPct val="100000"/>
              </a:lnSpc>
            </a:pPr>
            <a:r>
              <a:rPr sz="1600" spc="-25" dirty="0">
                <a:solidFill>
                  <a:srgbClr val="404040"/>
                </a:solidFill>
                <a:latin typeface="Microsoft JhengHei"/>
                <a:cs typeface="Microsoft JhengHei"/>
              </a:rPr>
              <a:t>（</a:t>
            </a:r>
            <a:r>
              <a:rPr sz="1600" spc="-15" dirty="0">
                <a:solidFill>
                  <a:srgbClr val="404040"/>
                </a:solidFill>
                <a:latin typeface="Microsoft JhengHei"/>
                <a:cs typeface="Microsoft JhengHei"/>
              </a:rPr>
              <a:t>文字轉語音, </a:t>
            </a:r>
            <a:r>
              <a:rPr sz="1600" spc="-20" dirty="0">
                <a:solidFill>
                  <a:srgbClr val="404040"/>
                </a:solidFill>
                <a:latin typeface="Microsoft JhengHei"/>
                <a:cs typeface="Microsoft JhengHei"/>
              </a:rPr>
              <a:t>TTS）</a:t>
            </a:r>
            <a:endParaRPr sz="1600">
              <a:latin typeface="Microsoft JhengHei"/>
              <a:cs typeface="Microsoft JhengHei"/>
            </a:endParaRPr>
          </a:p>
        </p:txBody>
      </p:sp>
      <p:sp>
        <p:nvSpPr>
          <p:cNvPr id="31" name="object 31"/>
          <p:cNvSpPr txBox="1"/>
          <p:nvPr/>
        </p:nvSpPr>
        <p:spPr>
          <a:xfrm>
            <a:off x="11857990" y="5507558"/>
            <a:ext cx="2031364" cy="636270"/>
          </a:xfrm>
          <a:prstGeom prst="rect">
            <a:avLst/>
          </a:prstGeom>
        </p:spPr>
        <p:txBody>
          <a:bodyPr vert="horz" wrap="square" lIns="0" tIns="13335" rIns="0" bIns="0" rtlCol="0">
            <a:spAutoFit/>
          </a:bodyPr>
          <a:lstStyle/>
          <a:p>
            <a:pPr marL="108585">
              <a:lnSpc>
                <a:spcPct val="100000"/>
              </a:lnSpc>
              <a:spcBef>
                <a:spcPts val="105"/>
              </a:spcBef>
            </a:pPr>
            <a:r>
              <a:rPr sz="2000" b="1" dirty="0">
                <a:solidFill>
                  <a:srgbClr val="6FAC46"/>
                </a:solidFill>
                <a:latin typeface="Microsoft JhengHei"/>
                <a:cs typeface="Microsoft JhengHei"/>
              </a:rPr>
              <a:t>LINE </a:t>
            </a:r>
            <a:r>
              <a:rPr sz="2000" b="1" spc="-10" dirty="0">
                <a:solidFill>
                  <a:srgbClr val="6FAC46"/>
                </a:solidFill>
                <a:latin typeface="Microsoft JhengHei"/>
                <a:cs typeface="Microsoft JhengHei"/>
              </a:rPr>
              <a:t>Bot</a:t>
            </a:r>
            <a:r>
              <a:rPr sz="2000" b="1" spc="-25" dirty="0">
                <a:solidFill>
                  <a:srgbClr val="6FAC46"/>
                </a:solidFill>
                <a:latin typeface="Microsoft JhengHei"/>
                <a:cs typeface="Microsoft JhengHei"/>
              </a:rPr>
              <a:t>回傳結</a:t>
            </a:r>
            <a:endParaRPr sz="2000">
              <a:latin typeface="Microsoft JhengHei"/>
              <a:cs typeface="Microsoft JhengHei"/>
            </a:endParaRPr>
          </a:p>
          <a:p>
            <a:pPr marL="12700">
              <a:lnSpc>
                <a:spcPct val="100000"/>
              </a:lnSpc>
            </a:pPr>
            <a:r>
              <a:rPr sz="2000" b="1" dirty="0">
                <a:solidFill>
                  <a:srgbClr val="6FAC46"/>
                </a:solidFill>
                <a:latin typeface="Microsoft JhengHei"/>
                <a:cs typeface="Microsoft JhengHei"/>
              </a:rPr>
              <a:t>果（文字</a:t>
            </a:r>
            <a:r>
              <a:rPr sz="2000" b="1" spc="-10" dirty="0">
                <a:solidFill>
                  <a:srgbClr val="6FAC46"/>
                </a:solidFill>
                <a:latin typeface="Microsoft JhengHei"/>
                <a:cs typeface="Microsoft JhengHei"/>
              </a:rPr>
              <a:t>&amp;</a:t>
            </a:r>
            <a:r>
              <a:rPr sz="2000" b="1" dirty="0">
                <a:solidFill>
                  <a:srgbClr val="6FAC46"/>
                </a:solidFill>
                <a:latin typeface="Microsoft JhengHei"/>
                <a:cs typeface="Microsoft JhengHei"/>
              </a:rPr>
              <a:t>語音</a:t>
            </a:r>
            <a:r>
              <a:rPr sz="2000" b="1" spc="-50" dirty="0">
                <a:solidFill>
                  <a:srgbClr val="6FAC46"/>
                </a:solidFill>
                <a:latin typeface="Microsoft JhengHei"/>
                <a:cs typeface="Microsoft JhengHei"/>
              </a:rPr>
              <a:t>）</a:t>
            </a:r>
            <a:endParaRPr sz="2000">
              <a:latin typeface="Microsoft JhengHei"/>
              <a:cs typeface="Microsoft JhengHe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6883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技術實作與部署流程</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288653" y="3656710"/>
            <a:ext cx="548640" cy="548640"/>
          </a:xfrm>
          <a:custGeom>
            <a:avLst/>
            <a:gdLst/>
            <a:ahLst/>
            <a:cxnLst/>
            <a:rect l="l" t="t" r="r" b="b"/>
            <a:pathLst>
              <a:path w="548640" h="548639">
                <a:moveTo>
                  <a:pt x="0" y="0"/>
                </a:moveTo>
                <a:lnTo>
                  <a:pt x="548640" y="548639"/>
                </a:lnTo>
              </a:path>
            </a:pathLst>
          </a:custGeom>
          <a:ln w="22224">
            <a:solidFill>
              <a:srgbClr val="404040"/>
            </a:solidFill>
            <a:prstDash val="sysDash"/>
          </a:ln>
        </p:spPr>
        <p:txBody>
          <a:bodyPr wrap="square" lIns="0" tIns="0" rIns="0" bIns="0" rtlCol="0"/>
          <a:lstStyle/>
          <a:p>
            <a:endParaRPr/>
          </a:p>
        </p:txBody>
      </p:sp>
      <p:sp>
        <p:nvSpPr>
          <p:cNvPr id="3" name="object 3"/>
          <p:cNvSpPr/>
          <p:nvPr/>
        </p:nvSpPr>
        <p:spPr>
          <a:xfrm>
            <a:off x="5959728" y="3656710"/>
            <a:ext cx="548640" cy="548640"/>
          </a:xfrm>
          <a:custGeom>
            <a:avLst/>
            <a:gdLst/>
            <a:ahLst/>
            <a:cxnLst/>
            <a:rect l="l" t="t" r="r" b="b"/>
            <a:pathLst>
              <a:path w="548640" h="548639">
                <a:moveTo>
                  <a:pt x="0" y="0"/>
                </a:moveTo>
                <a:lnTo>
                  <a:pt x="548640" y="548639"/>
                </a:lnTo>
              </a:path>
            </a:pathLst>
          </a:custGeom>
          <a:ln w="22224">
            <a:solidFill>
              <a:srgbClr val="404040"/>
            </a:solidFill>
            <a:prstDash val="sysDash"/>
          </a:ln>
        </p:spPr>
        <p:txBody>
          <a:bodyPr wrap="square" lIns="0" tIns="0" rIns="0" bIns="0" rtlCol="0"/>
          <a:lstStyle/>
          <a:p>
            <a:endParaRPr/>
          </a:p>
        </p:txBody>
      </p:sp>
      <p:sp>
        <p:nvSpPr>
          <p:cNvPr id="4" name="object 4"/>
          <p:cNvSpPr/>
          <p:nvPr/>
        </p:nvSpPr>
        <p:spPr>
          <a:xfrm>
            <a:off x="2630932" y="3656710"/>
            <a:ext cx="548640" cy="548640"/>
          </a:xfrm>
          <a:custGeom>
            <a:avLst/>
            <a:gdLst/>
            <a:ahLst/>
            <a:cxnLst/>
            <a:rect l="l" t="t" r="r" b="b"/>
            <a:pathLst>
              <a:path w="548639" h="548639">
                <a:moveTo>
                  <a:pt x="0" y="0"/>
                </a:moveTo>
                <a:lnTo>
                  <a:pt x="548640" y="548639"/>
                </a:lnTo>
              </a:path>
            </a:pathLst>
          </a:custGeom>
          <a:ln w="22225">
            <a:solidFill>
              <a:srgbClr val="404040"/>
            </a:solidFill>
            <a:prstDash val="sysDash"/>
          </a:ln>
        </p:spPr>
        <p:txBody>
          <a:bodyPr wrap="square" lIns="0" tIns="0" rIns="0" bIns="0" rtlCol="0"/>
          <a:lstStyle/>
          <a:p>
            <a:endParaRPr/>
          </a:p>
        </p:txBody>
      </p:sp>
      <p:sp>
        <p:nvSpPr>
          <p:cNvPr id="5" name="object 5"/>
          <p:cNvSpPr/>
          <p:nvPr/>
        </p:nvSpPr>
        <p:spPr>
          <a:xfrm>
            <a:off x="7624191" y="4814189"/>
            <a:ext cx="548640" cy="548640"/>
          </a:xfrm>
          <a:custGeom>
            <a:avLst/>
            <a:gdLst/>
            <a:ahLst/>
            <a:cxnLst/>
            <a:rect l="l" t="t" r="r" b="b"/>
            <a:pathLst>
              <a:path w="548640" h="548639">
                <a:moveTo>
                  <a:pt x="0" y="548640"/>
                </a:moveTo>
                <a:lnTo>
                  <a:pt x="548639" y="0"/>
                </a:lnTo>
              </a:path>
            </a:pathLst>
          </a:custGeom>
          <a:ln w="22225">
            <a:solidFill>
              <a:srgbClr val="404040"/>
            </a:solidFill>
            <a:prstDash val="sysDash"/>
          </a:ln>
        </p:spPr>
        <p:txBody>
          <a:bodyPr wrap="square" lIns="0" tIns="0" rIns="0" bIns="0" rtlCol="0"/>
          <a:lstStyle/>
          <a:p>
            <a:endParaRPr/>
          </a:p>
        </p:txBody>
      </p:sp>
      <p:sp>
        <p:nvSpPr>
          <p:cNvPr id="6" name="object 6"/>
          <p:cNvSpPr/>
          <p:nvPr/>
        </p:nvSpPr>
        <p:spPr>
          <a:xfrm>
            <a:off x="4295394" y="4814189"/>
            <a:ext cx="548640" cy="548640"/>
          </a:xfrm>
          <a:custGeom>
            <a:avLst/>
            <a:gdLst/>
            <a:ahLst/>
            <a:cxnLst/>
            <a:rect l="l" t="t" r="r" b="b"/>
            <a:pathLst>
              <a:path w="548639" h="548639">
                <a:moveTo>
                  <a:pt x="0" y="548640"/>
                </a:moveTo>
                <a:lnTo>
                  <a:pt x="548639" y="0"/>
                </a:lnTo>
              </a:path>
            </a:pathLst>
          </a:custGeom>
          <a:ln w="22225">
            <a:solidFill>
              <a:srgbClr val="404040"/>
            </a:solidFill>
            <a:prstDash val="sysDash"/>
          </a:ln>
        </p:spPr>
        <p:txBody>
          <a:bodyPr wrap="square" lIns="0" tIns="0" rIns="0" bIns="0" rtlCol="0"/>
          <a:lstStyle/>
          <a:p>
            <a:endParaRPr/>
          </a:p>
        </p:txBody>
      </p:sp>
      <p:sp>
        <p:nvSpPr>
          <p:cNvPr id="7" name="object 7"/>
          <p:cNvSpPr/>
          <p:nvPr/>
        </p:nvSpPr>
        <p:spPr>
          <a:xfrm>
            <a:off x="11126089" y="4814189"/>
            <a:ext cx="548640" cy="548640"/>
          </a:xfrm>
          <a:custGeom>
            <a:avLst/>
            <a:gdLst/>
            <a:ahLst/>
            <a:cxnLst/>
            <a:rect l="l" t="t" r="r" b="b"/>
            <a:pathLst>
              <a:path w="548640" h="548639">
                <a:moveTo>
                  <a:pt x="0" y="548640"/>
                </a:moveTo>
                <a:lnTo>
                  <a:pt x="548639" y="0"/>
                </a:lnTo>
              </a:path>
            </a:pathLst>
          </a:custGeom>
          <a:ln w="22225">
            <a:solidFill>
              <a:srgbClr val="404040"/>
            </a:solidFill>
            <a:prstDash val="sysDash"/>
          </a:ln>
        </p:spPr>
        <p:txBody>
          <a:bodyPr wrap="square" lIns="0" tIns="0" rIns="0" bIns="0" rtlCol="0"/>
          <a:lstStyle/>
          <a:p>
            <a:endParaRPr/>
          </a:p>
        </p:txBody>
      </p:sp>
      <p:grpSp>
        <p:nvGrpSpPr>
          <p:cNvPr id="8" name="object 8"/>
          <p:cNvGrpSpPr/>
          <p:nvPr/>
        </p:nvGrpSpPr>
        <p:grpSpPr>
          <a:xfrm>
            <a:off x="2109089" y="4205351"/>
            <a:ext cx="10328275" cy="617855"/>
            <a:chOff x="2109089" y="4205351"/>
            <a:chExt cx="10328275" cy="617855"/>
          </a:xfrm>
        </p:grpSpPr>
        <p:sp>
          <p:nvSpPr>
            <p:cNvPr id="9" name="object 9"/>
            <p:cNvSpPr/>
            <p:nvPr/>
          </p:nvSpPr>
          <p:spPr>
            <a:xfrm>
              <a:off x="2109089" y="4205351"/>
              <a:ext cx="1905000" cy="617855"/>
            </a:xfrm>
            <a:custGeom>
              <a:avLst/>
              <a:gdLst/>
              <a:ahLst/>
              <a:cxnLst/>
              <a:rect l="l" t="t" r="r" b="b"/>
              <a:pathLst>
                <a:path w="1905000" h="617854">
                  <a:moveTo>
                    <a:pt x="1596009" y="0"/>
                  </a:moveTo>
                  <a:lnTo>
                    <a:pt x="0" y="0"/>
                  </a:lnTo>
                  <a:lnTo>
                    <a:pt x="308991" y="308863"/>
                  </a:lnTo>
                  <a:lnTo>
                    <a:pt x="0" y="617854"/>
                  </a:lnTo>
                  <a:lnTo>
                    <a:pt x="1596009" y="617854"/>
                  </a:lnTo>
                  <a:lnTo>
                    <a:pt x="1905000" y="308863"/>
                  </a:lnTo>
                  <a:lnTo>
                    <a:pt x="1596009" y="0"/>
                  </a:lnTo>
                  <a:close/>
                </a:path>
              </a:pathLst>
            </a:custGeom>
            <a:solidFill>
              <a:srgbClr val="6FAC46"/>
            </a:solidFill>
          </p:spPr>
          <p:txBody>
            <a:bodyPr wrap="square" lIns="0" tIns="0" rIns="0" bIns="0" rtlCol="0"/>
            <a:lstStyle/>
            <a:p>
              <a:endParaRPr/>
            </a:p>
          </p:txBody>
        </p:sp>
        <p:sp>
          <p:nvSpPr>
            <p:cNvPr id="10" name="object 10"/>
            <p:cNvSpPr/>
            <p:nvPr/>
          </p:nvSpPr>
          <p:spPr>
            <a:xfrm>
              <a:off x="3797046" y="4205351"/>
              <a:ext cx="1905635" cy="617855"/>
            </a:xfrm>
            <a:custGeom>
              <a:avLst/>
              <a:gdLst/>
              <a:ahLst/>
              <a:cxnLst/>
              <a:rect l="l" t="t" r="r" b="b"/>
              <a:pathLst>
                <a:path w="1905635" h="617854">
                  <a:moveTo>
                    <a:pt x="1596136" y="0"/>
                  </a:moveTo>
                  <a:lnTo>
                    <a:pt x="0" y="0"/>
                  </a:lnTo>
                  <a:lnTo>
                    <a:pt x="308990" y="308863"/>
                  </a:lnTo>
                  <a:lnTo>
                    <a:pt x="0" y="617854"/>
                  </a:lnTo>
                  <a:lnTo>
                    <a:pt x="1596136" y="617854"/>
                  </a:lnTo>
                  <a:lnTo>
                    <a:pt x="1905127" y="308863"/>
                  </a:lnTo>
                  <a:lnTo>
                    <a:pt x="1596136" y="0"/>
                  </a:lnTo>
                  <a:close/>
                </a:path>
              </a:pathLst>
            </a:custGeom>
            <a:solidFill>
              <a:srgbClr val="5B9BD4"/>
            </a:solidFill>
          </p:spPr>
          <p:txBody>
            <a:bodyPr wrap="square" lIns="0" tIns="0" rIns="0" bIns="0" rtlCol="0"/>
            <a:lstStyle/>
            <a:p>
              <a:endParaRPr/>
            </a:p>
          </p:txBody>
        </p:sp>
        <p:sp>
          <p:nvSpPr>
            <p:cNvPr id="11" name="object 11"/>
            <p:cNvSpPr/>
            <p:nvPr/>
          </p:nvSpPr>
          <p:spPr>
            <a:xfrm>
              <a:off x="5485003" y="4205351"/>
              <a:ext cx="1905635" cy="617855"/>
            </a:xfrm>
            <a:custGeom>
              <a:avLst/>
              <a:gdLst/>
              <a:ahLst/>
              <a:cxnLst/>
              <a:rect l="l" t="t" r="r" b="b"/>
              <a:pathLst>
                <a:path w="1905634" h="617854">
                  <a:moveTo>
                    <a:pt x="1596136" y="0"/>
                  </a:moveTo>
                  <a:lnTo>
                    <a:pt x="0" y="0"/>
                  </a:lnTo>
                  <a:lnTo>
                    <a:pt x="308991" y="308863"/>
                  </a:lnTo>
                  <a:lnTo>
                    <a:pt x="0" y="617854"/>
                  </a:lnTo>
                  <a:lnTo>
                    <a:pt x="1596136" y="617854"/>
                  </a:lnTo>
                  <a:lnTo>
                    <a:pt x="1905127" y="308863"/>
                  </a:lnTo>
                  <a:lnTo>
                    <a:pt x="1596136" y="0"/>
                  </a:lnTo>
                  <a:close/>
                </a:path>
              </a:pathLst>
            </a:custGeom>
            <a:solidFill>
              <a:srgbClr val="FFC000"/>
            </a:solidFill>
          </p:spPr>
          <p:txBody>
            <a:bodyPr wrap="square" lIns="0" tIns="0" rIns="0" bIns="0" rtlCol="0"/>
            <a:lstStyle/>
            <a:p>
              <a:endParaRPr/>
            </a:p>
          </p:txBody>
        </p:sp>
        <p:sp>
          <p:nvSpPr>
            <p:cNvPr id="12" name="object 12"/>
            <p:cNvSpPr/>
            <p:nvPr/>
          </p:nvSpPr>
          <p:spPr>
            <a:xfrm>
              <a:off x="7173086" y="4205351"/>
              <a:ext cx="1905000" cy="617855"/>
            </a:xfrm>
            <a:custGeom>
              <a:avLst/>
              <a:gdLst/>
              <a:ahLst/>
              <a:cxnLst/>
              <a:rect l="l" t="t" r="r" b="b"/>
              <a:pathLst>
                <a:path w="1905000" h="617854">
                  <a:moveTo>
                    <a:pt x="1596009" y="0"/>
                  </a:moveTo>
                  <a:lnTo>
                    <a:pt x="0" y="0"/>
                  </a:lnTo>
                  <a:lnTo>
                    <a:pt x="308864" y="308863"/>
                  </a:lnTo>
                  <a:lnTo>
                    <a:pt x="0" y="617854"/>
                  </a:lnTo>
                  <a:lnTo>
                    <a:pt x="1596009" y="617854"/>
                  </a:lnTo>
                  <a:lnTo>
                    <a:pt x="1905000" y="308863"/>
                  </a:lnTo>
                  <a:lnTo>
                    <a:pt x="1596009" y="0"/>
                  </a:lnTo>
                  <a:close/>
                </a:path>
              </a:pathLst>
            </a:custGeom>
            <a:solidFill>
              <a:srgbClr val="A4A4A4"/>
            </a:solidFill>
          </p:spPr>
          <p:txBody>
            <a:bodyPr wrap="square" lIns="0" tIns="0" rIns="0" bIns="0" rtlCol="0"/>
            <a:lstStyle/>
            <a:p>
              <a:endParaRPr/>
            </a:p>
          </p:txBody>
        </p:sp>
        <p:sp>
          <p:nvSpPr>
            <p:cNvPr id="13" name="object 13"/>
            <p:cNvSpPr/>
            <p:nvPr/>
          </p:nvSpPr>
          <p:spPr>
            <a:xfrm>
              <a:off x="8861044" y="4205351"/>
              <a:ext cx="1905000" cy="617855"/>
            </a:xfrm>
            <a:custGeom>
              <a:avLst/>
              <a:gdLst/>
              <a:ahLst/>
              <a:cxnLst/>
              <a:rect l="l" t="t" r="r" b="b"/>
              <a:pathLst>
                <a:path w="1905000" h="617854">
                  <a:moveTo>
                    <a:pt x="1596135" y="0"/>
                  </a:moveTo>
                  <a:lnTo>
                    <a:pt x="0" y="0"/>
                  </a:lnTo>
                  <a:lnTo>
                    <a:pt x="308990" y="308863"/>
                  </a:lnTo>
                  <a:lnTo>
                    <a:pt x="0" y="617854"/>
                  </a:lnTo>
                  <a:lnTo>
                    <a:pt x="1596135" y="617854"/>
                  </a:lnTo>
                  <a:lnTo>
                    <a:pt x="1905000" y="308863"/>
                  </a:lnTo>
                  <a:lnTo>
                    <a:pt x="1596135" y="0"/>
                  </a:lnTo>
                  <a:close/>
                </a:path>
              </a:pathLst>
            </a:custGeom>
            <a:solidFill>
              <a:srgbClr val="EC7C30"/>
            </a:solidFill>
          </p:spPr>
          <p:txBody>
            <a:bodyPr wrap="square" lIns="0" tIns="0" rIns="0" bIns="0" rtlCol="0"/>
            <a:lstStyle/>
            <a:p>
              <a:endParaRPr/>
            </a:p>
          </p:txBody>
        </p:sp>
        <p:sp>
          <p:nvSpPr>
            <p:cNvPr id="14" name="object 14"/>
            <p:cNvSpPr/>
            <p:nvPr/>
          </p:nvSpPr>
          <p:spPr>
            <a:xfrm>
              <a:off x="10532236" y="4205351"/>
              <a:ext cx="1905000" cy="617855"/>
            </a:xfrm>
            <a:custGeom>
              <a:avLst/>
              <a:gdLst/>
              <a:ahLst/>
              <a:cxnLst/>
              <a:rect l="l" t="t" r="r" b="b"/>
              <a:pathLst>
                <a:path w="1905000" h="617854">
                  <a:moveTo>
                    <a:pt x="1596009" y="0"/>
                  </a:moveTo>
                  <a:lnTo>
                    <a:pt x="0" y="0"/>
                  </a:lnTo>
                  <a:lnTo>
                    <a:pt x="308864" y="308863"/>
                  </a:lnTo>
                  <a:lnTo>
                    <a:pt x="0" y="617854"/>
                  </a:lnTo>
                  <a:lnTo>
                    <a:pt x="1596009" y="617854"/>
                  </a:lnTo>
                  <a:lnTo>
                    <a:pt x="1905000" y="308863"/>
                  </a:lnTo>
                  <a:lnTo>
                    <a:pt x="1596009" y="0"/>
                  </a:lnTo>
                  <a:close/>
                </a:path>
              </a:pathLst>
            </a:custGeom>
            <a:solidFill>
              <a:srgbClr val="4471C4"/>
            </a:solidFill>
          </p:spPr>
          <p:txBody>
            <a:bodyPr wrap="square" lIns="0" tIns="0" rIns="0" bIns="0" rtlCol="0"/>
            <a:lstStyle/>
            <a:p>
              <a:endParaRPr/>
            </a:p>
          </p:txBody>
        </p:sp>
      </p:grpSp>
      <p:sp>
        <p:nvSpPr>
          <p:cNvPr id="15" name="object 15"/>
          <p:cNvSpPr txBox="1"/>
          <p:nvPr/>
        </p:nvSpPr>
        <p:spPr>
          <a:xfrm>
            <a:off x="1040079" y="2291445"/>
            <a:ext cx="2456180" cy="1304290"/>
          </a:xfrm>
          <a:prstGeom prst="rect">
            <a:avLst/>
          </a:prstGeom>
        </p:spPr>
        <p:txBody>
          <a:bodyPr vert="horz" wrap="square" lIns="0" tIns="108585" rIns="0" bIns="0" rtlCol="0">
            <a:spAutoFit/>
          </a:bodyPr>
          <a:lstStyle/>
          <a:p>
            <a:pPr marL="365125">
              <a:lnSpc>
                <a:spcPct val="100000"/>
              </a:lnSpc>
              <a:spcBef>
                <a:spcPts val="855"/>
              </a:spcBef>
            </a:pPr>
            <a:r>
              <a:rPr sz="1600" b="1" dirty="0">
                <a:latin typeface="Microsoft JhengHei"/>
                <a:cs typeface="Microsoft JhengHei"/>
              </a:rPr>
              <a:t>LINE</a:t>
            </a:r>
            <a:r>
              <a:rPr sz="1600" b="1" spc="-55" dirty="0">
                <a:latin typeface="Microsoft JhengHei"/>
                <a:cs typeface="Microsoft JhengHei"/>
              </a:rPr>
              <a:t> </a:t>
            </a:r>
            <a:r>
              <a:rPr sz="1600" b="1" dirty="0">
                <a:latin typeface="Microsoft JhengHei"/>
                <a:cs typeface="Microsoft JhengHei"/>
              </a:rPr>
              <a:t>Platform</a:t>
            </a:r>
            <a:r>
              <a:rPr sz="1600" b="1" spc="-30" dirty="0">
                <a:latin typeface="Microsoft JhengHei"/>
                <a:cs typeface="Microsoft JhengHei"/>
              </a:rPr>
              <a:t> 設定</a:t>
            </a:r>
            <a:endParaRPr sz="1600">
              <a:latin typeface="Microsoft JhengHei"/>
              <a:cs typeface="Microsoft JhengHei"/>
            </a:endParaRPr>
          </a:p>
          <a:p>
            <a:pPr marL="299085" indent="-286385">
              <a:lnSpc>
                <a:spcPts val="1675"/>
              </a:lnSpc>
              <a:spcBef>
                <a:spcPts val="670"/>
              </a:spcBef>
              <a:buFont typeface="Arial MT"/>
              <a:buChar char="•"/>
              <a:tabLst>
                <a:tab pos="299085" algn="l"/>
              </a:tabLst>
            </a:pPr>
            <a:r>
              <a:rPr sz="1400" spc="150" dirty="0">
                <a:latin typeface="SimSun"/>
                <a:cs typeface="SimSun"/>
              </a:rPr>
              <a:t>註冊</a:t>
            </a:r>
            <a:r>
              <a:rPr sz="1400" dirty="0">
                <a:latin typeface="Calibri"/>
                <a:cs typeface="Calibri"/>
              </a:rPr>
              <a:t>LINE</a:t>
            </a:r>
            <a:r>
              <a:rPr sz="1400" spc="-25" dirty="0">
                <a:latin typeface="Calibri"/>
                <a:cs typeface="Calibri"/>
              </a:rPr>
              <a:t> </a:t>
            </a:r>
            <a:r>
              <a:rPr sz="1400" spc="-10" dirty="0">
                <a:latin typeface="Calibri"/>
                <a:cs typeface="Calibri"/>
              </a:rPr>
              <a:t>Developers</a:t>
            </a:r>
            <a:r>
              <a:rPr sz="1400" spc="-5" dirty="0">
                <a:latin typeface="Calibri"/>
                <a:cs typeface="Calibri"/>
              </a:rPr>
              <a:t> </a:t>
            </a:r>
            <a:r>
              <a:rPr sz="1400" spc="-20" dirty="0">
                <a:latin typeface="SimSun"/>
                <a:cs typeface="SimSun"/>
              </a:rPr>
              <a:t>並創建</a:t>
            </a:r>
            <a:endParaRPr sz="1400">
              <a:latin typeface="SimSun"/>
              <a:cs typeface="SimSun"/>
            </a:endParaRPr>
          </a:p>
          <a:p>
            <a:pPr marL="299085">
              <a:lnSpc>
                <a:spcPts val="1675"/>
              </a:lnSpc>
            </a:pPr>
            <a:r>
              <a:rPr sz="1400" dirty="0">
                <a:latin typeface="Calibri"/>
                <a:cs typeface="Calibri"/>
              </a:rPr>
              <a:t>Messaging</a:t>
            </a:r>
            <a:r>
              <a:rPr sz="1400" spc="-35" dirty="0">
                <a:latin typeface="Calibri"/>
                <a:cs typeface="Calibri"/>
              </a:rPr>
              <a:t> </a:t>
            </a:r>
            <a:r>
              <a:rPr sz="1400" dirty="0">
                <a:latin typeface="Calibri"/>
                <a:cs typeface="Calibri"/>
              </a:rPr>
              <a:t>API</a:t>
            </a:r>
            <a:r>
              <a:rPr sz="1400" spc="-35" dirty="0">
                <a:latin typeface="Calibri"/>
                <a:cs typeface="Calibri"/>
              </a:rPr>
              <a:t> </a:t>
            </a:r>
            <a:r>
              <a:rPr sz="1400" spc="-10" dirty="0">
                <a:latin typeface="Calibri"/>
                <a:cs typeface="Calibri"/>
              </a:rPr>
              <a:t>Channel</a:t>
            </a:r>
            <a:endParaRPr sz="1400">
              <a:latin typeface="Calibri"/>
              <a:cs typeface="Calibri"/>
            </a:endParaRPr>
          </a:p>
          <a:p>
            <a:pPr marL="299085" indent="-286385">
              <a:lnSpc>
                <a:spcPct val="100000"/>
              </a:lnSpc>
              <a:spcBef>
                <a:spcPts val="10"/>
              </a:spcBef>
              <a:buFont typeface="Arial MT"/>
              <a:buChar char="•"/>
              <a:tabLst>
                <a:tab pos="299085" algn="l"/>
              </a:tabLst>
            </a:pPr>
            <a:r>
              <a:rPr sz="1400" spc="-10" dirty="0">
                <a:latin typeface="SimSun"/>
                <a:cs typeface="SimSun"/>
              </a:rPr>
              <a:t>設定基本資訊</a:t>
            </a:r>
            <a:endParaRPr sz="1400">
              <a:latin typeface="SimSun"/>
              <a:cs typeface="SimSun"/>
            </a:endParaRPr>
          </a:p>
          <a:p>
            <a:pPr marL="299085" indent="-286385">
              <a:lnSpc>
                <a:spcPct val="100000"/>
              </a:lnSpc>
              <a:buFont typeface="Arial MT"/>
              <a:buChar char="•"/>
              <a:tabLst>
                <a:tab pos="299085" algn="l"/>
              </a:tabLst>
            </a:pPr>
            <a:r>
              <a:rPr sz="1400" spc="150" dirty="0">
                <a:latin typeface="SimSun"/>
                <a:cs typeface="SimSun"/>
              </a:rPr>
              <a:t>生成</a:t>
            </a:r>
            <a:r>
              <a:rPr sz="1400" dirty="0">
                <a:latin typeface="Calibri"/>
                <a:cs typeface="Calibri"/>
              </a:rPr>
              <a:t>Channel</a:t>
            </a:r>
            <a:r>
              <a:rPr sz="1400" spc="-35" dirty="0">
                <a:latin typeface="Calibri"/>
                <a:cs typeface="Calibri"/>
              </a:rPr>
              <a:t> </a:t>
            </a:r>
            <a:r>
              <a:rPr sz="1400" dirty="0">
                <a:latin typeface="Calibri"/>
                <a:cs typeface="Calibri"/>
              </a:rPr>
              <a:t>Access</a:t>
            </a:r>
            <a:r>
              <a:rPr sz="1400" spc="-50" dirty="0">
                <a:latin typeface="Calibri"/>
                <a:cs typeface="Calibri"/>
              </a:rPr>
              <a:t> </a:t>
            </a:r>
            <a:r>
              <a:rPr sz="1400" spc="-20" dirty="0">
                <a:latin typeface="Calibri"/>
                <a:cs typeface="Calibri"/>
              </a:rPr>
              <a:t>Token</a:t>
            </a:r>
            <a:endParaRPr sz="1400">
              <a:latin typeface="Calibri"/>
              <a:cs typeface="Calibri"/>
            </a:endParaRPr>
          </a:p>
        </p:txBody>
      </p:sp>
      <p:sp>
        <p:nvSpPr>
          <p:cNvPr id="30" name="object 30"/>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29</a:t>
            </a:fld>
            <a:endParaRPr spc="-25" dirty="0"/>
          </a:p>
        </p:txBody>
      </p:sp>
      <p:sp>
        <p:nvSpPr>
          <p:cNvPr id="16" name="object 16"/>
          <p:cNvSpPr txBox="1"/>
          <p:nvPr/>
        </p:nvSpPr>
        <p:spPr>
          <a:xfrm>
            <a:off x="4697729" y="2375376"/>
            <a:ext cx="2831465" cy="1251585"/>
          </a:xfrm>
          <a:prstGeom prst="rect">
            <a:avLst/>
          </a:prstGeom>
        </p:spPr>
        <p:txBody>
          <a:bodyPr vert="horz" wrap="square" lIns="0" tIns="67310" rIns="0" bIns="0" rtlCol="0">
            <a:spAutoFit/>
          </a:bodyPr>
          <a:lstStyle/>
          <a:p>
            <a:pPr marL="882650">
              <a:lnSpc>
                <a:spcPct val="100000"/>
              </a:lnSpc>
              <a:spcBef>
                <a:spcPts val="530"/>
              </a:spcBef>
            </a:pPr>
            <a:r>
              <a:rPr sz="1600" b="1" spc="-30" dirty="0">
                <a:solidFill>
                  <a:srgbClr val="252525"/>
                </a:solidFill>
                <a:latin typeface="Microsoft JhengHei"/>
                <a:cs typeface="Microsoft JhengHei"/>
              </a:rPr>
              <a:t>應用程式設定</a:t>
            </a:r>
            <a:endParaRPr sz="1600">
              <a:latin typeface="Microsoft JhengHei"/>
              <a:cs typeface="Microsoft JhengHei"/>
            </a:endParaRPr>
          </a:p>
          <a:p>
            <a:pPr marL="299085" indent="-286385">
              <a:lnSpc>
                <a:spcPts val="1735"/>
              </a:lnSpc>
              <a:spcBef>
                <a:spcPts val="380"/>
              </a:spcBef>
              <a:buFont typeface="Arial MT"/>
              <a:buChar char="•"/>
              <a:tabLst>
                <a:tab pos="299085" algn="l"/>
              </a:tabLst>
            </a:pPr>
            <a:r>
              <a:rPr sz="1450" spc="15" dirty="0">
                <a:solidFill>
                  <a:srgbClr val="252525"/>
                </a:solidFill>
                <a:latin typeface="SimSun"/>
                <a:cs typeface="SimSun"/>
              </a:rPr>
              <a:t>設定環境變數存儲</a:t>
            </a:r>
            <a:r>
              <a:rPr sz="1450" dirty="0">
                <a:solidFill>
                  <a:srgbClr val="252525"/>
                </a:solidFill>
                <a:latin typeface="Calibri"/>
                <a:cs typeface="Calibri"/>
              </a:rPr>
              <a:t>API</a:t>
            </a:r>
            <a:r>
              <a:rPr sz="1450" spc="35" dirty="0">
                <a:solidFill>
                  <a:srgbClr val="252525"/>
                </a:solidFill>
                <a:latin typeface="Calibri"/>
                <a:cs typeface="Calibri"/>
              </a:rPr>
              <a:t> </a:t>
            </a:r>
            <a:r>
              <a:rPr sz="1450" spc="-35" dirty="0">
                <a:solidFill>
                  <a:srgbClr val="252525"/>
                </a:solidFill>
                <a:latin typeface="SimSun"/>
                <a:cs typeface="SimSun"/>
              </a:rPr>
              <a:t>密鑰</a:t>
            </a:r>
            <a:endParaRPr sz="1450">
              <a:latin typeface="SimSun"/>
              <a:cs typeface="SimSun"/>
            </a:endParaRPr>
          </a:p>
          <a:p>
            <a:pPr marL="299085" indent="-286385">
              <a:lnSpc>
                <a:spcPts val="1730"/>
              </a:lnSpc>
              <a:buFont typeface="Arial MT"/>
              <a:buChar char="•"/>
              <a:tabLst>
                <a:tab pos="299085" algn="l"/>
              </a:tabLst>
            </a:pPr>
            <a:r>
              <a:rPr sz="1450" spc="140" dirty="0">
                <a:solidFill>
                  <a:srgbClr val="252525"/>
                </a:solidFill>
                <a:latin typeface="SimSun"/>
                <a:cs typeface="SimSun"/>
              </a:rPr>
              <a:t>配置</a:t>
            </a:r>
            <a:r>
              <a:rPr sz="1450" dirty="0">
                <a:solidFill>
                  <a:srgbClr val="252525"/>
                </a:solidFill>
                <a:latin typeface="Calibri"/>
                <a:cs typeface="Calibri"/>
              </a:rPr>
              <a:t>Flask</a:t>
            </a:r>
            <a:r>
              <a:rPr sz="1450" spc="-25" dirty="0">
                <a:solidFill>
                  <a:srgbClr val="252525"/>
                </a:solidFill>
                <a:latin typeface="Calibri"/>
                <a:cs typeface="Calibri"/>
              </a:rPr>
              <a:t> </a:t>
            </a:r>
            <a:r>
              <a:rPr sz="1450" spc="-25" dirty="0">
                <a:solidFill>
                  <a:srgbClr val="252525"/>
                </a:solidFill>
                <a:latin typeface="SimSun"/>
                <a:cs typeface="SimSun"/>
              </a:rPr>
              <a:t>路由和錯誤處理</a:t>
            </a:r>
            <a:endParaRPr sz="1450">
              <a:latin typeface="SimSun"/>
              <a:cs typeface="SimSun"/>
            </a:endParaRPr>
          </a:p>
          <a:p>
            <a:pPr marL="299085" marR="5080" indent="-287020">
              <a:lnSpc>
                <a:spcPts val="1730"/>
              </a:lnSpc>
              <a:spcBef>
                <a:spcPts val="60"/>
              </a:spcBef>
              <a:buFont typeface="Arial MT"/>
              <a:buChar char="•"/>
              <a:tabLst>
                <a:tab pos="299085" algn="l"/>
              </a:tabLst>
            </a:pPr>
            <a:r>
              <a:rPr sz="1450" spc="140" dirty="0">
                <a:solidFill>
                  <a:srgbClr val="252525"/>
                </a:solidFill>
                <a:latin typeface="SimSun"/>
                <a:cs typeface="SimSun"/>
              </a:rPr>
              <a:t>整合</a:t>
            </a:r>
            <a:r>
              <a:rPr sz="1450" spc="-20" dirty="0">
                <a:solidFill>
                  <a:srgbClr val="252525"/>
                </a:solidFill>
                <a:latin typeface="Calibri"/>
                <a:cs typeface="Calibri"/>
              </a:rPr>
              <a:t>OpenAI</a:t>
            </a:r>
            <a:r>
              <a:rPr sz="1450" spc="-20" dirty="0">
                <a:solidFill>
                  <a:srgbClr val="252525"/>
                </a:solidFill>
                <a:latin typeface="SimSun"/>
                <a:cs typeface="SimSun"/>
              </a:rPr>
              <a:t>、</a:t>
            </a:r>
            <a:r>
              <a:rPr sz="1450" spc="-25" dirty="0">
                <a:solidFill>
                  <a:srgbClr val="252525"/>
                </a:solidFill>
                <a:latin typeface="Calibri"/>
                <a:cs typeface="Calibri"/>
              </a:rPr>
              <a:t>gTTS</a:t>
            </a:r>
            <a:r>
              <a:rPr sz="1450" spc="-20" dirty="0">
                <a:solidFill>
                  <a:srgbClr val="252525"/>
                </a:solidFill>
                <a:latin typeface="SimSun"/>
                <a:cs typeface="SimSun"/>
              </a:rPr>
              <a:t>、</a:t>
            </a:r>
            <a:r>
              <a:rPr sz="1450" dirty="0">
                <a:solidFill>
                  <a:srgbClr val="252525"/>
                </a:solidFill>
                <a:latin typeface="Calibri"/>
                <a:cs typeface="Calibri"/>
              </a:rPr>
              <a:t>LINE API</a:t>
            </a:r>
            <a:r>
              <a:rPr sz="1450" spc="-5" dirty="0">
                <a:solidFill>
                  <a:srgbClr val="252525"/>
                </a:solidFill>
                <a:latin typeface="Calibri"/>
                <a:cs typeface="Calibri"/>
              </a:rPr>
              <a:t> </a:t>
            </a:r>
            <a:r>
              <a:rPr sz="1450" spc="-50" dirty="0">
                <a:solidFill>
                  <a:srgbClr val="252525"/>
                </a:solidFill>
                <a:latin typeface="SimSun"/>
                <a:cs typeface="SimSun"/>
              </a:rPr>
              <a:t>服務</a:t>
            </a:r>
            <a:endParaRPr sz="1450">
              <a:latin typeface="SimSun"/>
              <a:cs typeface="SimSun"/>
            </a:endParaRPr>
          </a:p>
        </p:txBody>
      </p:sp>
      <p:sp>
        <p:nvSpPr>
          <p:cNvPr id="17" name="object 17"/>
          <p:cNvSpPr txBox="1"/>
          <p:nvPr/>
        </p:nvSpPr>
        <p:spPr>
          <a:xfrm>
            <a:off x="8201406" y="2327459"/>
            <a:ext cx="2513965" cy="1031240"/>
          </a:xfrm>
          <a:prstGeom prst="rect">
            <a:avLst/>
          </a:prstGeom>
        </p:spPr>
        <p:txBody>
          <a:bodyPr vert="horz" wrap="square" lIns="0" tIns="66040" rIns="0" bIns="0" rtlCol="0">
            <a:spAutoFit/>
          </a:bodyPr>
          <a:lstStyle/>
          <a:p>
            <a:pPr marL="687705">
              <a:lnSpc>
                <a:spcPct val="100000"/>
              </a:lnSpc>
              <a:spcBef>
                <a:spcPts val="520"/>
              </a:spcBef>
            </a:pPr>
            <a:r>
              <a:rPr sz="1600" b="1" spc="-30" dirty="0">
                <a:solidFill>
                  <a:srgbClr val="252525"/>
                </a:solidFill>
                <a:latin typeface="Microsoft JhengHei"/>
                <a:cs typeface="Microsoft JhengHei"/>
              </a:rPr>
              <a:t>服務啟動與監控</a:t>
            </a:r>
            <a:endParaRPr sz="1600">
              <a:latin typeface="Microsoft JhengHei"/>
              <a:cs typeface="Microsoft JhengHei"/>
            </a:endParaRPr>
          </a:p>
          <a:p>
            <a:pPr marL="299085" indent="-286385">
              <a:lnSpc>
                <a:spcPts val="1735"/>
              </a:lnSpc>
              <a:spcBef>
                <a:spcPts val="380"/>
              </a:spcBef>
              <a:buFont typeface="Arial MT"/>
              <a:buChar char="•"/>
              <a:tabLst>
                <a:tab pos="299085" algn="l"/>
              </a:tabLst>
            </a:pPr>
            <a:r>
              <a:rPr sz="1450" spc="-155" dirty="0">
                <a:solidFill>
                  <a:srgbClr val="252525"/>
                </a:solidFill>
                <a:latin typeface="SimSun"/>
                <a:cs typeface="SimSun"/>
              </a:rPr>
              <a:t>啟動 </a:t>
            </a:r>
            <a:r>
              <a:rPr sz="1450" spc="-10" dirty="0">
                <a:solidFill>
                  <a:srgbClr val="252525"/>
                </a:solidFill>
                <a:latin typeface="Calibri"/>
                <a:cs typeface="Calibri"/>
              </a:rPr>
              <a:t>Flask</a:t>
            </a:r>
            <a:r>
              <a:rPr sz="1450" spc="-10" dirty="0">
                <a:solidFill>
                  <a:srgbClr val="252525"/>
                </a:solidFill>
                <a:latin typeface="SimSun"/>
                <a:cs typeface="SimSun"/>
              </a:rPr>
              <a:t>：</a:t>
            </a:r>
            <a:r>
              <a:rPr sz="1450" spc="-10" dirty="0">
                <a:solidFill>
                  <a:srgbClr val="252525"/>
                </a:solidFill>
                <a:latin typeface="Calibri"/>
                <a:cs typeface="Calibri"/>
              </a:rPr>
              <a:t>python</a:t>
            </a:r>
            <a:r>
              <a:rPr sz="1450" dirty="0">
                <a:solidFill>
                  <a:srgbClr val="252525"/>
                </a:solidFill>
                <a:latin typeface="Calibri"/>
                <a:cs typeface="Calibri"/>
              </a:rPr>
              <a:t> </a:t>
            </a:r>
            <a:r>
              <a:rPr sz="1450" spc="-10" dirty="0">
                <a:solidFill>
                  <a:srgbClr val="252525"/>
                </a:solidFill>
                <a:latin typeface="Calibri"/>
                <a:cs typeface="Calibri"/>
              </a:rPr>
              <a:t>app.py</a:t>
            </a:r>
            <a:endParaRPr sz="1450">
              <a:latin typeface="Calibri"/>
              <a:cs typeface="Calibri"/>
            </a:endParaRPr>
          </a:p>
          <a:p>
            <a:pPr marL="299085" indent="-286385">
              <a:lnSpc>
                <a:spcPts val="1730"/>
              </a:lnSpc>
              <a:buFont typeface="Arial MT"/>
              <a:buChar char="•"/>
              <a:tabLst>
                <a:tab pos="299085" algn="l"/>
              </a:tabLst>
            </a:pPr>
            <a:r>
              <a:rPr sz="1450" spc="140" dirty="0">
                <a:solidFill>
                  <a:srgbClr val="252525"/>
                </a:solidFill>
                <a:latin typeface="SimSun"/>
                <a:cs typeface="SimSun"/>
              </a:rPr>
              <a:t>啟動</a:t>
            </a:r>
            <a:r>
              <a:rPr sz="1450" spc="-10" dirty="0">
                <a:solidFill>
                  <a:srgbClr val="252525"/>
                </a:solidFill>
                <a:latin typeface="Calibri"/>
                <a:cs typeface="Calibri"/>
              </a:rPr>
              <a:t>ngrok</a:t>
            </a:r>
            <a:r>
              <a:rPr sz="1450" spc="-10" dirty="0">
                <a:solidFill>
                  <a:srgbClr val="252525"/>
                </a:solidFill>
                <a:latin typeface="SimSun"/>
                <a:cs typeface="SimSun"/>
              </a:rPr>
              <a:t>：</a:t>
            </a:r>
            <a:r>
              <a:rPr sz="1450" spc="-10" dirty="0">
                <a:solidFill>
                  <a:srgbClr val="252525"/>
                </a:solidFill>
                <a:latin typeface="Calibri"/>
                <a:cs typeface="Calibri"/>
              </a:rPr>
              <a:t>ngrok</a:t>
            </a:r>
            <a:r>
              <a:rPr sz="1450" spc="-70" dirty="0">
                <a:solidFill>
                  <a:srgbClr val="252525"/>
                </a:solidFill>
                <a:latin typeface="Calibri"/>
                <a:cs typeface="Calibri"/>
              </a:rPr>
              <a:t> </a:t>
            </a:r>
            <a:r>
              <a:rPr sz="1450" dirty="0">
                <a:solidFill>
                  <a:srgbClr val="252525"/>
                </a:solidFill>
                <a:latin typeface="Calibri"/>
                <a:cs typeface="Calibri"/>
              </a:rPr>
              <a:t>http</a:t>
            </a:r>
            <a:r>
              <a:rPr sz="1450" spc="-45" dirty="0">
                <a:solidFill>
                  <a:srgbClr val="252525"/>
                </a:solidFill>
                <a:latin typeface="Calibri"/>
                <a:cs typeface="Calibri"/>
              </a:rPr>
              <a:t> </a:t>
            </a:r>
            <a:r>
              <a:rPr sz="1450" spc="-20" dirty="0">
                <a:solidFill>
                  <a:srgbClr val="252525"/>
                </a:solidFill>
                <a:latin typeface="Calibri"/>
                <a:cs typeface="Calibri"/>
              </a:rPr>
              <a:t>5000</a:t>
            </a:r>
            <a:endParaRPr sz="1450">
              <a:latin typeface="Calibri"/>
              <a:cs typeface="Calibri"/>
            </a:endParaRPr>
          </a:p>
          <a:p>
            <a:pPr marL="299085" indent="-286385">
              <a:lnSpc>
                <a:spcPts val="1735"/>
              </a:lnSpc>
              <a:buFont typeface="Arial MT"/>
              <a:buChar char="•"/>
              <a:tabLst>
                <a:tab pos="299085" algn="l"/>
              </a:tabLst>
            </a:pPr>
            <a:r>
              <a:rPr sz="1450" spc="-25" dirty="0">
                <a:solidFill>
                  <a:srgbClr val="252525"/>
                </a:solidFill>
                <a:latin typeface="SimSun"/>
                <a:cs typeface="SimSun"/>
              </a:rPr>
              <a:t>設定日誌記錄和健康檢查</a:t>
            </a:r>
            <a:endParaRPr sz="1450">
              <a:latin typeface="SimSun"/>
              <a:cs typeface="SimSun"/>
            </a:endParaRPr>
          </a:p>
        </p:txBody>
      </p:sp>
      <p:sp>
        <p:nvSpPr>
          <p:cNvPr id="18" name="object 18"/>
          <p:cNvSpPr txBox="1"/>
          <p:nvPr/>
        </p:nvSpPr>
        <p:spPr>
          <a:xfrm>
            <a:off x="2597023" y="5425355"/>
            <a:ext cx="2308860" cy="1299845"/>
          </a:xfrm>
          <a:prstGeom prst="rect">
            <a:avLst/>
          </a:prstGeom>
        </p:spPr>
        <p:txBody>
          <a:bodyPr vert="horz" wrap="square" lIns="0" tIns="106045" rIns="0" bIns="0" rtlCol="0">
            <a:spAutoFit/>
          </a:bodyPr>
          <a:lstStyle/>
          <a:p>
            <a:pPr marL="602615">
              <a:lnSpc>
                <a:spcPct val="100000"/>
              </a:lnSpc>
              <a:spcBef>
                <a:spcPts val="835"/>
              </a:spcBef>
            </a:pPr>
            <a:r>
              <a:rPr sz="1600" b="1" dirty="0">
                <a:solidFill>
                  <a:srgbClr val="252525"/>
                </a:solidFill>
                <a:latin typeface="Microsoft JhengHei"/>
                <a:cs typeface="Microsoft JhengHei"/>
              </a:rPr>
              <a:t>Webhook</a:t>
            </a:r>
            <a:r>
              <a:rPr sz="1600" b="1" spc="-60" dirty="0">
                <a:solidFill>
                  <a:srgbClr val="252525"/>
                </a:solidFill>
                <a:latin typeface="Microsoft JhengHei"/>
                <a:cs typeface="Microsoft JhengHei"/>
              </a:rPr>
              <a:t> 配置</a:t>
            </a:r>
            <a:endParaRPr sz="1600">
              <a:latin typeface="Microsoft JhengHei"/>
              <a:cs typeface="Microsoft JhengHei"/>
            </a:endParaRPr>
          </a:p>
          <a:p>
            <a:pPr marL="299085" indent="-286385">
              <a:lnSpc>
                <a:spcPct val="100000"/>
              </a:lnSpc>
              <a:spcBef>
                <a:spcPts val="650"/>
              </a:spcBef>
              <a:buFont typeface="Arial MT"/>
              <a:buChar char="•"/>
              <a:tabLst>
                <a:tab pos="299085" algn="l"/>
              </a:tabLst>
            </a:pPr>
            <a:r>
              <a:rPr sz="1400" dirty="0">
                <a:solidFill>
                  <a:srgbClr val="252525"/>
                </a:solidFill>
                <a:latin typeface="Microsoft JhengHei"/>
                <a:cs typeface="Microsoft JhengHei"/>
              </a:rPr>
              <a:t>ngrok</a:t>
            </a:r>
            <a:r>
              <a:rPr sz="1400" spc="105" dirty="0">
                <a:solidFill>
                  <a:srgbClr val="252525"/>
                </a:solidFill>
                <a:latin typeface="Microsoft JhengHei"/>
                <a:cs typeface="Microsoft JhengHei"/>
              </a:rPr>
              <a:t> 生成</a:t>
            </a:r>
            <a:r>
              <a:rPr sz="1400" dirty="0">
                <a:solidFill>
                  <a:srgbClr val="252525"/>
                </a:solidFill>
                <a:latin typeface="Microsoft JhengHei"/>
                <a:cs typeface="Microsoft JhengHei"/>
              </a:rPr>
              <a:t>HTTPS</a:t>
            </a:r>
            <a:r>
              <a:rPr sz="1400" spc="-30" dirty="0">
                <a:solidFill>
                  <a:srgbClr val="252525"/>
                </a:solidFill>
                <a:latin typeface="Microsoft JhengHei"/>
                <a:cs typeface="Microsoft JhengHei"/>
              </a:rPr>
              <a:t> 網址</a:t>
            </a:r>
            <a:endParaRPr sz="1400">
              <a:latin typeface="Microsoft JhengHei"/>
              <a:cs typeface="Microsoft JhengHei"/>
            </a:endParaRPr>
          </a:p>
          <a:p>
            <a:pPr marL="299085" indent="-286385">
              <a:lnSpc>
                <a:spcPct val="100000"/>
              </a:lnSpc>
              <a:buFont typeface="Arial MT"/>
              <a:buChar char="•"/>
              <a:tabLst>
                <a:tab pos="299085" algn="l"/>
              </a:tabLst>
            </a:pPr>
            <a:r>
              <a:rPr sz="1400" spc="-15" dirty="0">
                <a:solidFill>
                  <a:srgbClr val="252525"/>
                </a:solidFill>
                <a:latin typeface="Microsoft JhengHei"/>
                <a:cs typeface="Microsoft JhengHei"/>
              </a:rPr>
              <a:t>設定 </a:t>
            </a:r>
            <a:r>
              <a:rPr sz="1400" spc="-10" dirty="0">
                <a:solidFill>
                  <a:srgbClr val="252525"/>
                </a:solidFill>
                <a:latin typeface="Microsoft JhengHei"/>
                <a:cs typeface="Microsoft JhengHei"/>
              </a:rPr>
              <a:t>Webhook</a:t>
            </a:r>
            <a:r>
              <a:rPr sz="1400" spc="-15" dirty="0">
                <a:solidFill>
                  <a:srgbClr val="252525"/>
                </a:solidFill>
                <a:latin typeface="Microsoft JhengHei"/>
                <a:cs typeface="Microsoft JhengHei"/>
              </a:rPr>
              <a:t> </a:t>
            </a:r>
            <a:r>
              <a:rPr sz="1400" dirty="0">
                <a:solidFill>
                  <a:srgbClr val="252525"/>
                </a:solidFill>
                <a:latin typeface="Microsoft JhengHei"/>
                <a:cs typeface="Microsoft JhengHei"/>
              </a:rPr>
              <a:t>URL</a:t>
            </a:r>
            <a:r>
              <a:rPr sz="1400" spc="-30" dirty="0">
                <a:solidFill>
                  <a:srgbClr val="252525"/>
                </a:solidFill>
                <a:latin typeface="Microsoft JhengHei"/>
                <a:cs typeface="Microsoft JhengHei"/>
              </a:rPr>
              <a:t> 指向</a:t>
            </a:r>
            <a:endParaRPr sz="1400">
              <a:latin typeface="Microsoft JhengHei"/>
              <a:cs typeface="Microsoft JhengHei"/>
            </a:endParaRPr>
          </a:p>
          <a:p>
            <a:pPr marL="299085">
              <a:lnSpc>
                <a:spcPct val="100000"/>
              </a:lnSpc>
              <a:spcBef>
                <a:spcPts val="5"/>
              </a:spcBef>
            </a:pPr>
            <a:r>
              <a:rPr sz="1400" dirty="0">
                <a:solidFill>
                  <a:srgbClr val="252525"/>
                </a:solidFill>
                <a:latin typeface="Microsoft JhengHei"/>
                <a:cs typeface="Microsoft JhengHei"/>
              </a:rPr>
              <a:t>/callback</a:t>
            </a:r>
            <a:r>
              <a:rPr sz="1400" spc="-40" dirty="0">
                <a:solidFill>
                  <a:srgbClr val="252525"/>
                </a:solidFill>
                <a:latin typeface="Microsoft JhengHei"/>
                <a:cs typeface="Microsoft JhengHei"/>
              </a:rPr>
              <a:t> 路徑</a:t>
            </a:r>
            <a:endParaRPr sz="1400">
              <a:latin typeface="Microsoft JhengHei"/>
              <a:cs typeface="Microsoft JhengHei"/>
            </a:endParaRPr>
          </a:p>
          <a:p>
            <a:pPr marL="299085" indent="-286385">
              <a:lnSpc>
                <a:spcPct val="100000"/>
              </a:lnSpc>
              <a:buFont typeface="Arial MT"/>
              <a:buChar char="•"/>
              <a:tabLst>
                <a:tab pos="299085" algn="l"/>
              </a:tabLst>
            </a:pPr>
            <a:r>
              <a:rPr sz="1400" spc="-5" dirty="0">
                <a:solidFill>
                  <a:srgbClr val="252525"/>
                </a:solidFill>
                <a:latin typeface="Microsoft JhengHei"/>
                <a:cs typeface="Microsoft JhengHei"/>
              </a:rPr>
              <a:t>啟用文字和音訊訊息接收</a:t>
            </a:r>
            <a:endParaRPr sz="1400">
              <a:latin typeface="Microsoft JhengHei"/>
              <a:cs typeface="Microsoft JhengHei"/>
            </a:endParaRPr>
          </a:p>
        </p:txBody>
      </p:sp>
      <p:sp>
        <p:nvSpPr>
          <p:cNvPr id="19" name="object 19"/>
          <p:cNvSpPr txBox="1"/>
          <p:nvPr/>
        </p:nvSpPr>
        <p:spPr>
          <a:xfrm>
            <a:off x="6756654" y="5519165"/>
            <a:ext cx="172466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252525"/>
                </a:solidFill>
                <a:latin typeface="Microsoft JhengHei"/>
                <a:cs typeface="Microsoft JhengHei"/>
              </a:rPr>
              <a:t>LINE</a:t>
            </a:r>
            <a:r>
              <a:rPr sz="1600" b="1" spc="-30" dirty="0">
                <a:solidFill>
                  <a:srgbClr val="252525"/>
                </a:solidFill>
                <a:latin typeface="Microsoft JhengHei"/>
                <a:cs typeface="Microsoft JhengHei"/>
              </a:rPr>
              <a:t> </a:t>
            </a:r>
            <a:r>
              <a:rPr sz="1600" b="1" dirty="0">
                <a:solidFill>
                  <a:srgbClr val="252525"/>
                </a:solidFill>
                <a:latin typeface="Microsoft JhengHei"/>
                <a:cs typeface="Microsoft JhengHei"/>
              </a:rPr>
              <a:t>Bot</a:t>
            </a:r>
            <a:r>
              <a:rPr sz="1600" b="1" spc="-30" dirty="0">
                <a:solidFill>
                  <a:srgbClr val="252525"/>
                </a:solidFill>
                <a:latin typeface="Microsoft JhengHei"/>
                <a:cs typeface="Microsoft JhengHei"/>
              </a:rPr>
              <a:t> 功能配置</a:t>
            </a:r>
            <a:endParaRPr sz="1600">
              <a:latin typeface="Microsoft JhengHei"/>
              <a:cs typeface="Microsoft JhengHei"/>
            </a:endParaRPr>
          </a:p>
        </p:txBody>
      </p:sp>
      <p:sp>
        <p:nvSpPr>
          <p:cNvPr id="20" name="object 20"/>
          <p:cNvSpPr txBox="1"/>
          <p:nvPr/>
        </p:nvSpPr>
        <p:spPr>
          <a:xfrm>
            <a:off x="6595998" y="5816041"/>
            <a:ext cx="2181225" cy="240029"/>
          </a:xfrm>
          <a:prstGeom prst="rect">
            <a:avLst/>
          </a:prstGeom>
        </p:spPr>
        <p:txBody>
          <a:bodyPr vert="horz" wrap="square" lIns="0" tIns="13335" rIns="0" bIns="0" rtlCol="0">
            <a:spAutoFit/>
          </a:bodyPr>
          <a:lstStyle/>
          <a:p>
            <a:pPr marL="299085" indent="-286385">
              <a:lnSpc>
                <a:spcPct val="100000"/>
              </a:lnSpc>
              <a:spcBef>
                <a:spcPts val="105"/>
              </a:spcBef>
              <a:buFont typeface="Arial MT"/>
              <a:buChar char="•"/>
              <a:tabLst>
                <a:tab pos="299085" algn="l"/>
              </a:tabLst>
            </a:pPr>
            <a:r>
              <a:rPr sz="1400" spc="-10" dirty="0">
                <a:solidFill>
                  <a:srgbClr val="252525"/>
                </a:solidFill>
                <a:latin typeface="Microsoft JhengHei"/>
                <a:cs typeface="Microsoft JhengHei"/>
              </a:rPr>
              <a:t>上傳 </a:t>
            </a:r>
            <a:r>
              <a:rPr sz="1400" dirty="0">
                <a:solidFill>
                  <a:srgbClr val="252525"/>
                </a:solidFill>
                <a:latin typeface="Microsoft JhengHei"/>
                <a:cs typeface="Microsoft JhengHei"/>
              </a:rPr>
              <a:t>Rich</a:t>
            </a:r>
            <a:r>
              <a:rPr sz="1400" spc="-15" dirty="0">
                <a:solidFill>
                  <a:srgbClr val="252525"/>
                </a:solidFill>
                <a:latin typeface="Microsoft JhengHei"/>
                <a:cs typeface="Microsoft JhengHei"/>
              </a:rPr>
              <a:t> </a:t>
            </a:r>
            <a:r>
              <a:rPr sz="1400" dirty="0">
                <a:solidFill>
                  <a:srgbClr val="252525"/>
                </a:solidFill>
                <a:latin typeface="Microsoft JhengHei"/>
                <a:cs typeface="Microsoft JhengHei"/>
              </a:rPr>
              <a:t>Menu</a:t>
            </a:r>
            <a:r>
              <a:rPr sz="1400" spc="-15" dirty="0">
                <a:solidFill>
                  <a:srgbClr val="252525"/>
                </a:solidFill>
                <a:latin typeface="Microsoft JhengHei"/>
                <a:cs typeface="Microsoft JhengHei"/>
              </a:rPr>
              <a:t> 圖片</a:t>
            </a:r>
            <a:r>
              <a:rPr sz="1400" spc="-50" dirty="0">
                <a:solidFill>
                  <a:srgbClr val="252525"/>
                </a:solidFill>
                <a:latin typeface="Microsoft JhengHei"/>
                <a:cs typeface="Microsoft JhengHei"/>
              </a:rPr>
              <a:t>）</a:t>
            </a:r>
            <a:endParaRPr sz="1400">
              <a:latin typeface="Microsoft JhengHei"/>
              <a:cs typeface="Microsoft JhengHei"/>
            </a:endParaRPr>
          </a:p>
        </p:txBody>
      </p:sp>
      <p:sp>
        <p:nvSpPr>
          <p:cNvPr id="21" name="object 21"/>
          <p:cNvSpPr txBox="1"/>
          <p:nvPr/>
        </p:nvSpPr>
        <p:spPr>
          <a:xfrm>
            <a:off x="6595998" y="6029959"/>
            <a:ext cx="1738630" cy="45275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400" spc="-10" dirty="0">
                <a:solidFill>
                  <a:srgbClr val="252525"/>
                </a:solidFill>
                <a:latin typeface="Microsoft JhengHei"/>
                <a:cs typeface="Microsoft JhengHei"/>
              </a:rPr>
              <a:t>配置選單功能映射</a:t>
            </a:r>
            <a:endParaRPr sz="1400">
              <a:latin typeface="Microsoft JhengHei"/>
              <a:cs typeface="Microsoft JhengHei"/>
            </a:endParaRPr>
          </a:p>
          <a:p>
            <a:pPr marL="299085" indent="-286385">
              <a:lnSpc>
                <a:spcPct val="100000"/>
              </a:lnSpc>
              <a:spcBef>
                <a:spcPts val="5"/>
              </a:spcBef>
              <a:buFont typeface="Arial MT"/>
              <a:buChar char="•"/>
              <a:tabLst>
                <a:tab pos="299085" algn="l"/>
              </a:tabLst>
            </a:pPr>
            <a:r>
              <a:rPr sz="1400" spc="-10" dirty="0">
                <a:solidFill>
                  <a:srgbClr val="252525"/>
                </a:solidFill>
                <a:latin typeface="Microsoft JhengHei"/>
                <a:cs typeface="Microsoft JhengHei"/>
              </a:rPr>
              <a:t>設定歡迎訊息</a:t>
            </a:r>
            <a:endParaRPr sz="1400">
              <a:latin typeface="Microsoft JhengHei"/>
              <a:cs typeface="Microsoft JhengHei"/>
            </a:endParaRPr>
          </a:p>
        </p:txBody>
      </p:sp>
      <p:sp>
        <p:nvSpPr>
          <p:cNvPr id="22" name="object 22"/>
          <p:cNvSpPr txBox="1"/>
          <p:nvPr/>
        </p:nvSpPr>
        <p:spPr>
          <a:xfrm>
            <a:off x="3046857"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1</a:t>
            </a:r>
            <a:endParaRPr sz="2150">
              <a:latin typeface="Calibri"/>
              <a:cs typeface="Calibri"/>
            </a:endParaRPr>
          </a:p>
        </p:txBody>
      </p:sp>
      <p:sp>
        <p:nvSpPr>
          <p:cNvPr id="23" name="object 23"/>
          <p:cNvSpPr txBox="1"/>
          <p:nvPr/>
        </p:nvSpPr>
        <p:spPr>
          <a:xfrm>
            <a:off x="4738878"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2</a:t>
            </a:r>
            <a:endParaRPr sz="2150">
              <a:latin typeface="Calibri"/>
              <a:cs typeface="Calibri"/>
            </a:endParaRPr>
          </a:p>
        </p:txBody>
      </p:sp>
      <p:sp>
        <p:nvSpPr>
          <p:cNvPr id="24" name="object 24"/>
          <p:cNvSpPr txBox="1"/>
          <p:nvPr/>
        </p:nvSpPr>
        <p:spPr>
          <a:xfrm>
            <a:off x="6430771"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3</a:t>
            </a:r>
            <a:endParaRPr sz="2150">
              <a:latin typeface="Calibri"/>
              <a:cs typeface="Calibri"/>
            </a:endParaRPr>
          </a:p>
        </p:txBody>
      </p:sp>
      <p:sp>
        <p:nvSpPr>
          <p:cNvPr id="25" name="object 25"/>
          <p:cNvSpPr txBox="1"/>
          <p:nvPr/>
        </p:nvSpPr>
        <p:spPr>
          <a:xfrm>
            <a:off x="8123046"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4</a:t>
            </a:r>
            <a:endParaRPr sz="2150">
              <a:latin typeface="Calibri"/>
              <a:cs typeface="Calibri"/>
            </a:endParaRPr>
          </a:p>
        </p:txBody>
      </p:sp>
      <p:sp>
        <p:nvSpPr>
          <p:cNvPr id="26" name="object 26"/>
          <p:cNvSpPr txBox="1"/>
          <p:nvPr/>
        </p:nvSpPr>
        <p:spPr>
          <a:xfrm>
            <a:off x="9814941"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5</a:t>
            </a:r>
            <a:endParaRPr sz="2150">
              <a:latin typeface="Calibri"/>
              <a:cs typeface="Calibri"/>
            </a:endParaRPr>
          </a:p>
        </p:txBody>
      </p:sp>
      <p:sp>
        <p:nvSpPr>
          <p:cNvPr id="27" name="object 27"/>
          <p:cNvSpPr txBox="1"/>
          <p:nvPr/>
        </p:nvSpPr>
        <p:spPr>
          <a:xfrm>
            <a:off x="11506961" y="4309313"/>
            <a:ext cx="165100" cy="354965"/>
          </a:xfrm>
          <a:prstGeom prst="rect">
            <a:avLst/>
          </a:prstGeom>
        </p:spPr>
        <p:txBody>
          <a:bodyPr vert="horz" wrap="square" lIns="0" tIns="13970" rIns="0" bIns="0" rtlCol="0">
            <a:spAutoFit/>
          </a:bodyPr>
          <a:lstStyle/>
          <a:p>
            <a:pPr marL="12700">
              <a:lnSpc>
                <a:spcPct val="100000"/>
              </a:lnSpc>
              <a:spcBef>
                <a:spcPts val="110"/>
              </a:spcBef>
            </a:pPr>
            <a:r>
              <a:rPr sz="2150" b="1" spc="-50" dirty="0">
                <a:solidFill>
                  <a:srgbClr val="FFFFFF"/>
                </a:solidFill>
                <a:latin typeface="Calibri"/>
                <a:cs typeface="Calibri"/>
              </a:rPr>
              <a:t>6</a:t>
            </a:r>
            <a:endParaRPr sz="2150">
              <a:latin typeface="Calibri"/>
              <a:cs typeface="Calibri"/>
            </a:endParaRPr>
          </a:p>
        </p:txBody>
      </p:sp>
      <p:sp>
        <p:nvSpPr>
          <p:cNvPr id="28" name="object 28"/>
          <p:cNvSpPr txBox="1"/>
          <p:nvPr/>
        </p:nvSpPr>
        <p:spPr>
          <a:xfrm>
            <a:off x="10074020" y="5469216"/>
            <a:ext cx="2628900" cy="1025525"/>
          </a:xfrm>
          <a:prstGeom prst="rect">
            <a:avLst/>
          </a:prstGeom>
        </p:spPr>
        <p:txBody>
          <a:bodyPr vert="horz" wrap="square" lIns="0" tIns="73660" rIns="0" bIns="0" rtlCol="0">
            <a:spAutoFit/>
          </a:bodyPr>
          <a:lstStyle/>
          <a:p>
            <a:pPr marL="614680">
              <a:lnSpc>
                <a:spcPct val="100000"/>
              </a:lnSpc>
              <a:spcBef>
                <a:spcPts val="580"/>
              </a:spcBef>
            </a:pPr>
            <a:r>
              <a:rPr sz="1600" b="1" spc="-30" dirty="0">
                <a:solidFill>
                  <a:srgbClr val="252525"/>
                </a:solidFill>
                <a:latin typeface="Microsoft JhengHei"/>
                <a:cs typeface="Microsoft JhengHei"/>
              </a:rPr>
              <a:t>系統測試與驗證</a:t>
            </a:r>
            <a:endParaRPr sz="1600">
              <a:latin typeface="Microsoft JhengHei"/>
              <a:cs typeface="Microsoft JhengHei"/>
            </a:endParaRPr>
          </a:p>
          <a:p>
            <a:pPr marL="299085" indent="-286385">
              <a:lnSpc>
                <a:spcPct val="100000"/>
              </a:lnSpc>
              <a:spcBef>
                <a:spcPts val="430"/>
              </a:spcBef>
              <a:buFont typeface="Arial MT"/>
              <a:buChar char="•"/>
              <a:tabLst>
                <a:tab pos="299085" algn="l"/>
              </a:tabLst>
            </a:pPr>
            <a:r>
              <a:rPr sz="1400" spc="-10" dirty="0">
                <a:solidFill>
                  <a:srgbClr val="252525"/>
                </a:solidFill>
                <a:latin typeface="Microsoft JhengHei"/>
                <a:cs typeface="Microsoft JhengHei"/>
              </a:rPr>
              <a:t>功能測試：驗證四大學習模式</a:t>
            </a:r>
            <a:endParaRPr sz="1400">
              <a:latin typeface="Microsoft JhengHei"/>
              <a:cs typeface="Microsoft JhengHei"/>
            </a:endParaRPr>
          </a:p>
          <a:p>
            <a:pPr marL="299085" indent="-286385">
              <a:lnSpc>
                <a:spcPct val="100000"/>
              </a:lnSpc>
              <a:buFont typeface="Arial MT"/>
              <a:buChar char="•"/>
              <a:tabLst>
                <a:tab pos="299085" algn="l"/>
              </a:tabLst>
            </a:pPr>
            <a:r>
              <a:rPr sz="1400" spc="-10" dirty="0">
                <a:solidFill>
                  <a:srgbClr val="252525"/>
                </a:solidFill>
                <a:latin typeface="Microsoft JhengHei"/>
                <a:cs typeface="Microsoft JhengHei"/>
              </a:rPr>
              <a:t>壓力測試：多用戶同時使用</a:t>
            </a:r>
            <a:endParaRPr sz="1400">
              <a:latin typeface="Microsoft JhengHei"/>
              <a:cs typeface="Microsoft JhengHei"/>
            </a:endParaRPr>
          </a:p>
          <a:p>
            <a:pPr marL="299085" indent="-286385">
              <a:lnSpc>
                <a:spcPct val="100000"/>
              </a:lnSpc>
              <a:buFont typeface="Arial MT"/>
              <a:buChar char="•"/>
              <a:tabLst>
                <a:tab pos="299085" algn="l"/>
              </a:tabLst>
            </a:pPr>
            <a:r>
              <a:rPr sz="1400" spc="-5" dirty="0">
                <a:solidFill>
                  <a:srgbClr val="252525"/>
                </a:solidFill>
                <a:latin typeface="Microsoft JhengHei"/>
                <a:cs typeface="Microsoft JhengHei"/>
              </a:rPr>
              <a:t>異常測試：網路中斷恢復</a:t>
            </a:r>
            <a:endParaRPr sz="1400">
              <a:latin typeface="Microsoft JhengHei"/>
              <a:cs typeface="Microsoft JhengHei"/>
            </a:endParaRPr>
          </a:p>
        </p:txBody>
      </p:sp>
      <p:sp>
        <p:nvSpPr>
          <p:cNvPr id="29" name="object 29"/>
          <p:cNvSpPr txBox="1">
            <a:spLocks noGrp="1"/>
          </p:cNvSpPr>
          <p:nvPr>
            <p:ph type="title"/>
          </p:nvPr>
        </p:nvSpPr>
        <p:spPr>
          <a:xfrm>
            <a:off x="299415" y="282015"/>
            <a:ext cx="6197600" cy="848994"/>
          </a:xfrm>
          <a:prstGeom prst="rect">
            <a:avLst/>
          </a:prstGeom>
        </p:spPr>
        <p:txBody>
          <a:bodyPr vert="horz" wrap="square" lIns="0" tIns="12700" rIns="0" bIns="0" rtlCol="0">
            <a:spAutoFit/>
          </a:bodyPr>
          <a:lstStyle/>
          <a:p>
            <a:pPr marL="12700">
              <a:lnSpc>
                <a:spcPct val="100000"/>
              </a:lnSpc>
              <a:spcBef>
                <a:spcPts val="100"/>
              </a:spcBef>
            </a:pPr>
            <a:r>
              <a:rPr spc="-15" dirty="0"/>
              <a:t>技術實作與部署流程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7645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現有英語學習應用比較</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6115" y="284428"/>
            <a:ext cx="6883400" cy="848994"/>
          </a:xfrm>
          <a:prstGeom prst="rect">
            <a:avLst/>
          </a:prstGeom>
        </p:spPr>
        <p:txBody>
          <a:bodyPr vert="horz" wrap="square" lIns="0" tIns="12700" rIns="0" bIns="0" rtlCol="0">
            <a:spAutoFit/>
          </a:bodyPr>
          <a:lstStyle/>
          <a:p>
            <a:pPr marL="12700">
              <a:lnSpc>
                <a:spcPct val="100000"/>
              </a:lnSpc>
              <a:spcBef>
                <a:spcPts val="100"/>
              </a:spcBef>
            </a:pPr>
            <a:r>
              <a:rPr spc="-15" dirty="0">
                <a:solidFill>
                  <a:srgbClr val="000000"/>
                </a:solidFill>
              </a:rPr>
              <a:t>現有英語學習應用比較</a:t>
            </a:r>
          </a:p>
        </p:txBody>
      </p:sp>
      <p:graphicFrame>
        <p:nvGraphicFramePr>
          <p:cNvPr id="3" name="object 3"/>
          <p:cNvGraphicFramePr>
            <a:graphicFrameLocks noGrp="1"/>
          </p:cNvGraphicFramePr>
          <p:nvPr/>
        </p:nvGraphicFramePr>
        <p:xfrm>
          <a:off x="803871" y="1508125"/>
          <a:ext cx="12863827" cy="2588260"/>
        </p:xfrm>
        <a:graphic>
          <a:graphicData uri="http://schemas.openxmlformats.org/drawingml/2006/table">
            <a:tbl>
              <a:tblPr firstRow="1" bandRow="1">
                <a:tableStyleId>{2D5ABB26-0587-4C30-8999-92F81FD0307C}</a:tableStyleId>
              </a:tblPr>
              <a:tblGrid>
                <a:gridCol w="1729739">
                  <a:extLst>
                    <a:ext uri="{9D8B030D-6E8A-4147-A177-3AD203B41FA5}">
                      <a16:colId xmlns:a16="http://schemas.microsoft.com/office/drawing/2014/main" val="20000"/>
                    </a:ext>
                  </a:extLst>
                </a:gridCol>
                <a:gridCol w="2974340">
                  <a:extLst>
                    <a:ext uri="{9D8B030D-6E8A-4147-A177-3AD203B41FA5}">
                      <a16:colId xmlns:a16="http://schemas.microsoft.com/office/drawing/2014/main" val="20001"/>
                    </a:ext>
                  </a:extLst>
                </a:gridCol>
                <a:gridCol w="2647314">
                  <a:extLst>
                    <a:ext uri="{9D8B030D-6E8A-4147-A177-3AD203B41FA5}">
                      <a16:colId xmlns:a16="http://schemas.microsoft.com/office/drawing/2014/main" val="20002"/>
                    </a:ext>
                  </a:extLst>
                </a:gridCol>
                <a:gridCol w="3034030">
                  <a:extLst>
                    <a:ext uri="{9D8B030D-6E8A-4147-A177-3AD203B41FA5}">
                      <a16:colId xmlns:a16="http://schemas.microsoft.com/office/drawing/2014/main" val="20003"/>
                    </a:ext>
                  </a:extLst>
                </a:gridCol>
                <a:gridCol w="2478404">
                  <a:extLst>
                    <a:ext uri="{9D8B030D-6E8A-4147-A177-3AD203B41FA5}">
                      <a16:colId xmlns:a16="http://schemas.microsoft.com/office/drawing/2014/main" val="20004"/>
                    </a:ext>
                  </a:extLst>
                </a:gridCol>
              </a:tblGrid>
              <a:tr h="395605">
                <a:tc>
                  <a:txBody>
                    <a:bodyPr/>
                    <a:lstStyle/>
                    <a:p>
                      <a:pPr algn="ctr">
                        <a:lnSpc>
                          <a:spcPct val="100000"/>
                        </a:lnSpc>
                        <a:spcBef>
                          <a:spcPts val="305"/>
                        </a:spcBef>
                      </a:pPr>
                      <a:r>
                        <a:rPr sz="2000" b="1" spc="-15" dirty="0">
                          <a:solidFill>
                            <a:srgbClr val="FFFFFF"/>
                          </a:solidFill>
                          <a:latin typeface="Microsoft JhengHei"/>
                          <a:cs typeface="Microsoft JhengHei"/>
                        </a:rPr>
                        <a:t>比較項目</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algn="ctr">
                        <a:lnSpc>
                          <a:spcPct val="100000"/>
                        </a:lnSpc>
                        <a:spcBef>
                          <a:spcPts val="305"/>
                        </a:spcBef>
                      </a:pPr>
                      <a:r>
                        <a:rPr sz="2000" b="1" spc="-10" dirty="0">
                          <a:solidFill>
                            <a:srgbClr val="FFFFFF"/>
                          </a:solidFill>
                          <a:latin typeface="Microsoft JhengHei"/>
                          <a:cs typeface="Microsoft JhengHei"/>
                        </a:rPr>
                        <a:t>Speak</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marL="1905" algn="ctr">
                        <a:lnSpc>
                          <a:spcPct val="100000"/>
                        </a:lnSpc>
                        <a:spcBef>
                          <a:spcPts val="305"/>
                        </a:spcBef>
                      </a:pPr>
                      <a:r>
                        <a:rPr sz="2000" b="1" spc="-20" dirty="0">
                          <a:solidFill>
                            <a:srgbClr val="FFFFFF"/>
                          </a:solidFill>
                          <a:latin typeface="Microsoft JhengHei"/>
                          <a:cs typeface="Microsoft JhengHei"/>
                        </a:rPr>
                        <a:t>Toko</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marL="1905" marR="30480" algn="ctr">
                        <a:lnSpc>
                          <a:spcPct val="100000"/>
                        </a:lnSpc>
                        <a:spcBef>
                          <a:spcPts val="305"/>
                        </a:spcBef>
                      </a:pPr>
                      <a:r>
                        <a:rPr sz="2000" b="1" spc="-20" dirty="0">
                          <a:solidFill>
                            <a:srgbClr val="FFFFFF"/>
                          </a:solidFill>
                          <a:latin typeface="Microsoft JhengHei"/>
                          <a:cs typeface="Microsoft JhengHei"/>
                        </a:rPr>
                        <a:t>ELSA</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tc>
                  <a:txBody>
                    <a:bodyPr/>
                    <a:lstStyle/>
                    <a:p>
                      <a:pPr marL="1905" algn="ctr">
                        <a:lnSpc>
                          <a:spcPct val="100000"/>
                        </a:lnSpc>
                        <a:spcBef>
                          <a:spcPts val="305"/>
                        </a:spcBef>
                      </a:pPr>
                      <a:r>
                        <a:rPr sz="2000" b="1" spc="-10" dirty="0">
                          <a:solidFill>
                            <a:srgbClr val="FFFFFF"/>
                          </a:solidFill>
                          <a:latin typeface="Microsoft JhengHei"/>
                          <a:cs typeface="Microsoft JhengHei"/>
                        </a:rPr>
                        <a:t>本研究系統</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C7C30"/>
                    </a:solidFill>
                  </a:tcPr>
                </a:tc>
                <a:extLst>
                  <a:ext uri="{0D108BD9-81ED-4DB2-BD59-A6C34878D82A}">
                    <a16:rowId xmlns:a16="http://schemas.microsoft.com/office/drawing/2014/main" val="10000"/>
                  </a:ext>
                </a:extLst>
              </a:tr>
              <a:tr h="700405">
                <a:tc>
                  <a:txBody>
                    <a:bodyPr/>
                    <a:lstStyle/>
                    <a:p>
                      <a:pPr algn="ctr">
                        <a:lnSpc>
                          <a:spcPct val="100000"/>
                        </a:lnSpc>
                        <a:spcBef>
                          <a:spcPts val="1505"/>
                        </a:spcBef>
                      </a:pPr>
                      <a:r>
                        <a:rPr sz="2000" b="1" spc="-25" dirty="0">
                          <a:solidFill>
                            <a:srgbClr val="FFFFFF"/>
                          </a:solidFill>
                          <a:latin typeface="Microsoft JhengHei"/>
                          <a:cs typeface="Microsoft JhengHei"/>
                        </a:rPr>
                        <a:t>平台</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C7C30"/>
                    </a:solidFill>
                  </a:tcPr>
                </a:tc>
                <a:tc>
                  <a:txBody>
                    <a:bodyPr/>
                    <a:lstStyle/>
                    <a:p>
                      <a:pPr algn="ctr">
                        <a:lnSpc>
                          <a:spcPct val="100000"/>
                        </a:lnSpc>
                        <a:spcBef>
                          <a:spcPts val="1505"/>
                        </a:spcBef>
                      </a:pPr>
                      <a:r>
                        <a:rPr sz="2000" dirty="0">
                          <a:latin typeface="Microsoft JhengHei"/>
                          <a:cs typeface="Microsoft JhengHei"/>
                        </a:rPr>
                        <a:t>下載</a:t>
                      </a:r>
                      <a:r>
                        <a:rPr sz="2000" spc="-25" dirty="0">
                          <a:latin typeface="Microsoft JhengHei"/>
                          <a:cs typeface="Microsoft JhengHei"/>
                        </a:rPr>
                        <a:t>APP</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tc>
                  <a:txBody>
                    <a:bodyPr/>
                    <a:lstStyle/>
                    <a:p>
                      <a:pPr marL="635" algn="ctr">
                        <a:lnSpc>
                          <a:spcPct val="100000"/>
                        </a:lnSpc>
                        <a:spcBef>
                          <a:spcPts val="1505"/>
                        </a:spcBef>
                      </a:pPr>
                      <a:r>
                        <a:rPr sz="2000" dirty="0">
                          <a:latin typeface="Microsoft JhengHei"/>
                          <a:cs typeface="Microsoft JhengHei"/>
                        </a:rPr>
                        <a:t>下載</a:t>
                      </a:r>
                      <a:r>
                        <a:rPr sz="2000" spc="-25" dirty="0">
                          <a:latin typeface="Microsoft JhengHei"/>
                          <a:cs typeface="Microsoft JhengHei"/>
                        </a:rPr>
                        <a:t>APP</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tc>
                  <a:txBody>
                    <a:bodyPr/>
                    <a:lstStyle/>
                    <a:p>
                      <a:pPr marL="2540" marR="30480" algn="ctr">
                        <a:lnSpc>
                          <a:spcPct val="100000"/>
                        </a:lnSpc>
                        <a:spcBef>
                          <a:spcPts val="1505"/>
                        </a:spcBef>
                      </a:pPr>
                      <a:r>
                        <a:rPr sz="2000" dirty="0">
                          <a:latin typeface="Microsoft JhengHei"/>
                          <a:cs typeface="Microsoft JhengHei"/>
                        </a:rPr>
                        <a:t>下載</a:t>
                      </a:r>
                      <a:r>
                        <a:rPr sz="2000" spc="-25" dirty="0">
                          <a:latin typeface="Microsoft JhengHei"/>
                          <a:cs typeface="Microsoft JhengHei"/>
                        </a:rPr>
                        <a:t>APP</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tc>
                  <a:txBody>
                    <a:bodyPr/>
                    <a:lstStyle/>
                    <a:p>
                      <a:pPr algn="ctr">
                        <a:lnSpc>
                          <a:spcPct val="100000"/>
                        </a:lnSpc>
                        <a:spcBef>
                          <a:spcPts val="305"/>
                        </a:spcBef>
                      </a:pPr>
                      <a:r>
                        <a:rPr sz="2000" dirty="0">
                          <a:latin typeface="Microsoft JhengHei"/>
                          <a:cs typeface="Microsoft JhengHei"/>
                        </a:rPr>
                        <a:t>Line</a:t>
                      </a:r>
                      <a:r>
                        <a:rPr sz="2000" spc="-20" dirty="0">
                          <a:latin typeface="Microsoft JhengHei"/>
                          <a:cs typeface="Microsoft JhengHei"/>
                        </a:rPr>
                        <a:t> </a:t>
                      </a:r>
                      <a:r>
                        <a:rPr sz="2000" dirty="0">
                          <a:latin typeface="Microsoft JhengHei"/>
                          <a:cs typeface="Microsoft JhengHei"/>
                        </a:rPr>
                        <a:t>Bot</a:t>
                      </a:r>
                      <a:r>
                        <a:rPr sz="2000" spc="-10" dirty="0">
                          <a:latin typeface="Microsoft JhengHei"/>
                          <a:cs typeface="Microsoft JhengHei"/>
                        </a:rPr>
                        <a:t>，無需額外</a:t>
                      </a:r>
                      <a:endParaRPr sz="2000">
                        <a:latin typeface="Microsoft JhengHei"/>
                        <a:cs typeface="Microsoft JhengHei"/>
                      </a:endParaRPr>
                    </a:p>
                    <a:p>
                      <a:pPr algn="ctr">
                        <a:lnSpc>
                          <a:spcPct val="100000"/>
                        </a:lnSpc>
                      </a:pPr>
                      <a:r>
                        <a:rPr sz="2000" spc="-30" dirty="0">
                          <a:latin typeface="Microsoft JhengHei"/>
                          <a:cs typeface="Microsoft JhengHei"/>
                        </a:rPr>
                        <a:t>下載</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1"/>
                  </a:ext>
                </a:extLst>
              </a:tr>
              <a:tr h="701040">
                <a:tc>
                  <a:txBody>
                    <a:bodyPr/>
                    <a:lstStyle/>
                    <a:p>
                      <a:pPr algn="ctr">
                        <a:lnSpc>
                          <a:spcPct val="100000"/>
                        </a:lnSpc>
                        <a:spcBef>
                          <a:spcPts val="1505"/>
                        </a:spcBef>
                      </a:pPr>
                      <a:r>
                        <a:rPr sz="2000" b="1" spc="-15" dirty="0">
                          <a:solidFill>
                            <a:srgbClr val="FFFFFF"/>
                          </a:solidFill>
                          <a:latin typeface="Microsoft JhengHei"/>
                          <a:cs typeface="Microsoft JhengHei"/>
                        </a:rPr>
                        <a:t>主要功能</a:t>
                      </a:r>
                      <a:endParaRPr sz="2000">
                        <a:latin typeface="Microsoft JhengHei"/>
                        <a:cs typeface="Microsoft JhengHei"/>
                      </a:endParaRPr>
                    </a:p>
                  </a:txBody>
                  <a:tcPr marL="0" marR="0" marT="1911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77265" marR="81915" indent="-885825">
                        <a:lnSpc>
                          <a:spcPct val="100000"/>
                        </a:lnSpc>
                        <a:spcBef>
                          <a:spcPts val="305"/>
                        </a:spcBef>
                      </a:pPr>
                      <a:r>
                        <a:rPr sz="2000" spc="-10" dirty="0">
                          <a:latin typeface="Microsoft JhengHei"/>
                          <a:cs typeface="Microsoft JhengHei"/>
                        </a:rPr>
                        <a:t>AI對話練習、發音評估、</a:t>
                      </a:r>
                      <a:r>
                        <a:rPr sz="2000" spc="-15" dirty="0">
                          <a:latin typeface="Microsoft JhengHei"/>
                          <a:cs typeface="Microsoft JhengHei"/>
                        </a:rPr>
                        <a:t>自動回饋</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775970" marR="43180" indent="-723265">
                        <a:lnSpc>
                          <a:spcPct val="100000"/>
                        </a:lnSpc>
                        <a:spcBef>
                          <a:spcPts val="305"/>
                        </a:spcBef>
                      </a:pPr>
                      <a:r>
                        <a:rPr sz="2000" spc="-15" dirty="0">
                          <a:latin typeface="Microsoft JhengHei"/>
                          <a:cs typeface="Microsoft JhengHei"/>
                        </a:rPr>
                        <a:t>對話練習、單字練習、社群互動</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108585" indent="-134620">
                        <a:lnSpc>
                          <a:spcPct val="100000"/>
                        </a:lnSpc>
                        <a:spcBef>
                          <a:spcPts val="305"/>
                        </a:spcBef>
                      </a:pPr>
                      <a:r>
                        <a:rPr sz="2000" spc="-20" dirty="0">
                          <a:latin typeface="Microsoft JhengHei"/>
                          <a:cs typeface="Microsoft JhengHei"/>
                        </a:rPr>
                        <a:t>專業發音訓練、語音辨識、</a:t>
                      </a:r>
                      <a:r>
                        <a:rPr sz="2000" spc="-5" dirty="0">
                          <a:latin typeface="Microsoft JhengHei"/>
                          <a:cs typeface="Microsoft JhengHei"/>
                        </a:rPr>
                        <a:t>聽力練習、個人化建議</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475615" marR="85725" indent="-381000">
                        <a:lnSpc>
                          <a:spcPct val="100000"/>
                        </a:lnSpc>
                        <a:spcBef>
                          <a:spcPts val="305"/>
                        </a:spcBef>
                      </a:pPr>
                      <a:r>
                        <a:rPr sz="2000" spc="-10" dirty="0">
                          <a:latin typeface="Microsoft JhengHei"/>
                          <a:cs typeface="Microsoft JhengHei"/>
                        </a:rPr>
                        <a:t>對話、單字造句、跟讀、聽力練習</a:t>
                      </a:r>
                      <a:endParaRPr sz="2000">
                        <a:latin typeface="Microsoft JhengHei"/>
                        <a:cs typeface="Microsoft JhengHe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2"/>
                  </a:ext>
                </a:extLst>
              </a:tr>
              <a:tr h="395605">
                <a:tc>
                  <a:txBody>
                    <a:bodyPr/>
                    <a:lstStyle/>
                    <a:p>
                      <a:pPr algn="ctr">
                        <a:lnSpc>
                          <a:spcPct val="100000"/>
                        </a:lnSpc>
                        <a:spcBef>
                          <a:spcPts val="309"/>
                        </a:spcBef>
                      </a:pPr>
                      <a:r>
                        <a:rPr sz="2000" b="1" spc="-15" dirty="0">
                          <a:solidFill>
                            <a:srgbClr val="FFFFFF"/>
                          </a:solidFill>
                          <a:latin typeface="Microsoft JhengHei"/>
                          <a:cs typeface="Microsoft JhengHei"/>
                        </a:rPr>
                        <a:t>價格模式</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algn="ctr">
                        <a:lnSpc>
                          <a:spcPct val="100000"/>
                        </a:lnSpc>
                        <a:spcBef>
                          <a:spcPts val="309"/>
                        </a:spcBef>
                      </a:pPr>
                      <a:r>
                        <a:rPr sz="2000" spc="-20" dirty="0">
                          <a:latin typeface="Microsoft JhengHei"/>
                          <a:cs typeface="Microsoft JhengHei"/>
                        </a:rPr>
                        <a:t>訂閱制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1905" algn="ctr">
                        <a:lnSpc>
                          <a:spcPct val="100000"/>
                        </a:lnSpc>
                        <a:spcBef>
                          <a:spcPts val="309"/>
                        </a:spcBef>
                      </a:pPr>
                      <a:r>
                        <a:rPr sz="2000" spc="-20" dirty="0">
                          <a:latin typeface="Microsoft JhengHei"/>
                          <a:cs typeface="Microsoft JhengHei"/>
                        </a:rPr>
                        <a:t>訂閱制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R="30480" algn="ctr">
                        <a:lnSpc>
                          <a:spcPct val="100000"/>
                        </a:lnSpc>
                        <a:spcBef>
                          <a:spcPts val="309"/>
                        </a:spcBef>
                      </a:pPr>
                      <a:r>
                        <a:rPr sz="2000" spc="-20" dirty="0">
                          <a:latin typeface="Microsoft JhengHei"/>
                          <a:cs typeface="Microsoft JhengHei"/>
                        </a:rPr>
                        <a:t>訂閱制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algn="ctr">
                        <a:lnSpc>
                          <a:spcPct val="100000"/>
                        </a:lnSpc>
                        <a:spcBef>
                          <a:spcPts val="309"/>
                        </a:spcBef>
                      </a:pPr>
                      <a:r>
                        <a:rPr sz="2000" spc="-25" dirty="0">
                          <a:latin typeface="Microsoft JhengHei"/>
                          <a:cs typeface="Microsoft JhengHei"/>
                        </a:rPr>
                        <a:t>免費</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3"/>
                  </a:ext>
                </a:extLst>
              </a:tr>
              <a:tr h="395605">
                <a:tc>
                  <a:txBody>
                    <a:bodyPr/>
                    <a:lstStyle/>
                    <a:p>
                      <a:pPr algn="ctr">
                        <a:lnSpc>
                          <a:spcPct val="100000"/>
                        </a:lnSpc>
                        <a:spcBef>
                          <a:spcPts val="309"/>
                        </a:spcBef>
                      </a:pPr>
                      <a:r>
                        <a:rPr sz="2000" b="1" spc="-15" dirty="0">
                          <a:solidFill>
                            <a:srgbClr val="FFFFFF"/>
                          </a:solidFill>
                          <a:latin typeface="Microsoft JhengHei"/>
                          <a:cs typeface="Microsoft JhengHei"/>
                        </a:rPr>
                        <a:t>目標用戶</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algn="ctr">
                        <a:lnSpc>
                          <a:spcPct val="100000"/>
                        </a:lnSpc>
                        <a:spcBef>
                          <a:spcPts val="309"/>
                        </a:spcBef>
                      </a:pPr>
                      <a:r>
                        <a:rPr sz="2000" spc="-10" dirty="0">
                          <a:latin typeface="Microsoft JhengHei"/>
                          <a:cs typeface="Microsoft JhengHei"/>
                        </a:rPr>
                        <a:t>廣泛使用者</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2540" algn="ctr">
                        <a:lnSpc>
                          <a:spcPct val="100000"/>
                        </a:lnSpc>
                        <a:spcBef>
                          <a:spcPts val="309"/>
                        </a:spcBef>
                      </a:pPr>
                      <a:r>
                        <a:rPr sz="2000" spc="-10" dirty="0">
                          <a:latin typeface="Microsoft JhengHei"/>
                          <a:cs typeface="Microsoft JhengHei"/>
                        </a:rPr>
                        <a:t>廣泛使用者</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R="30480" algn="ctr">
                        <a:lnSpc>
                          <a:spcPct val="100000"/>
                        </a:lnSpc>
                        <a:spcBef>
                          <a:spcPts val="309"/>
                        </a:spcBef>
                      </a:pPr>
                      <a:r>
                        <a:rPr sz="2000" spc="-10" dirty="0">
                          <a:latin typeface="Microsoft JhengHei"/>
                          <a:cs typeface="Microsoft JhengHei"/>
                        </a:rPr>
                        <a:t>廣泛使用者</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tc>
                  <a:txBody>
                    <a:bodyPr/>
                    <a:lstStyle/>
                    <a:p>
                      <a:pPr marL="1905" algn="ctr">
                        <a:lnSpc>
                          <a:spcPct val="100000"/>
                        </a:lnSpc>
                        <a:spcBef>
                          <a:spcPts val="309"/>
                        </a:spcBef>
                      </a:pPr>
                      <a:r>
                        <a:rPr sz="2000" spc="-10" dirty="0">
                          <a:latin typeface="Microsoft JhengHei"/>
                          <a:cs typeface="Microsoft JhengHei"/>
                        </a:rPr>
                        <a:t>英語初學者</a:t>
                      </a:r>
                      <a:endParaRPr sz="2000">
                        <a:latin typeface="Microsoft JhengHei"/>
                        <a:cs typeface="Microsoft JhengHei"/>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8"/>
                    </a:solidFill>
                  </a:tcPr>
                </a:tc>
                <a:extLst>
                  <a:ext uri="{0D108BD9-81ED-4DB2-BD59-A6C34878D82A}">
                    <a16:rowId xmlns:a16="http://schemas.microsoft.com/office/drawing/2014/main" val="10004"/>
                  </a:ext>
                </a:extLst>
              </a:tr>
            </a:tbl>
          </a:graphicData>
        </a:graphic>
      </p:graphicFrame>
      <p:grpSp>
        <p:nvGrpSpPr>
          <p:cNvPr id="4" name="object 4"/>
          <p:cNvGrpSpPr/>
          <p:nvPr/>
        </p:nvGrpSpPr>
        <p:grpSpPr>
          <a:xfrm>
            <a:off x="3133344" y="5439155"/>
            <a:ext cx="915669" cy="2028189"/>
            <a:chOff x="3133344" y="5439155"/>
            <a:chExt cx="915669" cy="2028189"/>
          </a:xfrm>
        </p:grpSpPr>
        <p:pic>
          <p:nvPicPr>
            <p:cNvPr id="5" name="object 5"/>
            <p:cNvPicPr/>
            <p:nvPr/>
          </p:nvPicPr>
          <p:blipFill>
            <a:blip r:embed="rId3" cstate="print"/>
            <a:stretch>
              <a:fillRect/>
            </a:stretch>
          </p:blipFill>
          <p:spPr>
            <a:xfrm>
              <a:off x="3133344" y="5439155"/>
              <a:ext cx="915161" cy="747522"/>
            </a:xfrm>
            <a:prstGeom prst="rect">
              <a:avLst/>
            </a:prstGeom>
          </p:spPr>
        </p:pic>
        <p:pic>
          <p:nvPicPr>
            <p:cNvPr id="6" name="object 6"/>
            <p:cNvPicPr/>
            <p:nvPr/>
          </p:nvPicPr>
          <p:blipFill>
            <a:blip r:embed="rId3" cstate="print"/>
            <a:stretch>
              <a:fillRect/>
            </a:stretch>
          </p:blipFill>
          <p:spPr>
            <a:xfrm>
              <a:off x="3133344" y="5865875"/>
              <a:ext cx="915161" cy="747522"/>
            </a:xfrm>
            <a:prstGeom prst="rect">
              <a:avLst/>
            </a:prstGeom>
          </p:spPr>
        </p:pic>
        <p:pic>
          <p:nvPicPr>
            <p:cNvPr id="7" name="object 7"/>
            <p:cNvPicPr/>
            <p:nvPr/>
          </p:nvPicPr>
          <p:blipFill>
            <a:blip r:embed="rId3" cstate="print"/>
            <a:stretch>
              <a:fillRect/>
            </a:stretch>
          </p:blipFill>
          <p:spPr>
            <a:xfrm>
              <a:off x="3133344" y="6292595"/>
              <a:ext cx="915161" cy="747521"/>
            </a:xfrm>
            <a:prstGeom prst="rect">
              <a:avLst/>
            </a:prstGeom>
          </p:spPr>
        </p:pic>
        <p:pic>
          <p:nvPicPr>
            <p:cNvPr id="8" name="object 8"/>
            <p:cNvPicPr/>
            <p:nvPr/>
          </p:nvPicPr>
          <p:blipFill>
            <a:blip r:embed="rId3" cstate="print"/>
            <a:stretch>
              <a:fillRect/>
            </a:stretch>
          </p:blipFill>
          <p:spPr>
            <a:xfrm>
              <a:off x="3133344" y="6719316"/>
              <a:ext cx="915161" cy="747522"/>
            </a:xfrm>
            <a:prstGeom prst="rect">
              <a:avLst/>
            </a:prstGeom>
          </p:spPr>
        </p:pic>
      </p:grpSp>
      <p:sp>
        <p:nvSpPr>
          <p:cNvPr id="9" name="object 9"/>
          <p:cNvSpPr txBox="1"/>
          <p:nvPr/>
        </p:nvSpPr>
        <p:spPr>
          <a:xfrm>
            <a:off x="3334892" y="5097907"/>
            <a:ext cx="7402195" cy="2160270"/>
          </a:xfrm>
          <a:prstGeom prst="rect">
            <a:avLst/>
          </a:prstGeom>
        </p:spPr>
        <p:txBody>
          <a:bodyPr vert="horz" wrap="square" lIns="0" tIns="12065" rIns="0" bIns="0" rtlCol="0">
            <a:spAutoFit/>
          </a:bodyPr>
          <a:lstStyle/>
          <a:p>
            <a:pPr marL="12700">
              <a:lnSpc>
                <a:spcPct val="100000"/>
              </a:lnSpc>
              <a:spcBef>
                <a:spcPts val="95"/>
              </a:spcBef>
            </a:pPr>
            <a:r>
              <a:rPr sz="2800" b="1" spc="-40" dirty="0">
                <a:latin typeface="Microsoft JhengHei"/>
                <a:cs typeface="Microsoft JhengHei"/>
              </a:rPr>
              <a:t>差異化優勢總結</a:t>
            </a:r>
            <a:endParaRPr sz="2800">
              <a:latin typeface="Microsoft JhengHei"/>
              <a:cs typeface="Microsoft JhengHei"/>
            </a:endParaRPr>
          </a:p>
          <a:p>
            <a:pPr marL="590550" marR="5080">
              <a:lnSpc>
                <a:spcPct val="100000"/>
              </a:lnSpc>
              <a:spcBef>
                <a:spcPts val="10"/>
              </a:spcBef>
            </a:pPr>
            <a:r>
              <a:rPr sz="2800" b="1" spc="-35" dirty="0">
                <a:latin typeface="Microsoft JhengHei"/>
                <a:cs typeface="Microsoft JhengHei"/>
              </a:rPr>
              <a:t>低使用門檻</a:t>
            </a:r>
            <a:r>
              <a:rPr sz="2800" spc="-35" dirty="0">
                <a:latin typeface="Microsoft JhengHei"/>
                <a:cs typeface="Microsoft JhengHei"/>
              </a:rPr>
              <a:t>：無需額外安裝、</a:t>
            </a:r>
            <a:r>
              <a:rPr sz="2800" spc="-25" dirty="0">
                <a:latin typeface="Microsoft JhengHei"/>
                <a:cs typeface="Microsoft JhengHei"/>
              </a:rPr>
              <a:t>LINE</a:t>
            </a:r>
            <a:r>
              <a:rPr sz="2800" spc="-40" dirty="0">
                <a:latin typeface="Microsoft JhengHei"/>
                <a:cs typeface="Microsoft JhengHei"/>
              </a:rPr>
              <a:t>直接使用</a:t>
            </a:r>
            <a:r>
              <a:rPr sz="2800" b="1" spc="-35" dirty="0">
                <a:latin typeface="Microsoft JhengHei"/>
                <a:cs typeface="Microsoft JhengHei"/>
              </a:rPr>
              <a:t>功能整合</a:t>
            </a:r>
            <a:r>
              <a:rPr sz="2800" spc="-40" dirty="0">
                <a:latin typeface="Microsoft JhengHei"/>
                <a:cs typeface="Microsoft JhengHei"/>
              </a:rPr>
              <a:t>：對話、造句、跟讀三合一</a:t>
            </a:r>
            <a:endParaRPr sz="2800">
              <a:latin typeface="Microsoft JhengHei"/>
              <a:cs typeface="Microsoft JhengHei"/>
            </a:endParaRPr>
          </a:p>
          <a:p>
            <a:pPr marL="590550" marR="766445">
              <a:lnSpc>
                <a:spcPct val="100000"/>
              </a:lnSpc>
              <a:spcBef>
                <a:spcPts val="5"/>
              </a:spcBef>
            </a:pPr>
            <a:r>
              <a:rPr sz="2800" b="1" spc="-35" dirty="0">
                <a:latin typeface="Microsoft JhengHei"/>
                <a:cs typeface="Microsoft JhengHei"/>
              </a:rPr>
              <a:t>零成本學習</a:t>
            </a:r>
            <a:r>
              <a:rPr sz="2800" spc="-40" dirty="0">
                <a:latin typeface="Microsoft JhengHei"/>
                <a:cs typeface="Microsoft JhengHei"/>
              </a:rPr>
              <a:t>：完全免費，無經濟壓力</a:t>
            </a:r>
            <a:r>
              <a:rPr sz="2800" spc="-35" dirty="0">
                <a:latin typeface="Microsoft JhengHei"/>
                <a:cs typeface="Microsoft JhengHei"/>
              </a:rPr>
              <a:t> </a:t>
            </a:r>
            <a:r>
              <a:rPr sz="2800" b="1" spc="-35" dirty="0">
                <a:latin typeface="Microsoft JhengHei"/>
                <a:cs typeface="Microsoft JhengHei"/>
              </a:rPr>
              <a:t>適合初學者</a:t>
            </a:r>
            <a:r>
              <a:rPr sz="2800" spc="-40" dirty="0">
                <a:latin typeface="Microsoft JhengHei"/>
                <a:cs typeface="Microsoft JhengHei"/>
              </a:rPr>
              <a:t>：簡易操作、降低技術門檻</a:t>
            </a:r>
            <a:endParaRPr sz="2800">
              <a:latin typeface="Microsoft JhengHei"/>
              <a:cs typeface="Microsoft JhengHe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7645400" cy="940435"/>
          </a:xfrm>
          <a:prstGeom prst="rect">
            <a:avLst/>
          </a:prstGeom>
        </p:spPr>
        <p:txBody>
          <a:bodyPr vert="horz" wrap="square" lIns="0" tIns="12700" rIns="0" bIns="0" rtlCol="0">
            <a:spAutoFit/>
          </a:bodyPr>
          <a:lstStyle/>
          <a:p>
            <a:pPr marL="12700">
              <a:lnSpc>
                <a:spcPct val="100000"/>
              </a:lnSpc>
              <a:spcBef>
                <a:spcPts val="100"/>
              </a:spcBef>
            </a:pPr>
            <a:r>
              <a:rPr sz="6000" spc="-15" dirty="0">
                <a:solidFill>
                  <a:srgbClr val="000000"/>
                </a:solidFill>
              </a:rPr>
              <a:t>使用者回饋與改善建議</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904994" y="1448816"/>
            <a:ext cx="4364101" cy="4363973"/>
          </a:xfrm>
          <a:prstGeom prst="rect">
            <a:avLst/>
          </a:prstGeom>
        </p:spPr>
      </p:pic>
      <p:sp>
        <p:nvSpPr>
          <p:cNvPr id="3" name="object 3"/>
          <p:cNvSpPr txBox="1">
            <a:spLocks noGrp="1"/>
          </p:cNvSpPr>
          <p:nvPr>
            <p:ph type="title"/>
          </p:nvPr>
        </p:nvSpPr>
        <p:spPr>
          <a:xfrm>
            <a:off x="304596" y="294208"/>
            <a:ext cx="6883400" cy="848994"/>
          </a:xfrm>
          <a:prstGeom prst="rect">
            <a:avLst/>
          </a:prstGeom>
        </p:spPr>
        <p:txBody>
          <a:bodyPr vert="horz" wrap="square" lIns="0" tIns="12700" rIns="0" bIns="0" rtlCol="0">
            <a:spAutoFit/>
          </a:bodyPr>
          <a:lstStyle/>
          <a:p>
            <a:pPr marL="12700">
              <a:lnSpc>
                <a:spcPct val="100000"/>
              </a:lnSpc>
              <a:spcBef>
                <a:spcPts val="100"/>
              </a:spcBef>
            </a:pPr>
            <a:r>
              <a:rPr spc="-15" dirty="0"/>
              <a:t>使用者回饋與改善建議</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33</a:t>
            </a:fld>
            <a:endParaRPr spc="-25" dirty="0"/>
          </a:p>
        </p:txBody>
      </p:sp>
      <p:sp>
        <p:nvSpPr>
          <p:cNvPr id="4" name="object 4"/>
          <p:cNvSpPr txBox="1"/>
          <p:nvPr/>
        </p:nvSpPr>
        <p:spPr>
          <a:xfrm>
            <a:off x="10108438" y="1875789"/>
            <a:ext cx="3555365" cy="1000760"/>
          </a:xfrm>
          <a:prstGeom prst="rect">
            <a:avLst/>
          </a:prstGeom>
        </p:spPr>
        <p:txBody>
          <a:bodyPr vert="horz" wrap="square" lIns="0" tIns="12065" rIns="0" bIns="0" rtlCol="0">
            <a:spAutoFit/>
          </a:bodyPr>
          <a:lstStyle/>
          <a:p>
            <a:pPr marL="299085" indent="-286385">
              <a:lnSpc>
                <a:spcPct val="100000"/>
              </a:lnSpc>
              <a:spcBef>
                <a:spcPts val="95"/>
              </a:spcBef>
              <a:buFont typeface="Arial MT"/>
              <a:buChar char="•"/>
              <a:tabLst>
                <a:tab pos="299085" algn="l"/>
              </a:tabLst>
            </a:pPr>
            <a:r>
              <a:rPr sz="1600" spc="-30" dirty="0">
                <a:solidFill>
                  <a:srgbClr val="404040"/>
                </a:solidFill>
                <a:latin typeface="SimSun"/>
                <a:cs typeface="SimSun"/>
              </a:rPr>
              <a:t>系統回應時間偶有延遲</a:t>
            </a:r>
            <a:endParaRPr sz="1600">
              <a:latin typeface="SimSun"/>
              <a:cs typeface="SimSun"/>
            </a:endParaRPr>
          </a:p>
          <a:p>
            <a:pPr marL="299085" indent="-286385">
              <a:lnSpc>
                <a:spcPct val="100000"/>
              </a:lnSpc>
              <a:buFont typeface="Arial MT"/>
              <a:buChar char="•"/>
              <a:tabLst>
                <a:tab pos="299085" algn="l"/>
              </a:tabLst>
            </a:pPr>
            <a:r>
              <a:rPr sz="1600" spc="-30" dirty="0">
                <a:solidFill>
                  <a:srgbClr val="404040"/>
                </a:solidFill>
                <a:latin typeface="SimSun"/>
                <a:cs typeface="SimSun"/>
              </a:rPr>
              <a:t>完全依賴網路連接</a:t>
            </a:r>
            <a:endParaRPr sz="1600">
              <a:latin typeface="SimSun"/>
              <a:cs typeface="SimSun"/>
            </a:endParaRPr>
          </a:p>
          <a:p>
            <a:pPr marL="299085" indent="-286385">
              <a:lnSpc>
                <a:spcPct val="100000"/>
              </a:lnSpc>
              <a:buFont typeface="Arial MT"/>
              <a:buChar char="•"/>
              <a:tabLst>
                <a:tab pos="299085" algn="l"/>
              </a:tabLst>
            </a:pPr>
            <a:r>
              <a:rPr sz="1600" spc="-30" dirty="0">
                <a:solidFill>
                  <a:srgbClr val="404040"/>
                </a:solidFill>
                <a:latin typeface="SimSun"/>
                <a:cs typeface="SimSun"/>
              </a:rPr>
              <a:t>缺乏學習進度追踪功能</a:t>
            </a:r>
            <a:endParaRPr sz="1600">
              <a:latin typeface="SimSun"/>
              <a:cs typeface="SimSun"/>
            </a:endParaRPr>
          </a:p>
          <a:p>
            <a:pPr marL="299085" indent="-286385">
              <a:lnSpc>
                <a:spcPct val="100000"/>
              </a:lnSpc>
              <a:buFont typeface="Arial MT"/>
              <a:buChar char="•"/>
              <a:tabLst>
                <a:tab pos="299085" algn="l"/>
              </a:tabLst>
            </a:pPr>
            <a:r>
              <a:rPr sz="1600" spc="-30" dirty="0">
                <a:solidFill>
                  <a:srgbClr val="404040"/>
                </a:solidFill>
                <a:latin typeface="SimSun"/>
                <a:cs typeface="SimSun"/>
              </a:rPr>
              <a:t>語音識別對非標準發音準確率待改善</a:t>
            </a:r>
            <a:endParaRPr sz="1600">
              <a:latin typeface="SimSun"/>
              <a:cs typeface="SimSun"/>
            </a:endParaRPr>
          </a:p>
        </p:txBody>
      </p:sp>
      <p:sp>
        <p:nvSpPr>
          <p:cNvPr id="5" name="object 5"/>
          <p:cNvSpPr txBox="1"/>
          <p:nvPr/>
        </p:nvSpPr>
        <p:spPr>
          <a:xfrm>
            <a:off x="547217" y="1863979"/>
            <a:ext cx="4206875" cy="1488440"/>
          </a:xfrm>
          <a:prstGeom prst="rect">
            <a:avLst/>
          </a:prstGeom>
        </p:spPr>
        <p:txBody>
          <a:bodyPr vert="horz" wrap="square" lIns="0" tIns="12065" rIns="0" bIns="0" rtlCol="0">
            <a:spAutoFit/>
          </a:bodyPr>
          <a:lstStyle/>
          <a:p>
            <a:pPr marL="299085" indent="-286385">
              <a:lnSpc>
                <a:spcPct val="100000"/>
              </a:lnSpc>
              <a:spcBef>
                <a:spcPts val="95"/>
              </a:spcBef>
              <a:buFont typeface="Arial MT"/>
              <a:buChar char="•"/>
              <a:tabLst>
                <a:tab pos="299085" algn="l"/>
              </a:tabLst>
            </a:pPr>
            <a:r>
              <a:rPr sz="1600" spc="-25" dirty="0">
                <a:solidFill>
                  <a:srgbClr val="404040"/>
                </a:solidFill>
                <a:latin typeface="Microsoft JhengHei"/>
                <a:cs typeface="Microsoft JhengHei"/>
              </a:rPr>
              <a:t>易用性：LINE</a:t>
            </a:r>
            <a:r>
              <a:rPr sz="1600" spc="-30" dirty="0">
                <a:solidFill>
                  <a:srgbClr val="404040"/>
                </a:solidFill>
                <a:latin typeface="Microsoft JhengHei"/>
                <a:cs typeface="Microsoft JhengHei"/>
              </a:rPr>
              <a:t>平台熟悉、界面直覺</a:t>
            </a:r>
            <a:endParaRPr sz="1600">
              <a:latin typeface="Microsoft JhengHei"/>
              <a:cs typeface="Microsoft JhengHei"/>
            </a:endParaRPr>
          </a:p>
          <a:p>
            <a:pPr marL="299085" indent="-286385">
              <a:lnSpc>
                <a:spcPct val="100000"/>
              </a:lnSpc>
              <a:buFont typeface="Arial MT"/>
              <a:buChar char="•"/>
              <a:tabLst>
                <a:tab pos="299085" algn="l"/>
              </a:tabLst>
            </a:pPr>
            <a:r>
              <a:rPr sz="1600" spc="-35" dirty="0">
                <a:solidFill>
                  <a:srgbClr val="404040"/>
                </a:solidFill>
                <a:latin typeface="Microsoft JhengHei"/>
                <a:cs typeface="Microsoft JhengHei"/>
              </a:rPr>
              <a:t>互動性：回應自然、理解上下文、即時反饋</a:t>
            </a:r>
            <a:endParaRPr sz="1600">
              <a:latin typeface="Microsoft JhengHei"/>
              <a:cs typeface="Microsoft JhengHei"/>
            </a:endParaRPr>
          </a:p>
          <a:p>
            <a:pPr marL="299085" marR="5080" indent="-287020">
              <a:lnSpc>
                <a:spcPct val="100000"/>
              </a:lnSpc>
              <a:buFont typeface="Arial MT"/>
              <a:buChar char="•"/>
              <a:tabLst>
                <a:tab pos="299085" algn="l"/>
              </a:tabLst>
            </a:pPr>
            <a:r>
              <a:rPr sz="1600" spc="-15" dirty="0">
                <a:solidFill>
                  <a:srgbClr val="404040"/>
                </a:solidFill>
                <a:latin typeface="Microsoft JhengHei"/>
                <a:cs typeface="Microsoft JhengHei"/>
              </a:rPr>
              <a:t>學習效果：發音改善、詞彙應用提升、信心</a:t>
            </a:r>
            <a:r>
              <a:rPr sz="1600" spc="-40" dirty="0">
                <a:solidFill>
                  <a:srgbClr val="404040"/>
                </a:solidFill>
                <a:latin typeface="Microsoft JhengHei"/>
                <a:cs typeface="Microsoft JhengHei"/>
              </a:rPr>
              <a:t>增強</a:t>
            </a:r>
            <a:endParaRPr sz="1600">
              <a:latin typeface="Microsoft JhengHei"/>
              <a:cs typeface="Microsoft JhengHei"/>
            </a:endParaRPr>
          </a:p>
          <a:p>
            <a:pPr marL="299085" indent="-286385">
              <a:lnSpc>
                <a:spcPct val="100000"/>
              </a:lnSpc>
              <a:buFont typeface="Arial MT"/>
              <a:buChar char="•"/>
              <a:tabLst>
                <a:tab pos="299085" algn="l"/>
              </a:tabLst>
            </a:pPr>
            <a:r>
              <a:rPr sz="1600" spc="-25" dirty="0">
                <a:solidFill>
                  <a:srgbClr val="404040"/>
                </a:solidFill>
                <a:latin typeface="Microsoft JhengHei"/>
                <a:cs typeface="Microsoft JhengHei"/>
              </a:rPr>
              <a:t>功能偏好：初學者愛跟讀、中級愛對話、高</a:t>
            </a:r>
            <a:endParaRPr sz="1600">
              <a:latin typeface="Microsoft JhengHei"/>
              <a:cs typeface="Microsoft JhengHei"/>
            </a:endParaRPr>
          </a:p>
          <a:p>
            <a:pPr marL="299085">
              <a:lnSpc>
                <a:spcPct val="100000"/>
              </a:lnSpc>
            </a:pPr>
            <a:r>
              <a:rPr sz="1600" spc="-35" dirty="0">
                <a:solidFill>
                  <a:srgbClr val="404040"/>
                </a:solidFill>
                <a:latin typeface="Microsoft JhengHei"/>
                <a:cs typeface="Microsoft JhengHei"/>
              </a:rPr>
              <a:t>級愛造句</a:t>
            </a:r>
            <a:endParaRPr sz="1600">
              <a:latin typeface="Microsoft JhengHei"/>
              <a:cs typeface="Microsoft JhengHei"/>
            </a:endParaRPr>
          </a:p>
        </p:txBody>
      </p:sp>
      <p:sp>
        <p:nvSpPr>
          <p:cNvPr id="6" name="object 6"/>
          <p:cNvSpPr txBox="1"/>
          <p:nvPr/>
        </p:nvSpPr>
        <p:spPr>
          <a:xfrm>
            <a:off x="1419986" y="3939032"/>
            <a:ext cx="2959735" cy="1421130"/>
          </a:xfrm>
          <a:prstGeom prst="rect">
            <a:avLst/>
          </a:prstGeom>
          <a:solidFill>
            <a:srgbClr val="F4B083"/>
          </a:solidFill>
        </p:spPr>
        <p:txBody>
          <a:bodyPr vert="horz" wrap="square" lIns="0" tIns="337820" rIns="0" bIns="0" rtlCol="0">
            <a:spAutoFit/>
          </a:bodyPr>
          <a:lstStyle/>
          <a:p>
            <a:pPr marL="659765">
              <a:lnSpc>
                <a:spcPct val="100000"/>
              </a:lnSpc>
              <a:spcBef>
                <a:spcPts val="2660"/>
              </a:spcBef>
            </a:pPr>
            <a:r>
              <a:rPr sz="3200" b="1" spc="-15" dirty="0">
                <a:solidFill>
                  <a:srgbClr val="FFFFFF"/>
                </a:solidFill>
                <a:latin typeface="Microsoft JhengHei"/>
                <a:cs typeface="Microsoft JhengHei"/>
              </a:rPr>
              <a:t>正面回饋</a:t>
            </a:r>
            <a:endParaRPr sz="3200">
              <a:latin typeface="Microsoft JhengHei"/>
              <a:cs typeface="Microsoft JhengHei"/>
            </a:endParaRPr>
          </a:p>
        </p:txBody>
      </p:sp>
      <p:sp>
        <p:nvSpPr>
          <p:cNvPr id="7" name="object 7"/>
          <p:cNvSpPr txBox="1"/>
          <p:nvPr/>
        </p:nvSpPr>
        <p:spPr>
          <a:xfrm>
            <a:off x="10357993" y="3939032"/>
            <a:ext cx="2957195" cy="1421130"/>
          </a:xfrm>
          <a:prstGeom prst="rect">
            <a:avLst/>
          </a:prstGeom>
          <a:solidFill>
            <a:srgbClr val="C8C8C8"/>
          </a:solidFill>
        </p:spPr>
        <p:txBody>
          <a:bodyPr vert="horz" wrap="square" lIns="0" tIns="236220" rIns="0" bIns="0" rtlCol="0">
            <a:spAutoFit/>
          </a:bodyPr>
          <a:lstStyle/>
          <a:p>
            <a:pPr marL="986155" marR="539115" indent="-204470">
              <a:lnSpc>
                <a:spcPct val="100000"/>
              </a:lnSpc>
              <a:spcBef>
                <a:spcPts val="1860"/>
              </a:spcBef>
            </a:pPr>
            <a:r>
              <a:rPr sz="3200" b="1" spc="-20" dirty="0">
                <a:solidFill>
                  <a:srgbClr val="FFFFFF"/>
                </a:solidFill>
                <a:latin typeface="Microsoft JhengHei"/>
                <a:cs typeface="Microsoft JhengHei"/>
              </a:rPr>
              <a:t>使用挑戰與限制</a:t>
            </a:r>
            <a:endParaRPr sz="3200">
              <a:latin typeface="Microsoft JhengHei"/>
              <a:cs typeface="Microsoft JhengHei"/>
            </a:endParaRPr>
          </a:p>
        </p:txBody>
      </p:sp>
      <p:sp>
        <p:nvSpPr>
          <p:cNvPr id="8" name="object 8"/>
          <p:cNvSpPr txBox="1"/>
          <p:nvPr/>
        </p:nvSpPr>
        <p:spPr>
          <a:xfrm>
            <a:off x="4172584" y="6042050"/>
            <a:ext cx="5749290" cy="1472565"/>
          </a:xfrm>
          <a:prstGeom prst="rect">
            <a:avLst/>
          </a:prstGeom>
          <a:solidFill>
            <a:srgbClr val="FFD966"/>
          </a:solidFill>
        </p:spPr>
        <p:txBody>
          <a:bodyPr vert="horz" wrap="square" lIns="0" tIns="203200" rIns="0" bIns="0" rtlCol="0">
            <a:spAutoFit/>
          </a:bodyPr>
          <a:lstStyle/>
          <a:p>
            <a:pPr marL="299085">
              <a:lnSpc>
                <a:spcPct val="100000"/>
              </a:lnSpc>
              <a:spcBef>
                <a:spcPts val="1600"/>
              </a:spcBef>
            </a:pPr>
            <a:r>
              <a:rPr sz="1600" b="1" spc="-25" dirty="0">
                <a:latin typeface="Microsoft JhengHei"/>
                <a:cs typeface="Microsoft JhengHei"/>
              </a:rPr>
              <a:t>改進建議</a:t>
            </a:r>
            <a:r>
              <a:rPr sz="1600" spc="-50" dirty="0">
                <a:latin typeface="Microsoft JhengHei"/>
                <a:cs typeface="Microsoft JhengHei"/>
              </a:rPr>
              <a:t>：</a:t>
            </a:r>
            <a:endParaRPr sz="1600">
              <a:latin typeface="Microsoft JhengHei"/>
              <a:cs typeface="Microsoft JhengHei"/>
            </a:endParaRPr>
          </a:p>
          <a:p>
            <a:pPr marL="370205" indent="-79375">
              <a:lnSpc>
                <a:spcPct val="100000"/>
              </a:lnSpc>
              <a:buSzPct val="93750"/>
              <a:buFont typeface="Arial MT"/>
              <a:buChar char="•"/>
              <a:tabLst>
                <a:tab pos="370205" algn="l"/>
              </a:tabLst>
            </a:pPr>
            <a:r>
              <a:rPr sz="1600" spc="-30" dirty="0">
                <a:latin typeface="Microsoft JhengHei"/>
                <a:cs typeface="Microsoft JhengHei"/>
              </a:rPr>
              <a:t>技術優化：提升語音識別、縮短回應時間、部分離線功能</a:t>
            </a:r>
            <a:endParaRPr sz="1600">
              <a:latin typeface="Microsoft JhengHei"/>
              <a:cs typeface="Microsoft JhengHei"/>
            </a:endParaRPr>
          </a:p>
          <a:p>
            <a:pPr marL="370205" indent="-79375">
              <a:lnSpc>
                <a:spcPct val="100000"/>
              </a:lnSpc>
              <a:buSzPct val="93750"/>
              <a:buFont typeface="Arial MT"/>
              <a:buChar char="•"/>
              <a:tabLst>
                <a:tab pos="370205" algn="l"/>
              </a:tabLst>
            </a:pPr>
            <a:r>
              <a:rPr sz="1600" spc="-30" dirty="0">
                <a:latin typeface="Microsoft JhengHei"/>
                <a:cs typeface="Microsoft JhengHei"/>
              </a:rPr>
              <a:t>功能擴充：學習數據分析、個人化路徑、更多主題內容</a:t>
            </a:r>
            <a:endParaRPr sz="1600">
              <a:latin typeface="Microsoft JhengHei"/>
              <a:cs typeface="Microsoft JhengHei"/>
            </a:endParaRPr>
          </a:p>
          <a:p>
            <a:pPr marL="369570" indent="-79375">
              <a:lnSpc>
                <a:spcPct val="100000"/>
              </a:lnSpc>
              <a:buSzPct val="93750"/>
              <a:buFont typeface="Arial MT"/>
              <a:buChar char="•"/>
              <a:tabLst>
                <a:tab pos="369570" algn="l"/>
              </a:tabLst>
            </a:pPr>
            <a:r>
              <a:rPr sz="1600" spc="-35" dirty="0">
                <a:latin typeface="Microsoft JhengHei"/>
                <a:cs typeface="Microsoft JhengHei"/>
              </a:rPr>
              <a:t>用戶體驗提升：遊戲化元素、社群功能、界面優化</a:t>
            </a:r>
            <a:endParaRPr sz="1600">
              <a:latin typeface="Microsoft JhengHei"/>
              <a:cs typeface="Microsoft JhengHe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7"/>
            <a:ext cx="1746885" cy="3629660"/>
          </a:xfrm>
          <a:custGeom>
            <a:avLst/>
            <a:gdLst/>
            <a:ahLst/>
            <a:cxnLst/>
            <a:rect l="l" t="t" r="r" b="b"/>
            <a:pathLst>
              <a:path w="1746885" h="3629660">
                <a:moveTo>
                  <a:pt x="1737614" y="0"/>
                </a:moveTo>
                <a:lnTo>
                  <a:pt x="0" y="5801"/>
                </a:lnTo>
                <a:lnTo>
                  <a:pt x="0" y="2823667"/>
                </a:lnTo>
                <a:lnTo>
                  <a:pt x="2453" y="2852720"/>
                </a:lnTo>
                <a:lnTo>
                  <a:pt x="8923" y="2899275"/>
                </a:lnTo>
                <a:lnTo>
                  <a:pt x="17801" y="2945013"/>
                </a:lnTo>
                <a:lnTo>
                  <a:pt x="29020" y="2989866"/>
                </a:lnTo>
                <a:lnTo>
                  <a:pt x="42515" y="3033768"/>
                </a:lnTo>
                <a:lnTo>
                  <a:pt x="58216" y="3076654"/>
                </a:lnTo>
                <a:lnTo>
                  <a:pt x="76058" y="3118455"/>
                </a:lnTo>
                <a:lnTo>
                  <a:pt x="95974" y="3159107"/>
                </a:lnTo>
                <a:lnTo>
                  <a:pt x="117897" y="3198542"/>
                </a:lnTo>
                <a:lnTo>
                  <a:pt x="141759" y="3236693"/>
                </a:lnTo>
                <a:lnTo>
                  <a:pt x="167494" y="3273495"/>
                </a:lnTo>
                <a:lnTo>
                  <a:pt x="195035" y="3308880"/>
                </a:lnTo>
                <a:lnTo>
                  <a:pt x="224315" y="3342782"/>
                </a:lnTo>
                <a:lnTo>
                  <a:pt x="255268" y="3375136"/>
                </a:lnTo>
                <a:lnTo>
                  <a:pt x="287825" y="3405873"/>
                </a:lnTo>
                <a:lnTo>
                  <a:pt x="321921" y="3434928"/>
                </a:lnTo>
                <a:lnTo>
                  <a:pt x="357487" y="3462234"/>
                </a:lnTo>
                <a:lnTo>
                  <a:pt x="394459" y="3487724"/>
                </a:lnTo>
                <a:lnTo>
                  <a:pt x="432767" y="3511333"/>
                </a:lnTo>
                <a:lnTo>
                  <a:pt x="472346" y="3532993"/>
                </a:lnTo>
                <a:lnTo>
                  <a:pt x="513129" y="3552639"/>
                </a:lnTo>
                <a:lnTo>
                  <a:pt x="555048" y="3570202"/>
                </a:lnTo>
                <a:lnTo>
                  <a:pt x="598037" y="3585618"/>
                </a:lnTo>
                <a:lnTo>
                  <a:pt x="642029" y="3598819"/>
                </a:lnTo>
                <a:lnTo>
                  <a:pt x="686957" y="3609739"/>
                </a:lnTo>
                <a:lnTo>
                  <a:pt x="732753" y="3618312"/>
                </a:lnTo>
                <a:lnTo>
                  <a:pt x="779352" y="3624470"/>
                </a:lnTo>
                <a:lnTo>
                  <a:pt x="826685" y="3628148"/>
                </a:lnTo>
                <a:lnTo>
                  <a:pt x="874687" y="3629279"/>
                </a:lnTo>
                <a:lnTo>
                  <a:pt x="922685" y="3627833"/>
                </a:lnTo>
                <a:lnTo>
                  <a:pt x="969998" y="3623844"/>
                </a:lnTo>
                <a:lnTo>
                  <a:pt x="1016559" y="3617380"/>
                </a:lnTo>
                <a:lnTo>
                  <a:pt x="1062301" y="3608508"/>
                </a:lnTo>
                <a:lnTo>
                  <a:pt x="1107158" y="3597293"/>
                </a:lnTo>
                <a:lnTo>
                  <a:pt x="1151063" y="3583804"/>
                </a:lnTo>
                <a:lnTo>
                  <a:pt x="1193950" y="3568108"/>
                </a:lnTo>
                <a:lnTo>
                  <a:pt x="1235752" y="3550270"/>
                </a:lnTo>
                <a:lnTo>
                  <a:pt x="1276404" y="3530359"/>
                </a:lnTo>
                <a:lnTo>
                  <a:pt x="1315839" y="3508440"/>
                </a:lnTo>
                <a:lnTo>
                  <a:pt x="1353990" y="3484582"/>
                </a:lnTo>
                <a:lnTo>
                  <a:pt x="1390791" y="3458851"/>
                </a:lnTo>
                <a:lnTo>
                  <a:pt x="1426175" y="3431313"/>
                </a:lnTo>
                <a:lnTo>
                  <a:pt x="1460077" y="3402036"/>
                </a:lnTo>
                <a:lnTo>
                  <a:pt x="1492429" y="3371087"/>
                </a:lnTo>
                <a:lnTo>
                  <a:pt x="1523165" y="3338533"/>
                </a:lnTo>
                <a:lnTo>
                  <a:pt x="1552220" y="3304441"/>
                </a:lnTo>
                <a:lnTo>
                  <a:pt x="1579525" y="3268877"/>
                </a:lnTo>
                <a:lnTo>
                  <a:pt x="1605016" y="3231909"/>
                </a:lnTo>
                <a:lnTo>
                  <a:pt x="1628625" y="3193603"/>
                </a:lnTo>
                <a:lnTo>
                  <a:pt x="1650287" y="3154026"/>
                </a:lnTo>
                <a:lnTo>
                  <a:pt x="1669934" y="3113246"/>
                </a:lnTo>
                <a:lnTo>
                  <a:pt x="1687501" y="3071329"/>
                </a:lnTo>
                <a:lnTo>
                  <a:pt x="1702920" y="3028343"/>
                </a:lnTo>
                <a:lnTo>
                  <a:pt x="1716127" y="2984354"/>
                </a:lnTo>
                <a:lnTo>
                  <a:pt x="1727053" y="2939429"/>
                </a:lnTo>
                <a:lnTo>
                  <a:pt x="1735633" y="2893635"/>
                </a:lnTo>
                <a:lnTo>
                  <a:pt x="1741800" y="2847039"/>
                </a:lnTo>
                <a:lnTo>
                  <a:pt x="1745488" y="2799708"/>
                </a:lnTo>
                <a:lnTo>
                  <a:pt x="1746631" y="2751709"/>
                </a:lnTo>
                <a:lnTo>
                  <a:pt x="1737614" y="0"/>
                </a:lnTo>
                <a:close/>
              </a:path>
            </a:pathLst>
          </a:custGeom>
          <a:solidFill>
            <a:srgbClr val="EC7C30"/>
          </a:solidFill>
        </p:spPr>
        <p:txBody>
          <a:bodyPr wrap="square" lIns="0" tIns="0" rIns="0" bIns="0" rtlCol="0"/>
          <a:lstStyle/>
          <a:p>
            <a:endParaRPr/>
          </a:p>
        </p:txBody>
      </p:sp>
      <p:grpSp>
        <p:nvGrpSpPr>
          <p:cNvPr id="3" name="object 3"/>
          <p:cNvGrpSpPr/>
          <p:nvPr/>
        </p:nvGrpSpPr>
        <p:grpSpPr>
          <a:xfrm>
            <a:off x="12279883" y="5879084"/>
            <a:ext cx="2350770" cy="2350770"/>
            <a:chOff x="12279883" y="5879084"/>
            <a:chExt cx="2350770" cy="2350770"/>
          </a:xfrm>
        </p:grpSpPr>
        <p:sp>
          <p:nvSpPr>
            <p:cNvPr id="4" name="object 4"/>
            <p:cNvSpPr/>
            <p:nvPr/>
          </p:nvSpPr>
          <p:spPr>
            <a:xfrm>
              <a:off x="12279883" y="5879084"/>
              <a:ext cx="2350770" cy="2350770"/>
            </a:xfrm>
            <a:custGeom>
              <a:avLst/>
              <a:gdLst/>
              <a:ahLst/>
              <a:cxnLst/>
              <a:rect l="l" t="t" r="r" b="b"/>
              <a:pathLst>
                <a:path w="2350769" h="2350770">
                  <a:moveTo>
                    <a:pt x="2350516" y="0"/>
                  </a:moveTo>
                  <a:lnTo>
                    <a:pt x="0" y="2350500"/>
                  </a:lnTo>
                  <a:lnTo>
                    <a:pt x="2350516" y="2350500"/>
                  </a:lnTo>
                  <a:lnTo>
                    <a:pt x="2350516" y="0"/>
                  </a:lnTo>
                  <a:close/>
                </a:path>
              </a:pathLst>
            </a:custGeom>
            <a:solidFill>
              <a:srgbClr val="A4A4A4"/>
            </a:solidFill>
          </p:spPr>
          <p:txBody>
            <a:bodyPr wrap="square" lIns="0" tIns="0" rIns="0" bIns="0" rtlCol="0"/>
            <a:lstStyle/>
            <a:p>
              <a:endParaRPr/>
            </a:p>
          </p:txBody>
        </p:sp>
        <p:sp>
          <p:nvSpPr>
            <p:cNvPr id="5" name="object 5"/>
            <p:cNvSpPr/>
            <p:nvPr/>
          </p:nvSpPr>
          <p:spPr>
            <a:xfrm>
              <a:off x="12546202" y="6006084"/>
              <a:ext cx="1885950" cy="1885950"/>
            </a:xfrm>
            <a:custGeom>
              <a:avLst/>
              <a:gdLst/>
              <a:ahLst/>
              <a:cxnLst/>
              <a:rect l="l" t="t" r="r" b="b"/>
              <a:pathLst>
                <a:path w="1885950" h="1885950">
                  <a:moveTo>
                    <a:pt x="535304" y="942975"/>
                  </a:moveTo>
                  <a:lnTo>
                    <a:pt x="538047" y="895426"/>
                  </a:lnTo>
                  <a:lnTo>
                    <a:pt x="546070" y="849486"/>
                  </a:lnTo>
                  <a:lnTo>
                    <a:pt x="559069" y="805461"/>
                  </a:lnTo>
                  <a:lnTo>
                    <a:pt x="576737" y="763657"/>
                  </a:lnTo>
                  <a:lnTo>
                    <a:pt x="598769" y="724381"/>
                  </a:lnTo>
                  <a:lnTo>
                    <a:pt x="624858" y="687939"/>
                  </a:lnTo>
                  <a:lnTo>
                    <a:pt x="654700" y="654637"/>
                  </a:lnTo>
                  <a:lnTo>
                    <a:pt x="687989" y="624781"/>
                  </a:lnTo>
                  <a:lnTo>
                    <a:pt x="724418" y="598679"/>
                  </a:lnTo>
                  <a:lnTo>
                    <a:pt x="763682" y="576635"/>
                  </a:lnTo>
                  <a:lnTo>
                    <a:pt x="805476" y="558957"/>
                  </a:lnTo>
                  <a:lnTo>
                    <a:pt x="849493" y="545950"/>
                  </a:lnTo>
                  <a:lnTo>
                    <a:pt x="895428" y="537922"/>
                  </a:lnTo>
                  <a:lnTo>
                    <a:pt x="942975" y="535178"/>
                  </a:lnTo>
                  <a:lnTo>
                    <a:pt x="990523" y="537922"/>
                  </a:lnTo>
                  <a:lnTo>
                    <a:pt x="1036463" y="545950"/>
                  </a:lnTo>
                  <a:lnTo>
                    <a:pt x="1080488" y="558957"/>
                  </a:lnTo>
                  <a:lnTo>
                    <a:pt x="1122292" y="576635"/>
                  </a:lnTo>
                  <a:lnTo>
                    <a:pt x="1161568" y="598679"/>
                  </a:lnTo>
                  <a:lnTo>
                    <a:pt x="1198010" y="624781"/>
                  </a:lnTo>
                  <a:lnTo>
                    <a:pt x="1231312" y="654637"/>
                  </a:lnTo>
                  <a:lnTo>
                    <a:pt x="1261168" y="687939"/>
                  </a:lnTo>
                  <a:lnTo>
                    <a:pt x="1287270" y="724381"/>
                  </a:lnTo>
                  <a:lnTo>
                    <a:pt x="1309314" y="763657"/>
                  </a:lnTo>
                  <a:lnTo>
                    <a:pt x="1326992" y="805461"/>
                  </a:lnTo>
                  <a:lnTo>
                    <a:pt x="1339999" y="849486"/>
                  </a:lnTo>
                  <a:lnTo>
                    <a:pt x="1348027" y="895426"/>
                  </a:lnTo>
                  <a:lnTo>
                    <a:pt x="1350772" y="942975"/>
                  </a:lnTo>
                  <a:lnTo>
                    <a:pt x="1348027" y="990514"/>
                  </a:lnTo>
                  <a:lnTo>
                    <a:pt x="1339999" y="1036444"/>
                  </a:lnTo>
                  <a:lnTo>
                    <a:pt x="1326992" y="1080458"/>
                  </a:lnTo>
                  <a:lnTo>
                    <a:pt x="1309314" y="1122250"/>
                  </a:lnTo>
                  <a:lnTo>
                    <a:pt x="1287270" y="1161514"/>
                  </a:lnTo>
                  <a:lnTo>
                    <a:pt x="1261168" y="1197944"/>
                  </a:lnTo>
                  <a:lnTo>
                    <a:pt x="1231312" y="1231234"/>
                  </a:lnTo>
                  <a:lnTo>
                    <a:pt x="1198010" y="1261079"/>
                  </a:lnTo>
                  <a:lnTo>
                    <a:pt x="1161568" y="1287171"/>
                  </a:lnTo>
                  <a:lnTo>
                    <a:pt x="1122292" y="1309205"/>
                  </a:lnTo>
                  <a:lnTo>
                    <a:pt x="1080488" y="1326876"/>
                  </a:lnTo>
                  <a:lnTo>
                    <a:pt x="1036463" y="1339877"/>
                  </a:lnTo>
                  <a:lnTo>
                    <a:pt x="990523" y="1347902"/>
                  </a:lnTo>
                  <a:lnTo>
                    <a:pt x="942975" y="1350645"/>
                  </a:lnTo>
                  <a:lnTo>
                    <a:pt x="895428" y="1347902"/>
                  </a:lnTo>
                  <a:lnTo>
                    <a:pt x="849493" y="1339877"/>
                  </a:lnTo>
                  <a:lnTo>
                    <a:pt x="805476" y="1326876"/>
                  </a:lnTo>
                  <a:lnTo>
                    <a:pt x="763682" y="1309205"/>
                  </a:lnTo>
                  <a:lnTo>
                    <a:pt x="724418" y="1287171"/>
                  </a:lnTo>
                  <a:lnTo>
                    <a:pt x="687989" y="1261079"/>
                  </a:lnTo>
                  <a:lnTo>
                    <a:pt x="654700" y="1231234"/>
                  </a:lnTo>
                  <a:lnTo>
                    <a:pt x="624858" y="1197944"/>
                  </a:lnTo>
                  <a:lnTo>
                    <a:pt x="598769" y="1161514"/>
                  </a:lnTo>
                  <a:lnTo>
                    <a:pt x="576737" y="1122250"/>
                  </a:lnTo>
                  <a:lnTo>
                    <a:pt x="559069" y="1080458"/>
                  </a:lnTo>
                  <a:lnTo>
                    <a:pt x="546070" y="1036444"/>
                  </a:lnTo>
                  <a:lnTo>
                    <a:pt x="538047" y="990514"/>
                  </a:lnTo>
                  <a:lnTo>
                    <a:pt x="535304" y="942975"/>
                  </a:lnTo>
                  <a:close/>
                </a:path>
                <a:path w="1885950" h="1885950">
                  <a:moveTo>
                    <a:pt x="354202" y="942975"/>
                  </a:moveTo>
                  <a:lnTo>
                    <a:pt x="356155" y="894676"/>
                  </a:lnTo>
                  <a:lnTo>
                    <a:pt x="361910" y="847454"/>
                  </a:lnTo>
                  <a:lnTo>
                    <a:pt x="371317" y="801461"/>
                  </a:lnTo>
                  <a:lnTo>
                    <a:pt x="384223" y="756847"/>
                  </a:lnTo>
                  <a:lnTo>
                    <a:pt x="400478" y="713765"/>
                  </a:lnTo>
                  <a:lnTo>
                    <a:pt x="419930" y="672366"/>
                  </a:lnTo>
                  <a:lnTo>
                    <a:pt x="442426" y="632800"/>
                  </a:lnTo>
                  <a:lnTo>
                    <a:pt x="467816" y="595220"/>
                  </a:lnTo>
                  <a:lnTo>
                    <a:pt x="495947" y="559776"/>
                  </a:lnTo>
                  <a:lnTo>
                    <a:pt x="526669" y="526621"/>
                  </a:lnTo>
                  <a:lnTo>
                    <a:pt x="559828" y="495905"/>
                  </a:lnTo>
                  <a:lnTo>
                    <a:pt x="595275" y="467779"/>
                  </a:lnTo>
                  <a:lnTo>
                    <a:pt x="632857" y="442396"/>
                  </a:lnTo>
                  <a:lnTo>
                    <a:pt x="672422" y="419906"/>
                  </a:lnTo>
                  <a:lnTo>
                    <a:pt x="713819" y="400460"/>
                  </a:lnTo>
                  <a:lnTo>
                    <a:pt x="756896" y="384211"/>
                  </a:lnTo>
                  <a:lnTo>
                    <a:pt x="801502" y="371309"/>
                  </a:lnTo>
                  <a:lnTo>
                    <a:pt x="847485" y="361906"/>
                  </a:lnTo>
                  <a:lnTo>
                    <a:pt x="894693" y="356154"/>
                  </a:lnTo>
                  <a:lnTo>
                    <a:pt x="942975" y="354203"/>
                  </a:lnTo>
                  <a:lnTo>
                    <a:pt x="991273" y="356154"/>
                  </a:lnTo>
                  <a:lnTo>
                    <a:pt x="1038495" y="361906"/>
                  </a:lnTo>
                  <a:lnTo>
                    <a:pt x="1084488" y="371309"/>
                  </a:lnTo>
                  <a:lnTo>
                    <a:pt x="1129102" y="384211"/>
                  </a:lnTo>
                  <a:lnTo>
                    <a:pt x="1172184" y="400460"/>
                  </a:lnTo>
                  <a:lnTo>
                    <a:pt x="1213583" y="419906"/>
                  </a:lnTo>
                  <a:lnTo>
                    <a:pt x="1253149" y="442396"/>
                  </a:lnTo>
                  <a:lnTo>
                    <a:pt x="1290729" y="467779"/>
                  </a:lnTo>
                  <a:lnTo>
                    <a:pt x="1326173" y="495905"/>
                  </a:lnTo>
                  <a:lnTo>
                    <a:pt x="1359328" y="526621"/>
                  </a:lnTo>
                  <a:lnTo>
                    <a:pt x="1390044" y="559776"/>
                  </a:lnTo>
                  <a:lnTo>
                    <a:pt x="1418170" y="595220"/>
                  </a:lnTo>
                  <a:lnTo>
                    <a:pt x="1443553" y="632800"/>
                  </a:lnTo>
                  <a:lnTo>
                    <a:pt x="1466043" y="672366"/>
                  </a:lnTo>
                  <a:lnTo>
                    <a:pt x="1485489" y="713765"/>
                  </a:lnTo>
                  <a:lnTo>
                    <a:pt x="1501738" y="756847"/>
                  </a:lnTo>
                  <a:lnTo>
                    <a:pt x="1514640" y="801461"/>
                  </a:lnTo>
                  <a:lnTo>
                    <a:pt x="1524043" y="847454"/>
                  </a:lnTo>
                  <a:lnTo>
                    <a:pt x="1529795" y="894676"/>
                  </a:lnTo>
                  <a:lnTo>
                    <a:pt x="1531747" y="942975"/>
                  </a:lnTo>
                  <a:lnTo>
                    <a:pt x="1529795" y="991258"/>
                  </a:lnTo>
                  <a:lnTo>
                    <a:pt x="1524043" y="1038467"/>
                  </a:lnTo>
                  <a:lnTo>
                    <a:pt x="1514640" y="1084450"/>
                  </a:lnTo>
                  <a:lnTo>
                    <a:pt x="1501738" y="1129055"/>
                  </a:lnTo>
                  <a:lnTo>
                    <a:pt x="1485489" y="1172132"/>
                  </a:lnTo>
                  <a:lnTo>
                    <a:pt x="1466043" y="1213527"/>
                  </a:lnTo>
                  <a:lnTo>
                    <a:pt x="1443553" y="1253091"/>
                  </a:lnTo>
                  <a:lnTo>
                    <a:pt x="1418170" y="1290671"/>
                  </a:lnTo>
                  <a:lnTo>
                    <a:pt x="1390044" y="1326115"/>
                  </a:lnTo>
                  <a:lnTo>
                    <a:pt x="1359328" y="1359273"/>
                  </a:lnTo>
                  <a:lnTo>
                    <a:pt x="1326173" y="1389992"/>
                  </a:lnTo>
                  <a:lnTo>
                    <a:pt x="1290729" y="1418121"/>
                  </a:lnTo>
                  <a:lnTo>
                    <a:pt x="1253149" y="1443508"/>
                  </a:lnTo>
                  <a:lnTo>
                    <a:pt x="1213583" y="1466002"/>
                  </a:lnTo>
                  <a:lnTo>
                    <a:pt x="1172184" y="1485451"/>
                  </a:lnTo>
                  <a:lnTo>
                    <a:pt x="1129102" y="1501704"/>
                  </a:lnTo>
                  <a:lnTo>
                    <a:pt x="1084488" y="1514609"/>
                  </a:lnTo>
                  <a:lnTo>
                    <a:pt x="1038495" y="1524015"/>
                  </a:lnTo>
                  <a:lnTo>
                    <a:pt x="991273" y="1529769"/>
                  </a:lnTo>
                  <a:lnTo>
                    <a:pt x="942975" y="1531721"/>
                  </a:lnTo>
                  <a:lnTo>
                    <a:pt x="894693" y="1529769"/>
                  </a:lnTo>
                  <a:lnTo>
                    <a:pt x="847485" y="1524015"/>
                  </a:lnTo>
                  <a:lnTo>
                    <a:pt x="801502" y="1514609"/>
                  </a:lnTo>
                  <a:lnTo>
                    <a:pt x="756896" y="1501704"/>
                  </a:lnTo>
                  <a:lnTo>
                    <a:pt x="713819" y="1485451"/>
                  </a:lnTo>
                  <a:lnTo>
                    <a:pt x="672422" y="1466002"/>
                  </a:lnTo>
                  <a:lnTo>
                    <a:pt x="632857" y="1443508"/>
                  </a:lnTo>
                  <a:lnTo>
                    <a:pt x="595275" y="1418121"/>
                  </a:lnTo>
                  <a:lnTo>
                    <a:pt x="559828" y="1389992"/>
                  </a:lnTo>
                  <a:lnTo>
                    <a:pt x="526668" y="1359273"/>
                  </a:lnTo>
                  <a:lnTo>
                    <a:pt x="495947" y="1326115"/>
                  </a:lnTo>
                  <a:lnTo>
                    <a:pt x="467816" y="1290671"/>
                  </a:lnTo>
                  <a:lnTo>
                    <a:pt x="442426" y="1253091"/>
                  </a:lnTo>
                  <a:lnTo>
                    <a:pt x="419930" y="1213527"/>
                  </a:lnTo>
                  <a:lnTo>
                    <a:pt x="400478" y="1172132"/>
                  </a:lnTo>
                  <a:lnTo>
                    <a:pt x="384223" y="1129055"/>
                  </a:lnTo>
                  <a:lnTo>
                    <a:pt x="371317" y="1084450"/>
                  </a:lnTo>
                  <a:lnTo>
                    <a:pt x="361910" y="1038467"/>
                  </a:lnTo>
                  <a:lnTo>
                    <a:pt x="356155" y="991258"/>
                  </a:lnTo>
                  <a:lnTo>
                    <a:pt x="354202" y="942975"/>
                  </a:lnTo>
                  <a:close/>
                </a:path>
                <a:path w="1885950" h="1885950">
                  <a:moveTo>
                    <a:pt x="184276" y="942975"/>
                  </a:moveTo>
                  <a:lnTo>
                    <a:pt x="185769" y="894984"/>
                  </a:lnTo>
                  <a:lnTo>
                    <a:pt x="190189" y="847789"/>
                  </a:lnTo>
                  <a:lnTo>
                    <a:pt x="197445" y="801476"/>
                  </a:lnTo>
                  <a:lnTo>
                    <a:pt x="207451" y="756136"/>
                  </a:lnTo>
                  <a:lnTo>
                    <a:pt x="220115" y="711856"/>
                  </a:lnTo>
                  <a:lnTo>
                    <a:pt x="235351" y="668726"/>
                  </a:lnTo>
                  <a:lnTo>
                    <a:pt x="253068" y="626835"/>
                  </a:lnTo>
                  <a:lnTo>
                    <a:pt x="273179" y="586270"/>
                  </a:lnTo>
                  <a:lnTo>
                    <a:pt x="295593" y="547122"/>
                  </a:lnTo>
                  <a:lnTo>
                    <a:pt x="320222" y="509478"/>
                  </a:lnTo>
                  <a:lnTo>
                    <a:pt x="346977" y="473428"/>
                  </a:lnTo>
                  <a:lnTo>
                    <a:pt x="375770" y="439060"/>
                  </a:lnTo>
                  <a:lnTo>
                    <a:pt x="406511" y="406463"/>
                  </a:lnTo>
                  <a:lnTo>
                    <a:pt x="439111" y="375726"/>
                  </a:lnTo>
                  <a:lnTo>
                    <a:pt x="473481" y="346938"/>
                  </a:lnTo>
                  <a:lnTo>
                    <a:pt x="509533" y="320187"/>
                  </a:lnTo>
                  <a:lnTo>
                    <a:pt x="547178" y="295563"/>
                  </a:lnTo>
                  <a:lnTo>
                    <a:pt x="586326" y="273154"/>
                  </a:lnTo>
                  <a:lnTo>
                    <a:pt x="626889" y="253048"/>
                  </a:lnTo>
                  <a:lnTo>
                    <a:pt x="668778" y="235335"/>
                  </a:lnTo>
                  <a:lnTo>
                    <a:pt x="711904" y="220104"/>
                  </a:lnTo>
                  <a:lnTo>
                    <a:pt x="756178" y="207443"/>
                  </a:lnTo>
                  <a:lnTo>
                    <a:pt x="801511" y="197441"/>
                  </a:lnTo>
                  <a:lnTo>
                    <a:pt x="847814" y="190186"/>
                  </a:lnTo>
                  <a:lnTo>
                    <a:pt x="894998" y="185769"/>
                  </a:lnTo>
                  <a:lnTo>
                    <a:pt x="942975" y="184277"/>
                  </a:lnTo>
                  <a:lnTo>
                    <a:pt x="990965" y="185769"/>
                  </a:lnTo>
                  <a:lnTo>
                    <a:pt x="1038162" y="190186"/>
                  </a:lnTo>
                  <a:lnTo>
                    <a:pt x="1084477" y="197441"/>
                  </a:lnTo>
                  <a:lnTo>
                    <a:pt x="1129821" y="207443"/>
                  </a:lnTo>
                  <a:lnTo>
                    <a:pt x="1174105" y="220104"/>
                  </a:lnTo>
                  <a:lnTo>
                    <a:pt x="1217240" y="235335"/>
                  </a:lnTo>
                  <a:lnTo>
                    <a:pt x="1259137" y="253048"/>
                  </a:lnTo>
                  <a:lnTo>
                    <a:pt x="1299707" y="273154"/>
                  </a:lnTo>
                  <a:lnTo>
                    <a:pt x="1338862" y="295563"/>
                  </a:lnTo>
                  <a:lnTo>
                    <a:pt x="1376513" y="320187"/>
                  </a:lnTo>
                  <a:lnTo>
                    <a:pt x="1412570" y="346938"/>
                  </a:lnTo>
                  <a:lnTo>
                    <a:pt x="1446945" y="375726"/>
                  </a:lnTo>
                  <a:lnTo>
                    <a:pt x="1479550" y="406463"/>
                  </a:lnTo>
                  <a:lnTo>
                    <a:pt x="1510294" y="439060"/>
                  </a:lnTo>
                  <a:lnTo>
                    <a:pt x="1539089" y="473428"/>
                  </a:lnTo>
                  <a:lnTo>
                    <a:pt x="1565847" y="509478"/>
                  </a:lnTo>
                  <a:lnTo>
                    <a:pt x="1590478" y="547122"/>
                  </a:lnTo>
                  <a:lnTo>
                    <a:pt x="1612894" y="586270"/>
                  </a:lnTo>
                  <a:lnTo>
                    <a:pt x="1633005" y="626835"/>
                  </a:lnTo>
                  <a:lnTo>
                    <a:pt x="1650723" y="668726"/>
                  </a:lnTo>
                  <a:lnTo>
                    <a:pt x="1665960" y="711856"/>
                  </a:lnTo>
                  <a:lnTo>
                    <a:pt x="1678625" y="756136"/>
                  </a:lnTo>
                  <a:lnTo>
                    <a:pt x="1688631" y="801476"/>
                  </a:lnTo>
                  <a:lnTo>
                    <a:pt x="1695887" y="847789"/>
                  </a:lnTo>
                  <a:lnTo>
                    <a:pt x="1700307" y="894984"/>
                  </a:lnTo>
                  <a:lnTo>
                    <a:pt x="1701800" y="942975"/>
                  </a:lnTo>
                  <a:lnTo>
                    <a:pt x="1700307" y="990958"/>
                  </a:lnTo>
                  <a:lnTo>
                    <a:pt x="1695887" y="1038149"/>
                  </a:lnTo>
                  <a:lnTo>
                    <a:pt x="1688631" y="1084457"/>
                  </a:lnTo>
                  <a:lnTo>
                    <a:pt x="1678625" y="1129795"/>
                  </a:lnTo>
                  <a:lnTo>
                    <a:pt x="1665960" y="1174074"/>
                  </a:lnTo>
                  <a:lnTo>
                    <a:pt x="1650723" y="1217204"/>
                  </a:lnTo>
                  <a:lnTo>
                    <a:pt x="1633005" y="1259096"/>
                  </a:lnTo>
                  <a:lnTo>
                    <a:pt x="1612894" y="1299662"/>
                  </a:lnTo>
                  <a:lnTo>
                    <a:pt x="1590478" y="1338813"/>
                  </a:lnTo>
                  <a:lnTo>
                    <a:pt x="1565847" y="1376460"/>
                  </a:lnTo>
                  <a:lnTo>
                    <a:pt x="1539089" y="1412514"/>
                  </a:lnTo>
                  <a:lnTo>
                    <a:pt x="1510294" y="1446886"/>
                  </a:lnTo>
                  <a:lnTo>
                    <a:pt x="1479549" y="1479488"/>
                  </a:lnTo>
                  <a:lnTo>
                    <a:pt x="1446945" y="1510229"/>
                  </a:lnTo>
                  <a:lnTo>
                    <a:pt x="1412570" y="1539023"/>
                  </a:lnTo>
                  <a:lnTo>
                    <a:pt x="1376513" y="1565778"/>
                  </a:lnTo>
                  <a:lnTo>
                    <a:pt x="1338862" y="1590408"/>
                  </a:lnTo>
                  <a:lnTo>
                    <a:pt x="1299707" y="1612822"/>
                  </a:lnTo>
                  <a:lnTo>
                    <a:pt x="1259137" y="1632932"/>
                  </a:lnTo>
                  <a:lnTo>
                    <a:pt x="1217240" y="1650650"/>
                  </a:lnTo>
                  <a:lnTo>
                    <a:pt x="1174105" y="1665885"/>
                  </a:lnTo>
                  <a:lnTo>
                    <a:pt x="1129821" y="1678550"/>
                  </a:lnTo>
                  <a:lnTo>
                    <a:pt x="1084477" y="1688555"/>
                  </a:lnTo>
                  <a:lnTo>
                    <a:pt x="1038162" y="1695811"/>
                  </a:lnTo>
                  <a:lnTo>
                    <a:pt x="990965" y="1700231"/>
                  </a:lnTo>
                  <a:lnTo>
                    <a:pt x="942975" y="1701723"/>
                  </a:lnTo>
                  <a:lnTo>
                    <a:pt x="894998" y="1700231"/>
                  </a:lnTo>
                  <a:lnTo>
                    <a:pt x="847814" y="1695811"/>
                  </a:lnTo>
                  <a:lnTo>
                    <a:pt x="801511" y="1688555"/>
                  </a:lnTo>
                  <a:lnTo>
                    <a:pt x="756178" y="1678550"/>
                  </a:lnTo>
                  <a:lnTo>
                    <a:pt x="711904" y="1665885"/>
                  </a:lnTo>
                  <a:lnTo>
                    <a:pt x="668778" y="1650650"/>
                  </a:lnTo>
                  <a:lnTo>
                    <a:pt x="626889" y="1632932"/>
                  </a:lnTo>
                  <a:lnTo>
                    <a:pt x="586326" y="1612822"/>
                  </a:lnTo>
                  <a:lnTo>
                    <a:pt x="547178" y="1590408"/>
                  </a:lnTo>
                  <a:lnTo>
                    <a:pt x="509533" y="1565778"/>
                  </a:lnTo>
                  <a:lnTo>
                    <a:pt x="473481" y="1539023"/>
                  </a:lnTo>
                  <a:lnTo>
                    <a:pt x="439111" y="1510229"/>
                  </a:lnTo>
                  <a:lnTo>
                    <a:pt x="406511" y="1479488"/>
                  </a:lnTo>
                  <a:lnTo>
                    <a:pt x="375770" y="1446886"/>
                  </a:lnTo>
                  <a:lnTo>
                    <a:pt x="346977" y="1412514"/>
                  </a:lnTo>
                  <a:lnTo>
                    <a:pt x="320222" y="1376460"/>
                  </a:lnTo>
                  <a:lnTo>
                    <a:pt x="295593" y="1338813"/>
                  </a:lnTo>
                  <a:lnTo>
                    <a:pt x="273179" y="1299662"/>
                  </a:lnTo>
                  <a:lnTo>
                    <a:pt x="253068" y="1259096"/>
                  </a:lnTo>
                  <a:lnTo>
                    <a:pt x="235351" y="1217204"/>
                  </a:lnTo>
                  <a:lnTo>
                    <a:pt x="220115" y="1174074"/>
                  </a:lnTo>
                  <a:lnTo>
                    <a:pt x="207451" y="1129795"/>
                  </a:lnTo>
                  <a:lnTo>
                    <a:pt x="197445" y="1084457"/>
                  </a:lnTo>
                  <a:lnTo>
                    <a:pt x="190189" y="1038149"/>
                  </a:lnTo>
                  <a:lnTo>
                    <a:pt x="185769" y="990958"/>
                  </a:lnTo>
                  <a:lnTo>
                    <a:pt x="184276" y="942975"/>
                  </a:lnTo>
                  <a:close/>
                </a:path>
                <a:path w="1885950" h="1885950">
                  <a:moveTo>
                    <a:pt x="0" y="942975"/>
                  </a:moveTo>
                  <a:lnTo>
                    <a:pt x="1227" y="894446"/>
                  </a:lnTo>
                  <a:lnTo>
                    <a:pt x="4869" y="846555"/>
                  </a:lnTo>
                  <a:lnTo>
                    <a:pt x="10867" y="799360"/>
                  </a:lnTo>
                  <a:lnTo>
                    <a:pt x="19161" y="752922"/>
                  </a:lnTo>
                  <a:lnTo>
                    <a:pt x="29692" y="707298"/>
                  </a:lnTo>
                  <a:lnTo>
                    <a:pt x="42402" y="662549"/>
                  </a:lnTo>
                  <a:lnTo>
                    <a:pt x="57229" y="618734"/>
                  </a:lnTo>
                  <a:lnTo>
                    <a:pt x="74116" y="575911"/>
                  </a:lnTo>
                  <a:lnTo>
                    <a:pt x="93003" y="534140"/>
                  </a:lnTo>
                  <a:lnTo>
                    <a:pt x="113830" y="493481"/>
                  </a:lnTo>
                  <a:lnTo>
                    <a:pt x="136538" y="453992"/>
                  </a:lnTo>
                  <a:lnTo>
                    <a:pt x="161069" y="415732"/>
                  </a:lnTo>
                  <a:lnTo>
                    <a:pt x="187362" y="378762"/>
                  </a:lnTo>
                  <a:lnTo>
                    <a:pt x="215358" y="343140"/>
                  </a:lnTo>
                  <a:lnTo>
                    <a:pt x="244999" y="308925"/>
                  </a:lnTo>
                  <a:lnTo>
                    <a:pt x="276225" y="276177"/>
                  </a:lnTo>
                  <a:lnTo>
                    <a:pt x="308975" y="244955"/>
                  </a:lnTo>
                  <a:lnTo>
                    <a:pt x="343193" y="215317"/>
                  </a:lnTo>
                  <a:lnTo>
                    <a:pt x="378816" y="187325"/>
                  </a:lnTo>
                  <a:lnTo>
                    <a:pt x="415788" y="161035"/>
                  </a:lnTo>
                  <a:lnTo>
                    <a:pt x="454048" y="136509"/>
                  </a:lnTo>
                  <a:lnTo>
                    <a:pt x="493537" y="113804"/>
                  </a:lnTo>
                  <a:lnTo>
                    <a:pt x="534195" y="92981"/>
                  </a:lnTo>
                  <a:lnTo>
                    <a:pt x="575964" y="74098"/>
                  </a:lnTo>
                  <a:lnTo>
                    <a:pt x="618784" y="57215"/>
                  </a:lnTo>
                  <a:lnTo>
                    <a:pt x="662596" y="42391"/>
                  </a:lnTo>
                  <a:lnTo>
                    <a:pt x="707341" y="29685"/>
                  </a:lnTo>
                  <a:lnTo>
                    <a:pt x="752958" y="19156"/>
                  </a:lnTo>
                  <a:lnTo>
                    <a:pt x="799390" y="10864"/>
                  </a:lnTo>
                  <a:lnTo>
                    <a:pt x="846576" y="4868"/>
                  </a:lnTo>
                  <a:lnTo>
                    <a:pt x="894457" y="1226"/>
                  </a:lnTo>
                  <a:lnTo>
                    <a:pt x="942975" y="0"/>
                  </a:lnTo>
                  <a:lnTo>
                    <a:pt x="991503" y="1226"/>
                  </a:lnTo>
                  <a:lnTo>
                    <a:pt x="1039394" y="4868"/>
                  </a:lnTo>
                  <a:lnTo>
                    <a:pt x="1086589" y="10864"/>
                  </a:lnTo>
                  <a:lnTo>
                    <a:pt x="1133027" y="19156"/>
                  </a:lnTo>
                  <a:lnTo>
                    <a:pt x="1178651" y="29685"/>
                  </a:lnTo>
                  <a:lnTo>
                    <a:pt x="1223400" y="42391"/>
                  </a:lnTo>
                  <a:lnTo>
                    <a:pt x="1267215" y="57215"/>
                  </a:lnTo>
                  <a:lnTo>
                    <a:pt x="1310038" y="74098"/>
                  </a:lnTo>
                  <a:lnTo>
                    <a:pt x="1351809" y="92981"/>
                  </a:lnTo>
                  <a:lnTo>
                    <a:pt x="1392468" y="113804"/>
                  </a:lnTo>
                  <a:lnTo>
                    <a:pt x="1431957" y="136509"/>
                  </a:lnTo>
                  <a:lnTo>
                    <a:pt x="1470217" y="161035"/>
                  </a:lnTo>
                  <a:lnTo>
                    <a:pt x="1507187" y="187325"/>
                  </a:lnTo>
                  <a:lnTo>
                    <a:pt x="1542809" y="215317"/>
                  </a:lnTo>
                  <a:lnTo>
                    <a:pt x="1577024" y="244955"/>
                  </a:lnTo>
                  <a:lnTo>
                    <a:pt x="1609772" y="276177"/>
                  </a:lnTo>
                  <a:lnTo>
                    <a:pt x="1640994" y="308925"/>
                  </a:lnTo>
                  <a:lnTo>
                    <a:pt x="1670632" y="343140"/>
                  </a:lnTo>
                  <a:lnTo>
                    <a:pt x="1698624" y="378762"/>
                  </a:lnTo>
                  <a:lnTo>
                    <a:pt x="1724914" y="415732"/>
                  </a:lnTo>
                  <a:lnTo>
                    <a:pt x="1749440" y="453992"/>
                  </a:lnTo>
                  <a:lnTo>
                    <a:pt x="1772145" y="493481"/>
                  </a:lnTo>
                  <a:lnTo>
                    <a:pt x="1792968" y="534140"/>
                  </a:lnTo>
                  <a:lnTo>
                    <a:pt x="1811851" y="575911"/>
                  </a:lnTo>
                  <a:lnTo>
                    <a:pt x="1828734" y="618734"/>
                  </a:lnTo>
                  <a:lnTo>
                    <a:pt x="1843558" y="662549"/>
                  </a:lnTo>
                  <a:lnTo>
                    <a:pt x="1856264" y="707298"/>
                  </a:lnTo>
                  <a:lnTo>
                    <a:pt x="1866793" y="752922"/>
                  </a:lnTo>
                  <a:lnTo>
                    <a:pt x="1875085" y="799360"/>
                  </a:lnTo>
                  <a:lnTo>
                    <a:pt x="1881081" y="846555"/>
                  </a:lnTo>
                  <a:lnTo>
                    <a:pt x="1884723" y="894446"/>
                  </a:lnTo>
                  <a:lnTo>
                    <a:pt x="1885950" y="942975"/>
                  </a:lnTo>
                  <a:lnTo>
                    <a:pt x="1884723" y="991496"/>
                  </a:lnTo>
                  <a:lnTo>
                    <a:pt x="1881081" y="1039381"/>
                  </a:lnTo>
                  <a:lnTo>
                    <a:pt x="1875085" y="1086570"/>
                  </a:lnTo>
                  <a:lnTo>
                    <a:pt x="1866793" y="1133004"/>
                  </a:lnTo>
                  <a:lnTo>
                    <a:pt x="1856264" y="1178623"/>
                  </a:lnTo>
                  <a:lnTo>
                    <a:pt x="1843558" y="1223368"/>
                  </a:lnTo>
                  <a:lnTo>
                    <a:pt x="1828734" y="1267180"/>
                  </a:lnTo>
                  <a:lnTo>
                    <a:pt x="1811851" y="1310000"/>
                  </a:lnTo>
                  <a:lnTo>
                    <a:pt x="1792968" y="1351768"/>
                  </a:lnTo>
                  <a:lnTo>
                    <a:pt x="1772145" y="1392426"/>
                  </a:lnTo>
                  <a:lnTo>
                    <a:pt x="1749440" y="1431913"/>
                  </a:lnTo>
                  <a:lnTo>
                    <a:pt x="1724914" y="1470171"/>
                  </a:lnTo>
                  <a:lnTo>
                    <a:pt x="1698624" y="1507141"/>
                  </a:lnTo>
                  <a:lnTo>
                    <a:pt x="1670632" y="1542762"/>
                  </a:lnTo>
                  <a:lnTo>
                    <a:pt x="1640994" y="1576976"/>
                  </a:lnTo>
                  <a:lnTo>
                    <a:pt x="1609772" y="1609725"/>
                  </a:lnTo>
                  <a:lnTo>
                    <a:pt x="1577024" y="1640947"/>
                  </a:lnTo>
                  <a:lnTo>
                    <a:pt x="1542809" y="1670584"/>
                  </a:lnTo>
                  <a:lnTo>
                    <a:pt x="1507187" y="1698578"/>
                  </a:lnTo>
                  <a:lnTo>
                    <a:pt x="1470217" y="1724868"/>
                  </a:lnTo>
                  <a:lnTo>
                    <a:pt x="1431957" y="1749395"/>
                  </a:lnTo>
                  <a:lnTo>
                    <a:pt x="1392468" y="1772100"/>
                  </a:lnTo>
                  <a:lnTo>
                    <a:pt x="1351809" y="1792924"/>
                  </a:lnTo>
                  <a:lnTo>
                    <a:pt x="1310038" y="1811808"/>
                  </a:lnTo>
                  <a:lnTo>
                    <a:pt x="1267215" y="1828692"/>
                  </a:lnTo>
                  <a:lnTo>
                    <a:pt x="1223400" y="1843517"/>
                  </a:lnTo>
                  <a:lnTo>
                    <a:pt x="1178651" y="1856224"/>
                  </a:lnTo>
                  <a:lnTo>
                    <a:pt x="1133027" y="1866753"/>
                  </a:lnTo>
                  <a:lnTo>
                    <a:pt x="1086589" y="1875046"/>
                  </a:lnTo>
                  <a:lnTo>
                    <a:pt x="1039394" y="1881043"/>
                  </a:lnTo>
                  <a:lnTo>
                    <a:pt x="991503" y="1884684"/>
                  </a:lnTo>
                  <a:lnTo>
                    <a:pt x="942975" y="1885911"/>
                  </a:lnTo>
                  <a:lnTo>
                    <a:pt x="894457" y="1884684"/>
                  </a:lnTo>
                  <a:lnTo>
                    <a:pt x="846576" y="1881043"/>
                  </a:lnTo>
                  <a:lnTo>
                    <a:pt x="799390" y="1875046"/>
                  </a:lnTo>
                  <a:lnTo>
                    <a:pt x="752958" y="1866753"/>
                  </a:lnTo>
                  <a:lnTo>
                    <a:pt x="707341" y="1856224"/>
                  </a:lnTo>
                  <a:lnTo>
                    <a:pt x="662596" y="1843517"/>
                  </a:lnTo>
                  <a:lnTo>
                    <a:pt x="618784" y="1828692"/>
                  </a:lnTo>
                  <a:lnTo>
                    <a:pt x="575964" y="1811808"/>
                  </a:lnTo>
                  <a:lnTo>
                    <a:pt x="534195" y="1792924"/>
                  </a:lnTo>
                  <a:lnTo>
                    <a:pt x="493537" y="1772100"/>
                  </a:lnTo>
                  <a:lnTo>
                    <a:pt x="454048" y="1749395"/>
                  </a:lnTo>
                  <a:lnTo>
                    <a:pt x="415788" y="1724868"/>
                  </a:lnTo>
                  <a:lnTo>
                    <a:pt x="378816" y="1698578"/>
                  </a:lnTo>
                  <a:lnTo>
                    <a:pt x="343193" y="1670584"/>
                  </a:lnTo>
                  <a:lnTo>
                    <a:pt x="308975" y="1640947"/>
                  </a:lnTo>
                  <a:lnTo>
                    <a:pt x="276225" y="1609725"/>
                  </a:lnTo>
                  <a:lnTo>
                    <a:pt x="244999" y="1576976"/>
                  </a:lnTo>
                  <a:lnTo>
                    <a:pt x="215358" y="1542762"/>
                  </a:lnTo>
                  <a:lnTo>
                    <a:pt x="187362" y="1507141"/>
                  </a:lnTo>
                  <a:lnTo>
                    <a:pt x="161069" y="1470171"/>
                  </a:lnTo>
                  <a:lnTo>
                    <a:pt x="136538" y="1431913"/>
                  </a:lnTo>
                  <a:lnTo>
                    <a:pt x="113830" y="1392426"/>
                  </a:lnTo>
                  <a:lnTo>
                    <a:pt x="93003" y="1351768"/>
                  </a:lnTo>
                  <a:lnTo>
                    <a:pt x="74116" y="1310000"/>
                  </a:lnTo>
                  <a:lnTo>
                    <a:pt x="57229" y="1267180"/>
                  </a:lnTo>
                  <a:lnTo>
                    <a:pt x="42402" y="1223368"/>
                  </a:lnTo>
                  <a:lnTo>
                    <a:pt x="29692" y="1178623"/>
                  </a:lnTo>
                  <a:lnTo>
                    <a:pt x="19161" y="1133004"/>
                  </a:lnTo>
                  <a:lnTo>
                    <a:pt x="10867" y="1086570"/>
                  </a:lnTo>
                  <a:lnTo>
                    <a:pt x="4869" y="1039381"/>
                  </a:lnTo>
                  <a:lnTo>
                    <a:pt x="1227" y="991496"/>
                  </a:lnTo>
                  <a:lnTo>
                    <a:pt x="0" y="942975"/>
                  </a:lnTo>
                  <a:close/>
                </a:path>
              </a:pathLst>
            </a:custGeom>
            <a:ln w="19050">
              <a:solidFill>
                <a:srgbClr val="E7E6E6"/>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1604391" y="6978421"/>
            <a:ext cx="237616" cy="238556"/>
          </a:xfrm>
          <a:prstGeom prst="rect">
            <a:avLst/>
          </a:prstGeom>
        </p:spPr>
      </p:pic>
      <p:pic>
        <p:nvPicPr>
          <p:cNvPr id="7" name="object 7"/>
          <p:cNvPicPr/>
          <p:nvPr/>
        </p:nvPicPr>
        <p:blipFill>
          <a:blip r:embed="rId3" cstate="print"/>
          <a:stretch>
            <a:fillRect/>
          </a:stretch>
        </p:blipFill>
        <p:spPr>
          <a:xfrm>
            <a:off x="1209916" y="6978421"/>
            <a:ext cx="237629" cy="238556"/>
          </a:xfrm>
          <a:prstGeom prst="rect">
            <a:avLst/>
          </a:prstGeom>
        </p:spPr>
      </p:pic>
      <p:pic>
        <p:nvPicPr>
          <p:cNvPr id="8" name="object 8"/>
          <p:cNvPicPr/>
          <p:nvPr/>
        </p:nvPicPr>
        <p:blipFill>
          <a:blip r:embed="rId4" cstate="print"/>
          <a:stretch>
            <a:fillRect/>
          </a:stretch>
        </p:blipFill>
        <p:spPr>
          <a:xfrm>
            <a:off x="1999488" y="6978421"/>
            <a:ext cx="237617" cy="238556"/>
          </a:xfrm>
          <a:prstGeom prst="rect">
            <a:avLst/>
          </a:prstGeom>
        </p:spPr>
      </p:pic>
      <p:pic>
        <p:nvPicPr>
          <p:cNvPr id="9" name="object 9"/>
          <p:cNvPicPr/>
          <p:nvPr/>
        </p:nvPicPr>
        <p:blipFill>
          <a:blip r:embed="rId4" cstate="print"/>
          <a:stretch>
            <a:fillRect/>
          </a:stretch>
        </p:blipFill>
        <p:spPr>
          <a:xfrm>
            <a:off x="2394585" y="6978421"/>
            <a:ext cx="237616" cy="238556"/>
          </a:xfrm>
          <a:prstGeom prst="rect">
            <a:avLst/>
          </a:prstGeom>
        </p:spPr>
      </p:pic>
      <p:pic>
        <p:nvPicPr>
          <p:cNvPr id="10" name="object 10"/>
          <p:cNvPicPr/>
          <p:nvPr/>
        </p:nvPicPr>
        <p:blipFill>
          <a:blip r:embed="rId5" cstate="print"/>
          <a:stretch>
            <a:fillRect/>
          </a:stretch>
        </p:blipFill>
        <p:spPr>
          <a:xfrm>
            <a:off x="814781" y="6978421"/>
            <a:ext cx="237604" cy="238556"/>
          </a:xfrm>
          <a:prstGeom prst="rect">
            <a:avLst/>
          </a:prstGeom>
        </p:spPr>
      </p:pic>
      <p:pic>
        <p:nvPicPr>
          <p:cNvPr id="11" name="object 11"/>
          <p:cNvPicPr/>
          <p:nvPr/>
        </p:nvPicPr>
        <p:blipFill>
          <a:blip r:embed="rId2" cstate="print"/>
          <a:stretch>
            <a:fillRect/>
          </a:stretch>
        </p:blipFill>
        <p:spPr>
          <a:xfrm>
            <a:off x="1604391" y="7515859"/>
            <a:ext cx="237616" cy="238556"/>
          </a:xfrm>
          <a:prstGeom prst="rect">
            <a:avLst/>
          </a:prstGeom>
        </p:spPr>
      </p:pic>
      <p:pic>
        <p:nvPicPr>
          <p:cNvPr id="12" name="object 12"/>
          <p:cNvPicPr/>
          <p:nvPr/>
        </p:nvPicPr>
        <p:blipFill>
          <a:blip r:embed="rId4" cstate="print"/>
          <a:stretch>
            <a:fillRect/>
          </a:stretch>
        </p:blipFill>
        <p:spPr>
          <a:xfrm>
            <a:off x="1999488" y="7515859"/>
            <a:ext cx="237617" cy="238556"/>
          </a:xfrm>
          <a:prstGeom prst="rect">
            <a:avLst/>
          </a:prstGeom>
        </p:spPr>
      </p:pic>
      <p:pic>
        <p:nvPicPr>
          <p:cNvPr id="13" name="object 13"/>
          <p:cNvPicPr/>
          <p:nvPr/>
        </p:nvPicPr>
        <p:blipFill>
          <a:blip r:embed="rId3" cstate="print"/>
          <a:stretch>
            <a:fillRect/>
          </a:stretch>
        </p:blipFill>
        <p:spPr>
          <a:xfrm>
            <a:off x="1209916" y="7515859"/>
            <a:ext cx="237629" cy="238556"/>
          </a:xfrm>
          <a:prstGeom prst="rect">
            <a:avLst/>
          </a:prstGeom>
        </p:spPr>
      </p:pic>
      <p:pic>
        <p:nvPicPr>
          <p:cNvPr id="14" name="object 14"/>
          <p:cNvPicPr/>
          <p:nvPr/>
        </p:nvPicPr>
        <p:blipFill>
          <a:blip r:embed="rId4" cstate="print"/>
          <a:stretch>
            <a:fillRect/>
          </a:stretch>
        </p:blipFill>
        <p:spPr>
          <a:xfrm>
            <a:off x="2394585" y="7515859"/>
            <a:ext cx="237616" cy="238556"/>
          </a:xfrm>
          <a:prstGeom prst="rect">
            <a:avLst/>
          </a:prstGeom>
        </p:spPr>
      </p:pic>
      <p:pic>
        <p:nvPicPr>
          <p:cNvPr id="15" name="object 15"/>
          <p:cNvPicPr/>
          <p:nvPr/>
        </p:nvPicPr>
        <p:blipFill>
          <a:blip r:embed="rId5" cstate="print"/>
          <a:stretch>
            <a:fillRect/>
          </a:stretch>
        </p:blipFill>
        <p:spPr>
          <a:xfrm>
            <a:off x="814781" y="7515859"/>
            <a:ext cx="237604" cy="238556"/>
          </a:xfrm>
          <a:prstGeom prst="rect">
            <a:avLst/>
          </a:prstGeom>
        </p:spPr>
      </p:pic>
      <p:sp>
        <p:nvSpPr>
          <p:cNvPr id="16" name="object 16"/>
          <p:cNvSpPr/>
          <p:nvPr/>
        </p:nvSpPr>
        <p:spPr>
          <a:xfrm>
            <a:off x="0" y="507"/>
            <a:ext cx="2316480" cy="2317115"/>
          </a:xfrm>
          <a:custGeom>
            <a:avLst/>
            <a:gdLst/>
            <a:ahLst/>
            <a:cxnLst/>
            <a:rect l="l" t="t" r="r" b="b"/>
            <a:pathLst>
              <a:path w="2316480" h="2317115">
                <a:moveTo>
                  <a:pt x="2316479" y="0"/>
                </a:moveTo>
                <a:lnTo>
                  <a:pt x="0" y="0"/>
                </a:lnTo>
                <a:lnTo>
                  <a:pt x="0" y="2316531"/>
                </a:lnTo>
                <a:lnTo>
                  <a:pt x="2316479" y="0"/>
                </a:lnTo>
                <a:close/>
              </a:path>
            </a:pathLst>
          </a:custGeom>
          <a:solidFill>
            <a:srgbClr val="000000"/>
          </a:solidFill>
        </p:spPr>
        <p:txBody>
          <a:bodyPr wrap="square" lIns="0" tIns="0" rIns="0" bIns="0" rtlCol="0"/>
          <a:lstStyle/>
          <a:p>
            <a:endParaRPr/>
          </a:p>
        </p:txBody>
      </p:sp>
      <p:sp>
        <p:nvSpPr>
          <p:cNvPr id="17" name="object 17"/>
          <p:cNvSpPr/>
          <p:nvPr/>
        </p:nvSpPr>
        <p:spPr>
          <a:xfrm>
            <a:off x="12533756" y="0"/>
            <a:ext cx="2096770" cy="1612265"/>
          </a:xfrm>
          <a:custGeom>
            <a:avLst/>
            <a:gdLst/>
            <a:ahLst/>
            <a:cxnLst/>
            <a:rect l="l" t="t" r="r" b="b"/>
            <a:pathLst>
              <a:path w="2096769" h="1612265">
                <a:moveTo>
                  <a:pt x="2096643" y="0"/>
                </a:moveTo>
                <a:lnTo>
                  <a:pt x="805941" y="0"/>
                </a:lnTo>
                <a:lnTo>
                  <a:pt x="758584" y="1368"/>
                </a:lnTo>
                <a:lnTo>
                  <a:pt x="711947" y="5421"/>
                </a:lnTo>
                <a:lnTo>
                  <a:pt x="666107" y="12085"/>
                </a:lnTo>
                <a:lnTo>
                  <a:pt x="621138" y="21284"/>
                </a:lnTo>
                <a:lnTo>
                  <a:pt x="577118" y="32941"/>
                </a:lnTo>
                <a:lnTo>
                  <a:pt x="534120" y="46982"/>
                </a:lnTo>
                <a:lnTo>
                  <a:pt x="492222" y="63331"/>
                </a:lnTo>
                <a:lnTo>
                  <a:pt x="451497" y="81912"/>
                </a:lnTo>
                <a:lnTo>
                  <a:pt x="412023" y="102650"/>
                </a:lnTo>
                <a:lnTo>
                  <a:pt x="373874" y="125469"/>
                </a:lnTo>
                <a:lnTo>
                  <a:pt x="337126" y="150293"/>
                </a:lnTo>
                <a:lnTo>
                  <a:pt x="301855" y="177048"/>
                </a:lnTo>
                <a:lnTo>
                  <a:pt x="268136" y="205657"/>
                </a:lnTo>
                <a:lnTo>
                  <a:pt x="236045" y="236045"/>
                </a:lnTo>
                <a:lnTo>
                  <a:pt x="205657" y="268136"/>
                </a:lnTo>
                <a:lnTo>
                  <a:pt x="177048" y="301855"/>
                </a:lnTo>
                <a:lnTo>
                  <a:pt x="150293" y="337126"/>
                </a:lnTo>
                <a:lnTo>
                  <a:pt x="125469" y="373874"/>
                </a:lnTo>
                <a:lnTo>
                  <a:pt x="102650" y="412023"/>
                </a:lnTo>
                <a:lnTo>
                  <a:pt x="81912" y="451497"/>
                </a:lnTo>
                <a:lnTo>
                  <a:pt x="63331" y="492222"/>
                </a:lnTo>
                <a:lnTo>
                  <a:pt x="46982" y="534120"/>
                </a:lnTo>
                <a:lnTo>
                  <a:pt x="32941" y="577118"/>
                </a:lnTo>
                <a:lnTo>
                  <a:pt x="21284" y="621138"/>
                </a:lnTo>
                <a:lnTo>
                  <a:pt x="12085" y="666107"/>
                </a:lnTo>
                <a:lnTo>
                  <a:pt x="5421" y="711947"/>
                </a:lnTo>
                <a:lnTo>
                  <a:pt x="1368" y="758584"/>
                </a:lnTo>
                <a:lnTo>
                  <a:pt x="0" y="805942"/>
                </a:lnTo>
                <a:lnTo>
                  <a:pt x="0" y="1611883"/>
                </a:lnTo>
                <a:lnTo>
                  <a:pt x="1290701" y="1611883"/>
                </a:lnTo>
                <a:lnTo>
                  <a:pt x="1338058" y="1610515"/>
                </a:lnTo>
                <a:lnTo>
                  <a:pt x="1384695" y="1606462"/>
                </a:lnTo>
                <a:lnTo>
                  <a:pt x="1430535" y="1599798"/>
                </a:lnTo>
                <a:lnTo>
                  <a:pt x="1475504" y="1590599"/>
                </a:lnTo>
                <a:lnTo>
                  <a:pt x="1519524" y="1578942"/>
                </a:lnTo>
                <a:lnTo>
                  <a:pt x="1562522" y="1564901"/>
                </a:lnTo>
                <a:lnTo>
                  <a:pt x="1604420" y="1548552"/>
                </a:lnTo>
                <a:lnTo>
                  <a:pt x="1645145" y="1529971"/>
                </a:lnTo>
                <a:lnTo>
                  <a:pt x="1684619" y="1509233"/>
                </a:lnTo>
                <a:lnTo>
                  <a:pt x="1722768" y="1486414"/>
                </a:lnTo>
                <a:lnTo>
                  <a:pt x="1759516" y="1461590"/>
                </a:lnTo>
                <a:lnTo>
                  <a:pt x="1794787" y="1434835"/>
                </a:lnTo>
                <a:lnTo>
                  <a:pt x="1828506" y="1406226"/>
                </a:lnTo>
                <a:lnTo>
                  <a:pt x="1860597" y="1375838"/>
                </a:lnTo>
                <a:lnTo>
                  <a:pt x="1890985" y="1343747"/>
                </a:lnTo>
                <a:lnTo>
                  <a:pt x="1919594" y="1310028"/>
                </a:lnTo>
                <a:lnTo>
                  <a:pt x="1946349" y="1274757"/>
                </a:lnTo>
                <a:lnTo>
                  <a:pt x="1971173" y="1238009"/>
                </a:lnTo>
                <a:lnTo>
                  <a:pt x="1993992" y="1199860"/>
                </a:lnTo>
                <a:lnTo>
                  <a:pt x="2014730" y="1160386"/>
                </a:lnTo>
                <a:lnTo>
                  <a:pt x="2033311" y="1119661"/>
                </a:lnTo>
                <a:lnTo>
                  <a:pt x="2049660" y="1077763"/>
                </a:lnTo>
                <a:lnTo>
                  <a:pt x="2063701" y="1034765"/>
                </a:lnTo>
                <a:lnTo>
                  <a:pt x="2075358" y="990745"/>
                </a:lnTo>
                <a:lnTo>
                  <a:pt x="2084557" y="945776"/>
                </a:lnTo>
                <a:lnTo>
                  <a:pt x="2091221" y="899936"/>
                </a:lnTo>
                <a:lnTo>
                  <a:pt x="2095274" y="853299"/>
                </a:lnTo>
                <a:lnTo>
                  <a:pt x="2096643" y="805942"/>
                </a:lnTo>
                <a:lnTo>
                  <a:pt x="2096643" y="0"/>
                </a:lnTo>
                <a:close/>
              </a:path>
            </a:pathLst>
          </a:custGeom>
          <a:solidFill>
            <a:srgbClr val="E7E6E6"/>
          </a:solidFill>
        </p:spPr>
        <p:txBody>
          <a:bodyPr wrap="square" lIns="0" tIns="0" rIns="0" bIns="0" rtlCol="0"/>
          <a:lstStyle/>
          <a:p>
            <a:endParaRPr/>
          </a:p>
        </p:txBody>
      </p:sp>
      <p:sp>
        <p:nvSpPr>
          <p:cNvPr id="18" name="object 18"/>
          <p:cNvSpPr txBox="1"/>
          <p:nvPr/>
        </p:nvSpPr>
        <p:spPr>
          <a:xfrm>
            <a:off x="4165219" y="2887802"/>
            <a:ext cx="1549400" cy="940435"/>
          </a:xfrm>
          <a:prstGeom prst="rect">
            <a:avLst/>
          </a:prstGeom>
        </p:spPr>
        <p:txBody>
          <a:bodyPr vert="horz" wrap="square" lIns="0" tIns="12700" rIns="0" bIns="0" rtlCol="0">
            <a:spAutoFit/>
          </a:bodyPr>
          <a:lstStyle/>
          <a:p>
            <a:pPr marL="12700">
              <a:lnSpc>
                <a:spcPct val="100000"/>
              </a:lnSpc>
              <a:spcBef>
                <a:spcPts val="100"/>
              </a:spcBef>
            </a:pPr>
            <a:r>
              <a:rPr sz="6000" b="1" spc="-35" dirty="0">
                <a:latin typeface="Microsoft JhengHei"/>
                <a:cs typeface="Microsoft JhengHei"/>
              </a:rPr>
              <a:t>結論</a:t>
            </a:r>
            <a:endParaRPr sz="6000">
              <a:latin typeface="Microsoft JhengHei"/>
              <a:cs typeface="Microsoft JhengHei"/>
            </a:endParaRPr>
          </a:p>
        </p:txBody>
      </p:sp>
      <p:sp>
        <p:nvSpPr>
          <p:cNvPr id="19" name="object 19"/>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400" y="3320339"/>
            <a:ext cx="14681200" cy="2493645"/>
            <a:chOff x="-25400" y="3320339"/>
            <a:chExt cx="14681200" cy="2493645"/>
          </a:xfrm>
        </p:grpSpPr>
        <p:pic>
          <p:nvPicPr>
            <p:cNvPr id="3" name="object 3"/>
            <p:cNvPicPr/>
            <p:nvPr/>
          </p:nvPicPr>
          <p:blipFill>
            <a:blip r:embed="rId3" cstate="print"/>
            <a:stretch>
              <a:fillRect/>
            </a:stretch>
          </p:blipFill>
          <p:spPr>
            <a:xfrm>
              <a:off x="12609068" y="3320339"/>
              <a:ext cx="1959991" cy="1917700"/>
            </a:xfrm>
            <a:prstGeom prst="rect">
              <a:avLst/>
            </a:prstGeom>
          </p:spPr>
        </p:pic>
        <p:sp>
          <p:nvSpPr>
            <p:cNvPr id="4" name="object 4"/>
            <p:cNvSpPr/>
            <p:nvPr/>
          </p:nvSpPr>
          <p:spPr>
            <a:xfrm>
              <a:off x="13112230" y="3334308"/>
              <a:ext cx="667385" cy="1891030"/>
            </a:xfrm>
            <a:custGeom>
              <a:avLst/>
              <a:gdLst/>
              <a:ahLst/>
              <a:cxnLst/>
              <a:rect l="l" t="t" r="r" b="b"/>
              <a:pathLst>
                <a:path w="667384" h="1891029">
                  <a:moveTo>
                    <a:pt x="221043" y="976325"/>
                  </a:moveTo>
                  <a:lnTo>
                    <a:pt x="219976" y="963536"/>
                  </a:lnTo>
                  <a:lnTo>
                    <a:pt x="216509" y="954417"/>
                  </a:lnTo>
                  <a:lnTo>
                    <a:pt x="214515" y="950925"/>
                  </a:lnTo>
                  <a:lnTo>
                    <a:pt x="182753" y="911809"/>
                  </a:lnTo>
                  <a:lnTo>
                    <a:pt x="175425" y="895451"/>
                  </a:lnTo>
                  <a:lnTo>
                    <a:pt x="174993" y="880110"/>
                  </a:lnTo>
                  <a:lnTo>
                    <a:pt x="177596" y="868756"/>
                  </a:lnTo>
                  <a:lnTo>
                    <a:pt x="179324" y="864311"/>
                  </a:lnTo>
                  <a:lnTo>
                    <a:pt x="178523" y="847191"/>
                  </a:lnTo>
                  <a:lnTo>
                    <a:pt x="33274" y="690194"/>
                  </a:lnTo>
                  <a:lnTo>
                    <a:pt x="15671" y="683260"/>
                  </a:lnTo>
                  <a:lnTo>
                    <a:pt x="10515" y="685177"/>
                  </a:lnTo>
                  <a:lnTo>
                    <a:pt x="8648" y="686511"/>
                  </a:lnTo>
                  <a:lnTo>
                    <a:pt x="0" y="697255"/>
                  </a:lnTo>
                  <a:lnTo>
                    <a:pt x="177" y="707758"/>
                  </a:lnTo>
                  <a:lnTo>
                    <a:pt x="4051" y="715733"/>
                  </a:lnTo>
                  <a:lnTo>
                    <a:pt x="6489" y="718896"/>
                  </a:lnTo>
                  <a:lnTo>
                    <a:pt x="170827" y="978103"/>
                  </a:lnTo>
                  <a:lnTo>
                    <a:pt x="186131" y="999604"/>
                  </a:lnTo>
                  <a:lnTo>
                    <a:pt x="196392" y="1007249"/>
                  </a:lnTo>
                  <a:lnTo>
                    <a:pt x="202158" y="1007287"/>
                  </a:lnTo>
                  <a:lnTo>
                    <a:pt x="203974" y="1005916"/>
                  </a:lnTo>
                  <a:lnTo>
                    <a:pt x="215912" y="990803"/>
                  </a:lnTo>
                  <a:lnTo>
                    <a:pt x="221043" y="976325"/>
                  </a:lnTo>
                  <a:close/>
                </a:path>
                <a:path w="667384" h="1891029">
                  <a:moveTo>
                    <a:pt x="662952" y="308178"/>
                  </a:moveTo>
                  <a:lnTo>
                    <a:pt x="647966" y="232651"/>
                  </a:lnTo>
                  <a:lnTo>
                    <a:pt x="610920" y="194259"/>
                  </a:lnTo>
                  <a:lnTo>
                    <a:pt x="573100" y="180454"/>
                  </a:lnTo>
                  <a:lnTo>
                    <a:pt x="540270" y="177114"/>
                  </a:lnTo>
                  <a:lnTo>
                    <a:pt x="536714" y="165811"/>
                  </a:lnTo>
                  <a:lnTo>
                    <a:pt x="513486" y="131140"/>
                  </a:lnTo>
                  <a:lnTo>
                    <a:pt x="509917" y="125806"/>
                  </a:lnTo>
                  <a:lnTo>
                    <a:pt x="502932" y="116027"/>
                  </a:lnTo>
                  <a:lnTo>
                    <a:pt x="494423" y="122123"/>
                  </a:lnTo>
                  <a:lnTo>
                    <a:pt x="482485" y="131140"/>
                  </a:lnTo>
                  <a:lnTo>
                    <a:pt x="468388" y="128854"/>
                  </a:lnTo>
                  <a:lnTo>
                    <a:pt x="462826" y="120599"/>
                  </a:lnTo>
                  <a:lnTo>
                    <a:pt x="452132" y="104724"/>
                  </a:lnTo>
                  <a:lnTo>
                    <a:pt x="450735" y="91135"/>
                  </a:lnTo>
                  <a:lnTo>
                    <a:pt x="455688" y="77673"/>
                  </a:lnTo>
                  <a:lnTo>
                    <a:pt x="452005" y="73863"/>
                  </a:lnTo>
                  <a:lnTo>
                    <a:pt x="413397" y="33858"/>
                  </a:lnTo>
                  <a:lnTo>
                    <a:pt x="377558" y="8623"/>
                  </a:lnTo>
                  <a:lnTo>
                    <a:pt x="351739" y="0"/>
                  </a:lnTo>
                  <a:lnTo>
                    <a:pt x="336092" y="419"/>
                  </a:lnTo>
                  <a:lnTo>
                    <a:pt x="290537" y="28028"/>
                  </a:lnTo>
                  <a:lnTo>
                    <a:pt x="253263" y="72263"/>
                  </a:lnTo>
                  <a:lnTo>
                    <a:pt x="249821" y="79832"/>
                  </a:lnTo>
                  <a:lnTo>
                    <a:pt x="253263" y="125806"/>
                  </a:lnTo>
                  <a:lnTo>
                    <a:pt x="253377" y="127330"/>
                  </a:lnTo>
                  <a:lnTo>
                    <a:pt x="269506" y="121361"/>
                  </a:lnTo>
                  <a:lnTo>
                    <a:pt x="317512" y="73863"/>
                  </a:lnTo>
                  <a:lnTo>
                    <a:pt x="389394" y="121361"/>
                  </a:lnTo>
                  <a:lnTo>
                    <a:pt x="400431" y="128193"/>
                  </a:lnTo>
                  <a:lnTo>
                    <a:pt x="404964" y="130784"/>
                  </a:lnTo>
                  <a:lnTo>
                    <a:pt x="405333" y="130784"/>
                  </a:lnTo>
                  <a:lnTo>
                    <a:pt x="404888" y="130378"/>
                  </a:lnTo>
                  <a:lnTo>
                    <a:pt x="417588" y="120599"/>
                  </a:lnTo>
                  <a:lnTo>
                    <a:pt x="430288" y="126568"/>
                  </a:lnTo>
                  <a:lnTo>
                    <a:pt x="451370" y="154508"/>
                  </a:lnTo>
                  <a:lnTo>
                    <a:pt x="442226" y="167335"/>
                  </a:lnTo>
                  <a:lnTo>
                    <a:pt x="437273" y="178638"/>
                  </a:lnTo>
                  <a:lnTo>
                    <a:pt x="442226" y="182321"/>
                  </a:lnTo>
                  <a:lnTo>
                    <a:pt x="468388" y="212547"/>
                  </a:lnTo>
                  <a:lnTo>
                    <a:pt x="475373" y="219278"/>
                  </a:lnTo>
                  <a:lnTo>
                    <a:pt x="466991" y="229057"/>
                  </a:lnTo>
                  <a:lnTo>
                    <a:pt x="452970" y="254762"/>
                  </a:lnTo>
                  <a:lnTo>
                    <a:pt x="447649" y="280479"/>
                  </a:lnTo>
                  <a:lnTo>
                    <a:pt x="447230" y="300266"/>
                  </a:lnTo>
                  <a:lnTo>
                    <a:pt x="447941" y="308178"/>
                  </a:lnTo>
                  <a:lnTo>
                    <a:pt x="470776" y="370992"/>
                  </a:lnTo>
                  <a:lnTo>
                    <a:pt x="510755" y="402666"/>
                  </a:lnTo>
                  <a:lnTo>
                    <a:pt x="548754" y="413880"/>
                  </a:lnTo>
                  <a:lnTo>
                    <a:pt x="565670" y="415239"/>
                  </a:lnTo>
                  <a:lnTo>
                    <a:pt x="622490" y="395300"/>
                  </a:lnTo>
                  <a:lnTo>
                    <a:pt x="651306" y="358851"/>
                  </a:lnTo>
                  <a:lnTo>
                    <a:pt x="661619" y="323837"/>
                  </a:lnTo>
                  <a:lnTo>
                    <a:pt x="662952" y="308178"/>
                  </a:lnTo>
                  <a:close/>
                </a:path>
                <a:path w="667384" h="1891029">
                  <a:moveTo>
                    <a:pt x="665746" y="503377"/>
                  </a:moveTo>
                  <a:lnTo>
                    <a:pt x="657364" y="449681"/>
                  </a:lnTo>
                  <a:lnTo>
                    <a:pt x="638949" y="411429"/>
                  </a:lnTo>
                  <a:lnTo>
                    <a:pt x="627646" y="416001"/>
                  </a:lnTo>
                  <a:lnTo>
                    <a:pt x="625614" y="422732"/>
                  </a:lnTo>
                  <a:lnTo>
                    <a:pt x="630389" y="436422"/>
                  </a:lnTo>
                  <a:lnTo>
                    <a:pt x="636384" y="454799"/>
                  </a:lnTo>
                  <a:lnTo>
                    <a:pt x="642264" y="478434"/>
                  </a:lnTo>
                  <a:lnTo>
                    <a:pt x="644664" y="501853"/>
                  </a:lnTo>
                  <a:lnTo>
                    <a:pt x="643394" y="511416"/>
                  </a:lnTo>
                  <a:lnTo>
                    <a:pt x="638289" y="535952"/>
                  </a:lnTo>
                  <a:lnTo>
                    <a:pt x="627354" y="569264"/>
                  </a:lnTo>
                  <a:lnTo>
                    <a:pt x="604075" y="614045"/>
                  </a:lnTo>
                  <a:lnTo>
                    <a:pt x="595604" y="635825"/>
                  </a:lnTo>
                  <a:lnTo>
                    <a:pt x="587654" y="668070"/>
                  </a:lnTo>
                  <a:lnTo>
                    <a:pt x="584720" y="708355"/>
                  </a:lnTo>
                  <a:lnTo>
                    <a:pt x="584720" y="714324"/>
                  </a:lnTo>
                  <a:lnTo>
                    <a:pt x="589673" y="718896"/>
                  </a:lnTo>
                  <a:lnTo>
                    <a:pt x="595261" y="718896"/>
                  </a:lnTo>
                  <a:lnTo>
                    <a:pt x="601611" y="718896"/>
                  </a:lnTo>
                  <a:lnTo>
                    <a:pt x="605802" y="713562"/>
                  </a:lnTo>
                  <a:lnTo>
                    <a:pt x="605802" y="707593"/>
                  </a:lnTo>
                  <a:lnTo>
                    <a:pt x="608418" y="671830"/>
                  </a:lnTo>
                  <a:lnTo>
                    <a:pt x="615594" y="643140"/>
                  </a:lnTo>
                  <a:lnTo>
                    <a:pt x="623176" y="624090"/>
                  </a:lnTo>
                  <a:lnTo>
                    <a:pt x="627011" y="617169"/>
                  </a:lnTo>
                  <a:lnTo>
                    <a:pt x="647306" y="578065"/>
                  </a:lnTo>
                  <a:lnTo>
                    <a:pt x="659041" y="541896"/>
                  </a:lnTo>
                  <a:lnTo>
                    <a:pt x="664438" y="514908"/>
                  </a:lnTo>
                  <a:lnTo>
                    <a:pt x="665746" y="503377"/>
                  </a:lnTo>
                  <a:close/>
                </a:path>
                <a:path w="667384" h="1891029">
                  <a:moveTo>
                    <a:pt x="667143" y="1013409"/>
                  </a:moveTo>
                  <a:lnTo>
                    <a:pt x="662952" y="1007440"/>
                  </a:lnTo>
                  <a:lnTo>
                    <a:pt x="651649" y="1005916"/>
                  </a:lnTo>
                  <a:lnTo>
                    <a:pt x="646061" y="1010488"/>
                  </a:lnTo>
                  <a:lnTo>
                    <a:pt x="644004" y="1026617"/>
                  </a:lnTo>
                  <a:lnTo>
                    <a:pt x="640334" y="1053033"/>
                  </a:lnTo>
                  <a:lnTo>
                    <a:pt x="634542" y="1092771"/>
                  </a:lnTo>
                  <a:lnTo>
                    <a:pt x="626910" y="1142822"/>
                  </a:lnTo>
                  <a:lnTo>
                    <a:pt x="617702" y="1200213"/>
                  </a:lnTo>
                  <a:lnTo>
                    <a:pt x="607199" y="1261973"/>
                  </a:lnTo>
                  <a:lnTo>
                    <a:pt x="595668" y="1325130"/>
                  </a:lnTo>
                  <a:lnTo>
                    <a:pt x="583374" y="1386700"/>
                  </a:lnTo>
                  <a:lnTo>
                    <a:pt x="570623" y="1443685"/>
                  </a:lnTo>
                  <a:lnTo>
                    <a:pt x="557885" y="1481505"/>
                  </a:lnTo>
                  <a:lnTo>
                    <a:pt x="524014" y="1551508"/>
                  </a:lnTo>
                  <a:lnTo>
                    <a:pt x="512152" y="1569173"/>
                  </a:lnTo>
                  <a:lnTo>
                    <a:pt x="491045" y="1607616"/>
                  </a:lnTo>
                  <a:lnTo>
                    <a:pt x="471284" y="1660207"/>
                  </a:lnTo>
                  <a:lnTo>
                    <a:pt x="463435" y="1720291"/>
                  </a:lnTo>
                  <a:lnTo>
                    <a:pt x="464426" y="1740611"/>
                  </a:lnTo>
                  <a:lnTo>
                    <a:pt x="474776" y="1778863"/>
                  </a:lnTo>
                  <a:lnTo>
                    <a:pt x="503770" y="1823046"/>
                  </a:lnTo>
                  <a:lnTo>
                    <a:pt x="560717" y="1861134"/>
                  </a:lnTo>
                  <a:lnTo>
                    <a:pt x="602373" y="1867230"/>
                  </a:lnTo>
                  <a:lnTo>
                    <a:pt x="600214" y="1867230"/>
                  </a:lnTo>
                  <a:lnTo>
                    <a:pt x="357644" y="1865706"/>
                  </a:lnTo>
                  <a:lnTo>
                    <a:pt x="303479" y="1847405"/>
                  </a:lnTo>
                  <a:lnTo>
                    <a:pt x="270738" y="1819046"/>
                  </a:lnTo>
                  <a:lnTo>
                    <a:pt x="256171" y="1771472"/>
                  </a:lnTo>
                  <a:lnTo>
                    <a:pt x="256247" y="1758226"/>
                  </a:lnTo>
                  <a:lnTo>
                    <a:pt x="259499" y="1725345"/>
                  </a:lnTo>
                  <a:lnTo>
                    <a:pt x="270421" y="1679752"/>
                  </a:lnTo>
                  <a:lnTo>
                    <a:pt x="293509" y="1628343"/>
                  </a:lnTo>
                  <a:lnTo>
                    <a:pt x="297141" y="1618869"/>
                  </a:lnTo>
                  <a:lnTo>
                    <a:pt x="303390" y="1592364"/>
                  </a:lnTo>
                  <a:lnTo>
                    <a:pt x="307733" y="1546250"/>
                  </a:lnTo>
                  <a:lnTo>
                    <a:pt x="305790" y="1481505"/>
                  </a:lnTo>
                  <a:lnTo>
                    <a:pt x="305689" y="1477949"/>
                  </a:lnTo>
                  <a:lnTo>
                    <a:pt x="292747" y="1384884"/>
                  </a:lnTo>
                  <a:lnTo>
                    <a:pt x="291350" y="1378915"/>
                  </a:lnTo>
                  <a:lnTo>
                    <a:pt x="285762" y="1375105"/>
                  </a:lnTo>
                  <a:lnTo>
                    <a:pt x="280047" y="1375867"/>
                  </a:lnTo>
                  <a:lnTo>
                    <a:pt x="274459" y="1377391"/>
                  </a:lnTo>
                  <a:lnTo>
                    <a:pt x="270903" y="1383487"/>
                  </a:lnTo>
                  <a:lnTo>
                    <a:pt x="271665" y="1389456"/>
                  </a:lnTo>
                  <a:lnTo>
                    <a:pt x="283883" y="1474622"/>
                  </a:lnTo>
                  <a:lnTo>
                    <a:pt x="286613" y="1537881"/>
                  </a:lnTo>
                  <a:lnTo>
                    <a:pt x="283692" y="1579600"/>
                  </a:lnTo>
                  <a:lnTo>
                    <a:pt x="283578" y="1581251"/>
                  </a:lnTo>
                  <a:lnTo>
                    <a:pt x="278536" y="1606715"/>
                  </a:lnTo>
                  <a:lnTo>
                    <a:pt x="275221" y="1616278"/>
                  </a:lnTo>
                  <a:lnTo>
                    <a:pt x="250177" y="1672209"/>
                  </a:lnTo>
                  <a:lnTo>
                    <a:pt x="238417" y="1721358"/>
                  </a:lnTo>
                  <a:lnTo>
                    <a:pt x="235000" y="1756968"/>
                  </a:lnTo>
                  <a:lnTo>
                    <a:pt x="234962" y="1772234"/>
                  </a:lnTo>
                  <a:lnTo>
                    <a:pt x="247891" y="1823046"/>
                  </a:lnTo>
                  <a:lnTo>
                    <a:pt x="247954" y="1823326"/>
                  </a:lnTo>
                  <a:lnTo>
                    <a:pt x="279742" y="1858238"/>
                  </a:lnTo>
                  <a:lnTo>
                    <a:pt x="319443" y="1879168"/>
                  </a:lnTo>
                  <a:lnTo>
                    <a:pt x="356247" y="1888312"/>
                  </a:lnTo>
                  <a:lnTo>
                    <a:pt x="599452" y="1890598"/>
                  </a:lnTo>
                  <a:lnTo>
                    <a:pt x="617943" y="1889480"/>
                  </a:lnTo>
                  <a:lnTo>
                    <a:pt x="631990" y="1886712"/>
                  </a:lnTo>
                  <a:lnTo>
                    <a:pt x="641413" y="1881555"/>
                  </a:lnTo>
                  <a:lnTo>
                    <a:pt x="646061" y="1873199"/>
                  </a:lnTo>
                  <a:lnTo>
                    <a:pt x="645452" y="1867230"/>
                  </a:lnTo>
                  <a:lnTo>
                    <a:pt x="645299" y="1865706"/>
                  </a:lnTo>
                  <a:lnTo>
                    <a:pt x="567067" y="1840052"/>
                  </a:lnTo>
                  <a:lnTo>
                    <a:pt x="517296" y="1806079"/>
                  </a:lnTo>
                  <a:lnTo>
                    <a:pt x="493026" y="1767890"/>
                  </a:lnTo>
                  <a:lnTo>
                    <a:pt x="485127" y="1736229"/>
                  </a:lnTo>
                  <a:lnTo>
                    <a:pt x="484517" y="1721815"/>
                  </a:lnTo>
                  <a:lnTo>
                    <a:pt x="484517" y="1720291"/>
                  </a:lnTo>
                  <a:lnTo>
                    <a:pt x="492379" y="1664423"/>
                  </a:lnTo>
                  <a:lnTo>
                    <a:pt x="511721" y="1615008"/>
                  </a:lnTo>
                  <a:lnTo>
                    <a:pt x="531583" y="1579600"/>
                  </a:lnTo>
                  <a:lnTo>
                    <a:pt x="541667" y="1565097"/>
                  </a:lnTo>
                  <a:lnTo>
                    <a:pt x="562076" y="1528102"/>
                  </a:lnTo>
                  <a:lnTo>
                    <a:pt x="577456" y="1491297"/>
                  </a:lnTo>
                  <a:lnTo>
                    <a:pt x="591070" y="1449781"/>
                  </a:lnTo>
                  <a:lnTo>
                    <a:pt x="604050" y="1392250"/>
                  </a:lnTo>
                  <a:lnTo>
                    <a:pt x="616508" y="1330172"/>
                  </a:lnTo>
                  <a:lnTo>
                    <a:pt x="628180" y="1266545"/>
                  </a:lnTo>
                  <a:lnTo>
                    <a:pt x="638771" y="1204366"/>
                  </a:lnTo>
                  <a:lnTo>
                    <a:pt x="648042" y="1146594"/>
                  </a:lnTo>
                  <a:lnTo>
                    <a:pt x="655726" y="1096238"/>
                  </a:lnTo>
                  <a:lnTo>
                    <a:pt x="661530" y="1056284"/>
                  </a:lnTo>
                  <a:lnTo>
                    <a:pt x="666508" y="1019505"/>
                  </a:lnTo>
                  <a:lnTo>
                    <a:pt x="667143" y="1013409"/>
                  </a:lnTo>
                  <a:close/>
                </a:path>
              </a:pathLst>
            </a:custGeom>
            <a:solidFill>
              <a:srgbClr val="A4A4A4"/>
            </a:solidFill>
          </p:spPr>
          <p:txBody>
            <a:bodyPr wrap="square" lIns="0" tIns="0" rIns="0" bIns="0" rtlCol="0"/>
            <a:lstStyle/>
            <a:p>
              <a:endParaRPr/>
            </a:p>
          </p:txBody>
        </p:sp>
        <p:sp>
          <p:nvSpPr>
            <p:cNvPr id="5" name="object 5"/>
            <p:cNvSpPr/>
            <p:nvPr/>
          </p:nvSpPr>
          <p:spPr>
            <a:xfrm>
              <a:off x="0" y="4798694"/>
              <a:ext cx="14630400" cy="989965"/>
            </a:xfrm>
            <a:custGeom>
              <a:avLst/>
              <a:gdLst/>
              <a:ahLst/>
              <a:cxnLst/>
              <a:rect l="l" t="t" r="r" b="b"/>
              <a:pathLst>
                <a:path w="14630400" h="989964">
                  <a:moveTo>
                    <a:pt x="0" y="517143"/>
                  </a:moveTo>
                  <a:lnTo>
                    <a:pt x="9706102" y="516254"/>
                  </a:lnTo>
                  <a:lnTo>
                    <a:pt x="9793732" y="340740"/>
                  </a:lnTo>
                  <a:lnTo>
                    <a:pt x="10037953" y="989837"/>
                  </a:lnTo>
                  <a:lnTo>
                    <a:pt x="10288524" y="0"/>
                  </a:lnTo>
                  <a:lnTo>
                    <a:pt x="10554843" y="854201"/>
                  </a:lnTo>
                  <a:lnTo>
                    <a:pt x="10674985" y="517016"/>
                  </a:lnTo>
                  <a:lnTo>
                    <a:pt x="14630400" y="517127"/>
                  </a:lnTo>
                </a:path>
              </a:pathLst>
            </a:custGeom>
            <a:ln w="50799">
              <a:solidFill>
                <a:srgbClr val="A4A4A4"/>
              </a:solidFill>
            </a:ln>
          </p:spPr>
          <p:txBody>
            <a:bodyPr wrap="square" lIns="0" tIns="0" rIns="0" bIns="0" rtlCol="0"/>
            <a:lstStyle/>
            <a:p>
              <a:endParaRPr/>
            </a:p>
          </p:txBody>
        </p:sp>
        <p:sp>
          <p:nvSpPr>
            <p:cNvPr id="6" name="object 6"/>
            <p:cNvSpPr/>
            <p:nvPr/>
          </p:nvSpPr>
          <p:spPr>
            <a:xfrm>
              <a:off x="635" y="4278558"/>
              <a:ext cx="1551940" cy="1031875"/>
            </a:xfrm>
            <a:custGeom>
              <a:avLst/>
              <a:gdLst/>
              <a:ahLst/>
              <a:cxnLst/>
              <a:rect l="l" t="t" r="r" b="b"/>
              <a:pathLst>
                <a:path w="1551940" h="1031875">
                  <a:moveTo>
                    <a:pt x="940716" y="0"/>
                  </a:moveTo>
                  <a:lnTo>
                    <a:pt x="891285" y="2357"/>
                  </a:lnTo>
                  <a:lnTo>
                    <a:pt x="840732" y="8419"/>
                  </a:lnTo>
                  <a:lnTo>
                    <a:pt x="790857" y="17420"/>
                  </a:lnTo>
                  <a:lnTo>
                    <a:pt x="741585" y="29067"/>
                  </a:lnTo>
                  <a:lnTo>
                    <a:pt x="692841" y="43066"/>
                  </a:lnTo>
                  <a:lnTo>
                    <a:pt x="644549" y="59126"/>
                  </a:lnTo>
                  <a:lnTo>
                    <a:pt x="592412" y="78560"/>
                  </a:lnTo>
                  <a:lnTo>
                    <a:pt x="541212" y="99963"/>
                  </a:lnTo>
                  <a:lnTo>
                    <a:pt x="491034" y="123536"/>
                  </a:lnTo>
                  <a:lnTo>
                    <a:pt x="441962" y="149481"/>
                  </a:lnTo>
                  <a:lnTo>
                    <a:pt x="394080" y="177998"/>
                  </a:lnTo>
                  <a:lnTo>
                    <a:pt x="352185" y="205910"/>
                  </a:lnTo>
                  <a:lnTo>
                    <a:pt x="311344" y="235370"/>
                  </a:lnTo>
                  <a:lnTo>
                    <a:pt x="271206" y="265830"/>
                  </a:lnTo>
                  <a:lnTo>
                    <a:pt x="231418" y="296743"/>
                  </a:lnTo>
                  <a:lnTo>
                    <a:pt x="190112" y="329799"/>
                  </a:lnTo>
                  <a:lnTo>
                    <a:pt x="149654" y="363831"/>
                  </a:lnTo>
                  <a:lnTo>
                    <a:pt x="110303" y="399149"/>
                  </a:lnTo>
                  <a:lnTo>
                    <a:pt x="72316" y="436062"/>
                  </a:lnTo>
                  <a:lnTo>
                    <a:pt x="44724" y="466050"/>
                  </a:lnTo>
                  <a:lnTo>
                    <a:pt x="19346" y="498038"/>
                  </a:lnTo>
                  <a:lnTo>
                    <a:pt x="0" y="544409"/>
                  </a:lnTo>
                  <a:lnTo>
                    <a:pt x="350" y="568850"/>
                  </a:lnTo>
                  <a:lnTo>
                    <a:pt x="18962" y="621450"/>
                  </a:lnTo>
                  <a:lnTo>
                    <a:pt x="49724" y="671314"/>
                  </a:lnTo>
                  <a:lnTo>
                    <a:pt x="67394" y="694888"/>
                  </a:lnTo>
                  <a:lnTo>
                    <a:pt x="81511" y="714450"/>
                  </a:lnTo>
                  <a:lnTo>
                    <a:pt x="113142" y="750573"/>
                  </a:lnTo>
                  <a:lnTo>
                    <a:pt x="145960" y="779851"/>
                  </a:lnTo>
                  <a:lnTo>
                    <a:pt x="205051" y="831681"/>
                  </a:lnTo>
                  <a:lnTo>
                    <a:pt x="241144" y="862970"/>
                  </a:lnTo>
                  <a:lnTo>
                    <a:pt x="280274" y="895570"/>
                  </a:lnTo>
                  <a:lnTo>
                    <a:pt x="321441" y="927776"/>
                  </a:lnTo>
                  <a:lnTo>
                    <a:pt x="363650" y="957886"/>
                  </a:lnTo>
                  <a:lnTo>
                    <a:pt x="405904" y="984194"/>
                  </a:lnTo>
                  <a:lnTo>
                    <a:pt x="464554" y="1010372"/>
                  </a:lnTo>
                  <a:lnTo>
                    <a:pt x="523252" y="1027120"/>
                  </a:lnTo>
                  <a:lnTo>
                    <a:pt x="570389" y="1031549"/>
                  </a:lnTo>
                  <a:lnTo>
                    <a:pt x="592101" y="1030067"/>
                  </a:lnTo>
                  <a:lnTo>
                    <a:pt x="661085" y="1017915"/>
                  </a:lnTo>
                  <a:lnTo>
                    <a:pt x="706858" y="1005235"/>
                  </a:lnTo>
                  <a:lnTo>
                    <a:pt x="751826" y="989995"/>
                  </a:lnTo>
                  <a:lnTo>
                    <a:pt x="796273" y="973109"/>
                  </a:lnTo>
                  <a:lnTo>
                    <a:pt x="884959" y="937820"/>
                  </a:lnTo>
                  <a:lnTo>
                    <a:pt x="1018598" y="885416"/>
                  </a:lnTo>
                  <a:lnTo>
                    <a:pt x="1062962" y="867553"/>
                  </a:lnTo>
                  <a:lnTo>
                    <a:pt x="1107109" y="849193"/>
                  </a:lnTo>
                  <a:lnTo>
                    <a:pt x="1155874" y="827745"/>
                  </a:lnTo>
                  <a:lnTo>
                    <a:pt x="1204009" y="805109"/>
                  </a:lnTo>
                  <a:lnTo>
                    <a:pt x="1251353" y="780979"/>
                  </a:lnTo>
                  <a:lnTo>
                    <a:pt x="1297745" y="755050"/>
                  </a:lnTo>
                  <a:lnTo>
                    <a:pt x="1343024" y="727019"/>
                  </a:lnTo>
                  <a:lnTo>
                    <a:pt x="1389107" y="694854"/>
                  </a:lnTo>
                  <a:lnTo>
                    <a:pt x="1432226" y="659439"/>
                  </a:lnTo>
                  <a:lnTo>
                    <a:pt x="1471415" y="619809"/>
                  </a:lnTo>
                  <a:lnTo>
                    <a:pt x="1505711" y="575000"/>
                  </a:lnTo>
                  <a:lnTo>
                    <a:pt x="1530315" y="529363"/>
                  </a:lnTo>
                  <a:lnTo>
                    <a:pt x="1545379" y="482727"/>
                  </a:lnTo>
                  <a:lnTo>
                    <a:pt x="1551507" y="435625"/>
                  </a:lnTo>
                  <a:lnTo>
                    <a:pt x="1549304" y="388596"/>
                  </a:lnTo>
                  <a:lnTo>
                    <a:pt x="1539373" y="342173"/>
                  </a:lnTo>
                  <a:lnTo>
                    <a:pt x="1522320" y="296894"/>
                  </a:lnTo>
                  <a:lnTo>
                    <a:pt x="1498748" y="253293"/>
                  </a:lnTo>
                  <a:lnTo>
                    <a:pt x="1469262" y="211907"/>
                  </a:lnTo>
                  <a:lnTo>
                    <a:pt x="1436198" y="175859"/>
                  </a:lnTo>
                  <a:lnTo>
                    <a:pt x="1399539" y="144311"/>
                  </a:lnTo>
                  <a:lnTo>
                    <a:pt x="1359927" y="116431"/>
                  </a:lnTo>
                  <a:lnTo>
                    <a:pt x="1318005" y="91384"/>
                  </a:lnTo>
                  <a:lnTo>
                    <a:pt x="1274253" y="69101"/>
                  </a:lnTo>
                  <a:lnTo>
                    <a:pt x="1229311" y="50281"/>
                  </a:lnTo>
                  <a:lnTo>
                    <a:pt x="1183265" y="34728"/>
                  </a:lnTo>
                  <a:lnTo>
                    <a:pt x="1136199" y="22247"/>
                  </a:lnTo>
                  <a:lnTo>
                    <a:pt x="1088198" y="12644"/>
                  </a:lnTo>
                  <a:lnTo>
                    <a:pt x="1039211" y="5572"/>
                  </a:lnTo>
                  <a:lnTo>
                    <a:pt x="990037" y="1214"/>
                  </a:lnTo>
                  <a:lnTo>
                    <a:pt x="940716" y="0"/>
                  </a:lnTo>
                  <a:close/>
                </a:path>
              </a:pathLst>
            </a:custGeom>
            <a:solidFill>
              <a:srgbClr val="404040"/>
            </a:solidFill>
          </p:spPr>
          <p:txBody>
            <a:bodyPr wrap="square" lIns="0" tIns="0" rIns="0" bIns="0" rtlCol="0"/>
            <a:lstStyle/>
            <a:p>
              <a:endParaRPr/>
            </a:p>
          </p:txBody>
        </p:sp>
        <p:sp>
          <p:nvSpPr>
            <p:cNvPr id="7" name="object 7"/>
            <p:cNvSpPr/>
            <p:nvPr/>
          </p:nvSpPr>
          <p:spPr>
            <a:xfrm>
              <a:off x="404558" y="4622842"/>
              <a:ext cx="1110615" cy="654050"/>
            </a:xfrm>
            <a:custGeom>
              <a:avLst/>
              <a:gdLst/>
              <a:ahLst/>
              <a:cxnLst/>
              <a:rect l="l" t="t" r="r" b="b"/>
              <a:pathLst>
                <a:path w="1110615" h="654050">
                  <a:moveTo>
                    <a:pt x="1022687" y="0"/>
                  </a:moveTo>
                  <a:lnTo>
                    <a:pt x="979330" y="654"/>
                  </a:lnTo>
                  <a:lnTo>
                    <a:pt x="928748" y="11269"/>
                  </a:lnTo>
                  <a:lnTo>
                    <a:pt x="872680" y="33320"/>
                  </a:lnTo>
                  <a:lnTo>
                    <a:pt x="812863" y="68283"/>
                  </a:lnTo>
                  <a:lnTo>
                    <a:pt x="749612" y="119536"/>
                  </a:lnTo>
                  <a:lnTo>
                    <a:pt x="714396" y="148439"/>
                  </a:lnTo>
                  <a:lnTo>
                    <a:pt x="676534" y="180274"/>
                  </a:lnTo>
                  <a:lnTo>
                    <a:pt x="635838" y="215603"/>
                  </a:lnTo>
                  <a:lnTo>
                    <a:pt x="532468" y="300009"/>
                  </a:lnTo>
                  <a:lnTo>
                    <a:pt x="436494" y="377510"/>
                  </a:lnTo>
                  <a:lnTo>
                    <a:pt x="398144" y="408150"/>
                  </a:lnTo>
                  <a:lnTo>
                    <a:pt x="354444" y="442171"/>
                  </a:lnTo>
                  <a:lnTo>
                    <a:pt x="311911" y="470994"/>
                  </a:lnTo>
                  <a:lnTo>
                    <a:pt x="267534" y="498683"/>
                  </a:lnTo>
                  <a:lnTo>
                    <a:pt x="221739" y="524622"/>
                  </a:lnTo>
                  <a:lnTo>
                    <a:pt x="174951" y="548197"/>
                  </a:lnTo>
                  <a:lnTo>
                    <a:pt x="127596" y="568790"/>
                  </a:lnTo>
                  <a:lnTo>
                    <a:pt x="75984" y="590263"/>
                  </a:lnTo>
                  <a:lnTo>
                    <a:pt x="14179" y="601776"/>
                  </a:lnTo>
                  <a:lnTo>
                    <a:pt x="0" y="608033"/>
                  </a:lnTo>
                  <a:lnTo>
                    <a:pt x="11557" y="619250"/>
                  </a:lnTo>
                  <a:lnTo>
                    <a:pt x="47282" y="633766"/>
                  </a:lnTo>
                  <a:lnTo>
                    <a:pt x="93236" y="646877"/>
                  </a:lnTo>
                  <a:lnTo>
                    <a:pt x="135483" y="653880"/>
                  </a:lnTo>
                  <a:lnTo>
                    <a:pt x="167887" y="652878"/>
                  </a:lnTo>
                  <a:lnTo>
                    <a:pt x="239568" y="641253"/>
                  </a:lnTo>
                  <a:lnTo>
                    <a:pt x="301796" y="624200"/>
                  </a:lnTo>
                  <a:lnTo>
                    <a:pt x="344784" y="609432"/>
                  </a:lnTo>
                  <a:lnTo>
                    <a:pt x="396550" y="590798"/>
                  </a:lnTo>
                  <a:lnTo>
                    <a:pt x="452150" y="570222"/>
                  </a:lnTo>
                  <a:lnTo>
                    <a:pt x="506640" y="549629"/>
                  </a:lnTo>
                  <a:lnTo>
                    <a:pt x="555077" y="530942"/>
                  </a:lnTo>
                  <a:lnTo>
                    <a:pt x="679458" y="481296"/>
                  </a:lnTo>
                  <a:lnTo>
                    <a:pt x="733456" y="459109"/>
                  </a:lnTo>
                  <a:lnTo>
                    <a:pt x="788534" y="434795"/>
                  </a:lnTo>
                  <a:lnTo>
                    <a:pt x="840236" y="409155"/>
                  </a:lnTo>
                  <a:lnTo>
                    <a:pt x="884110" y="382989"/>
                  </a:lnTo>
                  <a:lnTo>
                    <a:pt x="927953" y="354086"/>
                  </a:lnTo>
                  <a:lnTo>
                    <a:pt x="972608" y="321537"/>
                  </a:lnTo>
                  <a:lnTo>
                    <a:pt x="1014403" y="287489"/>
                  </a:lnTo>
                  <a:lnTo>
                    <a:pt x="1049669" y="254087"/>
                  </a:lnTo>
                  <a:lnTo>
                    <a:pt x="1074737" y="223477"/>
                  </a:lnTo>
                  <a:lnTo>
                    <a:pt x="1102963" y="155738"/>
                  </a:lnTo>
                  <a:lnTo>
                    <a:pt x="1108884" y="117446"/>
                  </a:lnTo>
                  <a:lnTo>
                    <a:pt x="1110424" y="69807"/>
                  </a:lnTo>
                  <a:lnTo>
                    <a:pt x="1104358" y="48086"/>
                  </a:lnTo>
                  <a:lnTo>
                    <a:pt x="1092946" y="30913"/>
                  </a:lnTo>
                  <a:lnTo>
                    <a:pt x="1076938" y="17693"/>
                  </a:lnTo>
                  <a:lnTo>
                    <a:pt x="1057084" y="7831"/>
                  </a:lnTo>
                  <a:lnTo>
                    <a:pt x="1022687" y="0"/>
                  </a:lnTo>
                  <a:close/>
                </a:path>
              </a:pathLst>
            </a:custGeom>
            <a:solidFill>
              <a:srgbClr val="C55A11"/>
            </a:solidFill>
          </p:spPr>
          <p:txBody>
            <a:bodyPr wrap="square" lIns="0" tIns="0" rIns="0" bIns="0" rtlCol="0"/>
            <a:lstStyle/>
            <a:p>
              <a:endParaRPr/>
            </a:p>
          </p:txBody>
        </p:sp>
        <p:sp>
          <p:nvSpPr>
            <p:cNvPr id="8" name="object 8"/>
            <p:cNvSpPr/>
            <p:nvPr/>
          </p:nvSpPr>
          <p:spPr>
            <a:xfrm>
              <a:off x="14106" y="4299092"/>
              <a:ext cx="1475740" cy="897255"/>
            </a:xfrm>
            <a:custGeom>
              <a:avLst/>
              <a:gdLst/>
              <a:ahLst/>
              <a:cxnLst/>
              <a:rect l="l" t="t" r="r" b="b"/>
              <a:pathLst>
                <a:path w="1475740" h="897254">
                  <a:moveTo>
                    <a:pt x="929825" y="0"/>
                  </a:moveTo>
                  <a:lnTo>
                    <a:pt x="904441" y="938"/>
                  </a:lnTo>
                  <a:lnTo>
                    <a:pt x="905334" y="938"/>
                  </a:lnTo>
                  <a:lnTo>
                    <a:pt x="893181" y="2778"/>
                  </a:lnTo>
                  <a:lnTo>
                    <a:pt x="847087" y="6903"/>
                  </a:lnTo>
                  <a:lnTo>
                    <a:pt x="801511" y="13779"/>
                  </a:lnTo>
                  <a:lnTo>
                    <a:pt x="756380" y="23155"/>
                  </a:lnTo>
                  <a:lnTo>
                    <a:pt x="711622" y="34782"/>
                  </a:lnTo>
                  <a:lnTo>
                    <a:pt x="665336" y="48794"/>
                  </a:lnTo>
                  <a:lnTo>
                    <a:pt x="619697" y="64301"/>
                  </a:lnTo>
                  <a:lnTo>
                    <a:pt x="574742" y="81368"/>
                  </a:lnTo>
                  <a:lnTo>
                    <a:pt x="530507" y="100060"/>
                  </a:lnTo>
                  <a:lnTo>
                    <a:pt x="487029" y="120442"/>
                  </a:lnTo>
                  <a:lnTo>
                    <a:pt x="444345" y="142581"/>
                  </a:lnTo>
                  <a:lnTo>
                    <a:pt x="402493" y="166541"/>
                  </a:lnTo>
                  <a:lnTo>
                    <a:pt x="361508" y="192389"/>
                  </a:lnTo>
                  <a:lnTo>
                    <a:pt x="309294" y="230028"/>
                  </a:lnTo>
                  <a:lnTo>
                    <a:pt x="272252" y="257486"/>
                  </a:lnTo>
                  <a:lnTo>
                    <a:pt x="205274" y="309185"/>
                  </a:lnTo>
                  <a:lnTo>
                    <a:pt x="168323" y="339227"/>
                  </a:lnTo>
                  <a:lnTo>
                    <a:pt x="132118" y="370116"/>
                  </a:lnTo>
                  <a:lnTo>
                    <a:pt x="96869" y="402079"/>
                  </a:lnTo>
                  <a:lnTo>
                    <a:pt x="62784" y="435340"/>
                  </a:lnTo>
                  <a:lnTo>
                    <a:pt x="29062" y="472408"/>
                  </a:lnTo>
                  <a:lnTo>
                    <a:pt x="953" y="513953"/>
                  </a:lnTo>
                  <a:lnTo>
                    <a:pt x="0" y="532187"/>
                  </a:lnTo>
                  <a:lnTo>
                    <a:pt x="3796" y="554958"/>
                  </a:lnTo>
                  <a:lnTo>
                    <a:pt x="34806" y="609965"/>
                  </a:lnTo>
                  <a:lnTo>
                    <a:pt x="91994" y="669230"/>
                  </a:lnTo>
                  <a:lnTo>
                    <a:pt x="137873" y="712811"/>
                  </a:lnTo>
                  <a:lnTo>
                    <a:pt x="188057" y="759410"/>
                  </a:lnTo>
                  <a:lnTo>
                    <a:pt x="237132" y="804314"/>
                  </a:lnTo>
                  <a:lnTo>
                    <a:pt x="279685" y="842810"/>
                  </a:lnTo>
                  <a:lnTo>
                    <a:pt x="310302" y="870188"/>
                  </a:lnTo>
                  <a:lnTo>
                    <a:pt x="346540" y="897207"/>
                  </a:lnTo>
                  <a:lnTo>
                    <a:pt x="348540" y="893798"/>
                  </a:lnTo>
                  <a:lnTo>
                    <a:pt x="354612" y="893175"/>
                  </a:lnTo>
                  <a:lnTo>
                    <a:pt x="389854" y="877808"/>
                  </a:lnTo>
                  <a:lnTo>
                    <a:pt x="444231" y="843248"/>
                  </a:lnTo>
                  <a:lnTo>
                    <a:pt x="462345" y="831199"/>
                  </a:lnTo>
                  <a:lnTo>
                    <a:pt x="460162" y="831199"/>
                  </a:lnTo>
                  <a:lnTo>
                    <a:pt x="460555" y="830564"/>
                  </a:lnTo>
                  <a:lnTo>
                    <a:pt x="460651" y="830183"/>
                  </a:lnTo>
                  <a:lnTo>
                    <a:pt x="460746" y="829802"/>
                  </a:lnTo>
                  <a:lnTo>
                    <a:pt x="461343" y="829548"/>
                  </a:lnTo>
                  <a:lnTo>
                    <a:pt x="464827" y="829548"/>
                  </a:lnTo>
                  <a:lnTo>
                    <a:pt x="474620" y="823033"/>
                  </a:lnTo>
                  <a:lnTo>
                    <a:pt x="692915" y="673846"/>
                  </a:lnTo>
                  <a:lnTo>
                    <a:pt x="765126" y="619585"/>
                  </a:lnTo>
                  <a:lnTo>
                    <a:pt x="795814" y="595750"/>
                  </a:lnTo>
                  <a:lnTo>
                    <a:pt x="796199" y="595324"/>
                  </a:lnTo>
                  <a:lnTo>
                    <a:pt x="796363" y="595324"/>
                  </a:lnTo>
                  <a:lnTo>
                    <a:pt x="811182" y="583814"/>
                  </a:lnTo>
                  <a:lnTo>
                    <a:pt x="851824" y="551572"/>
                  </a:lnTo>
                  <a:lnTo>
                    <a:pt x="878017" y="529828"/>
                  </a:lnTo>
                  <a:lnTo>
                    <a:pt x="906632" y="506360"/>
                  </a:lnTo>
                  <a:lnTo>
                    <a:pt x="1031217" y="400669"/>
                  </a:lnTo>
                  <a:lnTo>
                    <a:pt x="1136164" y="328838"/>
                  </a:lnTo>
                  <a:lnTo>
                    <a:pt x="1188123" y="297388"/>
                  </a:lnTo>
                  <a:lnTo>
                    <a:pt x="1242978" y="269753"/>
                  </a:lnTo>
                  <a:lnTo>
                    <a:pt x="1300440" y="247193"/>
                  </a:lnTo>
                  <a:lnTo>
                    <a:pt x="1360325" y="232183"/>
                  </a:lnTo>
                  <a:lnTo>
                    <a:pt x="1465991" y="228413"/>
                  </a:lnTo>
                  <a:lnTo>
                    <a:pt x="1465062" y="227012"/>
                  </a:lnTo>
                  <a:lnTo>
                    <a:pt x="1416298" y="170366"/>
                  </a:lnTo>
                  <a:lnTo>
                    <a:pt x="1373717" y="134540"/>
                  </a:lnTo>
                  <a:lnTo>
                    <a:pt x="1327088" y="104048"/>
                  </a:lnTo>
                  <a:lnTo>
                    <a:pt x="1277102" y="77962"/>
                  </a:lnTo>
                  <a:lnTo>
                    <a:pt x="1233372" y="59074"/>
                  </a:lnTo>
                  <a:lnTo>
                    <a:pt x="1188819" y="43239"/>
                  </a:lnTo>
                  <a:lnTo>
                    <a:pt x="1143517" y="30162"/>
                  </a:lnTo>
                  <a:lnTo>
                    <a:pt x="1097537" y="19551"/>
                  </a:lnTo>
                  <a:lnTo>
                    <a:pt x="1050953" y="11113"/>
                  </a:lnTo>
                  <a:lnTo>
                    <a:pt x="1003836" y="4556"/>
                  </a:lnTo>
                  <a:lnTo>
                    <a:pt x="963370" y="938"/>
                  </a:lnTo>
                  <a:lnTo>
                    <a:pt x="929825" y="0"/>
                  </a:lnTo>
                  <a:close/>
                </a:path>
                <a:path w="1475740" h="897254">
                  <a:moveTo>
                    <a:pt x="464827" y="829548"/>
                  </a:moveTo>
                  <a:lnTo>
                    <a:pt x="461343" y="829548"/>
                  </a:lnTo>
                  <a:lnTo>
                    <a:pt x="461261" y="829802"/>
                  </a:lnTo>
                  <a:lnTo>
                    <a:pt x="461140" y="830183"/>
                  </a:lnTo>
                  <a:lnTo>
                    <a:pt x="460746" y="830564"/>
                  </a:lnTo>
                  <a:lnTo>
                    <a:pt x="460162" y="831199"/>
                  </a:lnTo>
                  <a:lnTo>
                    <a:pt x="462345" y="831199"/>
                  </a:lnTo>
                  <a:lnTo>
                    <a:pt x="464827" y="829548"/>
                  </a:lnTo>
                  <a:close/>
                </a:path>
                <a:path w="1475740" h="897254">
                  <a:moveTo>
                    <a:pt x="1465991" y="228413"/>
                  </a:moveTo>
                  <a:lnTo>
                    <a:pt x="1412291" y="228413"/>
                  </a:lnTo>
                  <a:lnTo>
                    <a:pt x="1433328" y="230838"/>
                  </a:lnTo>
                  <a:lnTo>
                    <a:pt x="1454388" y="235977"/>
                  </a:lnTo>
                  <a:lnTo>
                    <a:pt x="1475603" y="243951"/>
                  </a:lnTo>
                  <a:lnTo>
                    <a:pt x="1470392" y="235047"/>
                  </a:lnTo>
                  <a:lnTo>
                    <a:pt x="1466104" y="228584"/>
                  </a:lnTo>
                  <a:lnTo>
                    <a:pt x="1465991" y="228413"/>
                  </a:lnTo>
                  <a:close/>
                </a:path>
              </a:pathLst>
            </a:custGeom>
            <a:solidFill>
              <a:srgbClr val="F4B083"/>
            </a:solidFill>
          </p:spPr>
          <p:txBody>
            <a:bodyPr wrap="square" lIns="0" tIns="0" rIns="0" bIns="0" rtlCol="0"/>
            <a:lstStyle/>
            <a:p>
              <a:endParaRPr/>
            </a:p>
          </p:txBody>
        </p:sp>
        <p:sp>
          <p:nvSpPr>
            <p:cNvPr id="9" name="object 9"/>
            <p:cNvSpPr/>
            <p:nvPr/>
          </p:nvSpPr>
          <p:spPr>
            <a:xfrm>
              <a:off x="89494" y="4417875"/>
              <a:ext cx="836930" cy="632460"/>
            </a:xfrm>
            <a:custGeom>
              <a:avLst/>
              <a:gdLst/>
              <a:ahLst/>
              <a:cxnLst/>
              <a:rect l="l" t="t" r="r" b="b"/>
              <a:pathLst>
                <a:path w="836930" h="632460">
                  <a:moveTo>
                    <a:pt x="741093" y="0"/>
                  </a:moveTo>
                  <a:lnTo>
                    <a:pt x="660499" y="20010"/>
                  </a:lnTo>
                  <a:lnTo>
                    <a:pt x="612629" y="40197"/>
                  </a:lnTo>
                  <a:lnTo>
                    <a:pt x="569641" y="62730"/>
                  </a:lnTo>
                  <a:lnTo>
                    <a:pt x="530387" y="87036"/>
                  </a:lnTo>
                  <a:lnTo>
                    <a:pt x="493718" y="112545"/>
                  </a:lnTo>
                  <a:lnTo>
                    <a:pt x="423534" y="164885"/>
                  </a:lnTo>
                  <a:lnTo>
                    <a:pt x="387720" y="190573"/>
                  </a:lnTo>
                  <a:lnTo>
                    <a:pt x="333768" y="230335"/>
                  </a:lnTo>
                  <a:lnTo>
                    <a:pt x="281594" y="273315"/>
                  </a:lnTo>
                  <a:lnTo>
                    <a:pt x="231797" y="317871"/>
                  </a:lnTo>
                  <a:lnTo>
                    <a:pt x="184975" y="362360"/>
                  </a:lnTo>
                  <a:lnTo>
                    <a:pt x="141726" y="405139"/>
                  </a:lnTo>
                  <a:lnTo>
                    <a:pt x="68338" y="478997"/>
                  </a:lnTo>
                  <a:lnTo>
                    <a:pt x="39394" y="506789"/>
                  </a:lnTo>
                  <a:lnTo>
                    <a:pt x="16416" y="526299"/>
                  </a:lnTo>
                  <a:lnTo>
                    <a:pt x="0" y="535886"/>
                  </a:lnTo>
                  <a:lnTo>
                    <a:pt x="21364" y="560949"/>
                  </a:lnTo>
                  <a:lnTo>
                    <a:pt x="47307" y="586464"/>
                  </a:lnTo>
                  <a:lnTo>
                    <a:pt x="73323" y="610788"/>
                  </a:lnTo>
                  <a:lnTo>
                    <a:pt x="94909" y="632279"/>
                  </a:lnTo>
                  <a:lnTo>
                    <a:pt x="129110" y="586845"/>
                  </a:lnTo>
                  <a:lnTo>
                    <a:pt x="156352" y="559381"/>
                  </a:lnTo>
                  <a:lnTo>
                    <a:pt x="184979" y="532546"/>
                  </a:lnTo>
                  <a:lnTo>
                    <a:pt x="220087" y="503031"/>
                  </a:lnTo>
                  <a:lnTo>
                    <a:pt x="260249" y="471116"/>
                  </a:lnTo>
                  <a:lnTo>
                    <a:pt x="350026" y="401219"/>
                  </a:lnTo>
                  <a:lnTo>
                    <a:pt x="461278" y="311901"/>
                  </a:lnTo>
                  <a:lnTo>
                    <a:pt x="503392" y="278532"/>
                  </a:lnTo>
                  <a:lnTo>
                    <a:pt x="548843" y="242937"/>
                  </a:lnTo>
                  <a:lnTo>
                    <a:pt x="595197" y="207155"/>
                  </a:lnTo>
                  <a:lnTo>
                    <a:pt x="640022" y="173226"/>
                  </a:lnTo>
                  <a:lnTo>
                    <a:pt x="680886" y="143187"/>
                  </a:lnTo>
                  <a:lnTo>
                    <a:pt x="715354" y="119080"/>
                  </a:lnTo>
                  <a:lnTo>
                    <a:pt x="784243" y="78259"/>
                  </a:lnTo>
                  <a:lnTo>
                    <a:pt x="818187" y="56540"/>
                  </a:lnTo>
                  <a:lnTo>
                    <a:pt x="836919" y="38560"/>
                  </a:lnTo>
                  <a:lnTo>
                    <a:pt x="834532" y="25092"/>
                  </a:lnTo>
                  <a:lnTo>
                    <a:pt x="807619" y="11616"/>
                  </a:lnTo>
                  <a:lnTo>
                    <a:pt x="774319" y="3105"/>
                  </a:lnTo>
                  <a:lnTo>
                    <a:pt x="741093" y="0"/>
                  </a:lnTo>
                  <a:close/>
                </a:path>
              </a:pathLst>
            </a:custGeom>
            <a:solidFill>
              <a:srgbClr val="C55A11"/>
            </a:solidFill>
          </p:spPr>
          <p:txBody>
            <a:bodyPr wrap="square" lIns="0" tIns="0" rIns="0" bIns="0" rtlCol="0"/>
            <a:lstStyle/>
            <a:p>
              <a:endParaRPr/>
            </a:p>
          </p:txBody>
        </p:sp>
        <p:sp>
          <p:nvSpPr>
            <p:cNvPr id="10" name="object 10"/>
            <p:cNvSpPr/>
            <p:nvPr/>
          </p:nvSpPr>
          <p:spPr>
            <a:xfrm>
              <a:off x="317866" y="4590002"/>
              <a:ext cx="272415" cy="252095"/>
            </a:xfrm>
            <a:custGeom>
              <a:avLst/>
              <a:gdLst/>
              <a:ahLst/>
              <a:cxnLst/>
              <a:rect l="l" t="t" r="r" b="b"/>
              <a:pathLst>
                <a:path w="272415" h="252095">
                  <a:moveTo>
                    <a:pt x="218624" y="0"/>
                  </a:moveTo>
                  <a:lnTo>
                    <a:pt x="5754" y="178085"/>
                  </a:lnTo>
                  <a:lnTo>
                    <a:pt x="0" y="189563"/>
                  </a:lnTo>
                  <a:lnTo>
                    <a:pt x="777" y="195927"/>
                  </a:lnTo>
                  <a:lnTo>
                    <a:pt x="3989" y="201707"/>
                  </a:lnTo>
                  <a:lnTo>
                    <a:pt x="42190" y="245903"/>
                  </a:lnTo>
                  <a:lnTo>
                    <a:pt x="47459" y="249892"/>
                  </a:lnTo>
                  <a:lnTo>
                    <a:pt x="53611" y="251523"/>
                  </a:lnTo>
                  <a:lnTo>
                    <a:pt x="59911" y="250725"/>
                  </a:lnTo>
                  <a:lnTo>
                    <a:pt x="65622" y="247427"/>
                  </a:lnTo>
                  <a:lnTo>
                    <a:pt x="266676" y="73183"/>
                  </a:lnTo>
                  <a:lnTo>
                    <a:pt x="270683" y="67923"/>
                  </a:lnTo>
                  <a:lnTo>
                    <a:pt x="272330" y="61769"/>
                  </a:lnTo>
                  <a:lnTo>
                    <a:pt x="271544" y="55449"/>
                  </a:lnTo>
                  <a:lnTo>
                    <a:pt x="268250" y="49688"/>
                  </a:lnTo>
                  <a:lnTo>
                    <a:pt x="230049" y="5619"/>
                  </a:lnTo>
                  <a:lnTo>
                    <a:pt x="224779" y="1631"/>
                  </a:lnTo>
                  <a:lnTo>
                    <a:pt x="218624" y="0"/>
                  </a:lnTo>
                  <a:close/>
                </a:path>
              </a:pathLst>
            </a:custGeom>
            <a:solidFill>
              <a:srgbClr val="1A1A1A"/>
            </a:solidFill>
          </p:spPr>
          <p:txBody>
            <a:bodyPr wrap="square" lIns="0" tIns="0" rIns="0" bIns="0" rtlCol="0"/>
            <a:lstStyle/>
            <a:p>
              <a:endParaRPr/>
            </a:p>
          </p:txBody>
        </p:sp>
        <p:pic>
          <p:nvPicPr>
            <p:cNvPr id="11" name="object 11"/>
            <p:cNvPicPr/>
            <p:nvPr/>
          </p:nvPicPr>
          <p:blipFill>
            <a:blip r:embed="rId4" cstate="print"/>
            <a:stretch>
              <a:fillRect/>
            </a:stretch>
          </p:blipFill>
          <p:spPr>
            <a:xfrm>
              <a:off x="584490" y="4468066"/>
              <a:ext cx="185516" cy="155289"/>
            </a:xfrm>
            <a:prstGeom prst="rect">
              <a:avLst/>
            </a:prstGeom>
          </p:spPr>
        </p:pic>
        <p:sp>
          <p:nvSpPr>
            <p:cNvPr id="12" name="object 12"/>
            <p:cNvSpPr/>
            <p:nvPr/>
          </p:nvSpPr>
          <p:spPr>
            <a:xfrm>
              <a:off x="317665" y="4606665"/>
              <a:ext cx="267970" cy="228600"/>
            </a:xfrm>
            <a:custGeom>
              <a:avLst/>
              <a:gdLst/>
              <a:ahLst/>
              <a:cxnLst/>
              <a:rect l="l" t="t" r="r" b="b"/>
              <a:pathLst>
                <a:path w="267970" h="228600">
                  <a:moveTo>
                    <a:pt x="216788" y="5"/>
                  </a:moveTo>
                  <a:lnTo>
                    <a:pt x="176195" y="0"/>
                  </a:lnTo>
                  <a:lnTo>
                    <a:pt x="108700" y="20276"/>
                  </a:lnTo>
                  <a:lnTo>
                    <a:pt x="74307" y="44201"/>
                  </a:lnTo>
                  <a:lnTo>
                    <a:pt x="42991" y="78031"/>
                  </a:lnTo>
                  <a:lnTo>
                    <a:pt x="21085" y="116623"/>
                  </a:lnTo>
                  <a:lnTo>
                    <a:pt x="7213" y="153644"/>
                  </a:lnTo>
                  <a:lnTo>
                    <a:pt x="0" y="182758"/>
                  </a:lnTo>
                  <a:lnTo>
                    <a:pt x="11721" y="195385"/>
                  </a:lnTo>
                  <a:lnTo>
                    <a:pt x="28516" y="217209"/>
                  </a:lnTo>
                  <a:lnTo>
                    <a:pt x="39573" y="228478"/>
                  </a:lnTo>
                  <a:lnTo>
                    <a:pt x="49632" y="198953"/>
                  </a:lnTo>
                  <a:lnTo>
                    <a:pt x="68459" y="157152"/>
                  </a:lnTo>
                  <a:lnTo>
                    <a:pt x="93229" y="114375"/>
                  </a:lnTo>
                  <a:lnTo>
                    <a:pt x="121119" y="81920"/>
                  </a:lnTo>
                  <a:lnTo>
                    <a:pt x="157869" y="64222"/>
                  </a:lnTo>
                  <a:lnTo>
                    <a:pt x="202822" y="54727"/>
                  </a:lnTo>
                  <a:lnTo>
                    <a:pt x="243560" y="48541"/>
                  </a:lnTo>
                  <a:lnTo>
                    <a:pt x="267665" y="40772"/>
                  </a:lnTo>
                  <a:lnTo>
                    <a:pt x="256601" y="28384"/>
                  </a:lnTo>
                  <a:lnTo>
                    <a:pt x="244675" y="18341"/>
                  </a:lnTo>
                  <a:lnTo>
                    <a:pt x="231524" y="9322"/>
                  </a:lnTo>
                  <a:lnTo>
                    <a:pt x="216788" y="5"/>
                  </a:lnTo>
                  <a:close/>
                </a:path>
              </a:pathLst>
            </a:custGeom>
            <a:solidFill>
              <a:srgbClr val="F8CAAC"/>
            </a:solidFill>
          </p:spPr>
          <p:txBody>
            <a:bodyPr wrap="square" lIns="0" tIns="0" rIns="0" bIns="0" rtlCol="0"/>
            <a:lstStyle/>
            <a:p>
              <a:endParaRPr/>
            </a:p>
          </p:txBody>
        </p:sp>
        <p:pic>
          <p:nvPicPr>
            <p:cNvPr id="13" name="object 13"/>
            <p:cNvPicPr/>
            <p:nvPr/>
          </p:nvPicPr>
          <p:blipFill>
            <a:blip r:embed="rId5" cstate="print"/>
            <a:stretch>
              <a:fillRect/>
            </a:stretch>
          </p:blipFill>
          <p:spPr>
            <a:xfrm>
              <a:off x="600119" y="4482798"/>
              <a:ext cx="144487" cy="120300"/>
            </a:xfrm>
            <a:prstGeom prst="rect">
              <a:avLst/>
            </a:prstGeom>
          </p:spPr>
        </p:pic>
      </p:grpSp>
      <p:sp>
        <p:nvSpPr>
          <p:cNvPr id="14" name="object 14"/>
          <p:cNvSpPr txBox="1">
            <a:spLocks noGrp="1"/>
          </p:cNvSpPr>
          <p:nvPr>
            <p:ph type="title"/>
          </p:nvPr>
        </p:nvSpPr>
        <p:spPr>
          <a:xfrm>
            <a:off x="220776" y="303098"/>
            <a:ext cx="7873365" cy="848994"/>
          </a:xfrm>
          <a:prstGeom prst="rect">
            <a:avLst/>
          </a:prstGeom>
        </p:spPr>
        <p:txBody>
          <a:bodyPr vert="horz" wrap="square" lIns="0" tIns="12700" rIns="0" bIns="0" rtlCol="0">
            <a:spAutoFit/>
          </a:bodyPr>
          <a:lstStyle/>
          <a:p>
            <a:pPr marL="12700">
              <a:lnSpc>
                <a:spcPct val="100000"/>
              </a:lnSpc>
              <a:spcBef>
                <a:spcPts val="100"/>
              </a:spcBef>
            </a:pPr>
            <a:r>
              <a:rPr spc="-20" dirty="0">
                <a:solidFill>
                  <a:srgbClr val="000000"/>
                </a:solidFill>
              </a:rPr>
              <a:t>研究限制與未來發展/貢獻</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35</a:t>
            </a:fld>
            <a:endParaRPr spc="-25" dirty="0"/>
          </a:p>
        </p:txBody>
      </p:sp>
      <p:sp>
        <p:nvSpPr>
          <p:cNvPr id="15" name="object 15"/>
          <p:cNvSpPr txBox="1"/>
          <p:nvPr/>
        </p:nvSpPr>
        <p:spPr>
          <a:xfrm>
            <a:off x="451510" y="1951177"/>
            <a:ext cx="5654040" cy="941069"/>
          </a:xfrm>
          <a:prstGeom prst="rect">
            <a:avLst/>
          </a:prstGeom>
        </p:spPr>
        <p:txBody>
          <a:bodyPr vert="horz" wrap="square" lIns="0" tIns="13335" rIns="0" bIns="0" rtlCol="0">
            <a:spAutoFit/>
          </a:bodyPr>
          <a:lstStyle/>
          <a:p>
            <a:pPr marL="12700" marR="5080" algn="just">
              <a:lnSpc>
                <a:spcPct val="100000"/>
              </a:lnSpc>
              <a:spcBef>
                <a:spcPts val="105"/>
              </a:spcBef>
            </a:pPr>
            <a:r>
              <a:rPr sz="2000" b="1" spc="-10" dirty="0">
                <a:latin typeface="Microsoft JhengHei"/>
                <a:cs typeface="Microsoft JhengHei"/>
              </a:rPr>
              <a:t>易用性與便利性：</a:t>
            </a:r>
            <a:r>
              <a:rPr sz="2000" spc="-10" dirty="0">
                <a:latin typeface="Microsoft JhengHei"/>
                <a:cs typeface="Microsoft JhengHei"/>
              </a:rPr>
              <a:t>LINE</a:t>
            </a:r>
            <a:r>
              <a:rPr sz="2000" spc="-25" dirty="0">
                <a:latin typeface="Microsoft JhengHei"/>
                <a:cs typeface="Microsoft JhengHei"/>
              </a:rPr>
              <a:t>平台無安裝門檻、操作直覺</a:t>
            </a:r>
            <a:r>
              <a:rPr sz="2000" b="1" spc="-5" dirty="0">
                <a:latin typeface="Microsoft JhengHei"/>
                <a:cs typeface="Microsoft JhengHei"/>
              </a:rPr>
              <a:t>互動式學習體驗：</a:t>
            </a:r>
            <a:r>
              <a:rPr sz="2000" spc="-20" dirty="0">
                <a:latin typeface="Microsoft JhengHei"/>
                <a:cs typeface="Microsoft JhengHei"/>
              </a:rPr>
              <a:t>即時回饋、自然對話、情境模擬</a:t>
            </a:r>
            <a:r>
              <a:rPr sz="2000" b="1" spc="-5" dirty="0">
                <a:latin typeface="Microsoft JhengHei"/>
                <a:cs typeface="Microsoft JhengHei"/>
              </a:rPr>
              <a:t>多功能整合優勢：</a:t>
            </a:r>
            <a:r>
              <a:rPr sz="2000" spc="-15" dirty="0">
                <a:latin typeface="Microsoft JhengHei"/>
                <a:cs typeface="Microsoft JhengHei"/>
              </a:rPr>
              <a:t>聽說讀寫全面訓練</a:t>
            </a:r>
            <a:endParaRPr sz="2000">
              <a:latin typeface="Microsoft JhengHei"/>
              <a:cs typeface="Microsoft JhengHei"/>
            </a:endParaRPr>
          </a:p>
        </p:txBody>
      </p:sp>
      <p:sp>
        <p:nvSpPr>
          <p:cNvPr id="16" name="object 16"/>
          <p:cNvSpPr txBox="1"/>
          <p:nvPr/>
        </p:nvSpPr>
        <p:spPr>
          <a:xfrm>
            <a:off x="7551166" y="1905126"/>
            <a:ext cx="6629400" cy="940435"/>
          </a:xfrm>
          <a:prstGeom prst="rect">
            <a:avLst/>
          </a:prstGeom>
        </p:spPr>
        <p:txBody>
          <a:bodyPr vert="horz" wrap="square" lIns="0" tIns="13335" rIns="0" bIns="0" rtlCol="0">
            <a:spAutoFit/>
          </a:bodyPr>
          <a:lstStyle/>
          <a:p>
            <a:pPr marL="12700" marR="5080">
              <a:lnSpc>
                <a:spcPct val="100000"/>
              </a:lnSpc>
              <a:spcBef>
                <a:spcPts val="105"/>
              </a:spcBef>
            </a:pPr>
            <a:r>
              <a:rPr sz="2000" b="1" dirty="0">
                <a:latin typeface="Microsoft JhengHei"/>
                <a:cs typeface="Microsoft JhengHei"/>
              </a:rPr>
              <a:t>提示工程教育應用框架</a:t>
            </a:r>
            <a:r>
              <a:rPr sz="2000" spc="-15" dirty="0">
                <a:latin typeface="Microsoft JhengHei"/>
                <a:cs typeface="Microsoft JhengHei"/>
              </a:rPr>
              <a:t>：成功引導</a:t>
            </a:r>
            <a:r>
              <a:rPr sz="2000" spc="-10" dirty="0">
                <a:latin typeface="Microsoft JhengHei"/>
                <a:cs typeface="Microsoft JhengHei"/>
              </a:rPr>
              <a:t>AI</a:t>
            </a:r>
            <a:r>
              <a:rPr sz="2000" spc="-20" dirty="0">
                <a:latin typeface="Microsoft JhengHei"/>
                <a:cs typeface="Microsoft JhengHei"/>
              </a:rPr>
              <a:t>生成符合教育目的內容</a:t>
            </a:r>
            <a:r>
              <a:rPr sz="2000" b="1" dirty="0">
                <a:latin typeface="Microsoft JhengHei"/>
                <a:cs typeface="Microsoft JhengHei"/>
              </a:rPr>
              <a:t>多技術整合輕量化方案</a:t>
            </a:r>
            <a:r>
              <a:rPr sz="2000" spc="-10" dirty="0">
                <a:latin typeface="Microsoft JhengHei"/>
                <a:cs typeface="Microsoft JhengHei"/>
              </a:rPr>
              <a:t>：Flask</a:t>
            </a:r>
            <a:r>
              <a:rPr sz="2000" spc="-15" dirty="0">
                <a:latin typeface="Microsoft JhengHei"/>
                <a:cs typeface="Microsoft JhengHei"/>
              </a:rPr>
              <a:t>後端整合多項</a:t>
            </a:r>
            <a:r>
              <a:rPr sz="2000" spc="-10" dirty="0">
                <a:latin typeface="Microsoft JhengHei"/>
                <a:cs typeface="Microsoft JhengHei"/>
              </a:rPr>
              <a:t>AI</a:t>
            </a:r>
            <a:r>
              <a:rPr sz="2000" spc="-20" dirty="0">
                <a:latin typeface="Microsoft JhengHei"/>
                <a:cs typeface="Microsoft JhengHei"/>
              </a:rPr>
              <a:t>服務零成</a:t>
            </a:r>
            <a:endParaRPr sz="2000">
              <a:latin typeface="Microsoft JhengHei"/>
              <a:cs typeface="Microsoft JhengHei"/>
            </a:endParaRPr>
          </a:p>
          <a:p>
            <a:pPr marL="12700">
              <a:lnSpc>
                <a:spcPct val="100000"/>
              </a:lnSpc>
            </a:pPr>
            <a:r>
              <a:rPr sz="2000" b="1" dirty="0">
                <a:latin typeface="Microsoft JhengHei"/>
                <a:cs typeface="Microsoft JhengHei"/>
              </a:rPr>
              <a:t>本優質學習資源</a:t>
            </a:r>
            <a:r>
              <a:rPr sz="2000" spc="-20" dirty="0">
                <a:latin typeface="Microsoft JhengHei"/>
                <a:cs typeface="Microsoft JhengHei"/>
              </a:rPr>
              <a:t>：突破傳統付費學習應用限制</a:t>
            </a:r>
            <a:endParaRPr sz="2000">
              <a:latin typeface="Microsoft JhengHei"/>
              <a:cs typeface="Microsoft JhengHei"/>
            </a:endParaRPr>
          </a:p>
        </p:txBody>
      </p:sp>
      <p:sp>
        <p:nvSpPr>
          <p:cNvPr id="17" name="object 17"/>
          <p:cNvSpPr txBox="1"/>
          <p:nvPr/>
        </p:nvSpPr>
        <p:spPr>
          <a:xfrm>
            <a:off x="4307840" y="6340602"/>
            <a:ext cx="6887845" cy="940435"/>
          </a:xfrm>
          <a:prstGeom prst="rect">
            <a:avLst/>
          </a:prstGeom>
        </p:spPr>
        <p:txBody>
          <a:bodyPr vert="horz" wrap="square" lIns="0" tIns="12700" rIns="0" bIns="0" rtlCol="0">
            <a:spAutoFit/>
          </a:bodyPr>
          <a:lstStyle/>
          <a:p>
            <a:pPr marL="12700" marR="766445">
              <a:lnSpc>
                <a:spcPct val="100000"/>
              </a:lnSpc>
              <a:spcBef>
                <a:spcPts val="100"/>
              </a:spcBef>
            </a:pPr>
            <a:r>
              <a:rPr sz="2000" b="1" dirty="0">
                <a:latin typeface="Microsoft JhengHei"/>
                <a:cs typeface="Microsoft JhengHei"/>
              </a:rPr>
              <a:t>技術優化：</a:t>
            </a:r>
            <a:r>
              <a:rPr sz="2000" spc="-20" dirty="0">
                <a:latin typeface="Microsoft JhengHei"/>
                <a:cs typeface="Microsoft JhengHei"/>
              </a:rPr>
              <a:t>語音識別準確率、響應速度、部分離線功能</a:t>
            </a:r>
            <a:r>
              <a:rPr sz="2000" b="1" dirty="0">
                <a:latin typeface="Microsoft JhengHei"/>
                <a:cs typeface="Microsoft JhengHei"/>
              </a:rPr>
              <a:t>功能擴展：</a:t>
            </a:r>
            <a:r>
              <a:rPr sz="2000" spc="-20" dirty="0">
                <a:latin typeface="Microsoft JhengHei"/>
                <a:cs typeface="Microsoft JhengHei"/>
              </a:rPr>
              <a:t>學習分析系統、個人化路徑、主題內容擴充</a:t>
            </a:r>
            <a:endParaRPr sz="2000" dirty="0">
              <a:latin typeface="Microsoft JhengHei"/>
              <a:cs typeface="Microsoft JhengHei"/>
            </a:endParaRPr>
          </a:p>
          <a:p>
            <a:pPr marL="12700">
              <a:lnSpc>
                <a:spcPct val="100000"/>
              </a:lnSpc>
            </a:pPr>
            <a:r>
              <a:rPr sz="2000" b="1" spc="-10" dirty="0">
                <a:latin typeface="Microsoft JhengHei"/>
                <a:cs typeface="Microsoft JhengHei"/>
              </a:rPr>
              <a:t>研究深化：</a:t>
            </a:r>
            <a:r>
              <a:rPr sz="2000" spc="-30" dirty="0">
                <a:latin typeface="Microsoft JhengHei"/>
                <a:cs typeface="Microsoft JhengHei"/>
              </a:rPr>
              <a:t>大規模長期實證、不同族群適用性、認知影響機制</a:t>
            </a:r>
            <a:endParaRPr sz="2000" dirty="0">
              <a:latin typeface="Microsoft JhengHei"/>
              <a:cs typeface="Microsoft JhengHei"/>
            </a:endParaRPr>
          </a:p>
        </p:txBody>
      </p:sp>
      <p:sp>
        <p:nvSpPr>
          <p:cNvPr id="18" name="object 18"/>
          <p:cNvSpPr txBox="1"/>
          <p:nvPr/>
        </p:nvSpPr>
        <p:spPr>
          <a:xfrm>
            <a:off x="5801041" y="4679713"/>
            <a:ext cx="3273425" cy="1116652"/>
          </a:xfrm>
          <a:prstGeom prst="rect">
            <a:avLst/>
          </a:prstGeom>
        </p:spPr>
        <p:txBody>
          <a:bodyPr vert="horz" wrap="square" lIns="0" tIns="13335" rIns="0" bIns="0" rtlCol="0">
            <a:spAutoFit/>
          </a:bodyPr>
          <a:lstStyle/>
          <a:p>
            <a:pPr marL="723265" marR="5080" indent="-710565">
              <a:lnSpc>
                <a:spcPct val="135400"/>
              </a:lnSpc>
              <a:spcBef>
                <a:spcPts val="105"/>
              </a:spcBef>
              <a:tabLst>
                <a:tab pos="1839595" algn="l"/>
              </a:tabLst>
            </a:pPr>
            <a:r>
              <a:rPr sz="2800" b="1" spc="-35" dirty="0">
                <a:solidFill>
                  <a:srgbClr val="FFC000"/>
                </a:solidFill>
                <a:latin typeface="Microsoft JhengHei"/>
                <a:cs typeface="Microsoft JhengHei"/>
              </a:rPr>
              <a:t>研究成</a:t>
            </a:r>
            <a:r>
              <a:rPr sz="2800" b="1" spc="-50" dirty="0">
                <a:solidFill>
                  <a:srgbClr val="FFC000"/>
                </a:solidFill>
                <a:latin typeface="Microsoft JhengHei"/>
                <a:cs typeface="Microsoft JhengHei"/>
              </a:rPr>
              <a:t>果</a:t>
            </a:r>
            <a:r>
              <a:rPr sz="2800" b="1" dirty="0">
                <a:solidFill>
                  <a:srgbClr val="FFC000"/>
                </a:solidFill>
                <a:latin typeface="Microsoft JhengHei"/>
                <a:cs typeface="Microsoft JhengHei"/>
              </a:rPr>
              <a:t>	</a:t>
            </a:r>
            <a:r>
              <a:rPr lang="zh-TW" altLang="en-US" sz="2800" b="1" spc="-35" dirty="0">
                <a:solidFill>
                  <a:srgbClr val="FFC000"/>
                </a:solidFill>
                <a:latin typeface="Microsoft JhengHei" panose="020B0604030504040204" pitchFamily="34" charset="-120"/>
                <a:ea typeface="Microsoft JhengHei" panose="020B0604030504040204" pitchFamily="34" charset="-120"/>
                <a:cs typeface="Microsoft JhengHei"/>
              </a:rPr>
              <a:t>研究貢獻      </a:t>
            </a:r>
            <a:r>
              <a:rPr lang="zh-TW" altLang="en-US" sz="2800" b="1" spc="-35" dirty="0">
                <a:solidFill>
                  <a:schemeClr val="accent2"/>
                </a:solidFill>
                <a:latin typeface="Microsoft JhengHei" panose="020B0604030504040204" pitchFamily="34" charset="-120"/>
                <a:ea typeface="Microsoft JhengHei" panose="020B0604030504040204" pitchFamily="34" charset="-120"/>
              </a:rPr>
              <a:t>未來發展</a:t>
            </a:r>
            <a:endParaRPr sz="2800" b="1" spc="-35" dirty="0">
              <a:solidFill>
                <a:schemeClr val="accent2"/>
              </a:solidFill>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5219" y="2887802"/>
            <a:ext cx="3073400" cy="940435"/>
          </a:xfrm>
          <a:prstGeom prst="rect">
            <a:avLst/>
          </a:prstGeom>
        </p:spPr>
        <p:txBody>
          <a:bodyPr vert="horz" wrap="square" lIns="0" tIns="12700" rIns="0" bIns="0" rtlCol="0">
            <a:spAutoFit/>
          </a:bodyPr>
          <a:lstStyle/>
          <a:p>
            <a:pPr marL="12700">
              <a:lnSpc>
                <a:spcPct val="100000"/>
              </a:lnSpc>
              <a:spcBef>
                <a:spcPts val="100"/>
              </a:spcBef>
            </a:pPr>
            <a:r>
              <a:rPr sz="6000" spc="-20" dirty="0">
                <a:solidFill>
                  <a:srgbClr val="000000"/>
                </a:solidFill>
              </a:rPr>
              <a:t>文獻探討</a:t>
            </a:r>
            <a:endParaRPr sz="6000"/>
          </a:p>
        </p:txBody>
      </p:sp>
      <p:sp>
        <p:nvSpPr>
          <p:cNvPr id="3" name="object 3"/>
          <p:cNvSpPr/>
          <p:nvPr/>
        </p:nvSpPr>
        <p:spPr>
          <a:xfrm>
            <a:off x="4182617" y="4267200"/>
            <a:ext cx="5462905" cy="0"/>
          </a:xfrm>
          <a:custGeom>
            <a:avLst/>
            <a:gdLst/>
            <a:ahLst/>
            <a:cxnLst/>
            <a:rect l="l" t="t" r="r" b="b"/>
            <a:pathLst>
              <a:path w="5462905">
                <a:moveTo>
                  <a:pt x="0" y="0"/>
                </a:moveTo>
                <a:lnTo>
                  <a:pt x="5462905" y="0"/>
                </a:lnTo>
              </a:path>
            </a:pathLst>
          </a:custGeom>
          <a:ln w="19050">
            <a:solidFill>
              <a:srgbClr val="44536A"/>
            </a:solidFill>
          </a:ln>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812" y="264414"/>
            <a:ext cx="2769870" cy="848360"/>
          </a:xfrm>
          <a:prstGeom prst="rect">
            <a:avLst/>
          </a:prstGeom>
        </p:spPr>
        <p:txBody>
          <a:bodyPr vert="horz" wrap="square" lIns="0" tIns="12700" rIns="0" bIns="0" rtlCol="0">
            <a:spAutoFit/>
          </a:bodyPr>
          <a:lstStyle/>
          <a:p>
            <a:pPr marL="12700">
              <a:lnSpc>
                <a:spcPct val="100000"/>
              </a:lnSpc>
              <a:spcBef>
                <a:spcPts val="100"/>
              </a:spcBef>
            </a:pPr>
            <a:r>
              <a:rPr spc="-15" dirty="0"/>
              <a:t>文獻探討</a:t>
            </a:r>
          </a:p>
        </p:txBody>
      </p:sp>
      <p:sp>
        <p:nvSpPr>
          <p:cNvPr id="3" name="object 3"/>
          <p:cNvSpPr/>
          <p:nvPr/>
        </p:nvSpPr>
        <p:spPr>
          <a:xfrm>
            <a:off x="3891788" y="1234439"/>
            <a:ext cx="10192385" cy="2146300"/>
          </a:xfrm>
          <a:custGeom>
            <a:avLst/>
            <a:gdLst/>
            <a:ahLst/>
            <a:cxnLst/>
            <a:rect l="l" t="t" r="r" b="b"/>
            <a:pathLst>
              <a:path w="10192385" h="2146300">
                <a:moveTo>
                  <a:pt x="10064369" y="0"/>
                </a:moveTo>
                <a:lnTo>
                  <a:pt x="127762" y="0"/>
                </a:lnTo>
                <a:lnTo>
                  <a:pt x="78009" y="10032"/>
                </a:lnTo>
                <a:lnTo>
                  <a:pt x="37401" y="37401"/>
                </a:lnTo>
                <a:lnTo>
                  <a:pt x="10033" y="78009"/>
                </a:lnTo>
                <a:lnTo>
                  <a:pt x="0" y="127761"/>
                </a:lnTo>
                <a:lnTo>
                  <a:pt x="0" y="2018537"/>
                </a:lnTo>
                <a:lnTo>
                  <a:pt x="10033" y="2068236"/>
                </a:lnTo>
                <a:lnTo>
                  <a:pt x="37401" y="2108850"/>
                </a:lnTo>
                <a:lnTo>
                  <a:pt x="78009" y="2136249"/>
                </a:lnTo>
                <a:lnTo>
                  <a:pt x="127762" y="2146299"/>
                </a:lnTo>
                <a:lnTo>
                  <a:pt x="10064369" y="2146299"/>
                </a:lnTo>
                <a:lnTo>
                  <a:pt x="10114141" y="2136249"/>
                </a:lnTo>
                <a:lnTo>
                  <a:pt x="10154792" y="2108850"/>
                </a:lnTo>
                <a:lnTo>
                  <a:pt x="10182205" y="2068236"/>
                </a:lnTo>
                <a:lnTo>
                  <a:pt x="10192258" y="2018537"/>
                </a:lnTo>
                <a:lnTo>
                  <a:pt x="10192258" y="127761"/>
                </a:lnTo>
                <a:lnTo>
                  <a:pt x="10182205" y="78009"/>
                </a:lnTo>
                <a:lnTo>
                  <a:pt x="10154792" y="37401"/>
                </a:lnTo>
                <a:lnTo>
                  <a:pt x="10114141" y="10032"/>
                </a:lnTo>
                <a:lnTo>
                  <a:pt x="10064369" y="0"/>
                </a:lnTo>
                <a:close/>
              </a:path>
            </a:pathLst>
          </a:custGeom>
          <a:solidFill>
            <a:srgbClr val="DAE2F3"/>
          </a:solidFill>
        </p:spPr>
        <p:txBody>
          <a:bodyPr wrap="square" lIns="0" tIns="0" rIns="0" bIns="0" rtlCol="0"/>
          <a:lstStyle/>
          <a:p>
            <a:endParaRPr/>
          </a:p>
        </p:txBody>
      </p:sp>
      <p:sp>
        <p:nvSpPr>
          <p:cNvPr id="4" name="object 4"/>
          <p:cNvSpPr/>
          <p:nvPr/>
        </p:nvSpPr>
        <p:spPr>
          <a:xfrm>
            <a:off x="146354" y="1650492"/>
            <a:ext cx="3590290" cy="992505"/>
          </a:xfrm>
          <a:custGeom>
            <a:avLst/>
            <a:gdLst/>
            <a:ahLst/>
            <a:cxnLst/>
            <a:rect l="l" t="t" r="r" b="b"/>
            <a:pathLst>
              <a:path w="3590290" h="992505">
                <a:moveTo>
                  <a:pt x="3094050" y="0"/>
                </a:moveTo>
                <a:lnTo>
                  <a:pt x="0" y="0"/>
                </a:lnTo>
                <a:lnTo>
                  <a:pt x="0" y="992377"/>
                </a:lnTo>
                <a:lnTo>
                  <a:pt x="3094050" y="992377"/>
                </a:lnTo>
                <a:lnTo>
                  <a:pt x="3590239" y="496188"/>
                </a:lnTo>
                <a:lnTo>
                  <a:pt x="3094050" y="0"/>
                </a:lnTo>
                <a:close/>
              </a:path>
            </a:pathLst>
          </a:custGeom>
          <a:solidFill>
            <a:srgbClr val="4471C4"/>
          </a:solidFill>
        </p:spPr>
        <p:txBody>
          <a:bodyPr wrap="square" lIns="0" tIns="0" rIns="0" bIns="0" rtlCol="0"/>
          <a:lstStyle/>
          <a:p>
            <a:endParaRPr/>
          </a:p>
        </p:txBody>
      </p:sp>
      <p:sp>
        <p:nvSpPr>
          <p:cNvPr id="5" name="object 5"/>
          <p:cNvSpPr txBox="1"/>
          <p:nvPr/>
        </p:nvSpPr>
        <p:spPr>
          <a:xfrm>
            <a:off x="4171315" y="1620392"/>
            <a:ext cx="9834880" cy="1397635"/>
          </a:xfrm>
          <a:prstGeom prst="rect">
            <a:avLst/>
          </a:prstGeom>
        </p:spPr>
        <p:txBody>
          <a:bodyPr vert="horz" wrap="square" lIns="0" tIns="12700" rIns="0" bIns="0" rtlCol="0">
            <a:spAutoFit/>
          </a:bodyPr>
          <a:lstStyle/>
          <a:p>
            <a:pPr marL="299085" marR="5080" indent="-287020">
              <a:lnSpc>
                <a:spcPct val="100000"/>
              </a:lnSpc>
              <a:spcBef>
                <a:spcPts val="100"/>
              </a:spcBef>
              <a:buFont typeface="Arial MT"/>
              <a:buChar char="•"/>
              <a:tabLst>
                <a:tab pos="299085" algn="l"/>
              </a:tabLst>
            </a:pPr>
            <a:r>
              <a:rPr sz="1800" b="1" dirty="0">
                <a:solidFill>
                  <a:srgbClr val="404040"/>
                </a:solidFill>
                <a:latin typeface="Microsoft JhengHei"/>
                <a:cs typeface="Microsoft JhengHei"/>
              </a:rPr>
              <a:t>互動學習理論</a:t>
            </a:r>
            <a:r>
              <a:rPr sz="1800" spc="30" dirty="0">
                <a:solidFill>
                  <a:srgbClr val="404040"/>
                </a:solidFill>
                <a:latin typeface="Microsoft JhengHei"/>
                <a:cs typeface="Microsoft JhengHei"/>
              </a:rPr>
              <a:t>：語言習得根植於與熟練語者交流 </a:t>
            </a:r>
            <a:r>
              <a:rPr sz="1800" dirty="0">
                <a:solidFill>
                  <a:srgbClr val="404040"/>
                </a:solidFill>
                <a:latin typeface="Microsoft JhengHei"/>
                <a:cs typeface="Microsoft JhengHei"/>
              </a:rPr>
              <a:t>(Vygotsky</a:t>
            </a:r>
            <a:r>
              <a:rPr sz="1800" spc="250" dirty="0">
                <a:solidFill>
                  <a:srgbClr val="404040"/>
                </a:solidFill>
                <a:latin typeface="Microsoft JhengHei"/>
                <a:cs typeface="Microsoft JhengHei"/>
              </a:rPr>
              <a:t>, </a:t>
            </a:r>
            <a:r>
              <a:rPr sz="1800" spc="-10" dirty="0">
                <a:solidFill>
                  <a:srgbClr val="404040"/>
                </a:solidFill>
                <a:latin typeface="Microsoft JhengHei"/>
                <a:cs typeface="Microsoft JhengHei"/>
              </a:rPr>
              <a:t>1978</a:t>
            </a:r>
            <a:r>
              <a:rPr sz="1800" spc="-15" dirty="0">
                <a:solidFill>
                  <a:srgbClr val="404040"/>
                </a:solidFill>
                <a:latin typeface="Microsoft JhengHei"/>
                <a:cs typeface="Microsoft JhengHei"/>
              </a:rPr>
              <a:t>)，「可理解輸入」須具挑戰</a:t>
            </a:r>
            <a:r>
              <a:rPr sz="1800" spc="-10" dirty="0">
                <a:solidFill>
                  <a:srgbClr val="404040"/>
                </a:solidFill>
                <a:latin typeface="Microsoft JhengHei"/>
                <a:cs typeface="Microsoft JhengHei"/>
              </a:rPr>
              <a:t>性但可理解 </a:t>
            </a:r>
            <a:r>
              <a:rPr sz="1800" dirty="0">
                <a:solidFill>
                  <a:srgbClr val="404040"/>
                </a:solidFill>
                <a:latin typeface="Microsoft JhengHei"/>
                <a:cs typeface="Microsoft JhengHei"/>
              </a:rPr>
              <a:t>(Krashen</a:t>
            </a:r>
            <a:r>
              <a:rPr sz="1800" spc="-15" dirty="0">
                <a:solidFill>
                  <a:srgbClr val="404040"/>
                </a:solidFill>
                <a:latin typeface="Microsoft JhengHei"/>
                <a:cs typeface="Microsoft JhengHei"/>
              </a:rPr>
              <a:t>, </a:t>
            </a:r>
            <a:r>
              <a:rPr sz="1800" spc="-10" dirty="0">
                <a:solidFill>
                  <a:srgbClr val="404040"/>
                </a:solidFill>
                <a:latin typeface="Microsoft JhengHei"/>
                <a:cs typeface="Microsoft JhengHei"/>
              </a:rPr>
              <a:t>1982</a:t>
            </a:r>
            <a:r>
              <a:rPr sz="1800" spc="5" dirty="0">
                <a:solidFill>
                  <a:srgbClr val="404040"/>
                </a:solidFill>
                <a:latin typeface="Microsoft JhengHei"/>
                <a:cs typeface="Microsoft JhengHei"/>
              </a:rPr>
              <a:t>)，語言產出能積極內化知識並修正錯誤(</a:t>
            </a:r>
            <a:r>
              <a:rPr sz="1800" dirty="0">
                <a:solidFill>
                  <a:srgbClr val="404040"/>
                </a:solidFill>
                <a:latin typeface="Microsoft JhengHei"/>
                <a:cs typeface="Microsoft JhengHei"/>
              </a:rPr>
              <a:t>Swain</a:t>
            </a:r>
            <a:r>
              <a:rPr sz="1800" spc="-25" dirty="0">
                <a:solidFill>
                  <a:srgbClr val="404040"/>
                </a:solidFill>
                <a:latin typeface="Microsoft JhengHei"/>
                <a:cs typeface="Microsoft JhengHei"/>
              </a:rPr>
              <a:t>, </a:t>
            </a:r>
            <a:r>
              <a:rPr sz="1800" spc="-10" dirty="0">
                <a:solidFill>
                  <a:srgbClr val="404040"/>
                </a:solidFill>
                <a:latin typeface="Microsoft JhengHei"/>
                <a:cs typeface="Microsoft JhengHei"/>
              </a:rPr>
              <a:t>1985)</a:t>
            </a:r>
            <a:endParaRPr sz="1800" dirty="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數位學習趨勢</a:t>
            </a:r>
            <a:r>
              <a:rPr sz="1800" dirty="0">
                <a:solidFill>
                  <a:srgbClr val="404040"/>
                </a:solidFill>
                <a:latin typeface="Microsoft JhengHei"/>
                <a:cs typeface="Microsoft JhengHei"/>
              </a:rPr>
              <a:t>：數位工具普及使語言學習從教室擴展至生活場域 </a:t>
            </a:r>
            <a:r>
              <a:rPr sz="1800" spc="-10" dirty="0">
                <a:solidFill>
                  <a:srgbClr val="404040"/>
                </a:solidFill>
                <a:latin typeface="Microsoft JhengHei"/>
                <a:cs typeface="Microsoft JhengHei"/>
              </a:rPr>
              <a:t>(Godwin-</a:t>
            </a:r>
            <a:r>
              <a:rPr sz="1800" dirty="0">
                <a:solidFill>
                  <a:srgbClr val="404040"/>
                </a:solidFill>
                <a:latin typeface="Microsoft JhengHei"/>
                <a:cs typeface="Microsoft JhengHei"/>
              </a:rPr>
              <a:t>Jones</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2018)</a:t>
            </a:r>
            <a:endParaRPr sz="1800" dirty="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AI教育應用</a:t>
            </a:r>
            <a:r>
              <a:rPr sz="1800" dirty="0">
                <a:solidFill>
                  <a:srgbClr val="404040"/>
                </a:solidFill>
                <a:latin typeface="Microsoft JhengHei"/>
                <a:cs typeface="Microsoft JhengHei"/>
              </a:rPr>
              <a:t>：LLM與</a:t>
            </a:r>
            <a:r>
              <a:rPr sz="1800" spc="-10" dirty="0">
                <a:solidFill>
                  <a:srgbClr val="404040"/>
                </a:solidFill>
                <a:latin typeface="Microsoft JhengHei"/>
                <a:cs typeface="Microsoft JhengHei"/>
              </a:rPr>
              <a:t>NLP</a:t>
            </a:r>
            <a:r>
              <a:rPr sz="1800" spc="-5" dirty="0">
                <a:solidFill>
                  <a:srgbClr val="404040"/>
                </a:solidFill>
                <a:latin typeface="Microsoft JhengHei"/>
                <a:cs typeface="Microsoft JhengHei"/>
              </a:rPr>
              <a:t>技術廣泛應用於語言教學，提供個別化學習支援，為智慧型語言學習</a:t>
            </a:r>
            <a:endParaRPr sz="1800" dirty="0">
              <a:latin typeface="Microsoft JhengHei"/>
              <a:cs typeface="Microsoft JhengHei"/>
            </a:endParaRPr>
          </a:p>
          <a:p>
            <a:pPr marL="299085">
              <a:lnSpc>
                <a:spcPct val="100000"/>
              </a:lnSpc>
            </a:pPr>
            <a:r>
              <a:rPr sz="1800" spc="-5" dirty="0">
                <a:solidFill>
                  <a:srgbClr val="404040"/>
                </a:solidFill>
                <a:latin typeface="Microsoft JhengHei"/>
                <a:cs typeface="Microsoft JhengHei"/>
              </a:rPr>
              <a:t>環境奠定基礎 </a:t>
            </a:r>
            <a:r>
              <a:rPr sz="1800" dirty="0">
                <a:solidFill>
                  <a:srgbClr val="404040"/>
                </a:solidFill>
                <a:latin typeface="Microsoft JhengHei"/>
                <a:cs typeface="Microsoft JhengHei"/>
              </a:rPr>
              <a:t>(Liu</a:t>
            </a:r>
            <a:r>
              <a:rPr sz="1800" spc="-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a:t>
            </a:r>
            <a:r>
              <a:rPr sz="1800" spc="-20" dirty="0">
                <a:solidFill>
                  <a:srgbClr val="404040"/>
                </a:solidFill>
                <a:latin typeface="Microsoft JhengHei"/>
                <a:cs typeface="Microsoft JhengHei"/>
              </a:rPr>
              <a:t>2023)</a:t>
            </a:r>
            <a:endParaRPr sz="1800" dirty="0">
              <a:latin typeface="Microsoft JhengHei"/>
              <a:cs typeface="Microsoft JhengHei"/>
            </a:endParaRPr>
          </a:p>
        </p:txBody>
      </p:sp>
      <p:sp>
        <p:nvSpPr>
          <p:cNvPr id="6" name="object 6"/>
          <p:cNvSpPr txBox="1"/>
          <p:nvPr/>
        </p:nvSpPr>
        <p:spPr>
          <a:xfrm>
            <a:off x="1166571" y="1928571"/>
            <a:ext cx="1244600" cy="391795"/>
          </a:xfrm>
          <a:prstGeom prst="rect">
            <a:avLst/>
          </a:prstGeom>
        </p:spPr>
        <p:txBody>
          <a:bodyPr vert="horz" wrap="square" lIns="0" tIns="12700" rIns="0" bIns="0" rtlCol="0">
            <a:spAutoFit/>
          </a:bodyPr>
          <a:lstStyle/>
          <a:p>
            <a:pPr marL="12700">
              <a:lnSpc>
                <a:spcPct val="100000"/>
              </a:lnSpc>
              <a:spcBef>
                <a:spcPts val="100"/>
              </a:spcBef>
            </a:pPr>
            <a:r>
              <a:rPr sz="2400" b="1" spc="-20" dirty="0">
                <a:solidFill>
                  <a:srgbClr val="FFFFFF"/>
                </a:solidFill>
                <a:latin typeface="Microsoft JhengHei"/>
                <a:cs typeface="Microsoft JhengHei"/>
              </a:rPr>
              <a:t>英語學習</a:t>
            </a:r>
            <a:endParaRPr sz="2400">
              <a:latin typeface="Microsoft JhengHei"/>
              <a:cs typeface="Microsoft JhengHei"/>
            </a:endParaRPr>
          </a:p>
        </p:txBody>
      </p:sp>
      <p:sp>
        <p:nvSpPr>
          <p:cNvPr id="7" name="object 7"/>
          <p:cNvSpPr/>
          <p:nvPr/>
        </p:nvSpPr>
        <p:spPr>
          <a:xfrm>
            <a:off x="14084045" y="1485391"/>
            <a:ext cx="0" cy="1744345"/>
          </a:xfrm>
          <a:custGeom>
            <a:avLst/>
            <a:gdLst/>
            <a:ahLst/>
            <a:cxnLst/>
            <a:rect l="l" t="t" r="r" b="b"/>
            <a:pathLst>
              <a:path h="1744345">
                <a:moveTo>
                  <a:pt x="0" y="0"/>
                </a:moveTo>
                <a:lnTo>
                  <a:pt x="0" y="1744090"/>
                </a:lnTo>
              </a:path>
            </a:pathLst>
          </a:custGeom>
          <a:ln w="19050">
            <a:solidFill>
              <a:srgbClr val="4471C4"/>
            </a:solidFill>
            <a:prstDash val="dash"/>
          </a:ln>
        </p:spPr>
        <p:txBody>
          <a:bodyPr wrap="square" lIns="0" tIns="0" rIns="0" bIns="0" rtlCol="0"/>
          <a:lstStyle/>
          <a:p>
            <a:endParaRPr/>
          </a:p>
        </p:txBody>
      </p:sp>
      <p:sp>
        <p:nvSpPr>
          <p:cNvPr id="8" name="object 8"/>
          <p:cNvSpPr/>
          <p:nvPr/>
        </p:nvSpPr>
        <p:spPr>
          <a:xfrm>
            <a:off x="301078" y="3673094"/>
            <a:ext cx="10037445" cy="1967864"/>
          </a:xfrm>
          <a:custGeom>
            <a:avLst/>
            <a:gdLst/>
            <a:ahLst/>
            <a:cxnLst/>
            <a:rect l="l" t="t" r="r" b="b"/>
            <a:pathLst>
              <a:path w="10037445" h="1967864">
                <a:moveTo>
                  <a:pt x="9920262" y="0"/>
                </a:moveTo>
                <a:lnTo>
                  <a:pt x="117132" y="0"/>
                </a:lnTo>
                <a:lnTo>
                  <a:pt x="71537" y="9205"/>
                </a:lnTo>
                <a:lnTo>
                  <a:pt x="34305" y="34305"/>
                </a:lnTo>
                <a:lnTo>
                  <a:pt x="9204" y="71526"/>
                </a:lnTo>
                <a:lnTo>
                  <a:pt x="0" y="117093"/>
                </a:lnTo>
                <a:lnTo>
                  <a:pt x="0" y="1850389"/>
                </a:lnTo>
                <a:lnTo>
                  <a:pt x="9204" y="1895957"/>
                </a:lnTo>
                <a:lnTo>
                  <a:pt x="34305" y="1933178"/>
                </a:lnTo>
                <a:lnTo>
                  <a:pt x="71537" y="1958278"/>
                </a:lnTo>
                <a:lnTo>
                  <a:pt x="117132" y="1967483"/>
                </a:lnTo>
                <a:lnTo>
                  <a:pt x="9920262" y="1967483"/>
                </a:lnTo>
                <a:lnTo>
                  <a:pt x="9965829" y="1958278"/>
                </a:lnTo>
                <a:lnTo>
                  <a:pt x="10003050" y="1933178"/>
                </a:lnTo>
                <a:lnTo>
                  <a:pt x="10028150" y="1895957"/>
                </a:lnTo>
                <a:lnTo>
                  <a:pt x="10037356" y="1850389"/>
                </a:lnTo>
                <a:lnTo>
                  <a:pt x="10037356" y="117093"/>
                </a:lnTo>
                <a:lnTo>
                  <a:pt x="10028150" y="71526"/>
                </a:lnTo>
                <a:lnTo>
                  <a:pt x="10003050" y="34305"/>
                </a:lnTo>
                <a:lnTo>
                  <a:pt x="9965829" y="9205"/>
                </a:lnTo>
                <a:lnTo>
                  <a:pt x="9920262" y="0"/>
                </a:lnTo>
                <a:close/>
              </a:path>
            </a:pathLst>
          </a:custGeom>
          <a:solidFill>
            <a:srgbClr val="FFF1CC"/>
          </a:solidFill>
        </p:spPr>
        <p:txBody>
          <a:bodyPr wrap="square" lIns="0" tIns="0" rIns="0" bIns="0" rtlCol="0"/>
          <a:lstStyle/>
          <a:p>
            <a:endParaRPr/>
          </a:p>
        </p:txBody>
      </p:sp>
      <p:sp>
        <p:nvSpPr>
          <p:cNvPr id="9" name="object 9"/>
          <p:cNvSpPr/>
          <p:nvPr/>
        </p:nvSpPr>
        <p:spPr>
          <a:xfrm>
            <a:off x="10482326" y="3825366"/>
            <a:ext cx="3601720" cy="1436370"/>
          </a:xfrm>
          <a:custGeom>
            <a:avLst/>
            <a:gdLst/>
            <a:ahLst/>
            <a:cxnLst/>
            <a:rect l="l" t="t" r="r" b="b"/>
            <a:pathLst>
              <a:path w="3601719" h="1436370">
                <a:moveTo>
                  <a:pt x="3601720" y="0"/>
                </a:moveTo>
                <a:lnTo>
                  <a:pt x="718184" y="0"/>
                </a:lnTo>
                <a:lnTo>
                  <a:pt x="0" y="718185"/>
                </a:lnTo>
                <a:lnTo>
                  <a:pt x="718184" y="1436370"/>
                </a:lnTo>
                <a:lnTo>
                  <a:pt x="3601720" y="1436370"/>
                </a:lnTo>
                <a:lnTo>
                  <a:pt x="3601720" y="0"/>
                </a:lnTo>
                <a:close/>
              </a:path>
            </a:pathLst>
          </a:custGeom>
          <a:solidFill>
            <a:srgbClr val="FFC000"/>
          </a:solidFill>
        </p:spPr>
        <p:txBody>
          <a:bodyPr wrap="square" lIns="0" tIns="0" rIns="0" bIns="0" rtlCol="0"/>
          <a:lstStyle/>
          <a:p>
            <a:endParaRPr/>
          </a:p>
        </p:txBody>
      </p:sp>
      <p:sp>
        <p:nvSpPr>
          <p:cNvPr id="10" name="object 10"/>
          <p:cNvSpPr txBox="1"/>
          <p:nvPr/>
        </p:nvSpPr>
        <p:spPr>
          <a:xfrm>
            <a:off x="864819" y="3966717"/>
            <a:ext cx="9126220" cy="112331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solidFill>
                  <a:srgbClr val="404040"/>
                </a:solidFill>
                <a:latin typeface="Microsoft JhengHei"/>
                <a:cs typeface="Microsoft JhengHei"/>
              </a:rPr>
              <a:t>技術優勢</a:t>
            </a:r>
            <a:r>
              <a:rPr sz="1800" dirty="0">
                <a:solidFill>
                  <a:srgbClr val="404040"/>
                </a:solidFill>
                <a:latin typeface="Microsoft JhengHei"/>
                <a:cs typeface="Microsoft JhengHei"/>
              </a:rPr>
              <a:t>：基於</a:t>
            </a:r>
            <a:r>
              <a:rPr sz="1800" spc="-30" dirty="0">
                <a:solidFill>
                  <a:srgbClr val="404040"/>
                </a:solidFill>
                <a:latin typeface="Microsoft JhengHei"/>
                <a:cs typeface="Microsoft JhengHei"/>
              </a:rPr>
              <a:t>Transformer</a:t>
            </a:r>
            <a:r>
              <a:rPr sz="1800" dirty="0">
                <a:solidFill>
                  <a:srgbClr val="404040"/>
                </a:solidFill>
                <a:latin typeface="Microsoft JhengHei"/>
                <a:cs typeface="Microsoft JhengHei"/>
              </a:rPr>
              <a:t>架構，68</a:t>
            </a:r>
            <a:r>
              <a:rPr sz="1800" spc="-5" dirty="0">
                <a:solidFill>
                  <a:srgbClr val="404040"/>
                </a:solidFill>
                <a:latin typeface="Microsoft JhengHei"/>
                <a:cs typeface="Microsoft JhengHei"/>
              </a:rPr>
              <a:t>萬小時多語言資料訓練，具備良好跨語言穩定性</a:t>
            </a:r>
            <a:endParaRPr sz="1800">
              <a:latin typeface="Microsoft JhengHei"/>
              <a:cs typeface="Microsoft JhengHei"/>
            </a:endParaRPr>
          </a:p>
          <a:p>
            <a:pPr marL="299085">
              <a:lnSpc>
                <a:spcPts val="2135"/>
              </a:lnSpc>
            </a:pPr>
            <a:r>
              <a:rPr sz="1800" spc="-10" dirty="0">
                <a:solidFill>
                  <a:srgbClr val="404040"/>
                </a:solidFill>
                <a:latin typeface="Microsoft JhengHei"/>
                <a:cs typeface="Microsoft JhengHei"/>
              </a:rPr>
              <a:t>(Radford</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25" dirty="0">
                <a:solidFill>
                  <a:srgbClr val="404040"/>
                </a:solidFill>
                <a:latin typeface="Microsoft JhengHei"/>
                <a:cs typeface="Microsoft JhengHei"/>
              </a:rPr>
              <a:t> </a:t>
            </a:r>
            <a:r>
              <a:rPr sz="1800" spc="-20" dirty="0">
                <a:solidFill>
                  <a:srgbClr val="404040"/>
                </a:solidFill>
                <a:latin typeface="Microsoft JhengHei"/>
                <a:cs typeface="Microsoft JhengHei"/>
              </a:rPr>
              <a:t>2022)</a:t>
            </a:r>
            <a:endParaRPr sz="1800">
              <a:latin typeface="Microsoft JhengHei"/>
              <a:cs typeface="Microsoft JhengHei"/>
            </a:endParaRPr>
          </a:p>
          <a:p>
            <a:pPr marL="299085" indent="-286385">
              <a:lnSpc>
                <a:spcPts val="2135"/>
              </a:lnSpc>
              <a:buFont typeface="Arial MT"/>
              <a:buChar char="•"/>
              <a:tabLst>
                <a:tab pos="299085" algn="l"/>
              </a:tabLst>
            </a:pPr>
            <a:r>
              <a:rPr sz="1800" b="1" dirty="0">
                <a:solidFill>
                  <a:srgbClr val="404040"/>
                </a:solidFill>
                <a:latin typeface="Microsoft JhengHei"/>
                <a:cs typeface="Microsoft JhengHei"/>
              </a:rPr>
              <a:t>即時應用</a:t>
            </a:r>
            <a:r>
              <a:rPr sz="1800" dirty="0">
                <a:solidFill>
                  <a:srgbClr val="404040"/>
                </a:solidFill>
                <a:latin typeface="Microsoft JhengHei"/>
                <a:cs typeface="Microsoft JhengHei"/>
              </a:rPr>
              <a:t>：平均延遲僅3.3</a:t>
            </a:r>
            <a:r>
              <a:rPr sz="1800" spc="-5" dirty="0">
                <a:solidFill>
                  <a:srgbClr val="404040"/>
                </a:solidFill>
                <a:latin typeface="Microsoft JhengHei"/>
                <a:cs typeface="Microsoft JhengHei"/>
              </a:rPr>
              <a:t>秒，適用於互動系統 </a:t>
            </a:r>
            <a:r>
              <a:rPr sz="1800" spc="-10" dirty="0">
                <a:solidFill>
                  <a:srgbClr val="404040"/>
                </a:solidFill>
                <a:latin typeface="Microsoft JhengHei"/>
                <a:cs typeface="Microsoft JhengHei"/>
              </a:rPr>
              <a:t>(Machá</a:t>
            </a:r>
            <a:r>
              <a:rPr sz="1800" spc="-10" dirty="0">
                <a:solidFill>
                  <a:srgbClr val="404040"/>
                </a:solidFill>
                <a:latin typeface="Calibri"/>
                <a:cs typeface="Calibri"/>
              </a:rPr>
              <a:t>č</a:t>
            </a:r>
            <a:r>
              <a:rPr sz="1800" spc="-10" dirty="0">
                <a:solidFill>
                  <a:srgbClr val="404040"/>
                </a:solidFill>
                <a:latin typeface="Microsoft JhengHei"/>
                <a:cs typeface="Microsoft JhengHei"/>
              </a:rPr>
              <a:t>ek</a:t>
            </a:r>
            <a:r>
              <a:rPr sz="1800" spc="-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2023)</a:t>
            </a:r>
            <a:endParaRPr sz="1800">
              <a:latin typeface="Microsoft JhengHei"/>
              <a:cs typeface="Microsoft JhengHei"/>
            </a:endParaRPr>
          </a:p>
          <a:p>
            <a:pPr marL="299085" indent="-286385">
              <a:lnSpc>
                <a:spcPct val="100000"/>
              </a:lnSpc>
              <a:spcBef>
                <a:spcPts val="45"/>
              </a:spcBef>
              <a:buFont typeface="Arial MT"/>
              <a:buChar char="•"/>
              <a:tabLst>
                <a:tab pos="299085" algn="l"/>
              </a:tabLst>
            </a:pPr>
            <a:r>
              <a:rPr sz="1800" b="1" dirty="0">
                <a:solidFill>
                  <a:srgbClr val="404040"/>
                </a:solidFill>
                <a:latin typeface="Microsoft JhengHei"/>
                <a:cs typeface="Microsoft JhengHei"/>
              </a:rPr>
              <a:t>跨語言能力</a:t>
            </a:r>
            <a:r>
              <a:rPr sz="1800" spc="-5" dirty="0">
                <a:solidFill>
                  <a:srgbClr val="404040"/>
                </a:solidFill>
                <a:latin typeface="Microsoft JhengHei"/>
                <a:cs typeface="Microsoft JhengHei"/>
              </a:rPr>
              <a:t>：中英混合語音辨識效果顯著，驗證跨語言適應性 </a:t>
            </a:r>
            <a:r>
              <a:rPr sz="1800" dirty="0">
                <a:solidFill>
                  <a:srgbClr val="404040"/>
                </a:solidFill>
                <a:latin typeface="Microsoft JhengHei"/>
                <a:cs typeface="Microsoft JhengHei"/>
              </a:rPr>
              <a:t>(Zhao</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2023)</a:t>
            </a:r>
            <a:endParaRPr sz="1800">
              <a:latin typeface="Microsoft JhengHei"/>
              <a:cs typeface="Microsoft JhengHei"/>
            </a:endParaRPr>
          </a:p>
        </p:txBody>
      </p:sp>
      <p:sp>
        <p:nvSpPr>
          <p:cNvPr id="11" name="object 11"/>
          <p:cNvSpPr txBox="1"/>
          <p:nvPr/>
        </p:nvSpPr>
        <p:spPr>
          <a:xfrm>
            <a:off x="11391392" y="4066159"/>
            <a:ext cx="2161540" cy="756920"/>
          </a:xfrm>
          <a:prstGeom prst="rect">
            <a:avLst/>
          </a:prstGeom>
        </p:spPr>
        <p:txBody>
          <a:bodyPr vert="horz" wrap="square" lIns="0" tIns="12700" rIns="0" bIns="0" rtlCol="0">
            <a:spAutoFit/>
          </a:bodyPr>
          <a:lstStyle/>
          <a:p>
            <a:pPr algn="ctr">
              <a:lnSpc>
                <a:spcPct val="100000"/>
              </a:lnSpc>
              <a:spcBef>
                <a:spcPts val="100"/>
              </a:spcBef>
            </a:pPr>
            <a:r>
              <a:rPr sz="2400" b="1" spc="-10" dirty="0">
                <a:solidFill>
                  <a:srgbClr val="FFFFFF"/>
                </a:solidFill>
                <a:latin typeface="Microsoft JhengHei"/>
                <a:cs typeface="Microsoft JhengHei"/>
              </a:rPr>
              <a:t>語音轉文字技術</a:t>
            </a:r>
            <a:endParaRPr sz="2400">
              <a:latin typeface="Microsoft JhengHei"/>
              <a:cs typeface="Microsoft JhengHei"/>
            </a:endParaRPr>
          </a:p>
          <a:p>
            <a:pPr marL="1270" algn="ctr">
              <a:lnSpc>
                <a:spcPct val="100000"/>
              </a:lnSpc>
            </a:pPr>
            <a:r>
              <a:rPr sz="2400" b="1" spc="-10" dirty="0">
                <a:solidFill>
                  <a:srgbClr val="FFFFFF"/>
                </a:solidFill>
                <a:latin typeface="Microsoft JhengHei"/>
                <a:cs typeface="Microsoft JhengHei"/>
              </a:rPr>
              <a:t>(Whisper)</a:t>
            </a:r>
            <a:endParaRPr sz="2400">
              <a:latin typeface="Microsoft JhengHei"/>
              <a:cs typeface="Microsoft JhengHei"/>
            </a:endParaRPr>
          </a:p>
        </p:txBody>
      </p:sp>
      <p:sp>
        <p:nvSpPr>
          <p:cNvPr id="12" name="object 12"/>
          <p:cNvSpPr/>
          <p:nvPr/>
        </p:nvSpPr>
        <p:spPr>
          <a:xfrm>
            <a:off x="301078" y="3872484"/>
            <a:ext cx="0" cy="1598930"/>
          </a:xfrm>
          <a:custGeom>
            <a:avLst/>
            <a:gdLst/>
            <a:ahLst/>
            <a:cxnLst/>
            <a:rect l="l" t="t" r="r" b="b"/>
            <a:pathLst>
              <a:path h="1598929">
                <a:moveTo>
                  <a:pt x="0" y="0"/>
                </a:moveTo>
                <a:lnTo>
                  <a:pt x="0" y="1598929"/>
                </a:lnTo>
              </a:path>
            </a:pathLst>
          </a:custGeom>
          <a:ln w="19050">
            <a:solidFill>
              <a:srgbClr val="FFC000"/>
            </a:solidFill>
            <a:prstDash val="dash"/>
          </a:ln>
        </p:spPr>
        <p:txBody>
          <a:bodyPr wrap="square" lIns="0" tIns="0" rIns="0" bIns="0" rtlCol="0"/>
          <a:lstStyle/>
          <a:p>
            <a:endParaRPr/>
          </a:p>
        </p:txBody>
      </p:sp>
      <p:sp>
        <p:nvSpPr>
          <p:cNvPr id="13" name="object 13"/>
          <p:cNvSpPr/>
          <p:nvPr/>
        </p:nvSpPr>
        <p:spPr>
          <a:xfrm>
            <a:off x="4304410" y="5922517"/>
            <a:ext cx="9779635" cy="2033905"/>
          </a:xfrm>
          <a:custGeom>
            <a:avLst/>
            <a:gdLst/>
            <a:ahLst/>
            <a:cxnLst/>
            <a:rect l="l" t="t" r="r" b="b"/>
            <a:pathLst>
              <a:path w="9779635" h="2033904">
                <a:moveTo>
                  <a:pt x="9658477" y="0"/>
                </a:moveTo>
                <a:lnTo>
                  <a:pt x="121030" y="0"/>
                </a:lnTo>
                <a:lnTo>
                  <a:pt x="73937" y="9517"/>
                </a:lnTo>
                <a:lnTo>
                  <a:pt x="35464" y="35464"/>
                </a:lnTo>
                <a:lnTo>
                  <a:pt x="9517" y="73937"/>
                </a:lnTo>
                <a:lnTo>
                  <a:pt x="0" y="121030"/>
                </a:lnTo>
                <a:lnTo>
                  <a:pt x="0" y="1912810"/>
                </a:lnTo>
                <a:lnTo>
                  <a:pt x="9517" y="1959938"/>
                </a:lnTo>
                <a:lnTo>
                  <a:pt x="35464" y="1998425"/>
                </a:lnTo>
                <a:lnTo>
                  <a:pt x="73937" y="2024376"/>
                </a:lnTo>
                <a:lnTo>
                  <a:pt x="121030" y="2033892"/>
                </a:lnTo>
                <a:lnTo>
                  <a:pt x="9658477" y="2033892"/>
                </a:lnTo>
                <a:lnTo>
                  <a:pt x="9705643" y="2024376"/>
                </a:lnTo>
                <a:lnTo>
                  <a:pt x="9744154" y="1998425"/>
                </a:lnTo>
                <a:lnTo>
                  <a:pt x="9770115" y="1959938"/>
                </a:lnTo>
                <a:lnTo>
                  <a:pt x="9779635" y="1912810"/>
                </a:lnTo>
                <a:lnTo>
                  <a:pt x="9779635" y="121030"/>
                </a:lnTo>
                <a:lnTo>
                  <a:pt x="9770115" y="73937"/>
                </a:lnTo>
                <a:lnTo>
                  <a:pt x="9744154" y="35464"/>
                </a:lnTo>
                <a:lnTo>
                  <a:pt x="9705643" y="9517"/>
                </a:lnTo>
                <a:lnTo>
                  <a:pt x="9658477" y="0"/>
                </a:lnTo>
                <a:close/>
              </a:path>
            </a:pathLst>
          </a:custGeom>
          <a:solidFill>
            <a:srgbClr val="DBDBDB"/>
          </a:solidFill>
        </p:spPr>
        <p:txBody>
          <a:bodyPr wrap="square" lIns="0" tIns="0" rIns="0" bIns="0" rtlCol="0"/>
          <a:lstStyle/>
          <a:p>
            <a:endParaRPr/>
          </a:p>
        </p:txBody>
      </p:sp>
      <p:sp>
        <p:nvSpPr>
          <p:cNvPr id="14" name="object 14"/>
          <p:cNvSpPr/>
          <p:nvPr/>
        </p:nvSpPr>
        <p:spPr>
          <a:xfrm>
            <a:off x="352552" y="6277355"/>
            <a:ext cx="3829050" cy="1350645"/>
          </a:xfrm>
          <a:custGeom>
            <a:avLst/>
            <a:gdLst/>
            <a:ahLst/>
            <a:cxnLst/>
            <a:rect l="l" t="t" r="r" b="b"/>
            <a:pathLst>
              <a:path w="3829050" h="1350645">
                <a:moveTo>
                  <a:pt x="3153791" y="0"/>
                </a:moveTo>
                <a:lnTo>
                  <a:pt x="0" y="0"/>
                </a:lnTo>
                <a:lnTo>
                  <a:pt x="0" y="1350581"/>
                </a:lnTo>
                <a:lnTo>
                  <a:pt x="3153791" y="1350581"/>
                </a:lnTo>
                <a:lnTo>
                  <a:pt x="3829050" y="675259"/>
                </a:lnTo>
                <a:lnTo>
                  <a:pt x="3153791" y="0"/>
                </a:lnTo>
                <a:close/>
              </a:path>
            </a:pathLst>
          </a:custGeom>
          <a:solidFill>
            <a:srgbClr val="A4A4A4"/>
          </a:solidFill>
        </p:spPr>
        <p:txBody>
          <a:bodyPr wrap="square" lIns="0" tIns="0" rIns="0" bIns="0" rtlCol="0"/>
          <a:lstStyle/>
          <a:p>
            <a:endParaRPr/>
          </a:p>
        </p:txBody>
      </p:sp>
      <p:sp>
        <p:nvSpPr>
          <p:cNvPr id="15" name="object 15"/>
          <p:cNvSpPr txBox="1"/>
          <p:nvPr/>
        </p:nvSpPr>
        <p:spPr>
          <a:xfrm>
            <a:off x="4542282" y="6371082"/>
            <a:ext cx="9344660" cy="112331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spc="-5" dirty="0">
                <a:solidFill>
                  <a:srgbClr val="404040"/>
                </a:solidFill>
                <a:latin typeface="Microsoft JhengHei"/>
                <a:cs typeface="Microsoft JhengHei"/>
              </a:rPr>
              <a:t>核心技術</a:t>
            </a:r>
            <a:r>
              <a:rPr sz="1800" dirty="0">
                <a:solidFill>
                  <a:srgbClr val="404040"/>
                </a:solidFill>
                <a:latin typeface="Microsoft JhengHei"/>
                <a:cs typeface="Microsoft JhengHei"/>
              </a:rPr>
              <a:t>：設計恰當提示引導</a:t>
            </a:r>
            <a:r>
              <a:rPr sz="1800" spc="-20" dirty="0">
                <a:solidFill>
                  <a:srgbClr val="404040"/>
                </a:solidFill>
                <a:latin typeface="Microsoft JhengHei"/>
                <a:cs typeface="Microsoft JhengHei"/>
              </a:rPr>
              <a:t>LLM</a:t>
            </a:r>
            <a:r>
              <a:rPr sz="1800" spc="-5" dirty="0">
                <a:solidFill>
                  <a:srgbClr val="404040"/>
                </a:solidFill>
                <a:latin typeface="Microsoft JhengHei"/>
                <a:cs typeface="Microsoft JhengHei"/>
              </a:rPr>
              <a:t>生成所需輸出，零樣本與少樣本學習依賴精心設計提示</a:t>
            </a:r>
            <a:endParaRPr sz="1800">
              <a:latin typeface="Microsoft JhengHei"/>
              <a:cs typeface="Microsoft JhengHei"/>
            </a:endParaRPr>
          </a:p>
          <a:p>
            <a:pPr marL="299085">
              <a:lnSpc>
                <a:spcPct val="100000"/>
              </a:lnSpc>
            </a:pPr>
            <a:r>
              <a:rPr sz="1800" dirty="0">
                <a:solidFill>
                  <a:srgbClr val="404040"/>
                </a:solidFill>
                <a:latin typeface="Microsoft JhengHei"/>
                <a:cs typeface="Microsoft JhengHei"/>
              </a:rPr>
              <a:t>(Wei</a:t>
            </a:r>
            <a:r>
              <a:rPr sz="1800" spc="-4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40" dirty="0">
                <a:solidFill>
                  <a:srgbClr val="404040"/>
                </a:solidFill>
                <a:latin typeface="Microsoft JhengHei"/>
                <a:cs typeface="Microsoft JhengHei"/>
              </a:rPr>
              <a:t> </a:t>
            </a:r>
            <a:r>
              <a:rPr sz="1800" spc="-20" dirty="0">
                <a:solidFill>
                  <a:srgbClr val="404040"/>
                </a:solidFill>
                <a:latin typeface="Microsoft JhengHei"/>
                <a:cs typeface="Microsoft JhengHei"/>
              </a:rPr>
              <a:t>2022)</a:t>
            </a:r>
            <a:endParaRPr sz="1800">
              <a:latin typeface="Microsoft JhengHei"/>
              <a:cs typeface="Microsoft JhengHei"/>
            </a:endParaRPr>
          </a:p>
          <a:p>
            <a:pPr marL="299085" indent="-286385">
              <a:lnSpc>
                <a:spcPct val="100000"/>
              </a:lnSpc>
              <a:buFont typeface="Arial MT"/>
              <a:buChar char="•"/>
              <a:tabLst>
                <a:tab pos="299085" algn="l"/>
              </a:tabLst>
            </a:pPr>
            <a:r>
              <a:rPr sz="1800" b="1" spc="-5" dirty="0">
                <a:solidFill>
                  <a:srgbClr val="404040"/>
                </a:solidFill>
                <a:latin typeface="Microsoft JhengHei"/>
                <a:cs typeface="Microsoft JhengHei"/>
              </a:rPr>
              <a:t>教育價值</a:t>
            </a:r>
            <a:r>
              <a:rPr sz="1800" spc="-10" dirty="0">
                <a:solidFill>
                  <a:srgbClr val="404040"/>
                </a:solidFill>
                <a:latin typeface="Microsoft JhengHei"/>
                <a:cs typeface="Microsoft JhengHei"/>
              </a:rPr>
              <a:t>：提示素養直接影響學習者與</a:t>
            </a:r>
            <a:r>
              <a:rPr sz="1800" spc="-20" dirty="0">
                <a:solidFill>
                  <a:srgbClr val="404040"/>
                </a:solidFill>
                <a:latin typeface="Microsoft JhengHei"/>
                <a:cs typeface="Microsoft JhengHei"/>
              </a:rPr>
              <a:t>AI</a:t>
            </a:r>
            <a:r>
              <a:rPr sz="1800" spc="-15" dirty="0">
                <a:solidFill>
                  <a:srgbClr val="404040"/>
                </a:solidFill>
                <a:latin typeface="Microsoft JhengHei"/>
                <a:cs typeface="Microsoft JhengHei"/>
              </a:rPr>
              <a:t>互動效果 (</a:t>
            </a:r>
            <a:r>
              <a:rPr sz="1800" dirty="0">
                <a:solidFill>
                  <a:srgbClr val="404040"/>
                </a:solidFill>
                <a:latin typeface="Microsoft JhengHei"/>
                <a:cs typeface="Microsoft JhengHei"/>
              </a:rPr>
              <a:t>Chiles</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&amp; Adams</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2024)</a:t>
            </a:r>
            <a:endParaRPr sz="1800">
              <a:latin typeface="Microsoft JhengHei"/>
              <a:cs typeface="Microsoft JhengHei"/>
            </a:endParaRPr>
          </a:p>
          <a:p>
            <a:pPr marL="299085" indent="-286385">
              <a:lnSpc>
                <a:spcPct val="100000"/>
              </a:lnSpc>
              <a:buFont typeface="Arial MT"/>
              <a:buChar char="•"/>
              <a:tabLst>
                <a:tab pos="299085" algn="l"/>
              </a:tabLst>
            </a:pPr>
            <a:r>
              <a:rPr sz="1800" b="1" spc="-5" dirty="0">
                <a:solidFill>
                  <a:srgbClr val="404040"/>
                </a:solidFill>
                <a:latin typeface="Microsoft JhengHei"/>
                <a:cs typeface="Microsoft JhengHei"/>
              </a:rPr>
              <a:t>學習應用</a:t>
            </a:r>
            <a:r>
              <a:rPr sz="1800" spc="-5" dirty="0">
                <a:solidFill>
                  <a:srgbClr val="404040"/>
                </a:solidFill>
                <a:latin typeface="Microsoft JhengHei"/>
                <a:cs typeface="Microsoft JhengHei"/>
              </a:rPr>
              <a:t>：能引導正確語法練習並提供即時改進建議，加速語言習得過程 </a:t>
            </a:r>
            <a:r>
              <a:rPr sz="1800" dirty="0">
                <a:solidFill>
                  <a:srgbClr val="404040"/>
                </a:solidFill>
                <a:latin typeface="Microsoft JhengHei"/>
                <a:cs typeface="Microsoft JhengHei"/>
              </a:rPr>
              <a:t>(Liu</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3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2023)</a:t>
            </a:r>
            <a:endParaRPr sz="1800">
              <a:latin typeface="Microsoft JhengHei"/>
              <a:cs typeface="Microsoft JhengHei"/>
            </a:endParaRPr>
          </a:p>
        </p:txBody>
      </p:sp>
      <p:sp>
        <p:nvSpPr>
          <p:cNvPr id="16" name="object 16"/>
          <p:cNvSpPr txBox="1"/>
          <p:nvPr/>
        </p:nvSpPr>
        <p:spPr>
          <a:xfrm>
            <a:off x="503326" y="6569709"/>
            <a:ext cx="3191510" cy="757555"/>
          </a:xfrm>
          <a:prstGeom prst="rect">
            <a:avLst/>
          </a:prstGeom>
        </p:spPr>
        <p:txBody>
          <a:bodyPr vert="horz" wrap="square" lIns="0" tIns="12700" rIns="0" bIns="0" rtlCol="0">
            <a:spAutoFit/>
          </a:bodyPr>
          <a:lstStyle/>
          <a:p>
            <a:pPr marL="635" algn="ctr">
              <a:lnSpc>
                <a:spcPct val="100000"/>
              </a:lnSpc>
              <a:spcBef>
                <a:spcPts val="100"/>
              </a:spcBef>
            </a:pPr>
            <a:r>
              <a:rPr sz="2400" b="1" spc="-15" dirty="0">
                <a:solidFill>
                  <a:srgbClr val="FFFFFF"/>
                </a:solidFill>
                <a:latin typeface="Microsoft JhengHei"/>
                <a:cs typeface="Microsoft JhengHei"/>
              </a:rPr>
              <a:t>提示工程</a:t>
            </a:r>
            <a:endParaRPr sz="2400">
              <a:latin typeface="Microsoft JhengHei"/>
              <a:cs typeface="Microsoft JhengHei"/>
            </a:endParaRPr>
          </a:p>
          <a:p>
            <a:pPr algn="ctr">
              <a:lnSpc>
                <a:spcPct val="100000"/>
              </a:lnSpc>
            </a:pPr>
            <a:r>
              <a:rPr sz="2400" b="1" dirty="0">
                <a:solidFill>
                  <a:srgbClr val="FFFFFF"/>
                </a:solidFill>
                <a:latin typeface="Microsoft JhengHei"/>
                <a:cs typeface="Microsoft JhengHei"/>
              </a:rPr>
              <a:t>(Prompt</a:t>
            </a:r>
            <a:r>
              <a:rPr sz="2400" b="1" spc="-60" dirty="0">
                <a:solidFill>
                  <a:srgbClr val="FFFFFF"/>
                </a:solidFill>
                <a:latin typeface="Microsoft JhengHei"/>
                <a:cs typeface="Microsoft JhengHei"/>
              </a:rPr>
              <a:t> </a:t>
            </a:r>
            <a:r>
              <a:rPr sz="2400" b="1" spc="-10" dirty="0">
                <a:solidFill>
                  <a:srgbClr val="FFFFFF"/>
                </a:solidFill>
                <a:latin typeface="Microsoft JhengHei"/>
                <a:cs typeface="Microsoft JhengHei"/>
              </a:rPr>
              <a:t>Engineering)</a:t>
            </a:r>
            <a:endParaRPr sz="2400">
              <a:latin typeface="Microsoft JhengHei"/>
              <a:cs typeface="Microsoft JhengHei"/>
            </a:endParaRPr>
          </a:p>
        </p:txBody>
      </p:sp>
      <p:sp>
        <p:nvSpPr>
          <p:cNvPr id="17" name="object 17"/>
          <p:cNvSpPr/>
          <p:nvPr/>
        </p:nvSpPr>
        <p:spPr>
          <a:xfrm>
            <a:off x="14084045" y="6146546"/>
            <a:ext cx="0" cy="1744345"/>
          </a:xfrm>
          <a:custGeom>
            <a:avLst/>
            <a:gdLst/>
            <a:ahLst/>
            <a:cxnLst/>
            <a:rect l="l" t="t" r="r" b="b"/>
            <a:pathLst>
              <a:path h="1744345">
                <a:moveTo>
                  <a:pt x="0" y="0"/>
                </a:moveTo>
                <a:lnTo>
                  <a:pt x="0" y="1744167"/>
                </a:lnTo>
              </a:path>
            </a:pathLst>
          </a:custGeom>
          <a:ln w="19050">
            <a:solidFill>
              <a:srgbClr val="7B7B7B"/>
            </a:solidFill>
            <a:prstDash val="dash"/>
          </a:ln>
        </p:spPr>
        <p:txBody>
          <a:bodyPr wrap="square" lIns="0" tIns="0" rIns="0" bIns="0" rtlCol="0"/>
          <a:lstStyle/>
          <a:p>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812" y="264414"/>
            <a:ext cx="2769870" cy="848360"/>
          </a:xfrm>
          <a:prstGeom prst="rect">
            <a:avLst/>
          </a:prstGeom>
        </p:spPr>
        <p:txBody>
          <a:bodyPr vert="horz" wrap="square" lIns="0" tIns="12700" rIns="0" bIns="0" rtlCol="0">
            <a:spAutoFit/>
          </a:bodyPr>
          <a:lstStyle/>
          <a:p>
            <a:pPr marL="12700">
              <a:lnSpc>
                <a:spcPct val="100000"/>
              </a:lnSpc>
              <a:spcBef>
                <a:spcPts val="100"/>
              </a:spcBef>
            </a:pPr>
            <a:r>
              <a:rPr spc="-15" dirty="0"/>
              <a:t>文獻探討</a:t>
            </a:r>
          </a:p>
        </p:txBody>
      </p:sp>
      <p:sp>
        <p:nvSpPr>
          <p:cNvPr id="3" name="object 3"/>
          <p:cNvSpPr/>
          <p:nvPr/>
        </p:nvSpPr>
        <p:spPr>
          <a:xfrm>
            <a:off x="3891788" y="1234439"/>
            <a:ext cx="10192385" cy="2146300"/>
          </a:xfrm>
          <a:custGeom>
            <a:avLst/>
            <a:gdLst/>
            <a:ahLst/>
            <a:cxnLst/>
            <a:rect l="l" t="t" r="r" b="b"/>
            <a:pathLst>
              <a:path w="10192385" h="2146300">
                <a:moveTo>
                  <a:pt x="10064369" y="0"/>
                </a:moveTo>
                <a:lnTo>
                  <a:pt x="127762" y="0"/>
                </a:lnTo>
                <a:lnTo>
                  <a:pt x="78009" y="10032"/>
                </a:lnTo>
                <a:lnTo>
                  <a:pt x="37401" y="37401"/>
                </a:lnTo>
                <a:lnTo>
                  <a:pt x="10033" y="78009"/>
                </a:lnTo>
                <a:lnTo>
                  <a:pt x="0" y="127761"/>
                </a:lnTo>
                <a:lnTo>
                  <a:pt x="0" y="2018537"/>
                </a:lnTo>
                <a:lnTo>
                  <a:pt x="10033" y="2068236"/>
                </a:lnTo>
                <a:lnTo>
                  <a:pt x="37401" y="2108850"/>
                </a:lnTo>
                <a:lnTo>
                  <a:pt x="78009" y="2136249"/>
                </a:lnTo>
                <a:lnTo>
                  <a:pt x="127762" y="2146299"/>
                </a:lnTo>
                <a:lnTo>
                  <a:pt x="10064369" y="2146299"/>
                </a:lnTo>
                <a:lnTo>
                  <a:pt x="10114141" y="2136249"/>
                </a:lnTo>
                <a:lnTo>
                  <a:pt x="10154792" y="2108850"/>
                </a:lnTo>
                <a:lnTo>
                  <a:pt x="10182205" y="2068236"/>
                </a:lnTo>
                <a:lnTo>
                  <a:pt x="10192258" y="2018537"/>
                </a:lnTo>
                <a:lnTo>
                  <a:pt x="10192258" y="127761"/>
                </a:lnTo>
                <a:lnTo>
                  <a:pt x="10182205" y="78009"/>
                </a:lnTo>
                <a:lnTo>
                  <a:pt x="10154792" y="37401"/>
                </a:lnTo>
                <a:lnTo>
                  <a:pt x="10114141" y="10032"/>
                </a:lnTo>
                <a:lnTo>
                  <a:pt x="10064369" y="0"/>
                </a:lnTo>
                <a:close/>
              </a:path>
            </a:pathLst>
          </a:custGeom>
          <a:solidFill>
            <a:srgbClr val="DAE2F3"/>
          </a:solidFill>
        </p:spPr>
        <p:txBody>
          <a:bodyPr wrap="square" lIns="0" tIns="0" rIns="0" bIns="0" rtlCol="0"/>
          <a:lstStyle/>
          <a:p>
            <a:endParaRPr/>
          </a:p>
        </p:txBody>
      </p:sp>
      <p:sp>
        <p:nvSpPr>
          <p:cNvPr id="4" name="object 4"/>
          <p:cNvSpPr/>
          <p:nvPr/>
        </p:nvSpPr>
        <p:spPr>
          <a:xfrm>
            <a:off x="146354" y="1650492"/>
            <a:ext cx="3590290" cy="992505"/>
          </a:xfrm>
          <a:custGeom>
            <a:avLst/>
            <a:gdLst/>
            <a:ahLst/>
            <a:cxnLst/>
            <a:rect l="l" t="t" r="r" b="b"/>
            <a:pathLst>
              <a:path w="3590290" h="992505">
                <a:moveTo>
                  <a:pt x="3094050" y="0"/>
                </a:moveTo>
                <a:lnTo>
                  <a:pt x="0" y="0"/>
                </a:lnTo>
                <a:lnTo>
                  <a:pt x="0" y="992377"/>
                </a:lnTo>
                <a:lnTo>
                  <a:pt x="3094050" y="992377"/>
                </a:lnTo>
                <a:lnTo>
                  <a:pt x="3590239" y="496188"/>
                </a:lnTo>
                <a:lnTo>
                  <a:pt x="3094050" y="0"/>
                </a:lnTo>
                <a:close/>
              </a:path>
            </a:pathLst>
          </a:custGeom>
          <a:solidFill>
            <a:srgbClr val="4471C4"/>
          </a:solidFill>
        </p:spPr>
        <p:txBody>
          <a:bodyPr wrap="square" lIns="0" tIns="0" rIns="0" bIns="0" rtlCol="0"/>
          <a:lstStyle/>
          <a:p>
            <a:endParaRPr/>
          </a:p>
        </p:txBody>
      </p:sp>
      <p:sp>
        <p:nvSpPr>
          <p:cNvPr id="5" name="object 5"/>
          <p:cNvSpPr txBox="1"/>
          <p:nvPr/>
        </p:nvSpPr>
        <p:spPr>
          <a:xfrm>
            <a:off x="4171315" y="1693290"/>
            <a:ext cx="9044305" cy="848994"/>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solidFill>
                  <a:srgbClr val="404040"/>
                </a:solidFill>
                <a:latin typeface="Microsoft JhengHei"/>
                <a:cs typeface="Microsoft JhengHei"/>
              </a:rPr>
              <a:t>設計特色：</a:t>
            </a:r>
            <a:r>
              <a:rPr sz="1800" dirty="0">
                <a:solidFill>
                  <a:srgbClr val="404040"/>
                </a:solidFill>
                <a:latin typeface="Microsoft JhengHei"/>
                <a:cs typeface="Microsoft JhengHei"/>
              </a:rPr>
              <a:t>輕量級</a:t>
            </a:r>
            <a:r>
              <a:rPr sz="1800" spc="-20" dirty="0">
                <a:solidFill>
                  <a:srgbClr val="404040"/>
                </a:solidFill>
                <a:latin typeface="Microsoft JhengHei"/>
                <a:cs typeface="Microsoft JhengHei"/>
              </a:rPr>
              <a:t>Python</a:t>
            </a:r>
            <a:r>
              <a:rPr sz="1800" dirty="0">
                <a:solidFill>
                  <a:srgbClr val="404040"/>
                </a:solidFill>
                <a:latin typeface="Microsoft JhengHei"/>
                <a:cs typeface="Microsoft JhengHei"/>
              </a:rPr>
              <a:t>微框架，保持高擴展性與靈活性 (Grinberg</a:t>
            </a:r>
            <a:r>
              <a:rPr sz="1800" spc="-10" dirty="0">
                <a:solidFill>
                  <a:srgbClr val="404040"/>
                </a:solidFill>
                <a:latin typeface="Microsoft JhengHei"/>
                <a:cs typeface="Microsoft JhengHei"/>
              </a:rPr>
              <a:t>, 2018)</a:t>
            </a:r>
            <a:endParaRPr sz="180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核心功能：</a:t>
            </a:r>
            <a:r>
              <a:rPr sz="1800" dirty="0">
                <a:solidFill>
                  <a:srgbClr val="404040"/>
                </a:solidFill>
                <a:latin typeface="Microsoft JhengHei"/>
                <a:cs typeface="Microsoft JhengHei"/>
              </a:rPr>
              <a:t>包括路由系統、模板引擎、</a:t>
            </a:r>
            <a:r>
              <a:rPr sz="1800" spc="-10" dirty="0">
                <a:solidFill>
                  <a:srgbClr val="404040"/>
                </a:solidFill>
                <a:latin typeface="Microsoft JhengHei"/>
                <a:cs typeface="Microsoft JhengHei"/>
              </a:rPr>
              <a:t>WSGI相容性等 </a:t>
            </a:r>
            <a:r>
              <a:rPr sz="1800" dirty="0">
                <a:solidFill>
                  <a:srgbClr val="404040"/>
                </a:solidFill>
                <a:latin typeface="Microsoft JhengHei"/>
                <a:cs typeface="Microsoft JhengHei"/>
              </a:rPr>
              <a:t>(Baker</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2020)</a:t>
            </a:r>
            <a:endParaRPr sz="1800">
              <a:latin typeface="Microsoft JhengHei"/>
              <a:cs typeface="Microsoft JhengHei"/>
            </a:endParaRPr>
          </a:p>
          <a:p>
            <a:pPr marL="299085" indent="-286385">
              <a:lnSpc>
                <a:spcPct val="100000"/>
              </a:lnSpc>
              <a:buFont typeface="Arial MT"/>
              <a:buChar char="•"/>
              <a:tabLst>
                <a:tab pos="299085" algn="l"/>
              </a:tabLst>
            </a:pPr>
            <a:r>
              <a:rPr sz="1800" b="1" spc="-10" dirty="0">
                <a:solidFill>
                  <a:srgbClr val="404040"/>
                </a:solidFill>
                <a:latin typeface="Microsoft JhengHei"/>
                <a:cs typeface="Microsoft JhengHei"/>
              </a:rPr>
              <a:t>教育應用：</a:t>
            </a:r>
            <a:r>
              <a:rPr sz="1800" spc="-10" dirty="0">
                <a:solidFill>
                  <a:srgbClr val="404040"/>
                </a:solidFill>
                <a:latin typeface="Microsoft JhengHei"/>
                <a:cs typeface="Microsoft JhengHei"/>
              </a:rPr>
              <a:t>學習曲線平緩，特別適用於外部</a:t>
            </a:r>
            <a:r>
              <a:rPr sz="1800" spc="-20" dirty="0">
                <a:solidFill>
                  <a:srgbClr val="404040"/>
                </a:solidFill>
                <a:latin typeface="Microsoft JhengHei"/>
                <a:cs typeface="Microsoft JhengHei"/>
              </a:rPr>
              <a:t>API</a:t>
            </a:r>
            <a:r>
              <a:rPr sz="1800" spc="-10" dirty="0">
                <a:solidFill>
                  <a:srgbClr val="404040"/>
                </a:solidFill>
                <a:latin typeface="Microsoft JhengHei"/>
                <a:cs typeface="Microsoft JhengHei"/>
              </a:rPr>
              <a:t>整合的智能學習系統 </a:t>
            </a:r>
            <a:r>
              <a:rPr sz="1800" dirty="0">
                <a:solidFill>
                  <a:srgbClr val="404040"/>
                </a:solidFill>
                <a:latin typeface="Microsoft JhengHei"/>
                <a:cs typeface="Microsoft JhengHei"/>
              </a:rPr>
              <a:t>(Zhou</a:t>
            </a:r>
            <a:r>
              <a:rPr sz="1800" spc="3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5" dirty="0">
                <a:solidFill>
                  <a:srgbClr val="404040"/>
                </a:solidFill>
                <a:latin typeface="Microsoft JhengHei"/>
                <a:cs typeface="Microsoft JhengHei"/>
              </a:rPr>
              <a:t>., </a:t>
            </a:r>
            <a:r>
              <a:rPr sz="1800" spc="-10" dirty="0">
                <a:solidFill>
                  <a:srgbClr val="404040"/>
                </a:solidFill>
                <a:latin typeface="Microsoft JhengHei"/>
                <a:cs typeface="Microsoft JhengHei"/>
              </a:rPr>
              <a:t>2021)</a:t>
            </a:r>
            <a:endParaRPr sz="1800">
              <a:latin typeface="Microsoft JhengHei"/>
              <a:cs typeface="Microsoft JhengHei"/>
            </a:endParaRPr>
          </a:p>
        </p:txBody>
      </p:sp>
      <p:sp>
        <p:nvSpPr>
          <p:cNvPr id="6" name="object 6"/>
          <p:cNvSpPr txBox="1"/>
          <p:nvPr/>
        </p:nvSpPr>
        <p:spPr>
          <a:xfrm>
            <a:off x="1143711" y="1940178"/>
            <a:ext cx="1368425" cy="391160"/>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FFFF"/>
                </a:solidFill>
                <a:latin typeface="Microsoft JhengHei"/>
                <a:cs typeface="Microsoft JhengHei"/>
              </a:rPr>
              <a:t>Flask架構</a:t>
            </a:r>
            <a:endParaRPr sz="2400">
              <a:latin typeface="Microsoft JhengHei"/>
              <a:cs typeface="Microsoft JhengHei"/>
            </a:endParaRPr>
          </a:p>
        </p:txBody>
      </p:sp>
      <p:sp>
        <p:nvSpPr>
          <p:cNvPr id="7" name="object 7"/>
          <p:cNvSpPr/>
          <p:nvPr/>
        </p:nvSpPr>
        <p:spPr>
          <a:xfrm>
            <a:off x="14084045" y="1485391"/>
            <a:ext cx="0" cy="1744345"/>
          </a:xfrm>
          <a:custGeom>
            <a:avLst/>
            <a:gdLst/>
            <a:ahLst/>
            <a:cxnLst/>
            <a:rect l="l" t="t" r="r" b="b"/>
            <a:pathLst>
              <a:path h="1744345">
                <a:moveTo>
                  <a:pt x="0" y="0"/>
                </a:moveTo>
                <a:lnTo>
                  <a:pt x="0" y="1744090"/>
                </a:lnTo>
              </a:path>
            </a:pathLst>
          </a:custGeom>
          <a:ln w="19050">
            <a:solidFill>
              <a:srgbClr val="4471C4"/>
            </a:solidFill>
            <a:prstDash val="dash"/>
          </a:ln>
        </p:spPr>
        <p:txBody>
          <a:bodyPr wrap="square" lIns="0" tIns="0" rIns="0" bIns="0" rtlCol="0"/>
          <a:lstStyle/>
          <a:p>
            <a:endParaRPr/>
          </a:p>
        </p:txBody>
      </p:sp>
      <p:sp>
        <p:nvSpPr>
          <p:cNvPr id="8" name="object 8"/>
          <p:cNvSpPr/>
          <p:nvPr/>
        </p:nvSpPr>
        <p:spPr>
          <a:xfrm>
            <a:off x="301078" y="3673094"/>
            <a:ext cx="10037445" cy="1967864"/>
          </a:xfrm>
          <a:custGeom>
            <a:avLst/>
            <a:gdLst/>
            <a:ahLst/>
            <a:cxnLst/>
            <a:rect l="l" t="t" r="r" b="b"/>
            <a:pathLst>
              <a:path w="10037445" h="1967864">
                <a:moveTo>
                  <a:pt x="9920262" y="0"/>
                </a:moveTo>
                <a:lnTo>
                  <a:pt x="117132" y="0"/>
                </a:lnTo>
                <a:lnTo>
                  <a:pt x="71537" y="9205"/>
                </a:lnTo>
                <a:lnTo>
                  <a:pt x="34305" y="34305"/>
                </a:lnTo>
                <a:lnTo>
                  <a:pt x="9204" y="71526"/>
                </a:lnTo>
                <a:lnTo>
                  <a:pt x="0" y="117093"/>
                </a:lnTo>
                <a:lnTo>
                  <a:pt x="0" y="1850389"/>
                </a:lnTo>
                <a:lnTo>
                  <a:pt x="9204" y="1895957"/>
                </a:lnTo>
                <a:lnTo>
                  <a:pt x="34305" y="1933178"/>
                </a:lnTo>
                <a:lnTo>
                  <a:pt x="71537" y="1958278"/>
                </a:lnTo>
                <a:lnTo>
                  <a:pt x="117132" y="1967483"/>
                </a:lnTo>
                <a:lnTo>
                  <a:pt x="9920262" y="1967483"/>
                </a:lnTo>
                <a:lnTo>
                  <a:pt x="9965829" y="1958278"/>
                </a:lnTo>
                <a:lnTo>
                  <a:pt x="10003050" y="1933178"/>
                </a:lnTo>
                <a:lnTo>
                  <a:pt x="10028150" y="1895957"/>
                </a:lnTo>
                <a:lnTo>
                  <a:pt x="10037356" y="1850389"/>
                </a:lnTo>
                <a:lnTo>
                  <a:pt x="10037356" y="117093"/>
                </a:lnTo>
                <a:lnTo>
                  <a:pt x="10028150" y="71526"/>
                </a:lnTo>
                <a:lnTo>
                  <a:pt x="10003050" y="34305"/>
                </a:lnTo>
                <a:lnTo>
                  <a:pt x="9965829" y="9205"/>
                </a:lnTo>
                <a:lnTo>
                  <a:pt x="9920262" y="0"/>
                </a:lnTo>
                <a:close/>
              </a:path>
            </a:pathLst>
          </a:custGeom>
          <a:solidFill>
            <a:srgbClr val="FFF1CC"/>
          </a:solidFill>
        </p:spPr>
        <p:txBody>
          <a:bodyPr wrap="square" lIns="0" tIns="0" rIns="0" bIns="0" rtlCol="0"/>
          <a:lstStyle/>
          <a:p>
            <a:endParaRPr/>
          </a:p>
        </p:txBody>
      </p:sp>
      <p:sp>
        <p:nvSpPr>
          <p:cNvPr id="9" name="object 9"/>
          <p:cNvSpPr/>
          <p:nvPr/>
        </p:nvSpPr>
        <p:spPr>
          <a:xfrm>
            <a:off x="10482326" y="3825366"/>
            <a:ext cx="3601720" cy="1436370"/>
          </a:xfrm>
          <a:custGeom>
            <a:avLst/>
            <a:gdLst/>
            <a:ahLst/>
            <a:cxnLst/>
            <a:rect l="l" t="t" r="r" b="b"/>
            <a:pathLst>
              <a:path w="3601719" h="1436370">
                <a:moveTo>
                  <a:pt x="3601720" y="0"/>
                </a:moveTo>
                <a:lnTo>
                  <a:pt x="718184" y="0"/>
                </a:lnTo>
                <a:lnTo>
                  <a:pt x="0" y="718185"/>
                </a:lnTo>
                <a:lnTo>
                  <a:pt x="718184" y="1436370"/>
                </a:lnTo>
                <a:lnTo>
                  <a:pt x="3601720" y="1436370"/>
                </a:lnTo>
                <a:lnTo>
                  <a:pt x="3601720" y="0"/>
                </a:lnTo>
                <a:close/>
              </a:path>
            </a:pathLst>
          </a:custGeom>
          <a:solidFill>
            <a:srgbClr val="FFC000"/>
          </a:solidFill>
        </p:spPr>
        <p:txBody>
          <a:bodyPr wrap="square" lIns="0" tIns="0" rIns="0" bIns="0" rtlCol="0"/>
          <a:lstStyle/>
          <a:p>
            <a:endParaRPr/>
          </a:p>
        </p:txBody>
      </p:sp>
      <p:sp>
        <p:nvSpPr>
          <p:cNvPr id="10" name="object 10"/>
          <p:cNvSpPr txBox="1"/>
          <p:nvPr/>
        </p:nvSpPr>
        <p:spPr>
          <a:xfrm>
            <a:off x="523748" y="4044518"/>
            <a:ext cx="9466580" cy="112331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spc="-10" dirty="0">
                <a:solidFill>
                  <a:srgbClr val="404040"/>
                </a:solidFill>
                <a:latin typeface="Microsoft JhengHei"/>
                <a:cs typeface="Microsoft JhengHei"/>
              </a:rPr>
              <a:t>技術基礎</a:t>
            </a:r>
            <a:r>
              <a:rPr sz="1800" spc="-10" dirty="0">
                <a:solidFill>
                  <a:srgbClr val="404040"/>
                </a:solidFill>
                <a:latin typeface="Microsoft JhengHei"/>
                <a:cs typeface="Microsoft JhengHei"/>
              </a:rPr>
              <a:t>：基於Google語音合成技術，支持100+種語言，採用深度學習技術  (Choudhury</a:t>
            </a:r>
            <a:endParaRPr sz="1800">
              <a:latin typeface="Microsoft JhengHei"/>
              <a:cs typeface="Microsoft JhengHei"/>
            </a:endParaRPr>
          </a:p>
          <a:p>
            <a:pPr marL="299085">
              <a:lnSpc>
                <a:spcPct val="100000"/>
              </a:lnSpc>
              <a:spcBef>
                <a:spcPts val="5"/>
              </a:spcBef>
            </a:pPr>
            <a:r>
              <a:rPr sz="1800" dirty="0">
                <a:solidFill>
                  <a:srgbClr val="404040"/>
                </a:solidFill>
                <a:latin typeface="Microsoft JhengHei"/>
                <a:cs typeface="Microsoft JhengHei"/>
              </a:rPr>
              <a:t>&amp;</a:t>
            </a:r>
            <a:r>
              <a:rPr sz="1800" spc="-50" dirty="0">
                <a:solidFill>
                  <a:srgbClr val="404040"/>
                </a:solidFill>
                <a:latin typeface="Microsoft JhengHei"/>
                <a:cs typeface="Microsoft JhengHei"/>
              </a:rPr>
              <a:t> </a:t>
            </a:r>
            <a:r>
              <a:rPr sz="1800" spc="-20" dirty="0">
                <a:solidFill>
                  <a:srgbClr val="404040"/>
                </a:solidFill>
                <a:latin typeface="Microsoft JhengHei"/>
                <a:cs typeface="Microsoft JhengHei"/>
              </a:rPr>
              <a:t>Kumar,</a:t>
            </a:r>
            <a:r>
              <a:rPr sz="1800" spc="-35" dirty="0">
                <a:solidFill>
                  <a:srgbClr val="404040"/>
                </a:solidFill>
                <a:latin typeface="Microsoft JhengHei"/>
                <a:cs typeface="Microsoft JhengHei"/>
              </a:rPr>
              <a:t> </a:t>
            </a:r>
            <a:r>
              <a:rPr sz="1800" dirty="0">
                <a:solidFill>
                  <a:srgbClr val="404040"/>
                </a:solidFill>
                <a:latin typeface="Microsoft JhengHei"/>
                <a:cs typeface="Microsoft JhengHei"/>
              </a:rPr>
              <a:t>2019;</a:t>
            </a:r>
            <a:r>
              <a:rPr sz="1800" spc="-70" dirty="0">
                <a:solidFill>
                  <a:srgbClr val="404040"/>
                </a:solidFill>
                <a:latin typeface="Microsoft JhengHei"/>
                <a:cs typeface="Microsoft JhengHei"/>
              </a:rPr>
              <a:t> </a:t>
            </a:r>
            <a:r>
              <a:rPr sz="1800" spc="-25" dirty="0">
                <a:solidFill>
                  <a:srgbClr val="404040"/>
                </a:solidFill>
                <a:latin typeface="Microsoft JhengHei"/>
                <a:cs typeface="Microsoft JhengHei"/>
              </a:rPr>
              <a:t>Tsai,</a:t>
            </a:r>
            <a:r>
              <a:rPr sz="1800" spc="-35" dirty="0">
                <a:solidFill>
                  <a:srgbClr val="404040"/>
                </a:solidFill>
                <a:latin typeface="Microsoft JhengHei"/>
                <a:cs typeface="Microsoft JhengHei"/>
              </a:rPr>
              <a:t> </a:t>
            </a:r>
            <a:r>
              <a:rPr sz="1800" spc="-10" dirty="0">
                <a:solidFill>
                  <a:srgbClr val="404040"/>
                </a:solidFill>
                <a:latin typeface="Microsoft JhengHei"/>
                <a:cs typeface="Microsoft JhengHei"/>
              </a:rPr>
              <a:t>2021)</a:t>
            </a:r>
            <a:endParaRPr sz="180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教育效果</a:t>
            </a:r>
            <a:r>
              <a:rPr sz="1800" dirty="0">
                <a:solidFill>
                  <a:srgbClr val="404040"/>
                </a:solidFill>
                <a:latin typeface="Microsoft JhengHei"/>
                <a:cs typeface="Microsoft JhengHei"/>
              </a:rPr>
              <a:t>：顯著提升學習者聽力理解和發音模仿能力 (Liao</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&amp;</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Lee</a:t>
            </a:r>
            <a:r>
              <a:rPr sz="1800" spc="-10" dirty="0">
                <a:solidFill>
                  <a:srgbClr val="404040"/>
                </a:solidFill>
                <a:latin typeface="Microsoft JhengHei"/>
                <a:cs typeface="Microsoft JhengHei"/>
              </a:rPr>
              <a:t>, 2020)</a:t>
            </a:r>
            <a:endParaRPr sz="1800">
              <a:latin typeface="Microsoft JhengHei"/>
              <a:cs typeface="Microsoft JhengHei"/>
            </a:endParaRPr>
          </a:p>
          <a:p>
            <a:pPr marL="299085" indent="-286385">
              <a:lnSpc>
                <a:spcPct val="100000"/>
              </a:lnSpc>
              <a:buFont typeface="Arial MT"/>
              <a:buChar char="•"/>
              <a:tabLst>
                <a:tab pos="299085" algn="l"/>
              </a:tabLst>
            </a:pPr>
            <a:r>
              <a:rPr sz="1800" b="1" dirty="0">
                <a:solidFill>
                  <a:srgbClr val="404040"/>
                </a:solidFill>
                <a:latin typeface="Microsoft JhengHei"/>
                <a:cs typeface="Microsoft JhengHei"/>
              </a:rPr>
              <a:t>應用優勢</a:t>
            </a:r>
            <a:r>
              <a:rPr sz="1800" spc="15" dirty="0">
                <a:solidFill>
                  <a:srgbClr val="404040"/>
                </a:solidFill>
                <a:latin typeface="Microsoft JhengHei"/>
                <a:cs typeface="Microsoft JhengHei"/>
              </a:rPr>
              <a:t>：具即時生成和高度客製化優勢，實現個性化學習體驗</a:t>
            </a:r>
            <a:r>
              <a:rPr sz="1800" dirty="0">
                <a:solidFill>
                  <a:srgbClr val="404040"/>
                </a:solidFill>
                <a:latin typeface="Microsoft JhengHei"/>
                <a:cs typeface="Microsoft JhengHei"/>
              </a:rPr>
              <a:t>(Chen</a:t>
            </a:r>
            <a:r>
              <a:rPr sz="1800" spc="-10"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2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0" dirty="0">
                <a:solidFill>
                  <a:srgbClr val="404040"/>
                </a:solidFill>
                <a:latin typeface="Microsoft JhengHei"/>
                <a:cs typeface="Microsoft JhengHei"/>
              </a:rPr>
              <a:t>., 2022)</a:t>
            </a:r>
            <a:endParaRPr sz="1800">
              <a:latin typeface="Microsoft JhengHei"/>
              <a:cs typeface="Microsoft JhengHei"/>
            </a:endParaRPr>
          </a:p>
        </p:txBody>
      </p:sp>
      <p:sp>
        <p:nvSpPr>
          <p:cNvPr id="11" name="object 11"/>
          <p:cNvSpPr txBox="1"/>
          <p:nvPr/>
        </p:nvSpPr>
        <p:spPr>
          <a:xfrm>
            <a:off x="11391392" y="4066159"/>
            <a:ext cx="2161540" cy="756920"/>
          </a:xfrm>
          <a:prstGeom prst="rect">
            <a:avLst/>
          </a:prstGeom>
        </p:spPr>
        <p:txBody>
          <a:bodyPr vert="horz" wrap="square" lIns="0" tIns="12700" rIns="0" bIns="0" rtlCol="0">
            <a:spAutoFit/>
          </a:bodyPr>
          <a:lstStyle/>
          <a:p>
            <a:pPr algn="ctr">
              <a:lnSpc>
                <a:spcPct val="100000"/>
              </a:lnSpc>
              <a:spcBef>
                <a:spcPts val="100"/>
              </a:spcBef>
            </a:pPr>
            <a:r>
              <a:rPr sz="2400" b="1" spc="-10" dirty="0">
                <a:solidFill>
                  <a:srgbClr val="FFFFFF"/>
                </a:solidFill>
                <a:latin typeface="Microsoft JhengHei"/>
                <a:cs typeface="Microsoft JhengHei"/>
              </a:rPr>
              <a:t>文字轉語音技術</a:t>
            </a:r>
            <a:endParaRPr sz="2400">
              <a:latin typeface="Microsoft JhengHei"/>
              <a:cs typeface="Microsoft JhengHei"/>
            </a:endParaRPr>
          </a:p>
          <a:p>
            <a:pPr algn="ctr">
              <a:lnSpc>
                <a:spcPct val="100000"/>
              </a:lnSpc>
            </a:pPr>
            <a:r>
              <a:rPr sz="2400" b="1" spc="-10" dirty="0">
                <a:solidFill>
                  <a:srgbClr val="FFFFFF"/>
                </a:solidFill>
                <a:latin typeface="Microsoft JhengHei"/>
                <a:cs typeface="Microsoft JhengHei"/>
              </a:rPr>
              <a:t>(gTTS)</a:t>
            </a:r>
            <a:endParaRPr sz="2400">
              <a:latin typeface="Microsoft JhengHei"/>
              <a:cs typeface="Microsoft JhengHei"/>
            </a:endParaRPr>
          </a:p>
        </p:txBody>
      </p:sp>
      <p:sp>
        <p:nvSpPr>
          <p:cNvPr id="12" name="object 12"/>
          <p:cNvSpPr/>
          <p:nvPr/>
        </p:nvSpPr>
        <p:spPr>
          <a:xfrm>
            <a:off x="301078" y="3872484"/>
            <a:ext cx="0" cy="1598930"/>
          </a:xfrm>
          <a:custGeom>
            <a:avLst/>
            <a:gdLst/>
            <a:ahLst/>
            <a:cxnLst/>
            <a:rect l="l" t="t" r="r" b="b"/>
            <a:pathLst>
              <a:path h="1598929">
                <a:moveTo>
                  <a:pt x="0" y="0"/>
                </a:moveTo>
                <a:lnTo>
                  <a:pt x="0" y="1598929"/>
                </a:lnTo>
              </a:path>
            </a:pathLst>
          </a:custGeom>
          <a:ln w="19050">
            <a:solidFill>
              <a:srgbClr val="FFC000"/>
            </a:solidFill>
            <a:prstDash val="dash"/>
          </a:ln>
        </p:spPr>
        <p:txBody>
          <a:bodyPr wrap="square" lIns="0" tIns="0" rIns="0" bIns="0" rtlCol="0"/>
          <a:lstStyle/>
          <a:p>
            <a:endParaRPr/>
          </a:p>
        </p:txBody>
      </p:sp>
      <p:sp>
        <p:nvSpPr>
          <p:cNvPr id="13" name="object 13"/>
          <p:cNvSpPr/>
          <p:nvPr/>
        </p:nvSpPr>
        <p:spPr>
          <a:xfrm>
            <a:off x="4304410" y="5810122"/>
            <a:ext cx="9779635" cy="2146300"/>
          </a:xfrm>
          <a:custGeom>
            <a:avLst/>
            <a:gdLst/>
            <a:ahLst/>
            <a:cxnLst/>
            <a:rect l="l" t="t" r="r" b="b"/>
            <a:pathLst>
              <a:path w="9779635" h="2146300">
                <a:moveTo>
                  <a:pt x="9651746" y="0"/>
                </a:moveTo>
                <a:lnTo>
                  <a:pt x="127762" y="0"/>
                </a:lnTo>
                <a:lnTo>
                  <a:pt x="78009" y="10033"/>
                </a:lnTo>
                <a:lnTo>
                  <a:pt x="37401" y="37401"/>
                </a:lnTo>
                <a:lnTo>
                  <a:pt x="10033" y="78009"/>
                </a:lnTo>
                <a:lnTo>
                  <a:pt x="0" y="127762"/>
                </a:lnTo>
                <a:lnTo>
                  <a:pt x="0" y="2018512"/>
                </a:lnTo>
                <a:lnTo>
                  <a:pt x="10033" y="2068245"/>
                </a:lnTo>
                <a:lnTo>
                  <a:pt x="37401" y="2108860"/>
                </a:lnTo>
                <a:lnTo>
                  <a:pt x="78009" y="2136245"/>
                </a:lnTo>
                <a:lnTo>
                  <a:pt x="127762" y="2146287"/>
                </a:lnTo>
                <a:lnTo>
                  <a:pt x="9651746" y="2146287"/>
                </a:lnTo>
                <a:lnTo>
                  <a:pt x="9701518" y="2136245"/>
                </a:lnTo>
                <a:lnTo>
                  <a:pt x="9742169" y="2108860"/>
                </a:lnTo>
                <a:lnTo>
                  <a:pt x="9769582" y="2068245"/>
                </a:lnTo>
                <a:lnTo>
                  <a:pt x="9779635" y="2018512"/>
                </a:lnTo>
                <a:lnTo>
                  <a:pt x="9779635" y="127762"/>
                </a:lnTo>
                <a:lnTo>
                  <a:pt x="9769582" y="78009"/>
                </a:lnTo>
                <a:lnTo>
                  <a:pt x="9742169" y="37401"/>
                </a:lnTo>
                <a:lnTo>
                  <a:pt x="9701518" y="10032"/>
                </a:lnTo>
                <a:lnTo>
                  <a:pt x="9651746" y="0"/>
                </a:lnTo>
                <a:close/>
              </a:path>
            </a:pathLst>
          </a:custGeom>
          <a:solidFill>
            <a:srgbClr val="DBDBDB"/>
          </a:solidFill>
        </p:spPr>
        <p:txBody>
          <a:bodyPr wrap="square" lIns="0" tIns="0" rIns="0" bIns="0" rtlCol="0"/>
          <a:lstStyle/>
          <a:p>
            <a:endParaRPr/>
          </a:p>
        </p:txBody>
      </p:sp>
      <p:sp>
        <p:nvSpPr>
          <p:cNvPr id="14" name="object 14"/>
          <p:cNvSpPr/>
          <p:nvPr/>
        </p:nvSpPr>
        <p:spPr>
          <a:xfrm>
            <a:off x="352552" y="6277355"/>
            <a:ext cx="3829050" cy="1350645"/>
          </a:xfrm>
          <a:custGeom>
            <a:avLst/>
            <a:gdLst/>
            <a:ahLst/>
            <a:cxnLst/>
            <a:rect l="l" t="t" r="r" b="b"/>
            <a:pathLst>
              <a:path w="3829050" h="1350645">
                <a:moveTo>
                  <a:pt x="3153791" y="0"/>
                </a:moveTo>
                <a:lnTo>
                  <a:pt x="0" y="0"/>
                </a:lnTo>
                <a:lnTo>
                  <a:pt x="0" y="1350581"/>
                </a:lnTo>
                <a:lnTo>
                  <a:pt x="3153791" y="1350581"/>
                </a:lnTo>
                <a:lnTo>
                  <a:pt x="3829050" y="675259"/>
                </a:lnTo>
                <a:lnTo>
                  <a:pt x="3153791" y="0"/>
                </a:lnTo>
                <a:close/>
              </a:path>
            </a:pathLst>
          </a:custGeom>
          <a:solidFill>
            <a:srgbClr val="A4A4A4"/>
          </a:solidFill>
        </p:spPr>
        <p:txBody>
          <a:bodyPr wrap="square" lIns="0" tIns="0" rIns="0" bIns="0" rtlCol="0"/>
          <a:lstStyle/>
          <a:p>
            <a:endParaRPr/>
          </a:p>
        </p:txBody>
      </p:sp>
      <p:sp>
        <p:nvSpPr>
          <p:cNvPr id="15" name="object 15"/>
          <p:cNvSpPr txBox="1"/>
          <p:nvPr/>
        </p:nvSpPr>
        <p:spPr>
          <a:xfrm>
            <a:off x="4542282" y="6080886"/>
            <a:ext cx="9148445" cy="1671955"/>
          </a:xfrm>
          <a:prstGeom prst="rect">
            <a:avLst/>
          </a:prstGeom>
        </p:spPr>
        <p:txBody>
          <a:bodyPr vert="horz" wrap="square" lIns="0" tIns="12700" rIns="0" bIns="0" rtlCol="0">
            <a:spAutoFit/>
          </a:bodyPr>
          <a:lstStyle/>
          <a:p>
            <a:pPr marL="299085" marR="5080" indent="-287020">
              <a:lnSpc>
                <a:spcPct val="100000"/>
              </a:lnSpc>
              <a:spcBef>
                <a:spcPts val="100"/>
              </a:spcBef>
              <a:buFont typeface="Arial MT"/>
              <a:buChar char="•"/>
              <a:tabLst>
                <a:tab pos="299085" algn="l"/>
              </a:tabLst>
            </a:pPr>
            <a:r>
              <a:rPr sz="1800" b="1" spc="-5" dirty="0">
                <a:solidFill>
                  <a:srgbClr val="404040"/>
                </a:solidFill>
                <a:latin typeface="Microsoft JhengHei"/>
                <a:cs typeface="Microsoft JhengHei"/>
              </a:rPr>
              <a:t>技術特性</a:t>
            </a:r>
            <a:r>
              <a:rPr sz="1800" dirty="0">
                <a:solidFill>
                  <a:srgbClr val="404040"/>
                </a:solidFill>
                <a:latin typeface="Microsoft JhengHei"/>
                <a:cs typeface="Microsoft JhengHei"/>
              </a:rPr>
              <a:t>：基於</a:t>
            </a:r>
            <a:r>
              <a:rPr sz="1800" spc="-35" dirty="0">
                <a:solidFill>
                  <a:srgbClr val="404040"/>
                </a:solidFill>
                <a:latin typeface="Microsoft JhengHei"/>
                <a:cs typeface="Microsoft JhengHei"/>
              </a:rPr>
              <a:t>Transformer</a:t>
            </a:r>
            <a:r>
              <a:rPr sz="1800" spc="-5" dirty="0">
                <a:solidFill>
                  <a:srgbClr val="404040"/>
                </a:solidFill>
                <a:latin typeface="Microsoft JhengHei"/>
                <a:cs typeface="Microsoft JhengHei"/>
              </a:rPr>
              <a:t>架構，數十億參數捕捉語言複雜模式，具備理解、生成、推</a:t>
            </a:r>
            <a:r>
              <a:rPr sz="1800" spc="-10" dirty="0">
                <a:solidFill>
                  <a:srgbClr val="404040"/>
                </a:solidFill>
                <a:latin typeface="Microsoft JhengHei"/>
                <a:cs typeface="Microsoft JhengHei"/>
              </a:rPr>
              <a:t>理能力 </a:t>
            </a:r>
            <a:r>
              <a:rPr sz="1800" dirty="0">
                <a:solidFill>
                  <a:srgbClr val="404040"/>
                </a:solidFill>
                <a:latin typeface="Microsoft JhengHei"/>
                <a:cs typeface="Microsoft JhengHei"/>
              </a:rPr>
              <a:t>(Brown</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4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2020</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Wei</a:t>
            </a:r>
            <a:r>
              <a:rPr sz="1800" spc="-4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4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15" dirty="0">
                <a:solidFill>
                  <a:srgbClr val="404040"/>
                </a:solidFill>
                <a:latin typeface="Microsoft JhengHei"/>
                <a:cs typeface="Microsoft JhengHei"/>
              </a:rPr>
              <a:t>., </a:t>
            </a:r>
            <a:r>
              <a:rPr sz="1800" spc="-10" dirty="0">
                <a:solidFill>
                  <a:srgbClr val="404040"/>
                </a:solidFill>
                <a:latin typeface="Microsoft JhengHei"/>
                <a:cs typeface="Microsoft JhengHei"/>
              </a:rPr>
              <a:t>2022)</a:t>
            </a:r>
            <a:endParaRPr sz="1800">
              <a:latin typeface="Microsoft JhengHei"/>
              <a:cs typeface="Microsoft JhengHei"/>
            </a:endParaRPr>
          </a:p>
          <a:p>
            <a:pPr marL="299085" indent="-286385">
              <a:lnSpc>
                <a:spcPct val="100000"/>
              </a:lnSpc>
              <a:buFont typeface="Arial MT"/>
              <a:buChar char="•"/>
              <a:tabLst>
                <a:tab pos="299085" algn="l"/>
              </a:tabLst>
            </a:pPr>
            <a:r>
              <a:rPr sz="1800" b="1" spc="-5" dirty="0">
                <a:solidFill>
                  <a:srgbClr val="404040"/>
                </a:solidFill>
                <a:latin typeface="Microsoft JhengHei"/>
                <a:cs typeface="Microsoft JhengHei"/>
              </a:rPr>
              <a:t>教育革新</a:t>
            </a:r>
            <a:r>
              <a:rPr sz="1800" spc="-5" dirty="0">
                <a:solidFill>
                  <a:srgbClr val="404040"/>
                </a:solidFill>
                <a:latin typeface="Microsoft JhengHei"/>
                <a:cs typeface="Microsoft JhengHei"/>
              </a:rPr>
              <a:t>：提供個性化學習內容與即時反饋，透過提示工程精確生成符合教學目標內容</a:t>
            </a:r>
            <a:endParaRPr sz="1800">
              <a:latin typeface="Microsoft JhengHei"/>
              <a:cs typeface="Microsoft JhengHei"/>
            </a:endParaRPr>
          </a:p>
          <a:p>
            <a:pPr marL="299085">
              <a:lnSpc>
                <a:spcPct val="100000"/>
              </a:lnSpc>
            </a:pPr>
            <a:r>
              <a:rPr sz="1800" dirty="0">
                <a:solidFill>
                  <a:srgbClr val="404040"/>
                </a:solidFill>
                <a:latin typeface="Microsoft JhengHei"/>
                <a:cs typeface="Microsoft JhengHei"/>
              </a:rPr>
              <a:t>(Zhao</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&amp;</a:t>
            </a:r>
            <a:r>
              <a:rPr sz="1800" spc="-35" dirty="0">
                <a:solidFill>
                  <a:srgbClr val="404040"/>
                </a:solidFill>
                <a:latin typeface="Microsoft JhengHei"/>
                <a:cs typeface="Microsoft JhengHei"/>
              </a:rPr>
              <a:t> </a:t>
            </a:r>
            <a:r>
              <a:rPr sz="1800" dirty="0">
                <a:solidFill>
                  <a:srgbClr val="404040"/>
                </a:solidFill>
                <a:latin typeface="Microsoft JhengHei"/>
                <a:cs typeface="Microsoft JhengHei"/>
              </a:rPr>
              <a:t>Zhang,</a:t>
            </a:r>
            <a:r>
              <a:rPr sz="1800" spc="-15" dirty="0">
                <a:solidFill>
                  <a:srgbClr val="404040"/>
                </a:solidFill>
                <a:latin typeface="Microsoft JhengHei"/>
                <a:cs typeface="Microsoft JhengHei"/>
              </a:rPr>
              <a:t> </a:t>
            </a:r>
            <a:r>
              <a:rPr sz="1800" dirty="0">
                <a:solidFill>
                  <a:srgbClr val="404040"/>
                </a:solidFill>
                <a:latin typeface="Microsoft JhengHei"/>
                <a:cs typeface="Microsoft JhengHei"/>
              </a:rPr>
              <a:t>2023;</a:t>
            </a:r>
            <a:r>
              <a:rPr sz="1800" spc="-50" dirty="0">
                <a:solidFill>
                  <a:srgbClr val="404040"/>
                </a:solidFill>
                <a:latin typeface="Microsoft JhengHei"/>
                <a:cs typeface="Microsoft JhengHei"/>
              </a:rPr>
              <a:t> </a:t>
            </a:r>
            <a:r>
              <a:rPr sz="1800" dirty="0">
                <a:solidFill>
                  <a:srgbClr val="404040"/>
                </a:solidFill>
                <a:latin typeface="Microsoft JhengHei"/>
                <a:cs typeface="Microsoft JhengHei"/>
              </a:rPr>
              <a:t>Liu</a:t>
            </a:r>
            <a:r>
              <a:rPr sz="1800" spc="-25" dirty="0">
                <a:solidFill>
                  <a:srgbClr val="404040"/>
                </a:solidFill>
                <a:latin typeface="Microsoft JhengHei"/>
                <a:cs typeface="Microsoft JhengHei"/>
              </a:rPr>
              <a:t> </a:t>
            </a:r>
            <a:r>
              <a:rPr sz="1800" dirty="0">
                <a:solidFill>
                  <a:srgbClr val="404040"/>
                </a:solidFill>
                <a:latin typeface="Microsoft JhengHei"/>
                <a:cs typeface="Microsoft JhengHei"/>
              </a:rPr>
              <a:t>et</a:t>
            </a:r>
            <a:r>
              <a:rPr sz="1800" spc="-40" dirty="0">
                <a:solidFill>
                  <a:srgbClr val="404040"/>
                </a:solidFill>
                <a:latin typeface="Microsoft JhengHei"/>
                <a:cs typeface="Microsoft JhengHei"/>
              </a:rPr>
              <a:t> </a:t>
            </a:r>
            <a:r>
              <a:rPr sz="1800" dirty="0">
                <a:solidFill>
                  <a:srgbClr val="404040"/>
                </a:solidFill>
                <a:latin typeface="Microsoft JhengHei"/>
                <a:cs typeface="Microsoft JhengHei"/>
              </a:rPr>
              <a:t>al.,</a:t>
            </a:r>
            <a:r>
              <a:rPr sz="1800" spc="-45" dirty="0">
                <a:solidFill>
                  <a:srgbClr val="404040"/>
                </a:solidFill>
                <a:latin typeface="Microsoft JhengHei"/>
                <a:cs typeface="Microsoft JhengHei"/>
              </a:rPr>
              <a:t> </a:t>
            </a:r>
            <a:r>
              <a:rPr sz="1800" spc="-10" dirty="0">
                <a:solidFill>
                  <a:srgbClr val="404040"/>
                </a:solidFill>
                <a:latin typeface="Microsoft JhengHei"/>
                <a:cs typeface="Microsoft JhengHei"/>
              </a:rPr>
              <a:t>2023)</a:t>
            </a:r>
            <a:endParaRPr sz="1800">
              <a:latin typeface="Microsoft JhengHei"/>
              <a:cs typeface="Microsoft JhengHei"/>
            </a:endParaRPr>
          </a:p>
          <a:p>
            <a:pPr marL="299085" marR="272415" indent="-287020">
              <a:lnSpc>
                <a:spcPct val="100000"/>
              </a:lnSpc>
              <a:buFont typeface="Arial MT"/>
              <a:buChar char="•"/>
              <a:tabLst>
                <a:tab pos="299085" algn="l"/>
              </a:tabLst>
            </a:pPr>
            <a:r>
              <a:rPr sz="1800" spc="5" dirty="0">
                <a:solidFill>
                  <a:srgbClr val="404040"/>
                </a:solidFill>
                <a:latin typeface="Microsoft JhengHei"/>
                <a:cs typeface="Microsoft JhengHei"/>
              </a:rPr>
              <a:t>優勢突破：更接近真實對話，具更高參與度與即時性，為語言教育開創新範式(</a:t>
            </a:r>
            <a:r>
              <a:rPr sz="1800" dirty="0">
                <a:solidFill>
                  <a:srgbClr val="404040"/>
                </a:solidFill>
                <a:latin typeface="Microsoft JhengHei"/>
                <a:cs typeface="Microsoft JhengHei"/>
              </a:rPr>
              <a:t>Wei</a:t>
            </a:r>
            <a:r>
              <a:rPr sz="1800" spc="-90" dirty="0">
                <a:solidFill>
                  <a:srgbClr val="404040"/>
                </a:solidFill>
                <a:latin typeface="Microsoft JhengHei"/>
                <a:cs typeface="Microsoft JhengHei"/>
              </a:rPr>
              <a:t> </a:t>
            </a:r>
            <a:r>
              <a:rPr sz="1800" spc="-50" dirty="0">
                <a:solidFill>
                  <a:srgbClr val="404040"/>
                </a:solidFill>
                <a:latin typeface="Microsoft JhengHei"/>
                <a:cs typeface="Microsoft JhengHei"/>
              </a:rPr>
              <a:t>&amp; </a:t>
            </a:r>
            <a:r>
              <a:rPr sz="1800" dirty="0">
                <a:solidFill>
                  <a:srgbClr val="404040"/>
                </a:solidFill>
                <a:latin typeface="Microsoft JhengHei"/>
                <a:cs typeface="Microsoft JhengHei"/>
              </a:rPr>
              <a:t>Chen</a:t>
            </a:r>
            <a:r>
              <a:rPr sz="1800" spc="-15" dirty="0">
                <a:solidFill>
                  <a:srgbClr val="404040"/>
                </a:solidFill>
                <a:latin typeface="Microsoft JhengHei"/>
                <a:cs typeface="Microsoft JhengHei"/>
              </a:rPr>
              <a:t>, </a:t>
            </a:r>
            <a:r>
              <a:rPr sz="1800" spc="-20" dirty="0">
                <a:solidFill>
                  <a:srgbClr val="404040"/>
                </a:solidFill>
                <a:latin typeface="Microsoft JhengHei"/>
                <a:cs typeface="Microsoft JhengHei"/>
              </a:rPr>
              <a:t>2022)</a:t>
            </a:r>
            <a:endParaRPr sz="1800">
              <a:latin typeface="Microsoft JhengHei"/>
              <a:cs typeface="Microsoft JhengHei"/>
            </a:endParaRPr>
          </a:p>
        </p:txBody>
      </p:sp>
      <p:sp>
        <p:nvSpPr>
          <p:cNvPr id="16" name="object 16"/>
          <p:cNvSpPr txBox="1"/>
          <p:nvPr/>
        </p:nvSpPr>
        <p:spPr>
          <a:xfrm>
            <a:off x="1134262" y="6569709"/>
            <a:ext cx="1854200" cy="757555"/>
          </a:xfrm>
          <a:prstGeom prst="rect">
            <a:avLst/>
          </a:prstGeom>
        </p:spPr>
        <p:txBody>
          <a:bodyPr vert="horz" wrap="square" lIns="0" tIns="12700" rIns="0" bIns="0" rtlCol="0">
            <a:spAutoFit/>
          </a:bodyPr>
          <a:lstStyle/>
          <a:p>
            <a:pPr algn="ctr">
              <a:lnSpc>
                <a:spcPct val="100000"/>
              </a:lnSpc>
              <a:spcBef>
                <a:spcPts val="100"/>
              </a:spcBef>
            </a:pPr>
            <a:r>
              <a:rPr sz="2400" b="1" spc="-10" dirty="0">
                <a:solidFill>
                  <a:srgbClr val="FFFFFF"/>
                </a:solidFill>
                <a:latin typeface="Microsoft JhengHei"/>
                <a:cs typeface="Microsoft JhengHei"/>
              </a:rPr>
              <a:t>大型語言模型</a:t>
            </a:r>
            <a:endParaRPr sz="2400">
              <a:latin typeface="Microsoft JhengHei"/>
              <a:cs typeface="Microsoft JhengHei"/>
            </a:endParaRPr>
          </a:p>
          <a:p>
            <a:pPr algn="ctr">
              <a:lnSpc>
                <a:spcPct val="100000"/>
              </a:lnSpc>
            </a:pPr>
            <a:r>
              <a:rPr sz="2400" b="1" spc="-10" dirty="0">
                <a:solidFill>
                  <a:srgbClr val="FFFFFF"/>
                </a:solidFill>
                <a:latin typeface="Microsoft JhengHei"/>
                <a:cs typeface="Microsoft JhengHei"/>
              </a:rPr>
              <a:t>(LLM)</a:t>
            </a:r>
            <a:endParaRPr sz="2400">
              <a:latin typeface="Microsoft JhengHei"/>
              <a:cs typeface="Microsoft JhengHei"/>
            </a:endParaRPr>
          </a:p>
        </p:txBody>
      </p:sp>
      <p:sp>
        <p:nvSpPr>
          <p:cNvPr id="17" name="object 17"/>
          <p:cNvSpPr/>
          <p:nvPr/>
        </p:nvSpPr>
        <p:spPr>
          <a:xfrm>
            <a:off x="14084045" y="6146546"/>
            <a:ext cx="0" cy="1744345"/>
          </a:xfrm>
          <a:custGeom>
            <a:avLst/>
            <a:gdLst/>
            <a:ahLst/>
            <a:cxnLst/>
            <a:rect l="l" t="t" r="r" b="b"/>
            <a:pathLst>
              <a:path h="1744345">
                <a:moveTo>
                  <a:pt x="0" y="0"/>
                </a:moveTo>
                <a:lnTo>
                  <a:pt x="0" y="1744167"/>
                </a:lnTo>
              </a:path>
            </a:pathLst>
          </a:custGeom>
          <a:ln w="19050">
            <a:solidFill>
              <a:srgbClr val="7B7B7B"/>
            </a:solidFill>
            <a:prstDash val="dash"/>
          </a:ln>
        </p:spPr>
        <p:txBody>
          <a:bodyPr wrap="square" lIns="0" tIns="0" rIns="0" bIns="0" rtlCol="0"/>
          <a:lstStyle/>
          <a:p>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871704" y="507"/>
            <a:ext cx="1758950" cy="3629660"/>
          </a:xfrm>
          <a:custGeom>
            <a:avLst/>
            <a:gdLst/>
            <a:ahLst/>
            <a:cxnLst/>
            <a:rect l="l" t="t" r="r" b="b"/>
            <a:pathLst>
              <a:path w="1758950" h="3629660">
                <a:moveTo>
                  <a:pt x="9017" y="0"/>
                </a:moveTo>
                <a:lnTo>
                  <a:pt x="0" y="2751709"/>
                </a:lnTo>
                <a:lnTo>
                  <a:pt x="1142" y="2799708"/>
                </a:lnTo>
                <a:lnTo>
                  <a:pt x="4830" y="2847039"/>
                </a:lnTo>
                <a:lnTo>
                  <a:pt x="10997" y="2893635"/>
                </a:lnTo>
                <a:lnTo>
                  <a:pt x="19577" y="2939429"/>
                </a:lnTo>
                <a:lnTo>
                  <a:pt x="30504" y="2984354"/>
                </a:lnTo>
                <a:lnTo>
                  <a:pt x="43710" y="3028343"/>
                </a:lnTo>
                <a:lnTo>
                  <a:pt x="59130" y="3071329"/>
                </a:lnTo>
                <a:lnTo>
                  <a:pt x="76697" y="3113246"/>
                </a:lnTo>
                <a:lnTo>
                  <a:pt x="96344" y="3154026"/>
                </a:lnTo>
                <a:lnTo>
                  <a:pt x="118006" y="3193603"/>
                </a:lnTo>
                <a:lnTo>
                  <a:pt x="141616" y="3231909"/>
                </a:lnTo>
                <a:lnTo>
                  <a:pt x="167107" y="3268877"/>
                </a:lnTo>
                <a:lnTo>
                  <a:pt x="194413" y="3304441"/>
                </a:lnTo>
                <a:lnTo>
                  <a:pt x="223469" y="3338533"/>
                </a:lnTo>
                <a:lnTo>
                  <a:pt x="254206" y="3371087"/>
                </a:lnTo>
                <a:lnTo>
                  <a:pt x="286559" y="3402036"/>
                </a:lnTo>
                <a:lnTo>
                  <a:pt x="320462" y="3431313"/>
                </a:lnTo>
                <a:lnTo>
                  <a:pt x="355847" y="3458851"/>
                </a:lnTo>
                <a:lnTo>
                  <a:pt x="392650" y="3484582"/>
                </a:lnTo>
                <a:lnTo>
                  <a:pt x="430802" y="3508440"/>
                </a:lnTo>
                <a:lnTo>
                  <a:pt x="470239" y="3530359"/>
                </a:lnTo>
                <a:lnTo>
                  <a:pt x="510893" y="3550270"/>
                </a:lnTo>
                <a:lnTo>
                  <a:pt x="552697" y="3568108"/>
                </a:lnTo>
                <a:lnTo>
                  <a:pt x="595587" y="3583804"/>
                </a:lnTo>
                <a:lnTo>
                  <a:pt x="639494" y="3597293"/>
                </a:lnTo>
                <a:lnTo>
                  <a:pt x="684354" y="3608508"/>
                </a:lnTo>
                <a:lnTo>
                  <a:pt x="730099" y="3617380"/>
                </a:lnTo>
                <a:lnTo>
                  <a:pt x="776663" y="3623844"/>
                </a:lnTo>
                <a:lnTo>
                  <a:pt x="823979" y="3627833"/>
                </a:lnTo>
                <a:lnTo>
                  <a:pt x="871982" y="3629279"/>
                </a:lnTo>
                <a:lnTo>
                  <a:pt x="919981" y="3628148"/>
                </a:lnTo>
                <a:lnTo>
                  <a:pt x="967312" y="3624470"/>
                </a:lnTo>
                <a:lnTo>
                  <a:pt x="1013908" y="3618312"/>
                </a:lnTo>
                <a:lnTo>
                  <a:pt x="1059702" y="3609739"/>
                </a:lnTo>
                <a:lnTo>
                  <a:pt x="1104627" y="3598819"/>
                </a:lnTo>
                <a:lnTo>
                  <a:pt x="1148617" y="3585618"/>
                </a:lnTo>
                <a:lnTo>
                  <a:pt x="1191604" y="3570202"/>
                </a:lnTo>
                <a:lnTo>
                  <a:pt x="1233522" y="3552639"/>
                </a:lnTo>
                <a:lnTo>
                  <a:pt x="1274303" y="3532993"/>
                </a:lnTo>
                <a:lnTo>
                  <a:pt x="1313880" y="3511333"/>
                </a:lnTo>
                <a:lnTo>
                  <a:pt x="1352188" y="3487724"/>
                </a:lnTo>
                <a:lnTo>
                  <a:pt x="1389158" y="3462234"/>
                </a:lnTo>
                <a:lnTo>
                  <a:pt x="1424724" y="3434928"/>
                </a:lnTo>
                <a:lnTo>
                  <a:pt x="1458819" y="3405873"/>
                </a:lnTo>
                <a:lnTo>
                  <a:pt x="1491376" y="3375136"/>
                </a:lnTo>
                <a:lnTo>
                  <a:pt x="1522329" y="3342782"/>
                </a:lnTo>
                <a:lnTo>
                  <a:pt x="1551609" y="3308880"/>
                </a:lnTo>
                <a:lnTo>
                  <a:pt x="1579151" y="3273495"/>
                </a:lnTo>
                <a:lnTo>
                  <a:pt x="1604887" y="3236693"/>
                </a:lnTo>
                <a:lnTo>
                  <a:pt x="1628751" y="3198542"/>
                </a:lnTo>
                <a:lnTo>
                  <a:pt x="1650675" y="3159107"/>
                </a:lnTo>
                <a:lnTo>
                  <a:pt x="1670593" y="3118455"/>
                </a:lnTo>
                <a:lnTo>
                  <a:pt x="1688438" y="3076654"/>
                </a:lnTo>
                <a:lnTo>
                  <a:pt x="1704142" y="3033768"/>
                </a:lnTo>
                <a:lnTo>
                  <a:pt x="1717640" y="2989866"/>
                </a:lnTo>
                <a:lnTo>
                  <a:pt x="1728863" y="2945013"/>
                </a:lnTo>
                <a:lnTo>
                  <a:pt x="1737746" y="2899275"/>
                </a:lnTo>
                <a:lnTo>
                  <a:pt x="1744220" y="2852720"/>
                </a:lnTo>
                <a:lnTo>
                  <a:pt x="1748220" y="2805414"/>
                </a:lnTo>
                <a:lnTo>
                  <a:pt x="1749678" y="2757424"/>
                </a:lnTo>
                <a:lnTo>
                  <a:pt x="1758696" y="5842"/>
                </a:lnTo>
                <a:lnTo>
                  <a:pt x="9017" y="0"/>
                </a:lnTo>
                <a:close/>
              </a:path>
            </a:pathLst>
          </a:custGeom>
          <a:solidFill>
            <a:srgbClr val="44536A"/>
          </a:solidFill>
        </p:spPr>
        <p:txBody>
          <a:bodyPr wrap="square" lIns="0" tIns="0" rIns="0" bIns="0" rtlCol="0"/>
          <a:lstStyle/>
          <a:p>
            <a:endParaRPr/>
          </a:p>
        </p:txBody>
      </p:sp>
      <p:grpSp>
        <p:nvGrpSpPr>
          <p:cNvPr id="3" name="object 3"/>
          <p:cNvGrpSpPr/>
          <p:nvPr/>
        </p:nvGrpSpPr>
        <p:grpSpPr>
          <a:xfrm>
            <a:off x="0" y="5913194"/>
            <a:ext cx="2316480" cy="2316480"/>
            <a:chOff x="0" y="5913194"/>
            <a:chExt cx="2316480" cy="2316480"/>
          </a:xfrm>
        </p:grpSpPr>
        <p:sp>
          <p:nvSpPr>
            <p:cNvPr id="4" name="object 4"/>
            <p:cNvSpPr/>
            <p:nvPr/>
          </p:nvSpPr>
          <p:spPr>
            <a:xfrm>
              <a:off x="0" y="5913194"/>
              <a:ext cx="2316480" cy="2316480"/>
            </a:xfrm>
            <a:custGeom>
              <a:avLst/>
              <a:gdLst/>
              <a:ahLst/>
              <a:cxnLst/>
              <a:rect l="l" t="t" r="r" b="b"/>
              <a:pathLst>
                <a:path w="2316480" h="2316479">
                  <a:moveTo>
                    <a:pt x="0" y="0"/>
                  </a:moveTo>
                  <a:lnTo>
                    <a:pt x="0" y="2316392"/>
                  </a:lnTo>
                  <a:lnTo>
                    <a:pt x="2316479" y="2316392"/>
                  </a:lnTo>
                  <a:lnTo>
                    <a:pt x="0" y="0"/>
                  </a:lnTo>
                  <a:close/>
                </a:path>
              </a:pathLst>
            </a:custGeom>
            <a:solidFill>
              <a:srgbClr val="A4A4A4"/>
            </a:solidFill>
          </p:spPr>
          <p:txBody>
            <a:bodyPr wrap="square" lIns="0" tIns="0" rIns="0" bIns="0" rtlCol="0"/>
            <a:lstStyle/>
            <a:p>
              <a:endParaRPr/>
            </a:p>
          </p:txBody>
        </p:sp>
        <p:sp>
          <p:nvSpPr>
            <p:cNvPr id="5" name="object 5"/>
            <p:cNvSpPr/>
            <p:nvPr/>
          </p:nvSpPr>
          <p:spPr>
            <a:xfrm>
              <a:off x="164084" y="6006084"/>
              <a:ext cx="1885950" cy="1885950"/>
            </a:xfrm>
            <a:custGeom>
              <a:avLst/>
              <a:gdLst/>
              <a:ahLst/>
              <a:cxnLst/>
              <a:rect l="l" t="t" r="r" b="b"/>
              <a:pathLst>
                <a:path w="1885950" h="1885950">
                  <a:moveTo>
                    <a:pt x="1350645" y="942975"/>
                  </a:moveTo>
                  <a:lnTo>
                    <a:pt x="1347902" y="895426"/>
                  </a:lnTo>
                  <a:lnTo>
                    <a:pt x="1339879" y="849486"/>
                  </a:lnTo>
                  <a:lnTo>
                    <a:pt x="1326880" y="805461"/>
                  </a:lnTo>
                  <a:lnTo>
                    <a:pt x="1309212" y="763657"/>
                  </a:lnTo>
                  <a:lnTo>
                    <a:pt x="1287181" y="724381"/>
                  </a:lnTo>
                  <a:lnTo>
                    <a:pt x="1261092" y="687939"/>
                  </a:lnTo>
                  <a:lnTo>
                    <a:pt x="1231250" y="654637"/>
                  </a:lnTo>
                  <a:lnTo>
                    <a:pt x="1197963" y="624781"/>
                  </a:lnTo>
                  <a:lnTo>
                    <a:pt x="1161534" y="598679"/>
                  </a:lnTo>
                  <a:lnTo>
                    <a:pt x="1122271" y="576635"/>
                  </a:lnTo>
                  <a:lnTo>
                    <a:pt x="1080479" y="558957"/>
                  </a:lnTo>
                  <a:lnTo>
                    <a:pt x="1036464" y="545950"/>
                  </a:lnTo>
                  <a:lnTo>
                    <a:pt x="990531" y="537922"/>
                  </a:lnTo>
                  <a:lnTo>
                    <a:pt x="942987" y="535178"/>
                  </a:lnTo>
                  <a:lnTo>
                    <a:pt x="895442" y="537922"/>
                  </a:lnTo>
                  <a:lnTo>
                    <a:pt x="849508" y="545950"/>
                  </a:lnTo>
                  <a:lnTo>
                    <a:pt x="805491" y="558957"/>
                  </a:lnTo>
                  <a:lnTo>
                    <a:pt x="763696" y="576635"/>
                  </a:lnTo>
                  <a:lnTo>
                    <a:pt x="724429" y="598679"/>
                  </a:lnTo>
                  <a:lnTo>
                    <a:pt x="687997" y="624781"/>
                  </a:lnTo>
                  <a:lnTo>
                    <a:pt x="654705" y="654637"/>
                  </a:lnTo>
                  <a:lnTo>
                    <a:pt x="624860" y="687939"/>
                  </a:lnTo>
                  <a:lnTo>
                    <a:pt x="598766" y="724381"/>
                  </a:lnTo>
                  <a:lnTo>
                    <a:pt x="576731" y="763657"/>
                  </a:lnTo>
                  <a:lnTo>
                    <a:pt x="559060" y="805461"/>
                  </a:lnTo>
                  <a:lnTo>
                    <a:pt x="546060" y="849486"/>
                  </a:lnTo>
                  <a:lnTo>
                    <a:pt x="538035" y="895426"/>
                  </a:lnTo>
                  <a:lnTo>
                    <a:pt x="535292" y="942975"/>
                  </a:lnTo>
                  <a:lnTo>
                    <a:pt x="538035" y="990514"/>
                  </a:lnTo>
                  <a:lnTo>
                    <a:pt x="546060" y="1036444"/>
                  </a:lnTo>
                  <a:lnTo>
                    <a:pt x="559060" y="1080458"/>
                  </a:lnTo>
                  <a:lnTo>
                    <a:pt x="576731" y="1122250"/>
                  </a:lnTo>
                  <a:lnTo>
                    <a:pt x="598766" y="1161514"/>
                  </a:lnTo>
                  <a:lnTo>
                    <a:pt x="624860" y="1197944"/>
                  </a:lnTo>
                  <a:lnTo>
                    <a:pt x="654705" y="1231234"/>
                  </a:lnTo>
                  <a:lnTo>
                    <a:pt x="687997" y="1261079"/>
                  </a:lnTo>
                  <a:lnTo>
                    <a:pt x="724429" y="1287171"/>
                  </a:lnTo>
                  <a:lnTo>
                    <a:pt x="763696" y="1309205"/>
                  </a:lnTo>
                  <a:lnTo>
                    <a:pt x="805491" y="1326876"/>
                  </a:lnTo>
                  <a:lnTo>
                    <a:pt x="849508" y="1339877"/>
                  </a:lnTo>
                  <a:lnTo>
                    <a:pt x="895442" y="1347902"/>
                  </a:lnTo>
                  <a:lnTo>
                    <a:pt x="942987" y="1350645"/>
                  </a:lnTo>
                  <a:lnTo>
                    <a:pt x="990531" y="1347902"/>
                  </a:lnTo>
                  <a:lnTo>
                    <a:pt x="1036464" y="1339877"/>
                  </a:lnTo>
                  <a:lnTo>
                    <a:pt x="1080479" y="1326876"/>
                  </a:lnTo>
                  <a:lnTo>
                    <a:pt x="1122271" y="1309205"/>
                  </a:lnTo>
                  <a:lnTo>
                    <a:pt x="1161534" y="1287171"/>
                  </a:lnTo>
                  <a:lnTo>
                    <a:pt x="1197963" y="1261079"/>
                  </a:lnTo>
                  <a:lnTo>
                    <a:pt x="1231250" y="1231234"/>
                  </a:lnTo>
                  <a:lnTo>
                    <a:pt x="1261092" y="1197944"/>
                  </a:lnTo>
                  <a:lnTo>
                    <a:pt x="1287181" y="1161514"/>
                  </a:lnTo>
                  <a:lnTo>
                    <a:pt x="1309212" y="1122250"/>
                  </a:lnTo>
                  <a:lnTo>
                    <a:pt x="1326880" y="1080458"/>
                  </a:lnTo>
                  <a:lnTo>
                    <a:pt x="1339879" y="1036444"/>
                  </a:lnTo>
                  <a:lnTo>
                    <a:pt x="1347902" y="990514"/>
                  </a:lnTo>
                  <a:lnTo>
                    <a:pt x="1350645" y="942975"/>
                  </a:lnTo>
                  <a:close/>
                </a:path>
                <a:path w="1885950" h="1885950">
                  <a:moveTo>
                    <a:pt x="1531747" y="942975"/>
                  </a:moveTo>
                  <a:lnTo>
                    <a:pt x="1529795" y="894676"/>
                  </a:lnTo>
                  <a:lnTo>
                    <a:pt x="1524043" y="847454"/>
                  </a:lnTo>
                  <a:lnTo>
                    <a:pt x="1514640" y="801461"/>
                  </a:lnTo>
                  <a:lnTo>
                    <a:pt x="1501738" y="756847"/>
                  </a:lnTo>
                  <a:lnTo>
                    <a:pt x="1485489" y="713765"/>
                  </a:lnTo>
                  <a:lnTo>
                    <a:pt x="1466044" y="672366"/>
                  </a:lnTo>
                  <a:lnTo>
                    <a:pt x="1443554" y="632800"/>
                  </a:lnTo>
                  <a:lnTo>
                    <a:pt x="1418172" y="595220"/>
                  </a:lnTo>
                  <a:lnTo>
                    <a:pt x="1390047" y="559776"/>
                  </a:lnTo>
                  <a:lnTo>
                    <a:pt x="1359331" y="526621"/>
                  </a:lnTo>
                  <a:lnTo>
                    <a:pt x="1326177" y="495905"/>
                  </a:lnTo>
                  <a:lnTo>
                    <a:pt x="1290734" y="467779"/>
                  </a:lnTo>
                  <a:lnTo>
                    <a:pt x="1253156" y="442396"/>
                  </a:lnTo>
                  <a:lnTo>
                    <a:pt x="1213592" y="419906"/>
                  </a:lnTo>
                  <a:lnTo>
                    <a:pt x="1172194" y="400460"/>
                  </a:lnTo>
                  <a:lnTo>
                    <a:pt x="1129115" y="384211"/>
                  </a:lnTo>
                  <a:lnTo>
                    <a:pt x="1084504" y="371309"/>
                  </a:lnTo>
                  <a:lnTo>
                    <a:pt x="1038514" y="361906"/>
                  </a:lnTo>
                  <a:lnTo>
                    <a:pt x="991295" y="356154"/>
                  </a:lnTo>
                  <a:lnTo>
                    <a:pt x="943000" y="354203"/>
                  </a:lnTo>
                  <a:lnTo>
                    <a:pt x="894709" y="356154"/>
                  </a:lnTo>
                  <a:lnTo>
                    <a:pt x="847494" y="361906"/>
                  </a:lnTo>
                  <a:lnTo>
                    <a:pt x="801506" y="371309"/>
                  </a:lnTo>
                  <a:lnTo>
                    <a:pt x="756896" y="384211"/>
                  </a:lnTo>
                  <a:lnTo>
                    <a:pt x="713816" y="400460"/>
                  </a:lnTo>
                  <a:lnTo>
                    <a:pt x="672416" y="419906"/>
                  </a:lnTo>
                  <a:lnTo>
                    <a:pt x="632850" y="442396"/>
                  </a:lnTo>
                  <a:lnTo>
                    <a:pt x="595268" y="467779"/>
                  </a:lnTo>
                  <a:lnTo>
                    <a:pt x="559822" y="495905"/>
                  </a:lnTo>
                  <a:lnTo>
                    <a:pt x="526664" y="526621"/>
                  </a:lnTo>
                  <a:lnTo>
                    <a:pt x="495944" y="559776"/>
                  </a:lnTo>
                  <a:lnTo>
                    <a:pt x="467815" y="595220"/>
                  </a:lnTo>
                  <a:lnTo>
                    <a:pt x="442427" y="632800"/>
                  </a:lnTo>
                  <a:lnTo>
                    <a:pt x="419933" y="672366"/>
                  </a:lnTo>
                  <a:lnTo>
                    <a:pt x="400484" y="713765"/>
                  </a:lnTo>
                  <a:lnTo>
                    <a:pt x="384231" y="756847"/>
                  </a:lnTo>
                  <a:lnTo>
                    <a:pt x="371326" y="801461"/>
                  </a:lnTo>
                  <a:lnTo>
                    <a:pt x="361921" y="847454"/>
                  </a:lnTo>
                  <a:lnTo>
                    <a:pt x="356167" y="894676"/>
                  </a:lnTo>
                  <a:lnTo>
                    <a:pt x="354215" y="942975"/>
                  </a:lnTo>
                  <a:lnTo>
                    <a:pt x="356167" y="991258"/>
                  </a:lnTo>
                  <a:lnTo>
                    <a:pt x="361921" y="1038467"/>
                  </a:lnTo>
                  <a:lnTo>
                    <a:pt x="371326" y="1084450"/>
                  </a:lnTo>
                  <a:lnTo>
                    <a:pt x="384231" y="1129055"/>
                  </a:lnTo>
                  <a:lnTo>
                    <a:pt x="400484" y="1172132"/>
                  </a:lnTo>
                  <a:lnTo>
                    <a:pt x="419933" y="1213527"/>
                  </a:lnTo>
                  <a:lnTo>
                    <a:pt x="442427" y="1253091"/>
                  </a:lnTo>
                  <a:lnTo>
                    <a:pt x="467815" y="1290671"/>
                  </a:lnTo>
                  <a:lnTo>
                    <a:pt x="495944" y="1326115"/>
                  </a:lnTo>
                  <a:lnTo>
                    <a:pt x="526664" y="1359273"/>
                  </a:lnTo>
                  <a:lnTo>
                    <a:pt x="559822" y="1389992"/>
                  </a:lnTo>
                  <a:lnTo>
                    <a:pt x="595268" y="1418121"/>
                  </a:lnTo>
                  <a:lnTo>
                    <a:pt x="632850" y="1443508"/>
                  </a:lnTo>
                  <a:lnTo>
                    <a:pt x="672416" y="1466002"/>
                  </a:lnTo>
                  <a:lnTo>
                    <a:pt x="713816" y="1485451"/>
                  </a:lnTo>
                  <a:lnTo>
                    <a:pt x="756896" y="1501704"/>
                  </a:lnTo>
                  <a:lnTo>
                    <a:pt x="801506" y="1514609"/>
                  </a:lnTo>
                  <a:lnTo>
                    <a:pt x="847494" y="1524015"/>
                  </a:lnTo>
                  <a:lnTo>
                    <a:pt x="894709" y="1529769"/>
                  </a:lnTo>
                  <a:lnTo>
                    <a:pt x="943000" y="1531721"/>
                  </a:lnTo>
                  <a:lnTo>
                    <a:pt x="991295" y="1529769"/>
                  </a:lnTo>
                  <a:lnTo>
                    <a:pt x="1038514" y="1524015"/>
                  </a:lnTo>
                  <a:lnTo>
                    <a:pt x="1084504" y="1514609"/>
                  </a:lnTo>
                  <a:lnTo>
                    <a:pt x="1129115" y="1501704"/>
                  </a:lnTo>
                  <a:lnTo>
                    <a:pt x="1172194" y="1485451"/>
                  </a:lnTo>
                  <a:lnTo>
                    <a:pt x="1213592" y="1466002"/>
                  </a:lnTo>
                  <a:lnTo>
                    <a:pt x="1253156" y="1443508"/>
                  </a:lnTo>
                  <a:lnTo>
                    <a:pt x="1290734" y="1418121"/>
                  </a:lnTo>
                  <a:lnTo>
                    <a:pt x="1326177" y="1389992"/>
                  </a:lnTo>
                  <a:lnTo>
                    <a:pt x="1359331" y="1359273"/>
                  </a:lnTo>
                  <a:lnTo>
                    <a:pt x="1390047" y="1326115"/>
                  </a:lnTo>
                  <a:lnTo>
                    <a:pt x="1418172" y="1290671"/>
                  </a:lnTo>
                  <a:lnTo>
                    <a:pt x="1443554" y="1253091"/>
                  </a:lnTo>
                  <a:lnTo>
                    <a:pt x="1466044" y="1213527"/>
                  </a:lnTo>
                  <a:lnTo>
                    <a:pt x="1485489" y="1172132"/>
                  </a:lnTo>
                  <a:lnTo>
                    <a:pt x="1501738" y="1129055"/>
                  </a:lnTo>
                  <a:lnTo>
                    <a:pt x="1514640" y="1084450"/>
                  </a:lnTo>
                  <a:lnTo>
                    <a:pt x="1524043" y="1038467"/>
                  </a:lnTo>
                  <a:lnTo>
                    <a:pt x="1529795" y="991258"/>
                  </a:lnTo>
                  <a:lnTo>
                    <a:pt x="1531747" y="942975"/>
                  </a:lnTo>
                  <a:close/>
                </a:path>
                <a:path w="1885950" h="1885950">
                  <a:moveTo>
                    <a:pt x="1701673" y="942975"/>
                  </a:moveTo>
                  <a:lnTo>
                    <a:pt x="1700180" y="894984"/>
                  </a:lnTo>
                  <a:lnTo>
                    <a:pt x="1695763" y="847789"/>
                  </a:lnTo>
                  <a:lnTo>
                    <a:pt x="1688508" y="801476"/>
                  </a:lnTo>
                  <a:lnTo>
                    <a:pt x="1678506" y="756136"/>
                  </a:lnTo>
                  <a:lnTo>
                    <a:pt x="1665845" y="711856"/>
                  </a:lnTo>
                  <a:lnTo>
                    <a:pt x="1650614" y="668726"/>
                  </a:lnTo>
                  <a:lnTo>
                    <a:pt x="1632901" y="626835"/>
                  </a:lnTo>
                  <a:lnTo>
                    <a:pt x="1612795" y="586270"/>
                  </a:lnTo>
                  <a:lnTo>
                    <a:pt x="1590386" y="547122"/>
                  </a:lnTo>
                  <a:lnTo>
                    <a:pt x="1565762" y="509478"/>
                  </a:lnTo>
                  <a:lnTo>
                    <a:pt x="1539011" y="473428"/>
                  </a:lnTo>
                  <a:lnTo>
                    <a:pt x="1510223" y="439060"/>
                  </a:lnTo>
                  <a:lnTo>
                    <a:pt x="1479486" y="406463"/>
                  </a:lnTo>
                  <a:lnTo>
                    <a:pt x="1446889" y="375726"/>
                  </a:lnTo>
                  <a:lnTo>
                    <a:pt x="1412521" y="346938"/>
                  </a:lnTo>
                  <a:lnTo>
                    <a:pt x="1376471" y="320187"/>
                  </a:lnTo>
                  <a:lnTo>
                    <a:pt x="1338827" y="295563"/>
                  </a:lnTo>
                  <a:lnTo>
                    <a:pt x="1299679" y="273154"/>
                  </a:lnTo>
                  <a:lnTo>
                    <a:pt x="1259114" y="253048"/>
                  </a:lnTo>
                  <a:lnTo>
                    <a:pt x="1217223" y="235335"/>
                  </a:lnTo>
                  <a:lnTo>
                    <a:pt x="1174093" y="220104"/>
                  </a:lnTo>
                  <a:lnTo>
                    <a:pt x="1129813" y="207443"/>
                  </a:lnTo>
                  <a:lnTo>
                    <a:pt x="1084473" y="197441"/>
                  </a:lnTo>
                  <a:lnTo>
                    <a:pt x="1038160" y="190186"/>
                  </a:lnTo>
                  <a:lnTo>
                    <a:pt x="990965" y="185769"/>
                  </a:lnTo>
                  <a:lnTo>
                    <a:pt x="942975" y="184277"/>
                  </a:lnTo>
                  <a:lnTo>
                    <a:pt x="894990" y="185769"/>
                  </a:lnTo>
                  <a:lnTo>
                    <a:pt x="847798" y="190186"/>
                  </a:lnTo>
                  <a:lnTo>
                    <a:pt x="801488" y="197441"/>
                  </a:lnTo>
                  <a:lnTo>
                    <a:pt x="756149" y="207443"/>
                  </a:lnTo>
                  <a:lnTo>
                    <a:pt x="711871" y="220104"/>
                  </a:lnTo>
                  <a:lnTo>
                    <a:pt x="668740" y="235335"/>
                  </a:lnTo>
                  <a:lnTo>
                    <a:pt x="626847" y="253048"/>
                  </a:lnTo>
                  <a:lnTo>
                    <a:pt x="586281" y="273154"/>
                  </a:lnTo>
                  <a:lnTo>
                    <a:pt x="547130" y="295563"/>
                  </a:lnTo>
                  <a:lnTo>
                    <a:pt x="509483" y="320187"/>
                  </a:lnTo>
                  <a:lnTo>
                    <a:pt x="473430" y="346938"/>
                  </a:lnTo>
                  <a:lnTo>
                    <a:pt x="439058" y="375726"/>
                  </a:lnTo>
                  <a:lnTo>
                    <a:pt x="406457" y="406463"/>
                  </a:lnTo>
                  <a:lnTo>
                    <a:pt x="375715" y="439060"/>
                  </a:lnTo>
                  <a:lnTo>
                    <a:pt x="346923" y="473428"/>
                  </a:lnTo>
                  <a:lnTo>
                    <a:pt x="320167" y="509478"/>
                  </a:lnTo>
                  <a:lnTo>
                    <a:pt x="295538" y="547122"/>
                  </a:lnTo>
                  <a:lnTo>
                    <a:pt x="273124" y="586270"/>
                  </a:lnTo>
                  <a:lnTo>
                    <a:pt x="253014" y="626835"/>
                  </a:lnTo>
                  <a:lnTo>
                    <a:pt x="235298" y="668726"/>
                  </a:lnTo>
                  <a:lnTo>
                    <a:pt x="220063" y="711856"/>
                  </a:lnTo>
                  <a:lnTo>
                    <a:pt x="207398" y="756136"/>
                  </a:lnTo>
                  <a:lnTo>
                    <a:pt x="197394" y="801476"/>
                  </a:lnTo>
                  <a:lnTo>
                    <a:pt x="190137" y="847789"/>
                  </a:lnTo>
                  <a:lnTo>
                    <a:pt x="185718" y="894984"/>
                  </a:lnTo>
                  <a:lnTo>
                    <a:pt x="184226" y="942975"/>
                  </a:lnTo>
                  <a:lnTo>
                    <a:pt x="185718" y="990958"/>
                  </a:lnTo>
                  <a:lnTo>
                    <a:pt x="190137" y="1038149"/>
                  </a:lnTo>
                  <a:lnTo>
                    <a:pt x="197394" y="1084457"/>
                  </a:lnTo>
                  <a:lnTo>
                    <a:pt x="207398" y="1129795"/>
                  </a:lnTo>
                  <a:lnTo>
                    <a:pt x="220063" y="1174074"/>
                  </a:lnTo>
                  <a:lnTo>
                    <a:pt x="235298" y="1217204"/>
                  </a:lnTo>
                  <a:lnTo>
                    <a:pt x="253014" y="1259096"/>
                  </a:lnTo>
                  <a:lnTo>
                    <a:pt x="273124" y="1299662"/>
                  </a:lnTo>
                  <a:lnTo>
                    <a:pt x="295538" y="1338813"/>
                  </a:lnTo>
                  <a:lnTo>
                    <a:pt x="320167" y="1376460"/>
                  </a:lnTo>
                  <a:lnTo>
                    <a:pt x="346923" y="1412514"/>
                  </a:lnTo>
                  <a:lnTo>
                    <a:pt x="375715" y="1446886"/>
                  </a:lnTo>
                  <a:lnTo>
                    <a:pt x="406457" y="1479488"/>
                  </a:lnTo>
                  <a:lnTo>
                    <a:pt x="439058" y="1510229"/>
                  </a:lnTo>
                  <a:lnTo>
                    <a:pt x="473430" y="1539023"/>
                  </a:lnTo>
                  <a:lnTo>
                    <a:pt x="509483" y="1565778"/>
                  </a:lnTo>
                  <a:lnTo>
                    <a:pt x="547130" y="1590408"/>
                  </a:lnTo>
                  <a:lnTo>
                    <a:pt x="586281" y="1612822"/>
                  </a:lnTo>
                  <a:lnTo>
                    <a:pt x="626847" y="1632932"/>
                  </a:lnTo>
                  <a:lnTo>
                    <a:pt x="668740" y="1650650"/>
                  </a:lnTo>
                  <a:lnTo>
                    <a:pt x="711871" y="1665885"/>
                  </a:lnTo>
                  <a:lnTo>
                    <a:pt x="756149" y="1678550"/>
                  </a:lnTo>
                  <a:lnTo>
                    <a:pt x="801488" y="1688555"/>
                  </a:lnTo>
                  <a:lnTo>
                    <a:pt x="847798" y="1695811"/>
                  </a:lnTo>
                  <a:lnTo>
                    <a:pt x="894990" y="1700231"/>
                  </a:lnTo>
                  <a:lnTo>
                    <a:pt x="942975" y="1701723"/>
                  </a:lnTo>
                  <a:lnTo>
                    <a:pt x="990965" y="1700231"/>
                  </a:lnTo>
                  <a:lnTo>
                    <a:pt x="1038160" y="1695811"/>
                  </a:lnTo>
                  <a:lnTo>
                    <a:pt x="1084473" y="1688555"/>
                  </a:lnTo>
                  <a:lnTo>
                    <a:pt x="1129813" y="1678550"/>
                  </a:lnTo>
                  <a:lnTo>
                    <a:pt x="1174093" y="1665885"/>
                  </a:lnTo>
                  <a:lnTo>
                    <a:pt x="1217223" y="1650650"/>
                  </a:lnTo>
                  <a:lnTo>
                    <a:pt x="1259114" y="1632932"/>
                  </a:lnTo>
                  <a:lnTo>
                    <a:pt x="1299679" y="1612822"/>
                  </a:lnTo>
                  <a:lnTo>
                    <a:pt x="1338827" y="1590408"/>
                  </a:lnTo>
                  <a:lnTo>
                    <a:pt x="1376471" y="1565778"/>
                  </a:lnTo>
                  <a:lnTo>
                    <a:pt x="1412521" y="1539023"/>
                  </a:lnTo>
                  <a:lnTo>
                    <a:pt x="1446889" y="1510229"/>
                  </a:lnTo>
                  <a:lnTo>
                    <a:pt x="1479486" y="1479488"/>
                  </a:lnTo>
                  <a:lnTo>
                    <a:pt x="1510223" y="1446886"/>
                  </a:lnTo>
                  <a:lnTo>
                    <a:pt x="1539011" y="1412514"/>
                  </a:lnTo>
                  <a:lnTo>
                    <a:pt x="1565762" y="1376460"/>
                  </a:lnTo>
                  <a:lnTo>
                    <a:pt x="1590386" y="1338813"/>
                  </a:lnTo>
                  <a:lnTo>
                    <a:pt x="1612795" y="1299662"/>
                  </a:lnTo>
                  <a:lnTo>
                    <a:pt x="1632901" y="1259096"/>
                  </a:lnTo>
                  <a:lnTo>
                    <a:pt x="1650614" y="1217204"/>
                  </a:lnTo>
                  <a:lnTo>
                    <a:pt x="1665845" y="1174074"/>
                  </a:lnTo>
                  <a:lnTo>
                    <a:pt x="1678506" y="1129795"/>
                  </a:lnTo>
                  <a:lnTo>
                    <a:pt x="1688508" y="1084457"/>
                  </a:lnTo>
                  <a:lnTo>
                    <a:pt x="1695763" y="1038149"/>
                  </a:lnTo>
                  <a:lnTo>
                    <a:pt x="1700180" y="990958"/>
                  </a:lnTo>
                  <a:lnTo>
                    <a:pt x="1701673" y="942975"/>
                  </a:lnTo>
                  <a:close/>
                </a:path>
                <a:path w="1885950" h="1885950">
                  <a:moveTo>
                    <a:pt x="1885950" y="942975"/>
                  </a:moveTo>
                  <a:lnTo>
                    <a:pt x="1884723" y="894446"/>
                  </a:lnTo>
                  <a:lnTo>
                    <a:pt x="1881081" y="846555"/>
                  </a:lnTo>
                  <a:lnTo>
                    <a:pt x="1875085" y="799360"/>
                  </a:lnTo>
                  <a:lnTo>
                    <a:pt x="1866793" y="752922"/>
                  </a:lnTo>
                  <a:lnTo>
                    <a:pt x="1856264" y="707298"/>
                  </a:lnTo>
                  <a:lnTo>
                    <a:pt x="1843558" y="662549"/>
                  </a:lnTo>
                  <a:lnTo>
                    <a:pt x="1828734" y="618734"/>
                  </a:lnTo>
                  <a:lnTo>
                    <a:pt x="1811851" y="575911"/>
                  </a:lnTo>
                  <a:lnTo>
                    <a:pt x="1792968" y="534140"/>
                  </a:lnTo>
                  <a:lnTo>
                    <a:pt x="1772145" y="493481"/>
                  </a:lnTo>
                  <a:lnTo>
                    <a:pt x="1749440" y="453992"/>
                  </a:lnTo>
                  <a:lnTo>
                    <a:pt x="1724914" y="415732"/>
                  </a:lnTo>
                  <a:lnTo>
                    <a:pt x="1698624" y="378762"/>
                  </a:lnTo>
                  <a:lnTo>
                    <a:pt x="1670632" y="343140"/>
                  </a:lnTo>
                  <a:lnTo>
                    <a:pt x="1640994" y="308925"/>
                  </a:lnTo>
                  <a:lnTo>
                    <a:pt x="1609772" y="276177"/>
                  </a:lnTo>
                  <a:lnTo>
                    <a:pt x="1577024" y="244955"/>
                  </a:lnTo>
                  <a:lnTo>
                    <a:pt x="1542809" y="215317"/>
                  </a:lnTo>
                  <a:lnTo>
                    <a:pt x="1507187" y="187325"/>
                  </a:lnTo>
                  <a:lnTo>
                    <a:pt x="1470217" y="161035"/>
                  </a:lnTo>
                  <a:lnTo>
                    <a:pt x="1431957" y="136509"/>
                  </a:lnTo>
                  <a:lnTo>
                    <a:pt x="1392468" y="113804"/>
                  </a:lnTo>
                  <a:lnTo>
                    <a:pt x="1351809" y="92981"/>
                  </a:lnTo>
                  <a:lnTo>
                    <a:pt x="1310038" y="74098"/>
                  </a:lnTo>
                  <a:lnTo>
                    <a:pt x="1267215" y="57215"/>
                  </a:lnTo>
                  <a:lnTo>
                    <a:pt x="1223400" y="42391"/>
                  </a:lnTo>
                  <a:lnTo>
                    <a:pt x="1178651" y="29685"/>
                  </a:lnTo>
                  <a:lnTo>
                    <a:pt x="1133027" y="19156"/>
                  </a:lnTo>
                  <a:lnTo>
                    <a:pt x="1086589" y="10864"/>
                  </a:lnTo>
                  <a:lnTo>
                    <a:pt x="1039394" y="4868"/>
                  </a:lnTo>
                  <a:lnTo>
                    <a:pt x="991503" y="1226"/>
                  </a:lnTo>
                  <a:lnTo>
                    <a:pt x="942975" y="0"/>
                  </a:lnTo>
                  <a:lnTo>
                    <a:pt x="894449" y="1226"/>
                  </a:lnTo>
                  <a:lnTo>
                    <a:pt x="846561" y="4868"/>
                  </a:lnTo>
                  <a:lnTo>
                    <a:pt x="799369" y="10864"/>
                  </a:lnTo>
                  <a:lnTo>
                    <a:pt x="752933" y="19156"/>
                  </a:lnTo>
                  <a:lnTo>
                    <a:pt x="707311" y="29685"/>
                  </a:lnTo>
                  <a:lnTo>
                    <a:pt x="662563" y="42391"/>
                  </a:lnTo>
                  <a:lnTo>
                    <a:pt x="618749" y="57215"/>
                  </a:lnTo>
                  <a:lnTo>
                    <a:pt x="575927" y="74098"/>
                  </a:lnTo>
                  <a:lnTo>
                    <a:pt x="534157" y="92981"/>
                  </a:lnTo>
                  <a:lnTo>
                    <a:pt x="493497" y="113804"/>
                  </a:lnTo>
                  <a:lnTo>
                    <a:pt x="454008" y="136509"/>
                  </a:lnTo>
                  <a:lnTo>
                    <a:pt x="415749" y="161035"/>
                  </a:lnTo>
                  <a:lnTo>
                    <a:pt x="378778" y="187325"/>
                  </a:lnTo>
                  <a:lnTo>
                    <a:pt x="343156" y="215317"/>
                  </a:lnTo>
                  <a:lnTo>
                    <a:pt x="308940" y="244955"/>
                  </a:lnTo>
                  <a:lnTo>
                    <a:pt x="276191" y="276177"/>
                  </a:lnTo>
                  <a:lnTo>
                    <a:pt x="244968" y="308925"/>
                  </a:lnTo>
                  <a:lnTo>
                    <a:pt x="215330" y="343140"/>
                  </a:lnTo>
                  <a:lnTo>
                    <a:pt x="187336" y="378762"/>
                  </a:lnTo>
                  <a:lnTo>
                    <a:pt x="161045" y="415732"/>
                  </a:lnTo>
                  <a:lnTo>
                    <a:pt x="136518" y="453992"/>
                  </a:lnTo>
                  <a:lnTo>
                    <a:pt x="113812" y="493481"/>
                  </a:lnTo>
                  <a:lnTo>
                    <a:pt x="92987" y="534140"/>
                  </a:lnTo>
                  <a:lnTo>
                    <a:pt x="74103" y="575911"/>
                  </a:lnTo>
                  <a:lnTo>
                    <a:pt x="57219" y="618734"/>
                  </a:lnTo>
                  <a:lnTo>
                    <a:pt x="42394" y="662549"/>
                  </a:lnTo>
                  <a:lnTo>
                    <a:pt x="29687" y="707298"/>
                  </a:lnTo>
                  <a:lnTo>
                    <a:pt x="19157" y="752922"/>
                  </a:lnTo>
                  <a:lnTo>
                    <a:pt x="10865" y="799360"/>
                  </a:lnTo>
                  <a:lnTo>
                    <a:pt x="4868" y="846555"/>
                  </a:lnTo>
                  <a:lnTo>
                    <a:pt x="1226" y="894446"/>
                  </a:lnTo>
                  <a:lnTo>
                    <a:pt x="0" y="942975"/>
                  </a:lnTo>
                  <a:lnTo>
                    <a:pt x="1226" y="991496"/>
                  </a:lnTo>
                  <a:lnTo>
                    <a:pt x="4868" y="1039381"/>
                  </a:lnTo>
                  <a:lnTo>
                    <a:pt x="10865" y="1086570"/>
                  </a:lnTo>
                  <a:lnTo>
                    <a:pt x="19157" y="1133004"/>
                  </a:lnTo>
                  <a:lnTo>
                    <a:pt x="29687" y="1178623"/>
                  </a:lnTo>
                  <a:lnTo>
                    <a:pt x="42394" y="1223368"/>
                  </a:lnTo>
                  <a:lnTo>
                    <a:pt x="57219" y="1267180"/>
                  </a:lnTo>
                  <a:lnTo>
                    <a:pt x="74103" y="1310000"/>
                  </a:lnTo>
                  <a:lnTo>
                    <a:pt x="92987" y="1351768"/>
                  </a:lnTo>
                  <a:lnTo>
                    <a:pt x="113812" y="1392426"/>
                  </a:lnTo>
                  <a:lnTo>
                    <a:pt x="136518" y="1431913"/>
                  </a:lnTo>
                  <a:lnTo>
                    <a:pt x="161045" y="1470171"/>
                  </a:lnTo>
                  <a:lnTo>
                    <a:pt x="187336" y="1507141"/>
                  </a:lnTo>
                  <a:lnTo>
                    <a:pt x="215330" y="1542762"/>
                  </a:lnTo>
                  <a:lnTo>
                    <a:pt x="244968" y="1576976"/>
                  </a:lnTo>
                  <a:lnTo>
                    <a:pt x="276191" y="1609725"/>
                  </a:lnTo>
                  <a:lnTo>
                    <a:pt x="308940" y="1640947"/>
                  </a:lnTo>
                  <a:lnTo>
                    <a:pt x="343156" y="1670584"/>
                  </a:lnTo>
                  <a:lnTo>
                    <a:pt x="378778" y="1698578"/>
                  </a:lnTo>
                  <a:lnTo>
                    <a:pt x="415749" y="1724868"/>
                  </a:lnTo>
                  <a:lnTo>
                    <a:pt x="454008" y="1749395"/>
                  </a:lnTo>
                  <a:lnTo>
                    <a:pt x="493497" y="1772100"/>
                  </a:lnTo>
                  <a:lnTo>
                    <a:pt x="534157" y="1792924"/>
                  </a:lnTo>
                  <a:lnTo>
                    <a:pt x="575927" y="1811808"/>
                  </a:lnTo>
                  <a:lnTo>
                    <a:pt x="618749" y="1828692"/>
                  </a:lnTo>
                  <a:lnTo>
                    <a:pt x="662563" y="1843517"/>
                  </a:lnTo>
                  <a:lnTo>
                    <a:pt x="707311" y="1856224"/>
                  </a:lnTo>
                  <a:lnTo>
                    <a:pt x="752933" y="1866753"/>
                  </a:lnTo>
                  <a:lnTo>
                    <a:pt x="799369" y="1875046"/>
                  </a:lnTo>
                  <a:lnTo>
                    <a:pt x="846561" y="1881043"/>
                  </a:lnTo>
                  <a:lnTo>
                    <a:pt x="894449" y="1884684"/>
                  </a:lnTo>
                  <a:lnTo>
                    <a:pt x="942975" y="1885911"/>
                  </a:lnTo>
                  <a:lnTo>
                    <a:pt x="991503" y="1884684"/>
                  </a:lnTo>
                  <a:lnTo>
                    <a:pt x="1039394" y="1881043"/>
                  </a:lnTo>
                  <a:lnTo>
                    <a:pt x="1086589" y="1875046"/>
                  </a:lnTo>
                  <a:lnTo>
                    <a:pt x="1133027" y="1866753"/>
                  </a:lnTo>
                  <a:lnTo>
                    <a:pt x="1178651" y="1856224"/>
                  </a:lnTo>
                  <a:lnTo>
                    <a:pt x="1223400" y="1843517"/>
                  </a:lnTo>
                  <a:lnTo>
                    <a:pt x="1267215" y="1828692"/>
                  </a:lnTo>
                  <a:lnTo>
                    <a:pt x="1310038" y="1811808"/>
                  </a:lnTo>
                  <a:lnTo>
                    <a:pt x="1351809" y="1792924"/>
                  </a:lnTo>
                  <a:lnTo>
                    <a:pt x="1392468" y="1772100"/>
                  </a:lnTo>
                  <a:lnTo>
                    <a:pt x="1431957" y="1749395"/>
                  </a:lnTo>
                  <a:lnTo>
                    <a:pt x="1470217" y="1724868"/>
                  </a:lnTo>
                  <a:lnTo>
                    <a:pt x="1507187" y="1698578"/>
                  </a:lnTo>
                  <a:lnTo>
                    <a:pt x="1542809" y="1670584"/>
                  </a:lnTo>
                  <a:lnTo>
                    <a:pt x="1577024" y="1640947"/>
                  </a:lnTo>
                  <a:lnTo>
                    <a:pt x="1609772" y="1609725"/>
                  </a:lnTo>
                  <a:lnTo>
                    <a:pt x="1640994" y="1576976"/>
                  </a:lnTo>
                  <a:lnTo>
                    <a:pt x="1670632" y="1542762"/>
                  </a:lnTo>
                  <a:lnTo>
                    <a:pt x="1698624" y="1507141"/>
                  </a:lnTo>
                  <a:lnTo>
                    <a:pt x="1724914" y="1470171"/>
                  </a:lnTo>
                  <a:lnTo>
                    <a:pt x="1749440" y="1431913"/>
                  </a:lnTo>
                  <a:lnTo>
                    <a:pt x="1772145" y="1392426"/>
                  </a:lnTo>
                  <a:lnTo>
                    <a:pt x="1792968" y="1351768"/>
                  </a:lnTo>
                  <a:lnTo>
                    <a:pt x="1811851" y="1310000"/>
                  </a:lnTo>
                  <a:lnTo>
                    <a:pt x="1828734" y="1267180"/>
                  </a:lnTo>
                  <a:lnTo>
                    <a:pt x="1843558" y="1223368"/>
                  </a:lnTo>
                  <a:lnTo>
                    <a:pt x="1856264" y="1178623"/>
                  </a:lnTo>
                  <a:lnTo>
                    <a:pt x="1866793" y="1133004"/>
                  </a:lnTo>
                  <a:lnTo>
                    <a:pt x="1875085" y="1086570"/>
                  </a:lnTo>
                  <a:lnTo>
                    <a:pt x="1881081" y="1039381"/>
                  </a:lnTo>
                  <a:lnTo>
                    <a:pt x="1884723" y="991496"/>
                  </a:lnTo>
                  <a:lnTo>
                    <a:pt x="1885950" y="942975"/>
                  </a:lnTo>
                  <a:close/>
                </a:path>
              </a:pathLst>
            </a:custGeom>
            <a:ln w="19050">
              <a:solidFill>
                <a:srgbClr val="000000"/>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12754356" y="6978421"/>
            <a:ext cx="237617" cy="238556"/>
          </a:xfrm>
          <a:prstGeom prst="rect">
            <a:avLst/>
          </a:prstGeom>
        </p:spPr>
      </p:pic>
      <p:pic>
        <p:nvPicPr>
          <p:cNvPr id="7" name="object 7"/>
          <p:cNvPicPr/>
          <p:nvPr/>
        </p:nvPicPr>
        <p:blipFill>
          <a:blip r:embed="rId2" cstate="print"/>
          <a:stretch>
            <a:fillRect/>
          </a:stretch>
        </p:blipFill>
        <p:spPr>
          <a:xfrm>
            <a:off x="13148817" y="6978421"/>
            <a:ext cx="237617" cy="238556"/>
          </a:xfrm>
          <a:prstGeom prst="rect">
            <a:avLst/>
          </a:prstGeom>
        </p:spPr>
      </p:pic>
      <p:pic>
        <p:nvPicPr>
          <p:cNvPr id="8" name="object 8"/>
          <p:cNvPicPr/>
          <p:nvPr/>
        </p:nvPicPr>
        <p:blipFill>
          <a:blip r:embed="rId3" cstate="print"/>
          <a:stretch>
            <a:fillRect/>
          </a:stretch>
        </p:blipFill>
        <p:spPr>
          <a:xfrm>
            <a:off x="12359258" y="6978421"/>
            <a:ext cx="237490" cy="238556"/>
          </a:xfrm>
          <a:prstGeom prst="rect">
            <a:avLst/>
          </a:prstGeom>
        </p:spPr>
      </p:pic>
      <p:pic>
        <p:nvPicPr>
          <p:cNvPr id="9" name="object 9"/>
          <p:cNvPicPr/>
          <p:nvPr/>
        </p:nvPicPr>
        <p:blipFill>
          <a:blip r:embed="rId4" cstate="print"/>
          <a:stretch>
            <a:fillRect/>
          </a:stretch>
        </p:blipFill>
        <p:spPr>
          <a:xfrm>
            <a:off x="11964034" y="6978421"/>
            <a:ext cx="237617" cy="238556"/>
          </a:xfrm>
          <a:prstGeom prst="rect">
            <a:avLst/>
          </a:prstGeom>
        </p:spPr>
      </p:pic>
      <p:pic>
        <p:nvPicPr>
          <p:cNvPr id="10" name="object 10"/>
          <p:cNvPicPr/>
          <p:nvPr/>
        </p:nvPicPr>
        <p:blipFill>
          <a:blip r:embed="rId2" cstate="print"/>
          <a:stretch>
            <a:fillRect/>
          </a:stretch>
        </p:blipFill>
        <p:spPr>
          <a:xfrm>
            <a:off x="13543914" y="6978421"/>
            <a:ext cx="237617" cy="238556"/>
          </a:xfrm>
          <a:prstGeom prst="rect">
            <a:avLst/>
          </a:prstGeom>
        </p:spPr>
      </p:pic>
      <p:pic>
        <p:nvPicPr>
          <p:cNvPr id="11" name="object 11"/>
          <p:cNvPicPr/>
          <p:nvPr/>
        </p:nvPicPr>
        <p:blipFill>
          <a:blip r:embed="rId2" cstate="print"/>
          <a:stretch>
            <a:fillRect/>
          </a:stretch>
        </p:blipFill>
        <p:spPr>
          <a:xfrm>
            <a:off x="12754356" y="7515859"/>
            <a:ext cx="237617" cy="238556"/>
          </a:xfrm>
          <a:prstGeom prst="rect">
            <a:avLst/>
          </a:prstGeom>
        </p:spPr>
      </p:pic>
      <p:pic>
        <p:nvPicPr>
          <p:cNvPr id="12" name="object 12"/>
          <p:cNvPicPr/>
          <p:nvPr/>
        </p:nvPicPr>
        <p:blipFill>
          <a:blip r:embed="rId2" cstate="print"/>
          <a:stretch>
            <a:fillRect/>
          </a:stretch>
        </p:blipFill>
        <p:spPr>
          <a:xfrm>
            <a:off x="13148817" y="7515859"/>
            <a:ext cx="237617" cy="238556"/>
          </a:xfrm>
          <a:prstGeom prst="rect">
            <a:avLst/>
          </a:prstGeom>
        </p:spPr>
      </p:pic>
      <p:pic>
        <p:nvPicPr>
          <p:cNvPr id="13" name="object 13"/>
          <p:cNvPicPr/>
          <p:nvPr/>
        </p:nvPicPr>
        <p:blipFill>
          <a:blip r:embed="rId3" cstate="print"/>
          <a:stretch>
            <a:fillRect/>
          </a:stretch>
        </p:blipFill>
        <p:spPr>
          <a:xfrm>
            <a:off x="12359258" y="7515859"/>
            <a:ext cx="237490" cy="238556"/>
          </a:xfrm>
          <a:prstGeom prst="rect">
            <a:avLst/>
          </a:prstGeom>
        </p:spPr>
      </p:pic>
      <p:pic>
        <p:nvPicPr>
          <p:cNvPr id="14" name="object 14"/>
          <p:cNvPicPr/>
          <p:nvPr/>
        </p:nvPicPr>
        <p:blipFill>
          <a:blip r:embed="rId4" cstate="print"/>
          <a:stretch>
            <a:fillRect/>
          </a:stretch>
        </p:blipFill>
        <p:spPr>
          <a:xfrm>
            <a:off x="11964034" y="7515859"/>
            <a:ext cx="237617" cy="238556"/>
          </a:xfrm>
          <a:prstGeom prst="rect">
            <a:avLst/>
          </a:prstGeom>
        </p:spPr>
      </p:pic>
      <p:pic>
        <p:nvPicPr>
          <p:cNvPr id="15" name="object 15"/>
          <p:cNvPicPr/>
          <p:nvPr/>
        </p:nvPicPr>
        <p:blipFill>
          <a:blip r:embed="rId2" cstate="print"/>
          <a:stretch>
            <a:fillRect/>
          </a:stretch>
        </p:blipFill>
        <p:spPr>
          <a:xfrm>
            <a:off x="13543914" y="7515859"/>
            <a:ext cx="237617" cy="238556"/>
          </a:xfrm>
          <a:prstGeom prst="rect">
            <a:avLst/>
          </a:prstGeom>
        </p:spPr>
      </p:pic>
      <p:sp>
        <p:nvSpPr>
          <p:cNvPr id="16" name="object 16"/>
          <p:cNvSpPr/>
          <p:nvPr/>
        </p:nvSpPr>
        <p:spPr>
          <a:xfrm>
            <a:off x="12279883" y="507"/>
            <a:ext cx="2350770" cy="2350770"/>
          </a:xfrm>
          <a:custGeom>
            <a:avLst/>
            <a:gdLst/>
            <a:ahLst/>
            <a:cxnLst/>
            <a:rect l="l" t="t" r="r" b="b"/>
            <a:pathLst>
              <a:path w="2350769" h="2350770">
                <a:moveTo>
                  <a:pt x="2350516" y="0"/>
                </a:moveTo>
                <a:lnTo>
                  <a:pt x="0" y="0"/>
                </a:lnTo>
                <a:lnTo>
                  <a:pt x="2350516" y="2350643"/>
                </a:lnTo>
                <a:lnTo>
                  <a:pt x="2350516" y="0"/>
                </a:lnTo>
                <a:close/>
              </a:path>
            </a:pathLst>
          </a:custGeom>
          <a:solidFill>
            <a:srgbClr val="EC7C30"/>
          </a:solidFill>
        </p:spPr>
        <p:txBody>
          <a:bodyPr wrap="square" lIns="0" tIns="0" rIns="0" bIns="0" rtlCol="0"/>
          <a:lstStyle/>
          <a:p>
            <a:endParaRPr/>
          </a:p>
        </p:txBody>
      </p:sp>
      <p:grpSp>
        <p:nvGrpSpPr>
          <p:cNvPr id="17" name="object 17"/>
          <p:cNvGrpSpPr/>
          <p:nvPr/>
        </p:nvGrpSpPr>
        <p:grpSpPr>
          <a:xfrm>
            <a:off x="0" y="0"/>
            <a:ext cx="2062480" cy="2351405"/>
            <a:chOff x="0" y="0"/>
            <a:chExt cx="2062480" cy="2351405"/>
          </a:xfrm>
        </p:grpSpPr>
        <p:sp>
          <p:nvSpPr>
            <p:cNvPr id="18" name="object 18"/>
            <p:cNvSpPr/>
            <p:nvPr/>
          </p:nvSpPr>
          <p:spPr>
            <a:xfrm>
              <a:off x="0" y="0"/>
              <a:ext cx="2062480" cy="1612265"/>
            </a:xfrm>
            <a:custGeom>
              <a:avLst/>
              <a:gdLst/>
              <a:ahLst/>
              <a:cxnLst/>
              <a:rect l="l" t="t" r="r" b="b"/>
              <a:pathLst>
                <a:path w="2062480" h="1612265">
                  <a:moveTo>
                    <a:pt x="1256614" y="0"/>
                  </a:moveTo>
                  <a:lnTo>
                    <a:pt x="0" y="0"/>
                  </a:lnTo>
                  <a:lnTo>
                    <a:pt x="0" y="1038333"/>
                  </a:lnTo>
                  <a:lnTo>
                    <a:pt x="12876" y="1077763"/>
                  </a:lnTo>
                  <a:lnTo>
                    <a:pt x="29225" y="1119661"/>
                  </a:lnTo>
                  <a:lnTo>
                    <a:pt x="47807" y="1160386"/>
                  </a:lnTo>
                  <a:lnTo>
                    <a:pt x="68546" y="1199860"/>
                  </a:lnTo>
                  <a:lnTo>
                    <a:pt x="91365" y="1238009"/>
                  </a:lnTo>
                  <a:lnTo>
                    <a:pt x="116190" y="1274757"/>
                  </a:lnTo>
                  <a:lnTo>
                    <a:pt x="142945" y="1310028"/>
                  </a:lnTo>
                  <a:lnTo>
                    <a:pt x="171555" y="1343747"/>
                  </a:lnTo>
                  <a:lnTo>
                    <a:pt x="201943" y="1375838"/>
                  </a:lnTo>
                  <a:lnTo>
                    <a:pt x="234034" y="1406226"/>
                  </a:lnTo>
                  <a:lnTo>
                    <a:pt x="267753" y="1434835"/>
                  </a:lnTo>
                  <a:lnTo>
                    <a:pt x="303024" y="1461590"/>
                  </a:lnTo>
                  <a:lnTo>
                    <a:pt x="339771" y="1486414"/>
                  </a:lnTo>
                  <a:lnTo>
                    <a:pt x="377919" y="1509233"/>
                  </a:lnTo>
                  <a:lnTo>
                    <a:pt x="417393" y="1529971"/>
                  </a:lnTo>
                  <a:lnTo>
                    <a:pt x="458116" y="1548552"/>
                  </a:lnTo>
                  <a:lnTo>
                    <a:pt x="500013" y="1564901"/>
                  </a:lnTo>
                  <a:lnTo>
                    <a:pt x="543008" y="1578942"/>
                  </a:lnTo>
                  <a:lnTo>
                    <a:pt x="587027" y="1590599"/>
                  </a:lnTo>
                  <a:lnTo>
                    <a:pt x="631992" y="1599798"/>
                  </a:lnTo>
                  <a:lnTo>
                    <a:pt x="677829" y="1606462"/>
                  </a:lnTo>
                  <a:lnTo>
                    <a:pt x="724463" y="1610515"/>
                  </a:lnTo>
                  <a:lnTo>
                    <a:pt x="771817" y="1611883"/>
                  </a:lnTo>
                  <a:lnTo>
                    <a:pt x="2062480" y="1611883"/>
                  </a:lnTo>
                  <a:lnTo>
                    <a:pt x="2062480" y="805942"/>
                  </a:lnTo>
                  <a:lnTo>
                    <a:pt x="2061112" y="758584"/>
                  </a:lnTo>
                  <a:lnTo>
                    <a:pt x="2057058" y="711947"/>
                  </a:lnTo>
                  <a:lnTo>
                    <a:pt x="2050394" y="666107"/>
                  </a:lnTo>
                  <a:lnTo>
                    <a:pt x="2041196" y="621138"/>
                  </a:lnTo>
                  <a:lnTo>
                    <a:pt x="2029538" y="577118"/>
                  </a:lnTo>
                  <a:lnTo>
                    <a:pt x="2015498" y="534120"/>
                  </a:lnTo>
                  <a:lnTo>
                    <a:pt x="1999150" y="492222"/>
                  </a:lnTo>
                  <a:lnTo>
                    <a:pt x="1980569" y="451497"/>
                  </a:lnTo>
                  <a:lnTo>
                    <a:pt x="1959832" y="412023"/>
                  </a:lnTo>
                  <a:lnTo>
                    <a:pt x="1937014" y="373874"/>
                  </a:lnTo>
                  <a:lnTo>
                    <a:pt x="1912191" y="337126"/>
                  </a:lnTo>
                  <a:lnTo>
                    <a:pt x="1885437" y="301855"/>
                  </a:lnTo>
                  <a:lnTo>
                    <a:pt x="1856830" y="268136"/>
                  </a:lnTo>
                  <a:lnTo>
                    <a:pt x="1826444" y="236045"/>
                  </a:lnTo>
                  <a:lnTo>
                    <a:pt x="1794355" y="205657"/>
                  </a:lnTo>
                  <a:lnTo>
                    <a:pt x="1760638" y="177048"/>
                  </a:lnTo>
                  <a:lnTo>
                    <a:pt x="1725370" y="150293"/>
                  </a:lnTo>
                  <a:lnTo>
                    <a:pt x="1688625" y="125469"/>
                  </a:lnTo>
                  <a:lnTo>
                    <a:pt x="1650480" y="102650"/>
                  </a:lnTo>
                  <a:lnTo>
                    <a:pt x="1611010" y="81912"/>
                  </a:lnTo>
                  <a:lnTo>
                    <a:pt x="1570290" y="63331"/>
                  </a:lnTo>
                  <a:lnTo>
                    <a:pt x="1528396" y="46982"/>
                  </a:lnTo>
                  <a:lnTo>
                    <a:pt x="1485404" y="32941"/>
                  </a:lnTo>
                  <a:lnTo>
                    <a:pt x="1441389" y="21284"/>
                  </a:lnTo>
                  <a:lnTo>
                    <a:pt x="1396427" y="12085"/>
                  </a:lnTo>
                  <a:lnTo>
                    <a:pt x="1350593" y="5421"/>
                  </a:lnTo>
                  <a:lnTo>
                    <a:pt x="1303964" y="1368"/>
                  </a:lnTo>
                  <a:lnTo>
                    <a:pt x="1256614" y="0"/>
                  </a:lnTo>
                  <a:close/>
                </a:path>
              </a:pathLst>
            </a:custGeom>
            <a:solidFill>
              <a:srgbClr val="E7E6E6"/>
            </a:solidFill>
          </p:spPr>
          <p:txBody>
            <a:bodyPr wrap="square" lIns="0" tIns="0" rIns="0" bIns="0" rtlCol="0"/>
            <a:lstStyle/>
            <a:p>
              <a:endParaRPr/>
            </a:p>
          </p:txBody>
        </p:sp>
        <p:sp>
          <p:nvSpPr>
            <p:cNvPr id="19" name="object 19"/>
            <p:cNvSpPr/>
            <p:nvPr/>
          </p:nvSpPr>
          <p:spPr>
            <a:xfrm>
              <a:off x="322605" y="1168400"/>
              <a:ext cx="1183005" cy="1183005"/>
            </a:xfrm>
            <a:custGeom>
              <a:avLst/>
              <a:gdLst/>
              <a:ahLst/>
              <a:cxnLst/>
              <a:rect l="l" t="t" r="r" b="b"/>
              <a:pathLst>
                <a:path w="1183005" h="1183005">
                  <a:moveTo>
                    <a:pt x="591350" y="0"/>
                  </a:moveTo>
                  <a:lnTo>
                    <a:pt x="542850" y="1960"/>
                  </a:lnTo>
                  <a:lnTo>
                    <a:pt x="495430" y="7740"/>
                  </a:lnTo>
                  <a:lnTo>
                    <a:pt x="449241" y="17188"/>
                  </a:lnTo>
                  <a:lnTo>
                    <a:pt x="404437" y="30150"/>
                  </a:lnTo>
                  <a:lnTo>
                    <a:pt x="361170" y="46476"/>
                  </a:lnTo>
                  <a:lnTo>
                    <a:pt x="319590" y="66011"/>
                  </a:lnTo>
                  <a:lnTo>
                    <a:pt x="279852" y="88605"/>
                  </a:lnTo>
                  <a:lnTo>
                    <a:pt x="242106" y="114104"/>
                  </a:lnTo>
                  <a:lnTo>
                    <a:pt x="206505" y="142357"/>
                  </a:lnTo>
                  <a:lnTo>
                    <a:pt x="173202" y="173212"/>
                  </a:lnTo>
                  <a:lnTo>
                    <a:pt x="142348" y="206515"/>
                  </a:lnTo>
                  <a:lnTo>
                    <a:pt x="114096" y="242114"/>
                  </a:lnTo>
                  <a:lnTo>
                    <a:pt x="88597" y="279858"/>
                  </a:lnTo>
                  <a:lnTo>
                    <a:pt x="66005" y="319594"/>
                  </a:lnTo>
                  <a:lnTo>
                    <a:pt x="46471" y="361170"/>
                  </a:lnTo>
                  <a:lnTo>
                    <a:pt x="30147" y="404433"/>
                  </a:lnTo>
                  <a:lnTo>
                    <a:pt x="17186" y="449230"/>
                  </a:lnTo>
                  <a:lnTo>
                    <a:pt x="7739" y="495411"/>
                  </a:lnTo>
                  <a:lnTo>
                    <a:pt x="1960" y="542822"/>
                  </a:lnTo>
                  <a:lnTo>
                    <a:pt x="0" y="591312"/>
                  </a:lnTo>
                  <a:lnTo>
                    <a:pt x="1960" y="639819"/>
                  </a:lnTo>
                  <a:lnTo>
                    <a:pt x="7739" y="687246"/>
                  </a:lnTo>
                  <a:lnTo>
                    <a:pt x="17186" y="733442"/>
                  </a:lnTo>
                  <a:lnTo>
                    <a:pt x="30147" y="778252"/>
                  </a:lnTo>
                  <a:lnTo>
                    <a:pt x="46471" y="821527"/>
                  </a:lnTo>
                  <a:lnTo>
                    <a:pt x="66005" y="863112"/>
                  </a:lnTo>
                  <a:lnTo>
                    <a:pt x="88597" y="902857"/>
                  </a:lnTo>
                  <a:lnTo>
                    <a:pt x="114096" y="940608"/>
                  </a:lnTo>
                  <a:lnTo>
                    <a:pt x="142348" y="976214"/>
                  </a:lnTo>
                  <a:lnTo>
                    <a:pt x="173202" y="1009523"/>
                  </a:lnTo>
                  <a:lnTo>
                    <a:pt x="206505" y="1040381"/>
                  </a:lnTo>
                  <a:lnTo>
                    <a:pt x="242106" y="1068637"/>
                  </a:lnTo>
                  <a:lnTo>
                    <a:pt x="279852" y="1094140"/>
                  </a:lnTo>
                  <a:lnTo>
                    <a:pt x="319590" y="1116735"/>
                  </a:lnTo>
                  <a:lnTo>
                    <a:pt x="361170" y="1136272"/>
                  </a:lnTo>
                  <a:lnTo>
                    <a:pt x="404437" y="1152599"/>
                  </a:lnTo>
                  <a:lnTo>
                    <a:pt x="449241" y="1165562"/>
                  </a:lnTo>
                  <a:lnTo>
                    <a:pt x="495430" y="1175010"/>
                  </a:lnTo>
                  <a:lnTo>
                    <a:pt x="542850" y="1180790"/>
                  </a:lnTo>
                  <a:lnTo>
                    <a:pt x="591350" y="1182751"/>
                  </a:lnTo>
                  <a:lnTo>
                    <a:pt x="639851" y="1180790"/>
                  </a:lnTo>
                  <a:lnTo>
                    <a:pt x="687273" y="1175010"/>
                  </a:lnTo>
                  <a:lnTo>
                    <a:pt x="733463" y="1165562"/>
                  </a:lnTo>
                  <a:lnTo>
                    <a:pt x="778269" y="1152599"/>
                  </a:lnTo>
                  <a:lnTo>
                    <a:pt x="821539" y="1136272"/>
                  </a:lnTo>
                  <a:lnTo>
                    <a:pt x="863120" y="1116735"/>
                  </a:lnTo>
                  <a:lnTo>
                    <a:pt x="902860" y="1094140"/>
                  </a:lnTo>
                  <a:lnTo>
                    <a:pt x="940608" y="1068637"/>
                  </a:lnTo>
                  <a:lnTo>
                    <a:pt x="976210" y="1040381"/>
                  </a:lnTo>
                  <a:lnTo>
                    <a:pt x="1009515" y="1009523"/>
                  </a:lnTo>
                  <a:lnTo>
                    <a:pt x="1040370" y="976214"/>
                  </a:lnTo>
                  <a:lnTo>
                    <a:pt x="1068623" y="940608"/>
                  </a:lnTo>
                  <a:lnTo>
                    <a:pt x="1094123" y="902857"/>
                  </a:lnTo>
                  <a:lnTo>
                    <a:pt x="1116717" y="863112"/>
                  </a:lnTo>
                  <a:lnTo>
                    <a:pt x="1136252" y="821527"/>
                  </a:lnTo>
                  <a:lnTo>
                    <a:pt x="1152576" y="778252"/>
                  </a:lnTo>
                  <a:lnTo>
                    <a:pt x="1165538" y="733442"/>
                  </a:lnTo>
                  <a:lnTo>
                    <a:pt x="1174985" y="687246"/>
                  </a:lnTo>
                  <a:lnTo>
                    <a:pt x="1180765" y="639819"/>
                  </a:lnTo>
                  <a:lnTo>
                    <a:pt x="1182725" y="591312"/>
                  </a:lnTo>
                  <a:lnTo>
                    <a:pt x="1180765" y="542822"/>
                  </a:lnTo>
                  <a:lnTo>
                    <a:pt x="1174985" y="495411"/>
                  </a:lnTo>
                  <a:lnTo>
                    <a:pt x="1165538" y="449230"/>
                  </a:lnTo>
                  <a:lnTo>
                    <a:pt x="1152576" y="404433"/>
                  </a:lnTo>
                  <a:lnTo>
                    <a:pt x="1136252" y="361170"/>
                  </a:lnTo>
                  <a:lnTo>
                    <a:pt x="1116717" y="319594"/>
                  </a:lnTo>
                  <a:lnTo>
                    <a:pt x="1094123" y="279858"/>
                  </a:lnTo>
                  <a:lnTo>
                    <a:pt x="1068623" y="242114"/>
                  </a:lnTo>
                  <a:lnTo>
                    <a:pt x="1040370" y="206515"/>
                  </a:lnTo>
                  <a:lnTo>
                    <a:pt x="1009515" y="173212"/>
                  </a:lnTo>
                  <a:lnTo>
                    <a:pt x="976210" y="142357"/>
                  </a:lnTo>
                  <a:lnTo>
                    <a:pt x="940608" y="114104"/>
                  </a:lnTo>
                  <a:lnTo>
                    <a:pt x="902860" y="88605"/>
                  </a:lnTo>
                  <a:lnTo>
                    <a:pt x="863120" y="66011"/>
                  </a:lnTo>
                  <a:lnTo>
                    <a:pt x="821539" y="46476"/>
                  </a:lnTo>
                  <a:lnTo>
                    <a:pt x="778269" y="30150"/>
                  </a:lnTo>
                  <a:lnTo>
                    <a:pt x="733463" y="17188"/>
                  </a:lnTo>
                  <a:lnTo>
                    <a:pt x="687273" y="7740"/>
                  </a:lnTo>
                  <a:lnTo>
                    <a:pt x="639851" y="1960"/>
                  </a:lnTo>
                  <a:lnTo>
                    <a:pt x="591350" y="0"/>
                  </a:lnTo>
                  <a:close/>
                </a:path>
              </a:pathLst>
            </a:custGeom>
            <a:solidFill>
              <a:srgbClr val="EC7C30"/>
            </a:solidFill>
          </p:spPr>
          <p:txBody>
            <a:bodyPr wrap="square" lIns="0" tIns="0" rIns="0" bIns="0" rtlCol="0"/>
            <a:lstStyle/>
            <a:p>
              <a:endParaRPr/>
            </a:p>
          </p:txBody>
        </p:sp>
      </p:grpSp>
      <p:sp>
        <p:nvSpPr>
          <p:cNvPr id="20" name="object 20"/>
          <p:cNvSpPr txBox="1">
            <a:spLocks noGrp="1"/>
          </p:cNvSpPr>
          <p:nvPr>
            <p:ph type="title"/>
          </p:nvPr>
        </p:nvSpPr>
        <p:spPr>
          <a:xfrm>
            <a:off x="2969132" y="3034664"/>
            <a:ext cx="7828280" cy="1196340"/>
          </a:xfrm>
          <a:prstGeom prst="rect">
            <a:avLst/>
          </a:prstGeom>
        </p:spPr>
        <p:txBody>
          <a:bodyPr vert="horz" wrap="square" lIns="0" tIns="16510" rIns="0" bIns="0" rtlCol="0">
            <a:spAutoFit/>
          </a:bodyPr>
          <a:lstStyle/>
          <a:p>
            <a:pPr marL="12700">
              <a:lnSpc>
                <a:spcPct val="100000"/>
              </a:lnSpc>
              <a:spcBef>
                <a:spcPts val="130"/>
              </a:spcBef>
            </a:pPr>
            <a:r>
              <a:rPr sz="7650" spc="-10" dirty="0">
                <a:solidFill>
                  <a:srgbClr val="525769"/>
                </a:solidFill>
              </a:rPr>
              <a:t>感謝口委蒞臨指導</a:t>
            </a:r>
            <a:endParaRPr sz="7650"/>
          </a:p>
        </p:txBody>
      </p:sp>
      <p:sp>
        <p:nvSpPr>
          <p:cNvPr id="21" name="object 21"/>
          <p:cNvSpPr txBox="1"/>
          <p:nvPr/>
        </p:nvSpPr>
        <p:spPr>
          <a:xfrm>
            <a:off x="2411348" y="5601080"/>
            <a:ext cx="6608445" cy="1733550"/>
          </a:xfrm>
          <a:prstGeom prst="rect">
            <a:avLst/>
          </a:prstGeom>
        </p:spPr>
        <p:txBody>
          <a:bodyPr vert="horz" wrap="square" lIns="0" tIns="11430" rIns="0" bIns="0" rtlCol="0">
            <a:spAutoFit/>
          </a:bodyPr>
          <a:lstStyle/>
          <a:p>
            <a:pPr marL="12700">
              <a:lnSpc>
                <a:spcPts val="2695"/>
              </a:lnSpc>
              <a:spcBef>
                <a:spcPts val="90"/>
              </a:spcBef>
            </a:pPr>
            <a:r>
              <a:rPr sz="2250" b="1" spc="-20" dirty="0">
                <a:solidFill>
                  <a:srgbClr val="525769"/>
                </a:solidFill>
                <a:latin typeface="Microsoft JhengHei"/>
                <a:cs typeface="Microsoft JhengHei"/>
              </a:rPr>
              <a:t>題目：</a:t>
            </a:r>
            <a:r>
              <a:rPr sz="2250" b="1" dirty="0">
                <a:solidFill>
                  <a:srgbClr val="525769"/>
                </a:solidFill>
                <a:latin typeface="Microsoft JhengHei"/>
                <a:cs typeface="Microsoft JhengHei"/>
              </a:rPr>
              <a:t>LINE</a:t>
            </a:r>
            <a:r>
              <a:rPr sz="2250" b="1" spc="60" dirty="0">
                <a:solidFill>
                  <a:srgbClr val="525769"/>
                </a:solidFill>
                <a:latin typeface="Microsoft JhengHei"/>
                <a:cs typeface="Microsoft JhengHei"/>
              </a:rPr>
              <a:t> </a:t>
            </a:r>
            <a:r>
              <a:rPr sz="2250" b="1" spc="-25" dirty="0">
                <a:solidFill>
                  <a:srgbClr val="525769"/>
                </a:solidFill>
                <a:latin typeface="Microsoft JhengHei"/>
                <a:cs typeface="Microsoft JhengHei"/>
              </a:rPr>
              <a:t>Bot</a:t>
            </a:r>
            <a:r>
              <a:rPr sz="2250" b="1" spc="-50" dirty="0">
                <a:solidFill>
                  <a:srgbClr val="525769"/>
                </a:solidFill>
                <a:latin typeface="Microsoft JhengHei"/>
                <a:cs typeface="Microsoft JhengHei"/>
              </a:rPr>
              <a:t>結合大型語言模型之英語學習系統設</a:t>
            </a:r>
            <a:endParaRPr sz="2250">
              <a:latin typeface="Microsoft JhengHei"/>
              <a:cs typeface="Microsoft JhengHei"/>
            </a:endParaRPr>
          </a:p>
          <a:p>
            <a:pPr marL="12700">
              <a:lnSpc>
                <a:spcPts val="2690"/>
              </a:lnSpc>
            </a:pPr>
            <a:r>
              <a:rPr sz="2250" b="1" spc="-40" dirty="0">
                <a:solidFill>
                  <a:srgbClr val="525769"/>
                </a:solidFill>
                <a:latin typeface="Microsoft JhengHei"/>
                <a:cs typeface="Microsoft JhengHei"/>
              </a:rPr>
              <a:t>計與實作</a:t>
            </a:r>
            <a:endParaRPr sz="2250">
              <a:latin typeface="Microsoft JhengHei"/>
              <a:cs typeface="Microsoft JhengHei"/>
            </a:endParaRPr>
          </a:p>
          <a:p>
            <a:pPr marL="12700" marR="2816860">
              <a:lnSpc>
                <a:spcPts val="2690"/>
              </a:lnSpc>
              <a:spcBef>
                <a:spcPts val="95"/>
              </a:spcBef>
            </a:pPr>
            <a:r>
              <a:rPr sz="2250" b="1" dirty="0">
                <a:solidFill>
                  <a:srgbClr val="525769"/>
                </a:solidFill>
                <a:latin typeface="Microsoft JhengHei"/>
                <a:cs typeface="Microsoft JhengHei"/>
              </a:rPr>
              <a:t>國立高雄科技大學資訊管理所</a:t>
            </a:r>
            <a:r>
              <a:rPr sz="2250" b="1" spc="-35" dirty="0">
                <a:solidFill>
                  <a:srgbClr val="525769"/>
                </a:solidFill>
                <a:latin typeface="Microsoft JhengHei"/>
                <a:cs typeface="Microsoft JhengHei"/>
              </a:rPr>
              <a:t>研究生：杜宜霖</a:t>
            </a:r>
            <a:endParaRPr sz="2250">
              <a:latin typeface="Microsoft JhengHei"/>
              <a:cs typeface="Microsoft JhengHei"/>
            </a:endParaRPr>
          </a:p>
          <a:p>
            <a:pPr marL="12700">
              <a:lnSpc>
                <a:spcPts val="2600"/>
              </a:lnSpc>
            </a:pPr>
            <a:r>
              <a:rPr sz="2250" b="1" spc="10" dirty="0">
                <a:solidFill>
                  <a:srgbClr val="525769"/>
                </a:solidFill>
                <a:latin typeface="Microsoft JhengHei"/>
                <a:cs typeface="Microsoft JhengHei"/>
              </a:rPr>
              <a:t>指導教授：黃承龍博士</a:t>
            </a:r>
            <a:endParaRPr sz="2250">
              <a:latin typeface="Microsoft JhengHei"/>
              <a:cs typeface="Microsoft JhengHei"/>
            </a:endParaRPr>
          </a:p>
        </p:txBody>
      </p:sp>
      <p:pic>
        <p:nvPicPr>
          <p:cNvPr id="22" name="object 22"/>
          <p:cNvPicPr/>
          <p:nvPr/>
        </p:nvPicPr>
        <p:blipFill>
          <a:blip r:embed="rId5" cstate="print"/>
          <a:stretch>
            <a:fillRect/>
          </a:stretch>
        </p:blipFill>
        <p:spPr>
          <a:xfrm>
            <a:off x="10805414" y="1074026"/>
            <a:ext cx="1348104" cy="1225943"/>
          </a:xfrm>
          <a:prstGeom prst="rect">
            <a:avLst/>
          </a:prstGeom>
        </p:spPr>
      </p:pic>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871704" y="507"/>
            <a:ext cx="1758950" cy="3629660"/>
          </a:xfrm>
          <a:custGeom>
            <a:avLst/>
            <a:gdLst/>
            <a:ahLst/>
            <a:cxnLst/>
            <a:rect l="l" t="t" r="r" b="b"/>
            <a:pathLst>
              <a:path w="1758950" h="3629660">
                <a:moveTo>
                  <a:pt x="9017" y="0"/>
                </a:moveTo>
                <a:lnTo>
                  <a:pt x="0" y="2751709"/>
                </a:lnTo>
                <a:lnTo>
                  <a:pt x="1142" y="2799708"/>
                </a:lnTo>
                <a:lnTo>
                  <a:pt x="4830" y="2847039"/>
                </a:lnTo>
                <a:lnTo>
                  <a:pt x="10997" y="2893635"/>
                </a:lnTo>
                <a:lnTo>
                  <a:pt x="19577" y="2939429"/>
                </a:lnTo>
                <a:lnTo>
                  <a:pt x="30504" y="2984354"/>
                </a:lnTo>
                <a:lnTo>
                  <a:pt x="43710" y="3028343"/>
                </a:lnTo>
                <a:lnTo>
                  <a:pt x="59130" y="3071329"/>
                </a:lnTo>
                <a:lnTo>
                  <a:pt x="76697" y="3113246"/>
                </a:lnTo>
                <a:lnTo>
                  <a:pt x="96344" y="3154026"/>
                </a:lnTo>
                <a:lnTo>
                  <a:pt x="118006" y="3193603"/>
                </a:lnTo>
                <a:lnTo>
                  <a:pt x="141616" y="3231909"/>
                </a:lnTo>
                <a:lnTo>
                  <a:pt x="167107" y="3268877"/>
                </a:lnTo>
                <a:lnTo>
                  <a:pt x="194413" y="3304441"/>
                </a:lnTo>
                <a:lnTo>
                  <a:pt x="223469" y="3338533"/>
                </a:lnTo>
                <a:lnTo>
                  <a:pt x="254206" y="3371087"/>
                </a:lnTo>
                <a:lnTo>
                  <a:pt x="286559" y="3402036"/>
                </a:lnTo>
                <a:lnTo>
                  <a:pt x="320462" y="3431313"/>
                </a:lnTo>
                <a:lnTo>
                  <a:pt x="355847" y="3458851"/>
                </a:lnTo>
                <a:lnTo>
                  <a:pt x="392650" y="3484582"/>
                </a:lnTo>
                <a:lnTo>
                  <a:pt x="430802" y="3508440"/>
                </a:lnTo>
                <a:lnTo>
                  <a:pt x="470239" y="3530359"/>
                </a:lnTo>
                <a:lnTo>
                  <a:pt x="510893" y="3550270"/>
                </a:lnTo>
                <a:lnTo>
                  <a:pt x="552697" y="3568108"/>
                </a:lnTo>
                <a:lnTo>
                  <a:pt x="595587" y="3583804"/>
                </a:lnTo>
                <a:lnTo>
                  <a:pt x="639494" y="3597293"/>
                </a:lnTo>
                <a:lnTo>
                  <a:pt x="684354" y="3608508"/>
                </a:lnTo>
                <a:lnTo>
                  <a:pt x="730099" y="3617380"/>
                </a:lnTo>
                <a:lnTo>
                  <a:pt x="776663" y="3623844"/>
                </a:lnTo>
                <a:lnTo>
                  <a:pt x="823979" y="3627833"/>
                </a:lnTo>
                <a:lnTo>
                  <a:pt x="871982" y="3629279"/>
                </a:lnTo>
                <a:lnTo>
                  <a:pt x="919981" y="3628148"/>
                </a:lnTo>
                <a:lnTo>
                  <a:pt x="967312" y="3624470"/>
                </a:lnTo>
                <a:lnTo>
                  <a:pt x="1013908" y="3618312"/>
                </a:lnTo>
                <a:lnTo>
                  <a:pt x="1059702" y="3609739"/>
                </a:lnTo>
                <a:lnTo>
                  <a:pt x="1104627" y="3598819"/>
                </a:lnTo>
                <a:lnTo>
                  <a:pt x="1148617" y="3585618"/>
                </a:lnTo>
                <a:lnTo>
                  <a:pt x="1191604" y="3570202"/>
                </a:lnTo>
                <a:lnTo>
                  <a:pt x="1233522" y="3552639"/>
                </a:lnTo>
                <a:lnTo>
                  <a:pt x="1274303" y="3532993"/>
                </a:lnTo>
                <a:lnTo>
                  <a:pt x="1313880" y="3511333"/>
                </a:lnTo>
                <a:lnTo>
                  <a:pt x="1352188" y="3487724"/>
                </a:lnTo>
                <a:lnTo>
                  <a:pt x="1389158" y="3462234"/>
                </a:lnTo>
                <a:lnTo>
                  <a:pt x="1424724" y="3434928"/>
                </a:lnTo>
                <a:lnTo>
                  <a:pt x="1458819" y="3405873"/>
                </a:lnTo>
                <a:lnTo>
                  <a:pt x="1491376" y="3375136"/>
                </a:lnTo>
                <a:lnTo>
                  <a:pt x="1522329" y="3342782"/>
                </a:lnTo>
                <a:lnTo>
                  <a:pt x="1551609" y="3308880"/>
                </a:lnTo>
                <a:lnTo>
                  <a:pt x="1579151" y="3273495"/>
                </a:lnTo>
                <a:lnTo>
                  <a:pt x="1604887" y="3236693"/>
                </a:lnTo>
                <a:lnTo>
                  <a:pt x="1628751" y="3198542"/>
                </a:lnTo>
                <a:lnTo>
                  <a:pt x="1650675" y="3159107"/>
                </a:lnTo>
                <a:lnTo>
                  <a:pt x="1670593" y="3118455"/>
                </a:lnTo>
                <a:lnTo>
                  <a:pt x="1688438" y="3076654"/>
                </a:lnTo>
                <a:lnTo>
                  <a:pt x="1704142" y="3033768"/>
                </a:lnTo>
                <a:lnTo>
                  <a:pt x="1717640" y="2989866"/>
                </a:lnTo>
                <a:lnTo>
                  <a:pt x="1728863" y="2945013"/>
                </a:lnTo>
                <a:lnTo>
                  <a:pt x="1737746" y="2899275"/>
                </a:lnTo>
                <a:lnTo>
                  <a:pt x="1744220" y="2852720"/>
                </a:lnTo>
                <a:lnTo>
                  <a:pt x="1748220" y="2805414"/>
                </a:lnTo>
                <a:lnTo>
                  <a:pt x="1749678" y="2757424"/>
                </a:lnTo>
                <a:lnTo>
                  <a:pt x="1758696" y="5842"/>
                </a:lnTo>
                <a:lnTo>
                  <a:pt x="9017" y="0"/>
                </a:lnTo>
                <a:close/>
              </a:path>
            </a:pathLst>
          </a:custGeom>
          <a:solidFill>
            <a:srgbClr val="44536A"/>
          </a:solidFill>
        </p:spPr>
        <p:txBody>
          <a:bodyPr wrap="square" lIns="0" tIns="0" rIns="0" bIns="0" rtlCol="0"/>
          <a:lstStyle/>
          <a:p>
            <a:endParaRPr/>
          </a:p>
        </p:txBody>
      </p:sp>
      <p:grpSp>
        <p:nvGrpSpPr>
          <p:cNvPr id="3" name="object 3"/>
          <p:cNvGrpSpPr/>
          <p:nvPr/>
        </p:nvGrpSpPr>
        <p:grpSpPr>
          <a:xfrm>
            <a:off x="0" y="5913194"/>
            <a:ext cx="2316480" cy="2316480"/>
            <a:chOff x="0" y="5913194"/>
            <a:chExt cx="2316480" cy="2316480"/>
          </a:xfrm>
        </p:grpSpPr>
        <p:sp>
          <p:nvSpPr>
            <p:cNvPr id="4" name="object 4"/>
            <p:cNvSpPr/>
            <p:nvPr/>
          </p:nvSpPr>
          <p:spPr>
            <a:xfrm>
              <a:off x="0" y="5913194"/>
              <a:ext cx="2316480" cy="2316480"/>
            </a:xfrm>
            <a:custGeom>
              <a:avLst/>
              <a:gdLst/>
              <a:ahLst/>
              <a:cxnLst/>
              <a:rect l="l" t="t" r="r" b="b"/>
              <a:pathLst>
                <a:path w="2316480" h="2316479">
                  <a:moveTo>
                    <a:pt x="0" y="0"/>
                  </a:moveTo>
                  <a:lnTo>
                    <a:pt x="0" y="2316392"/>
                  </a:lnTo>
                  <a:lnTo>
                    <a:pt x="2316479" y="2316392"/>
                  </a:lnTo>
                  <a:lnTo>
                    <a:pt x="0" y="0"/>
                  </a:lnTo>
                  <a:close/>
                </a:path>
              </a:pathLst>
            </a:custGeom>
            <a:solidFill>
              <a:srgbClr val="A4A4A4"/>
            </a:solidFill>
          </p:spPr>
          <p:txBody>
            <a:bodyPr wrap="square" lIns="0" tIns="0" rIns="0" bIns="0" rtlCol="0"/>
            <a:lstStyle/>
            <a:p>
              <a:endParaRPr/>
            </a:p>
          </p:txBody>
        </p:sp>
        <p:sp>
          <p:nvSpPr>
            <p:cNvPr id="5" name="object 5"/>
            <p:cNvSpPr/>
            <p:nvPr/>
          </p:nvSpPr>
          <p:spPr>
            <a:xfrm>
              <a:off x="164084" y="6006084"/>
              <a:ext cx="1885950" cy="1885950"/>
            </a:xfrm>
            <a:custGeom>
              <a:avLst/>
              <a:gdLst/>
              <a:ahLst/>
              <a:cxnLst/>
              <a:rect l="l" t="t" r="r" b="b"/>
              <a:pathLst>
                <a:path w="1885950" h="1885950">
                  <a:moveTo>
                    <a:pt x="1350645" y="942975"/>
                  </a:moveTo>
                  <a:lnTo>
                    <a:pt x="1347902" y="895426"/>
                  </a:lnTo>
                  <a:lnTo>
                    <a:pt x="1339879" y="849486"/>
                  </a:lnTo>
                  <a:lnTo>
                    <a:pt x="1326880" y="805461"/>
                  </a:lnTo>
                  <a:lnTo>
                    <a:pt x="1309212" y="763657"/>
                  </a:lnTo>
                  <a:lnTo>
                    <a:pt x="1287181" y="724381"/>
                  </a:lnTo>
                  <a:lnTo>
                    <a:pt x="1261092" y="687939"/>
                  </a:lnTo>
                  <a:lnTo>
                    <a:pt x="1231250" y="654637"/>
                  </a:lnTo>
                  <a:lnTo>
                    <a:pt x="1197963" y="624781"/>
                  </a:lnTo>
                  <a:lnTo>
                    <a:pt x="1161534" y="598679"/>
                  </a:lnTo>
                  <a:lnTo>
                    <a:pt x="1122271" y="576635"/>
                  </a:lnTo>
                  <a:lnTo>
                    <a:pt x="1080479" y="558957"/>
                  </a:lnTo>
                  <a:lnTo>
                    <a:pt x="1036464" y="545950"/>
                  </a:lnTo>
                  <a:lnTo>
                    <a:pt x="990531" y="537922"/>
                  </a:lnTo>
                  <a:lnTo>
                    <a:pt x="942987" y="535178"/>
                  </a:lnTo>
                  <a:lnTo>
                    <a:pt x="895442" y="537922"/>
                  </a:lnTo>
                  <a:lnTo>
                    <a:pt x="849508" y="545950"/>
                  </a:lnTo>
                  <a:lnTo>
                    <a:pt x="805491" y="558957"/>
                  </a:lnTo>
                  <a:lnTo>
                    <a:pt x="763696" y="576635"/>
                  </a:lnTo>
                  <a:lnTo>
                    <a:pt x="724429" y="598679"/>
                  </a:lnTo>
                  <a:lnTo>
                    <a:pt x="687997" y="624781"/>
                  </a:lnTo>
                  <a:lnTo>
                    <a:pt x="654705" y="654637"/>
                  </a:lnTo>
                  <a:lnTo>
                    <a:pt x="624860" y="687939"/>
                  </a:lnTo>
                  <a:lnTo>
                    <a:pt x="598766" y="724381"/>
                  </a:lnTo>
                  <a:lnTo>
                    <a:pt x="576731" y="763657"/>
                  </a:lnTo>
                  <a:lnTo>
                    <a:pt x="559060" y="805461"/>
                  </a:lnTo>
                  <a:lnTo>
                    <a:pt x="546060" y="849486"/>
                  </a:lnTo>
                  <a:lnTo>
                    <a:pt x="538035" y="895426"/>
                  </a:lnTo>
                  <a:lnTo>
                    <a:pt x="535292" y="942975"/>
                  </a:lnTo>
                  <a:lnTo>
                    <a:pt x="538035" y="990514"/>
                  </a:lnTo>
                  <a:lnTo>
                    <a:pt x="546060" y="1036444"/>
                  </a:lnTo>
                  <a:lnTo>
                    <a:pt x="559060" y="1080458"/>
                  </a:lnTo>
                  <a:lnTo>
                    <a:pt x="576731" y="1122250"/>
                  </a:lnTo>
                  <a:lnTo>
                    <a:pt x="598766" y="1161514"/>
                  </a:lnTo>
                  <a:lnTo>
                    <a:pt x="624860" y="1197944"/>
                  </a:lnTo>
                  <a:lnTo>
                    <a:pt x="654705" y="1231234"/>
                  </a:lnTo>
                  <a:lnTo>
                    <a:pt x="687997" y="1261079"/>
                  </a:lnTo>
                  <a:lnTo>
                    <a:pt x="724429" y="1287171"/>
                  </a:lnTo>
                  <a:lnTo>
                    <a:pt x="763696" y="1309205"/>
                  </a:lnTo>
                  <a:lnTo>
                    <a:pt x="805491" y="1326876"/>
                  </a:lnTo>
                  <a:lnTo>
                    <a:pt x="849508" y="1339877"/>
                  </a:lnTo>
                  <a:lnTo>
                    <a:pt x="895442" y="1347902"/>
                  </a:lnTo>
                  <a:lnTo>
                    <a:pt x="942987" y="1350645"/>
                  </a:lnTo>
                  <a:lnTo>
                    <a:pt x="990531" y="1347902"/>
                  </a:lnTo>
                  <a:lnTo>
                    <a:pt x="1036464" y="1339877"/>
                  </a:lnTo>
                  <a:lnTo>
                    <a:pt x="1080479" y="1326876"/>
                  </a:lnTo>
                  <a:lnTo>
                    <a:pt x="1122271" y="1309205"/>
                  </a:lnTo>
                  <a:lnTo>
                    <a:pt x="1161534" y="1287171"/>
                  </a:lnTo>
                  <a:lnTo>
                    <a:pt x="1197963" y="1261079"/>
                  </a:lnTo>
                  <a:lnTo>
                    <a:pt x="1231250" y="1231234"/>
                  </a:lnTo>
                  <a:lnTo>
                    <a:pt x="1261092" y="1197944"/>
                  </a:lnTo>
                  <a:lnTo>
                    <a:pt x="1287181" y="1161514"/>
                  </a:lnTo>
                  <a:lnTo>
                    <a:pt x="1309212" y="1122250"/>
                  </a:lnTo>
                  <a:lnTo>
                    <a:pt x="1326880" y="1080458"/>
                  </a:lnTo>
                  <a:lnTo>
                    <a:pt x="1339879" y="1036444"/>
                  </a:lnTo>
                  <a:lnTo>
                    <a:pt x="1347902" y="990514"/>
                  </a:lnTo>
                  <a:lnTo>
                    <a:pt x="1350645" y="942975"/>
                  </a:lnTo>
                  <a:close/>
                </a:path>
                <a:path w="1885950" h="1885950">
                  <a:moveTo>
                    <a:pt x="1531747" y="942975"/>
                  </a:moveTo>
                  <a:lnTo>
                    <a:pt x="1529795" y="894676"/>
                  </a:lnTo>
                  <a:lnTo>
                    <a:pt x="1524043" y="847454"/>
                  </a:lnTo>
                  <a:lnTo>
                    <a:pt x="1514640" y="801461"/>
                  </a:lnTo>
                  <a:lnTo>
                    <a:pt x="1501738" y="756847"/>
                  </a:lnTo>
                  <a:lnTo>
                    <a:pt x="1485489" y="713765"/>
                  </a:lnTo>
                  <a:lnTo>
                    <a:pt x="1466044" y="672366"/>
                  </a:lnTo>
                  <a:lnTo>
                    <a:pt x="1443554" y="632800"/>
                  </a:lnTo>
                  <a:lnTo>
                    <a:pt x="1418172" y="595220"/>
                  </a:lnTo>
                  <a:lnTo>
                    <a:pt x="1390047" y="559776"/>
                  </a:lnTo>
                  <a:lnTo>
                    <a:pt x="1359331" y="526621"/>
                  </a:lnTo>
                  <a:lnTo>
                    <a:pt x="1326177" y="495905"/>
                  </a:lnTo>
                  <a:lnTo>
                    <a:pt x="1290734" y="467779"/>
                  </a:lnTo>
                  <a:lnTo>
                    <a:pt x="1253156" y="442396"/>
                  </a:lnTo>
                  <a:lnTo>
                    <a:pt x="1213592" y="419906"/>
                  </a:lnTo>
                  <a:lnTo>
                    <a:pt x="1172194" y="400460"/>
                  </a:lnTo>
                  <a:lnTo>
                    <a:pt x="1129115" y="384211"/>
                  </a:lnTo>
                  <a:lnTo>
                    <a:pt x="1084504" y="371309"/>
                  </a:lnTo>
                  <a:lnTo>
                    <a:pt x="1038514" y="361906"/>
                  </a:lnTo>
                  <a:lnTo>
                    <a:pt x="991295" y="356154"/>
                  </a:lnTo>
                  <a:lnTo>
                    <a:pt x="943000" y="354203"/>
                  </a:lnTo>
                  <a:lnTo>
                    <a:pt x="894709" y="356154"/>
                  </a:lnTo>
                  <a:lnTo>
                    <a:pt x="847494" y="361906"/>
                  </a:lnTo>
                  <a:lnTo>
                    <a:pt x="801506" y="371309"/>
                  </a:lnTo>
                  <a:lnTo>
                    <a:pt x="756896" y="384211"/>
                  </a:lnTo>
                  <a:lnTo>
                    <a:pt x="713816" y="400460"/>
                  </a:lnTo>
                  <a:lnTo>
                    <a:pt x="672416" y="419906"/>
                  </a:lnTo>
                  <a:lnTo>
                    <a:pt x="632850" y="442396"/>
                  </a:lnTo>
                  <a:lnTo>
                    <a:pt x="595268" y="467779"/>
                  </a:lnTo>
                  <a:lnTo>
                    <a:pt x="559822" y="495905"/>
                  </a:lnTo>
                  <a:lnTo>
                    <a:pt x="526664" y="526621"/>
                  </a:lnTo>
                  <a:lnTo>
                    <a:pt x="495944" y="559776"/>
                  </a:lnTo>
                  <a:lnTo>
                    <a:pt x="467815" y="595220"/>
                  </a:lnTo>
                  <a:lnTo>
                    <a:pt x="442427" y="632800"/>
                  </a:lnTo>
                  <a:lnTo>
                    <a:pt x="419933" y="672366"/>
                  </a:lnTo>
                  <a:lnTo>
                    <a:pt x="400484" y="713765"/>
                  </a:lnTo>
                  <a:lnTo>
                    <a:pt x="384231" y="756847"/>
                  </a:lnTo>
                  <a:lnTo>
                    <a:pt x="371326" y="801461"/>
                  </a:lnTo>
                  <a:lnTo>
                    <a:pt x="361921" y="847454"/>
                  </a:lnTo>
                  <a:lnTo>
                    <a:pt x="356167" y="894676"/>
                  </a:lnTo>
                  <a:lnTo>
                    <a:pt x="354215" y="942975"/>
                  </a:lnTo>
                  <a:lnTo>
                    <a:pt x="356167" y="991258"/>
                  </a:lnTo>
                  <a:lnTo>
                    <a:pt x="361921" y="1038467"/>
                  </a:lnTo>
                  <a:lnTo>
                    <a:pt x="371326" y="1084450"/>
                  </a:lnTo>
                  <a:lnTo>
                    <a:pt x="384231" y="1129055"/>
                  </a:lnTo>
                  <a:lnTo>
                    <a:pt x="400484" y="1172132"/>
                  </a:lnTo>
                  <a:lnTo>
                    <a:pt x="419933" y="1213527"/>
                  </a:lnTo>
                  <a:lnTo>
                    <a:pt x="442427" y="1253091"/>
                  </a:lnTo>
                  <a:lnTo>
                    <a:pt x="467815" y="1290671"/>
                  </a:lnTo>
                  <a:lnTo>
                    <a:pt x="495944" y="1326115"/>
                  </a:lnTo>
                  <a:lnTo>
                    <a:pt x="526664" y="1359273"/>
                  </a:lnTo>
                  <a:lnTo>
                    <a:pt x="559822" y="1389992"/>
                  </a:lnTo>
                  <a:lnTo>
                    <a:pt x="595268" y="1418121"/>
                  </a:lnTo>
                  <a:lnTo>
                    <a:pt x="632850" y="1443508"/>
                  </a:lnTo>
                  <a:lnTo>
                    <a:pt x="672416" y="1466002"/>
                  </a:lnTo>
                  <a:lnTo>
                    <a:pt x="713816" y="1485451"/>
                  </a:lnTo>
                  <a:lnTo>
                    <a:pt x="756896" y="1501704"/>
                  </a:lnTo>
                  <a:lnTo>
                    <a:pt x="801506" y="1514609"/>
                  </a:lnTo>
                  <a:lnTo>
                    <a:pt x="847494" y="1524015"/>
                  </a:lnTo>
                  <a:lnTo>
                    <a:pt x="894709" y="1529769"/>
                  </a:lnTo>
                  <a:lnTo>
                    <a:pt x="943000" y="1531721"/>
                  </a:lnTo>
                  <a:lnTo>
                    <a:pt x="991295" y="1529769"/>
                  </a:lnTo>
                  <a:lnTo>
                    <a:pt x="1038514" y="1524015"/>
                  </a:lnTo>
                  <a:lnTo>
                    <a:pt x="1084504" y="1514609"/>
                  </a:lnTo>
                  <a:lnTo>
                    <a:pt x="1129115" y="1501704"/>
                  </a:lnTo>
                  <a:lnTo>
                    <a:pt x="1172194" y="1485451"/>
                  </a:lnTo>
                  <a:lnTo>
                    <a:pt x="1213592" y="1466002"/>
                  </a:lnTo>
                  <a:lnTo>
                    <a:pt x="1253156" y="1443508"/>
                  </a:lnTo>
                  <a:lnTo>
                    <a:pt x="1290734" y="1418121"/>
                  </a:lnTo>
                  <a:lnTo>
                    <a:pt x="1326177" y="1389992"/>
                  </a:lnTo>
                  <a:lnTo>
                    <a:pt x="1359331" y="1359273"/>
                  </a:lnTo>
                  <a:lnTo>
                    <a:pt x="1390047" y="1326115"/>
                  </a:lnTo>
                  <a:lnTo>
                    <a:pt x="1418172" y="1290671"/>
                  </a:lnTo>
                  <a:lnTo>
                    <a:pt x="1443554" y="1253091"/>
                  </a:lnTo>
                  <a:lnTo>
                    <a:pt x="1466044" y="1213527"/>
                  </a:lnTo>
                  <a:lnTo>
                    <a:pt x="1485489" y="1172132"/>
                  </a:lnTo>
                  <a:lnTo>
                    <a:pt x="1501738" y="1129055"/>
                  </a:lnTo>
                  <a:lnTo>
                    <a:pt x="1514640" y="1084450"/>
                  </a:lnTo>
                  <a:lnTo>
                    <a:pt x="1524043" y="1038467"/>
                  </a:lnTo>
                  <a:lnTo>
                    <a:pt x="1529795" y="991258"/>
                  </a:lnTo>
                  <a:lnTo>
                    <a:pt x="1531747" y="942975"/>
                  </a:lnTo>
                  <a:close/>
                </a:path>
                <a:path w="1885950" h="1885950">
                  <a:moveTo>
                    <a:pt x="1701673" y="942975"/>
                  </a:moveTo>
                  <a:lnTo>
                    <a:pt x="1700180" y="894984"/>
                  </a:lnTo>
                  <a:lnTo>
                    <a:pt x="1695763" y="847789"/>
                  </a:lnTo>
                  <a:lnTo>
                    <a:pt x="1688508" y="801476"/>
                  </a:lnTo>
                  <a:lnTo>
                    <a:pt x="1678506" y="756136"/>
                  </a:lnTo>
                  <a:lnTo>
                    <a:pt x="1665845" y="711856"/>
                  </a:lnTo>
                  <a:lnTo>
                    <a:pt x="1650614" y="668726"/>
                  </a:lnTo>
                  <a:lnTo>
                    <a:pt x="1632901" y="626835"/>
                  </a:lnTo>
                  <a:lnTo>
                    <a:pt x="1612795" y="586270"/>
                  </a:lnTo>
                  <a:lnTo>
                    <a:pt x="1590386" y="547122"/>
                  </a:lnTo>
                  <a:lnTo>
                    <a:pt x="1565762" y="509478"/>
                  </a:lnTo>
                  <a:lnTo>
                    <a:pt x="1539011" y="473428"/>
                  </a:lnTo>
                  <a:lnTo>
                    <a:pt x="1510223" y="439060"/>
                  </a:lnTo>
                  <a:lnTo>
                    <a:pt x="1479486" y="406463"/>
                  </a:lnTo>
                  <a:lnTo>
                    <a:pt x="1446889" y="375726"/>
                  </a:lnTo>
                  <a:lnTo>
                    <a:pt x="1412521" y="346938"/>
                  </a:lnTo>
                  <a:lnTo>
                    <a:pt x="1376471" y="320187"/>
                  </a:lnTo>
                  <a:lnTo>
                    <a:pt x="1338827" y="295563"/>
                  </a:lnTo>
                  <a:lnTo>
                    <a:pt x="1299679" y="273154"/>
                  </a:lnTo>
                  <a:lnTo>
                    <a:pt x="1259114" y="253048"/>
                  </a:lnTo>
                  <a:lnTo>
                    <a:pt x="1217223" y="235335"/>
                  </a:lnTo>
                  <a:lnTo>
                    <a:pt x="1174093" y="220104"/>
                  </a:lnTo>
                  <a:lnTo>
                    <a:pt x="1129813" y="207443"/>
                  </a:lnTo>
                  <a:lnTo>
                    <a:pt x="1084473" y="197441"/>
                  </a:lnTo>
                  <a:lnTo>
                    <a:pt x="1038160" y="190186"/>
                  </a:lnTo>
                  <a:lnTo>
                    <a:pt x="990965" y="185769"/>
                  </a:lnTo>
                  <a:lnTo>
                    <a:pt x="942975" y="184277"/>
                  </a:lnTo>
                  <a:lnTo>
                    <a:pt x="894990" y="185769"/>
                  </a:lnTo>
                  <a:lnTo>
                    <a:pt x="847798" y="190186"/>
                  </a:lnTo>
                  <a:lnTo>
                    <a:pt x="801488" y="197441"/>
                  </a:lnTo>
                  <a:lnTo>
                    <a:pt x="756149" y="207443"/>
                  </a:lnTo>
                  <a:lnTo>
                    <a:pt x="711871" y="220104"/>
                  </a:lnTo>
                  <a:lnTo>
                    <a:pt x="668740" y="235335"/>
                  </a:lnTo>
                  <a:lnTo>
                    <a:pt x="626847" y="253048"/>
                  </a:lnTo>
                  <a:lnTo>
                    <a:pt x="586281" y="273154"/>
                  </a:lnTo>
                  <a:lnTo>
                    <a:pt x="547130" y="295563"/>
                  </a:lnTo>
                  <a:lnTo>
                    <a:pt x="509483" y="320187"/>
                  </a:lnTo>
                  <a:lnTo>
                    <a:pt x="473430" y="346938"/>
                  </a:lnTo>
                  <a:lnTo>
                    <a:pt x="439058" y="375726"/>
                  </a:lnTo>
                  <a:lnTo>
                    <a:pt x="406457" y="406463"/>
                  </a:lnTo>
                  <a:lnTo>
                    <a:pt x="375715" y="439060"/>
                  </a:lnTo>
                  <a:lnTo>
                    <a:pt x="346923" y="473428"/>
                  </a:lnTo>
                  <a:lnTo>
                    <a:pt x="320167" y="509478"/>
                  </a:lnTo>
                  <a:lnTo>
                    <a:pt x="295538" y="547122"/>
                  </a:lnTo>
                  <a:lnTo>
                    <a:pt x="273124" y="586270"/>
                  </a:lnTo>
                  <a:lnTo>
                    <a:pt x="253014" y="626835"/>
                  </a:lnTo>
                  <a:lnTo>
                    <a:pt x="235298" y="668726"/>
                  </a:lnTo>
                  <a:lnTo>
                    <a:pt x="220063" y="711856"/>
                  </a:lnTo>
                  <a:lnTo>
                    <a:pt x="207398" y="756136"/>
                  </a:lnTo>
                  <a:lnTo>
                    <a:pt x="197394" y="801476"/>
                  </a:lnTo>
                  <a:lnTo>
                    <a:pt x="190137" y="847789"/>
                  </a:lnTo>
                  <a:lnTo>
                    <a:pt x="185718" y="894984"/>
                  </a:lnTo>
                  <a:lnTo>
                    <a:pt x="184226" y="942975"/>
                  </a:lnTo>
                  <a:lnTo>
                    <a:pt x="185718" y="990958"/>
                  </a:lnTo>
                  <a:lnTo>
                    <a:pt x="190137" y="1038149"/>
                  </a:lnTo>
                  <a:lnTo>
                    <a:pt x="197394" y="1084457"/>
                  </a:lnTo>
                  <a:lnTo>
                    <a:pt x="207398" y="1129795"/>
                  </a:lnTo>
                  <a:lnTo>
                    <a:pt x="220063" y="1174074"/>
                  </a:lnTo>
                  <a:lnTo>
                    <a:pt x="235298" y="1217204"/>
                  </a:lnTo>
                  <a:lnTo>
                    <a:pt x="253014" y="1259096"/>
                  </a:lnTo>
                  <a:lnTo>
                    <a:pt x="273124" y="1299662"/>
                  </a:lnTo>
                  <a:lnTo>
                    <a:pt x="295538" y="1338813"/>
                  </a:lnTo>
                  <a:lnTo>
                    <a:pt x="320167" y="1376460"/>
                  </a:lnTo>
                  <a:lnTo>
                    <a:pt x="346923" y="1412514"/>
                  </a:lnTo>
                  <a:lnTo>
                    <a:pt x="375715" y="1446886"/>
                  </a:lnTo>
                  <a:lnTo>
                    <a:pt x="406457" y="1479488"/>
                  </a:lnTo>
                  <a:lnTo>
                    <a:pt x="439058" y="1510229"/>
                  </a:lnTo>
                  <a:lnTo>
                    <a:pt x="473430" y="1539023"/>
                  </a:lnTo>
                  <a:lnTo>
                    <a:pt x="509483" y="1565778"/>
                  </a:lnTo>
                  <a:lnTo>
                    <a:pt x="547130" y="1590408"/>
                  </a:lnTo>
                  <a:lnTo>
                    <a:pt x="586281" y="1612822"/>
                  </a:lnTo>
                  <a:lnTo>
                    <a:pt x="626847" y="1632932"/>
                  </a:lnTo>
                  <a:lnTo>
                    <a:pt x="668740" y="1650650"/>
                  </a:lnTo>
                  <a:lnTo>
                    <a:pt x="711871" y="1665885"/>
                  </a:lnTo>
                  <a:lnTo>
                    <a:pt x="756149" y="1678550"/>
                  </a:lnTo>
                  <a:lnTo>
                    <a:pt x="801488" y="1688555"/>
                  </a:lnTo>
                  <a:lnTo>
                    <a:pt x="847798" y="1695811"/>
                  </a:lnTo>
                  <a:lnTo>
                    <a:pt x="894990" y="1700231"/>
                  </a:lnTo>
                  <a:lnTo>
                    <a:pt x="942975" y="1701723"/>
                  </a:lnTo>
                  <a:lnTo>
                    <a:pt x="990965" y="1700231"/>
                  </a:lnTo>
                  <a:lnTo>
                    <a:pt x="1038160" y="1695811"/>
                  </a:lnTo>
                  <a:lnTo>
                    <a:pt x="1084473" y="1688555"/>
                  </a:lnTo>
                  <a:lnTo>
                    <a:pt x="1129813" y="1678550"/>
                  </a:lnTo>
                  <a:lnTo>
                    <a:pt x="1174093" y="1665885"/>
                  </a:lnTo>
                  <a:lnTo>
                    <a:pt x="1217223" y="1650650"/>
                  </a:lnTo>
                  <a:lnTo>
                    <a:pt x="1259114" y="1632932"/>
                  </a:lnTo>
                  <a:lnTo>
                    <a:pt x="1299679" y="1612822"/>
                  </a:lnTo>
                  <a:lnTo>
                    <a:pt x="1338827" y="1590408"/>
                  </a:lnTo>
                  <a:lnTo>
                    <a:pt x="1376471" y="1565778"/>
                  </a:lnTo>
                  <a:lnTo>
                    <a:pt x="1412521" y="1539023"/>
                  </a:lnTo>
                  <a:lnTo>
                    <a:pt x="1446889" y="1510229"/>
                  </a:lnTo>
                  <a:lnTo>
                    <a:pt x="1479486" y="1479488"/>
                  </a:lnTo>
                  <a:lnTo>
                    <a:pt x="1510223" y="1446886"/>
                  </a:lnTo>
                  <a:lnTo>
                    <a:pt x="1539011" y="1412514"/>
                  </a:lnTo>
                  <a:lnTo>
                    <a:pt x="1565762" y="1376460"/>
                  </a:lnTo>
                  <a:lnTo>
                    <a:pt x="1590386" y="1338813"/>
                  </a:lnTo>
                  <a:lnTo>
                    <a:pt x="1612795" y="1299662"/>
                  </a:lnTo>
                  <a:lnTo>
                    <a:pt x="1632901" y="1259096"/>
                  </a:lnTo>
                  <a:lnTo>
                    <a:pt x="1650614" y="1217204"/>
                  </a:lnTo>
                  <a:lnTo>
                    <a:pt x="1665845" y="1174074"/>
                  </a:lnTo>
                  <a:lnTo>
                    <a:pt x="1678506" y="1129795"/>
                  </a:lnTo>
                  <a:lnTo>
                    <a:pt x="1688508" y="1084457"/>
                  </a:lnTo>
                  <a:lnTo>
                    <a:pt x="1695763" y="1038149"/>
                  </a:lnTo>
                  <a:lnTo>
                    <a:pt x="1700180" y="990958"/>
                  </a:lnTo>
                  <a:lnTo>
                    <a:pt x="1701673" y="942975"/>
                  </a:lnTo>
                  <a:close/>
                </a:path>
                <a:path w="1885950" h="1885950">
                  <a:moveTo>
                    <a:pt x="1885950" y="942975"/>
                  </a:moveTo>
                  <a:lnTo>
                    <a:pt x="1884723" y="894446"/>
                  </a:lnTo>
                  <a:lnTo>
                    <a:pt x="1881081" y="846555"/>
                  </a:lnTo>
                  <a:lnTo>
                    <a:pt x="1875085" y="799360"/>
                  </a:lnTo>
                  <a:lnTo>
                    <a:pt x="1866793" y="752922"/>
                  </a:lnTo>
                  <a:lnTo>
                    <a:pt x="1856264" y="707298"/>
                  </a:lnTo>
                  <a:lnTo>
                    <a:pt x="1843558" y="662549"/>
                  </a:lnTo>
                  <a:lnTo>
                    <a:pt x="1828734" y="618734"/>
                  </a:lnTo>
                  <a:lnTo>
                    <a:pt x="1811851" y="575911"/>
                  </a:lnTo>
                  <a:lnTo>
                    <a:pt x="1792968" y="534140"/>
                  </a:lnTo>
                  <a:lnTo>
                    <a:pt x="1772145" y="493481"/>
                  </a:lnTo>
                  <a:lnTo>
                    <a:pt x="1749440" y="453992"/>
                  </a:lnTo>
                  <a:lnTo>
                    <a:pt x="1724914" y="415732"/>
                  </a:lnTo>
                  <a:lnTo>
                    <a:pt x="1698624" y="378762"/>
                  </a:lnTo>
                  <a:lnTo>
                    <a:pt x="1670632" y="343140"/>
                  </a:lnTo>
                  <a:lnTo>
                    <a:pt x="1640994" y="308925"/>
                  </a:lnTo>
                  <a:lnTo>
                    <a:pt x="1609772" y="276177"/>
                  </a:lnTo>
                  <a:lnTo>
                    <a:pt x="1577024" y="244955"/>
                  </a:lnTo>
                  <a:lnTo>
                    <a:pt x="1542809" y="215317"/>
                  </a:lnTo>
                  <a:lnTo>
                    <a:pt x="1507187" y="187325"/>
                  </a:lnTo>
                  <a:lnTo>
                    <a:pt x="1470217" y="161035"/>
                  </a:lnTo>
                  <a:lnTo>
                    <a:pt x="1431957" y="136509"/>
                  </a:lnTo>
                  <a:lnTo>
                    <a:pt x="1392468" y="113804"/>
                  </a:lnTo>
                  <a:lnTo>
                    <a:pt x="1351809" y="92981"/>
                  </a:lnTo>
                  <a:lnTo>
                    <a:pt x="1310038" y="74098"/>
                  </a:lnTo>
                  <a:lnTo>
                    <a:pt x="1267215" y="57215"/>
                  </a:lnTo>
                  <a:lnTo>
                    <a:pt x="1223400" y="42391"/>
                  </a:lnTo>
                  <a:lnTo>
                    <a:pt x="1178651" y="29685"/>
                  </a:lnTo>
                  <a:lnTo>
                    <a:pt x="1133027" y="19156"/>
                  </a:lnTo>
                  <a:lnTo>
                    <a:pt x="1086589" y="10864"/>
                  </a:lnTo>
                  <a:lnTo>
                    <a:pt x="1039394" y="4868"/>
                  </a:lnTo>
                  <a:lnTo>
                    <a:pt x="991503" y="1226"/>
                  </a:lnTo>
                  <a:lnTo>
                    <a:pt x="942975" y="0"/>
                  </a:lnTo>
                  <a:lnTo>
                    <a:pt x="894449" y="1226"/>
                  </a:lnTo>
                  <a:lnTo>
                    <a:pt x="846561" y="4868"/>
                  </a:lnTo>
                  <a:lnTo>
                    <a:pt x="799369" y="10864"/>
                  </a:lnTo>
                  <a:lnTo>
                    <a:pt x="752933" y="19156"/>
                  </a:lnTo>
                  <a:lnTo>
                    <a:pt x="707311" y="29685"/>
                  </a:lnTo>
                  <a:lnTo>
                    <a:pt x="662563" y="42391"/>
                  </a:lnTo>
                  <a:lnTo>
                    <a:pt x="618749" y="57215"/>
                  </a:lnTo>
                  <a:lnTo>
                    <a:pt x="575927" y="74098"/>
                  </a:lnTo>
                  <a:lnTo>
                    <a:pt x="534157" y="92981"/>
                  </a:lnTo>
                  <a:lnTo>
                    <a:pt x="493497" y="113804"/>
                  </a:lnTo>
                  <a:lnTo>
                    <a:pt x="454008" y="136509"/>
                  </a:lnTo>
                  <a:lnTo>
                    <a:pt x="415749" y="161035"/>
                  </a:lnTo>
                  <a:lnTo>
                    <a:pt x="378778" y="187325"/>
                  </a:lnTo>
                  <a:lnTo>
                    <a:pt x="343156" y="215317"/>
                  </a:lnTo>
                  <a:lnTo>
                    <a:pt x="308940" y="244955"/>
                  </a:lnTo>
                  <a:lnTo>
                    <a:pt x="276191" y="276177"/>
                  </a:lnTo>
                  <a:lnTo>
                    <a:pt x="244968" y="308925"/>
                  </a:lnTo>
                  <a:lnTo>
                    <a:pt x="215330" y="343140"/>
                  </a:lnTo>
                  <a:lnTo>
                    <a:pt x="187336" y="378762"/>
                  </a:lnTo>
                  <a:lnTo>
                    <a:pt x="161045" y="415732"/>
                  </a:lnTo>
                  <a:lnTo>
                    <a:pt x="136518" y="453992"/>
                  </a:lnTo>
                  <a:lnTo>
                    <a:pt x="113812" y="493481"/>
                  </a:lnTo>
                  <a:lnTo>
                    <a:pt x="92987" y="534140"/>
                  </a:lnTo>
                  <a:lnTo>
                    <a:pt x="74103" y="575911"/>
                  </a:lnTo>
                  <a:lnTo>
                    <a:pt x="57219" y="618734"/>
                  </a:lnTo>
                  <a:lnTo>
                    <a:pt x="42394" y="662549"/>
                  </a:lnTo>
                  <a:lnTo>
                    <a:pt x="29687" y="707298"/>
                  </a:lnTo>
                  <a:lnTo>
                    <a:pt x="19157" y="752922"/>
                  </a:lnTo>
                  <a:lnTo>
                    <a:pt x="10865" y="799360"/>
                  </a:lnTo>
                  <a:lnTo>
                    <a:pt x="4868" y="846555"/>
                  </a:lnTo>
                  <a:lnTo>
                    <a:pt x="1226" y="894446"/>
                  </a:lnTo>
                  <a:lnTo>
                    <a:pt x="0" y="942975"/>
                  </a:lnTo>
                  <a:lnTo>
                    <a:pt x="1226" y="991496"/>
                  </a:lnTo>
                  <a:lnTo>
                    <a:pt x="4868" y="1039381"/>
                  </a:lnTo>
                  <a:lnTo>
                    <a:pt x="10865" y="1086570"/>
                  </a:lnTo>
                  <a:lnTo>
                    <a:pt x="19157" y="1133004"/>
                  </a:lnTo>
                  <a:lnTo>
                    <a:pt x="29687" y="1178623"/>
                  </a:lnTo>
                  <a:lnTo>
                    <a:pt x="42394" y="1223368"/>
                  </a:lnTo>
                  <a:lnTo>
                    <a:pt x="57219" y="1267180"/>
                  </a:lnTo>
                  <a:lnTo>
                    <a:pt x="74103" y="1310000"/>
                  </a:lnTo>
                  <a:lnTo>
                    <a:pt x="92987" y="1351768"/>
                  </a:lnTo>
                  <a:lnTo>
                    <a:pt x="113812" y="1392426"/>
                  </a:lnTo>
                  <a:lnTo>
                    <a:pt x="136518" y="1431913"/>
                  </a:lnTo>
                  <a:lnTo>
                    <a:pt x="161045" y="1470171"/>
                  </a:lnTo>
                  <a:lnTo>
                    <a:pt x="187336" y="1507141"/>
                  </a:lnTo>
                  <a:lnTo>
                    <a:pt x="215330" y="1542762"/>
                  </a:lnTo>
                  <a:lnTo>
                    <a:pt x="244968" y="1576976"/>
                  </a:lnTo>
                  <a:lnTo>
                    <a:pt x="276191" y="1609725"/>
                  </a:lnTo>
                  <a:lnTo>
                    <a:pt x="308940" y="1640947"/>
                  </a:lnTo>
                  <a:lnTo>
                    <a:pt x="343156" y="1670584"/>
                  </a:lnTo>
                  <a:lnTo>
                    <a:pt x="378778" y="1698578"/>
                  </a:lnTo>
                  <a:lnTo>
                    <a:pt x="415749" y="1724868"/>
                  </a:lnTo>
                  <a:lnTo>
                    <a:pt x="454008" y="1749395"/>
                  </a:lnTo>
                  <a:lnTo>
                    <a:pt x="493497" y="1772100"/>
                  </a:lnTo>
                  <a:lnTo>
                    <a:pt x="534157" y="1792924"/>
                  </a:lnTo>
                  <a:lnTo>
                    <a:pt x="575927" y="1811808"/>
                  </a:lnTo>
                  <a:lnTo>
                    <a:pt x="618749" y="1828692"/>
                  </a:lnTo>
                  <a:lnTo>
                    <a:pt x="662563" y="1843517"/>
                  </a:lnTo>
                  <a:lnTo>
                    <a:pt x="707311" y="1856224"/>
                  </a:lnTo>
                  <a:lnTo>
                    <a:pt x="752933" y="1866753"/>
                  </a:lnTo>
                  <a:lnTo>
                    <a:pt x="799369" y="1875046"/>
                  </a:lnTo>
                  <a:lnTo>
                    <a:pt x="846561" y="1881043"/>
                  </a:lnTo>
                  <a:lnTo>
                    <a:pt x="894449" y="1884684"/>
                  </a:lnTo>
                  <a:lnTo>
                    <a:pt x="942975" y="1885911"/>
                  </a:lnTo>
                  <a:lnTo>
                    <a:pt x="991503" y="1884684"/>
                  </a:lnTo>
                  <a:lnTo>
                    <a:pt x="1039394" y="1881043"/>
                  </a:lnTo>
                  <a:lnTo>
                    <a:pt x="1086589" y="1875046"/>
                  </a:lnTo>
                  <a:lnTo>
                    <a:pt x="1133027" y="1866753"/>
                  </a:lnTo>
                  <a:lnTo>
                    <a:pt x="1178651" y="1856224"/>
                  </a:lnTo>
                  <a:lnTo>
                    <a:pt x="1223400" y="1843517"/>
                  </a:lnTo>
                  <a:lnTo>
                    <a:pt x="1267215" y="1828692"/>
                  </a:lnTo>
                  <a:lnTo>
                    <a:pt x="1310038" y="1811808"/>
                  </a:lnTo>
                  <a:lnTo>
                    <a:pt x="1351809" y="1792924"/>
                  </a:lnTo>
                  <a:lnTo>
                    <a:pt x="1392468" y="1772100"/>
                  </a:lnTo>
                  <a:lnTo>
                    <a:pt x="1431957" y="1749395"/>
                  </a:lnTo>
                  <a:lnTo>
                    <a:pt x="1470217" y="1724868"/>
                  </a:lnTo>
                  <a:lnTo>
                    <a:pt x="1507187" y="1698578"/>
                  </a:lnTo>
                  <a:lnTo>
                    <a:pt x="1542809" y="1670584"/>
                  </a:lnTo>
                  <a:lnTo>
                    <a:pt x="1577024" y="1640947"/>
                  </a:lnTo>
                  <a:lnTo>
                    <a:pt x="1609772" y="1609725"/>
                  </a:lnTo>
                  <a:lnTo>
                    <a:pt x="1640994" y="1576976"/>
                  </a:lnTo>
                  <a:lnTo>
                    <a:pt x="1670632" y="1542762"/>
                  </a:lnTo>
                  <a:lnTo>
                    <a:pt x="1698624" y="1507141"/>
                  </a:lnTo>
                  <a:lnTo>
                    <a:pt x="1724914" y="1470171"/>
                  </a:lnTo>
                  <a:lnTo>
                    <a:pt x="1749440" y="1431913"/>
                  </a:lnTo>
                  <a:lnTo>
                    <a:pt x="1772145" y="1392426"/>
                  </a:lnTo>
                  <a:lnTo>
                    <a:pt x="1792968" y="1351768"/>
                  </a:lnTo>
                  <a:lnTo>
                    <a:pt x="1811851" y="1310000"/>
                  </a:lnTo>
                  <a:lnTo>
                    <a:pt x="1828734" y="1267180"/>
                  </a:lnTo>
                  <a:lnTo>
                    <a:pt x="1843558" y="1223368"/>
                  </a:lnTo>
                  <a:lnTo>
                    <a:pt x="1856264" y="1178623"/>
                  </a:lnTo>
                  <a:lnTo>
                    <a:pt x="1866793" y="1133004"/>
                  </a:lnTo>
                  <a:lnTo>
                    <a:pt x="1875085" y="1086570"/>
                  </a:lnTo>
                  <a:lnTo>
                    <a:pt x="1881081" y="1039381"/>
                  </a:lnTo>
                  <a:lnTo>
                    <a:pt x="1884723" y="991496"/>
                  </a:lnTo>
                  <a:lnTo>
                    <a:pt x="1885950" y="942975"/>
                  </a:lnTo>
                  <a:close/>
                </a:path>
              </a:pathLst>
            </a:custGeom>
            <a:ln w="19050">
              <a:solidFill>
                <a:srgbClr val="000000"/>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12754356" y="6978421"/>
            <a:ext cx="237617" cy="238556"/>
          </a:xfrm>
          <a:prstGeom prst="rect">
            <a:avLst/>
          </a:prstGeom>
        </p:spPr>
      </p:pic>
      <p:pic>
        <p:nvPicPr>
          <p:cNvPr id="7" name="object 7"/>
          <p:cNvPicPr/>
          <p:nvPr/>
        </p:nvPicPr>
        <p:blipFill>
          <a:blip r:embed="rId2" cstate="print"/>
          <a:stretch>
            <a:fillRect/>
          </a:stretch>
        </p:blipFill>
        <p:spPr>
          <a:xfrm>
            <a:off x="13148817" y="6978421"/>
            <a:ext cx="237617" cy="238556"/>
          </a:xfrm>
          <a:prstGeom prst="rect">
            <a:avLst/>
          </a:prstGeom>
        </p:spPr>
      </p:pic>
      <p:pic>
        <p:nvPicPr>
          <p:cNvPr id="8" name="object 8"/>
          <p:cNvPicPr/>
          <p:nvPr/>
        </p:nvPicPr>
        <p:blipFill>
          <a:blip r:embed="rId3" cstate="print"/>
          <a:stretch>
            <a:fillRect/>
          </a:stretch>
        </p:blipFill>
        <p:spPr>
          <a:xfrm>
            <a:off x="12359258" y="6978421"/>
            <a:ext cx="237490" cy="238556"/>
          </a:xfrm>
          <a:prstGeom prst="rect">
            <a:avLst/>
          </a:prstGeom>
        </p:spPr>
      </p:pic>
      <p:pic>
        <p:nvPicPr>
          <p:cNvPr id="9" name="object 9"/>
          <p:cNvPicPr/>
          <p:nvPr/>
        </p:nvPicPr>
        <p:blipFill>
          <a:blip r:embed="rId4" cstate="print"/>
          <a:stretch>
            <a:fillRect/>
          </a:stretch>
        </p:blipFill>
        <p:spPr>
          <a:xfrm>
            <a:off x="11964034" y="6978421"/>
            <a:ext cx="237617" cy="238556"/>
          </a:xfrm>
          <a:prstGeom prst="rect">
            <a:avLst/>
          </a:prstGeom>
        </p:spPr>
      </p:pic>
      <p:pic>
        <p:nvPicPr>
          <p:cNvPr id="10" name="object 10"/>
          <p:cNvPicPr/>
          <p:nvPr/>
        </p:nvPicPr>
        <p:blipFill>
          <a:blip r:embed="rId2" cstate="print"/>
          <a:stretch>
            <a:fillRect/>
          </a:stretch>
        </p:blipFill>
        <p:spPr>
          <a:xfrm>
            <a:off x="13543914" y="6978421"/>
            <a:ext cx="237617" cy="238556"/>
          </a:xfrm>
          <a:prstGeom prst="rect">
            <a:avLst/>
          </a:prstGeom>
        </p:spPr>
      </p:pic>
      <p:pic>
        <p:nvPicPr>
          <p:cNvPr id="11" name="object 11"/>
          <p:cNvPicPr/>
          <p:nvPr/>
        </p:nvPicPr>
        <p:blipFill>
          <a:blip r:embed="rId2" cstate="print"/>
          <a:stretch>
            <a:fillRect/>
          </a:stretch>
        </p:blipFill>
        <p:spPr>
          <a:xfrm>
            <a:off x="12754356" y="7515859"/>
            <a:ext cx="237617" cy="238556"/>
          </a:xfrm>
          <a:prstGeom prst="rect">
            <a:avLst/>
          </a:prstGeom>
        </p:spPr>
      </p:pic>
      <p:pic>
        <p:nvPicPr>
          <p:cNvPr id="12" name="object 12"/>
          <p:cNvPicPr/>
          <p:nvPr/>
        </p:nvPicPr>
        <p:blipFill>
          <a:blip r:embed="rId2" cstate="print"/>
          <a:stretch>
            <a:fillRect/>
          </a:stretch>
        </p:blipFill>
        <p:spPr>
          <a:xfrm>
            <a:off x="13148817" y="7515859"/>
            <a:ext cx="237617" cy="238556"/>
          </a:xfrm>
          <a:prstGeom prst="rect">
            <a:avLst/>
          </a:prstGeom>
        </p:spPr>
      </p:pic>
      <p:pic>
        <p:nvPicPr>
          <p:cNvPr id="13" name="object 13"/>
          <p:cNvPicPr/>
          <p:nvPr/>
        </p:nvPicPr>
        <p:blipFill>
          <a:blip r:embed="rId3" cstate="print"/>
          <a:stretch>
            <a:fillRect/>
          </a:stretch>
        </p:blipFill>
        <p:spPr>
          <a:xfrm>
            <a:off x="12359258" y="7515859"/>
            <a:ext cx="237490" cy="238556"/>
          </a:xfrm>
          <a:prstGeom prst="rect">
            <a:avLst/>
          </a:prstGeom>
        </p:spPr>
      </p:pic>
      <p:pic>
        <p:nvPicPr>
          <p:cNvPr id="14" name="object 14"/>
          <p:cNvPicPr/>
          <p:nvPr/>
        </p:nvPicPr>
        <p:blipFill>
          <a:blip r:embed="rId4" cstate="print"/>
          <a:stretch>
            <a:fillRect/>
          </a:stretch>
        </p:blipFill>
        <p:spPr>
          <a:xfrm>
            <a:off x="11964034" y="7515859"/>
            <a:ext cx="237617" cy="238556"/>
          </a:xfrm>
          <a:prstGeom prst="rect">
            <a:avLst/>
          </a:prstGeom>
        </p:spPr>
      </p:pic>
      <p:pic>
        <p:nvPicPr>
          <p:cNvPr id="15" name="object 15"/>
          <p:cNvPicPr/>
          <p:nvPr/>
        </p:nvPicPr>
        <p:blipFill>
          <a:blip r:embed="rId2" cstate="print"/>
          <a:stretch>
            <a:fillRect/>
          </a:stretch>
        </p:blipFill>
        <p:spPr>
          <a:xfrm>
            <a:off x="13543914" y="7515859"/>
            <a:ext cx="237617" cy="238556"/>
          </a:xfrm>
          <a:prstGeom prst="rect">
            <a:avLst/>
          </a:prstGeom>
        </p:spPr>
      </p:pic>
      <p:sp>
        <p:nvSpPr>
          <p:cNvPr id="16" name="object 16"/>
          <p:cNvSpPr/>
          <p:nvPr/>
        </p:nvSpPr>
        <p:spPr>
          <a:xfrm>
            <a:off x="12279883" y="507"/>
            <a:ext cx="2350770" cy="2350770"/>
          </a:xfrm>
          <a:custGeom>
            <a:avLst/>
            <a:gdLst/>
            <a:ahLst/>
            <a:cxnLst/>
            <a:rect l="l" t="t" r="r" b="b"/>
            <a:pathLst>
              <a:path w="2350769" h="2350770">
                <a:moveTo>
                  <a:pt x="2350516" y="0"/>
                </a:moveTo>
                <a:lnTo>
                  <a:pt x="0" y="0"/>
                </a:lnTo>
                <a:lnTo>
                  <a:pt x="2350516" y="2350643"/>
                </a:lnTo>
                <a:lnTo>
                  <a:pt x="2350516" y="0"/>
                </a:lnTo>
                <a:close/>
              </a:path>
            </a:pathLst>
          </a:custGeom>
          <a:solidFill>
            <a:srgbClr val="EC7C30"/>
          </a:solidFill>
        </p:spPr>
        <p:txBody>
          <a:bodyPr wrap="square" lIns="0" tIns="0" rIns="0" bIns="0" rtlCol="0"/>
          <a:lstStyle/>
          <a:p>
            <a:endParaRPr/>
          </a:p>
        </p:txBody>
      </p:sp>
      <p:grpSp>
        <p:nvGrpSpPr>
          <p:cNvPr id="17" name="object 17"/>
          <p:cNvGrpSpPr/>
          <p:nvPr/>
        </p:nvGrpSpPr>
        <p:grpSpPr>
          <a:xfrm>
            <a:off x="0" y="0"/>
            <a:ext cx="2062480" cy="2351405"/>
            <a:chOff x="0" y="0"/>
            <a:chExt cx="2062480" cy="2351405"/>
          </a:xfrm>
        </p:grpSpPr>
        <p:sp>
          <p:nvSpPr>
            <p:cNvPr id="18" name="object 18"/>
            <p:cNvSpPr/>
            <p:nvPr/>
          </p:nvSpPr>
          <p:spPr>
            <a:xfrm>
              <a:off x="0" y="0"/>
              <a:ext cx="2062480" cy="1612265"/>
            </a:xfrm>
            <a:custGeom>
              <a:avLst/>
              <a:gdLst/>
              <a:ahLst/>
              <a:cxnLst/>
              <a:rect l="l" t="t" r="r" b="b"/>
              <a:pathLst>
                <a:path w="2062480" h="1612265">
                  <a:moveTo>
                    <a:pt x="1256614" y="0"/>
                  </a:moveTo>
                  <a:lnTo>
                    <a:pt x="0" y="0"/>
                  </a:lnTo>
                  <a:lnTo>
                    <a:pt x="0" y="1038333"/>
                  </a:lnTo>
                  <a:lnTo>
                    <a:pt x="12876" y="1077763"/>
                  </a:lnTo>
                  <a:lnTo>
                    <a:pt x="29225" y="1119661"/>
                  </a:lnTo>
                  <a:lnTo>
                    <a:pt x="47807" y="1160386"/>
                  </a:lnTo>
                  <a:lnTo>
                    <a:pt x="68546" y="1199860"/>
                  </a:lnTo>
                  <a:lnTo>
                    <a:pt x="91365" y="1238009"/>
                  </a:lnTo>
                  <a:lnTo>
                    <a:pt x="116190" y="1274757"/>
                  </a:lnTo>
                  <a:lnTo>
                    <a:pt x="142945" y="1310028"/>
                  </a:lnTo>
                  <a:lnTo>
                    <a:pt x="171555" y="1343747"/>
                  </a:lnTo>
                  <a:lnTo>
                    <a:pt x="201943" y="1375838"/>
                  </a:lnTo>
                  <a:lnTo>
                    <a:pt x="234034" y="1406226"/>
                  </a:lnTo>
                  <a:lnTo>
                    <a:pt x="267753" y="1434835"/>
                  </a:lnTo>
                  <a:lnTo>
                    <a:pt x="303024" y="1461590"/>
                  </a:lnTo>
                  <a:lnTo>
                    <a:pt x="339771" y="1486414"/>
                  </a:lnTo>
                  <a:lnTo>
                    <a:pt x="377919" y="1509233"/>
                  </a:lnTo>
                  <a:lnTo>
                    <a:pt x="417393" y="1529971"/>
                  </a:lnTo>
                  <a:lnTo>
                    <a:pt x="458116" y="1548552"/>
                  </a:lnTo>
                  <a:lnTo>
                    <a:pt x="500013" y="1564901"/>
                  </a:lnTo>
                  <a:lnTo>
                    <a:pt x="543008" y="1578942"/>
                  </a:lnTo>
                  <a:lnTo>
                    <a:pt x="587027" y="1590599"/>
                  </a:lnTo>
                  <a:lnTo>
                    <a:pt x="631992" y="1599798"/>
                  </a:lnTo>
                  <a:lnTo>
                    <a:pt x="677829" y="1606462"/>
                  </a:lnTo>
                  <a:lnTo>
                    <a:pt x="724463" y="1610515"/>
                  </a:lnTo>
                  <a:lnTo>
                    <a:pt x="771817" y="1611883"/>
                  </a:lnTo>
                  <a:lnTo>
                    <a:pt x="2062480" y="1611883"/>
                  </a:lnTo>
                  <a:lnTo>
                    <a:pt x="2062480" y="805942"/>
                  </a:lnTo>
                  <a:lnTo>
                    <a:pt x="2061112" y="758584"/>
                  </a:lnTo>
                  <a:lnTo>
                    <a:pt x="2057058" y="711947"/>
                  </a:lnTo>
                  <a:lnTo>
                    <a:pt x="2050394" y="666107"/>
                  </a:lnTo>
                  <a:lnTo>
                    <a:pt x="2041196" y="621138"/>
                  </a:lnTo>
                  <a:lnTo>
                    <a:pt x="2029538" y="577118"/>
                  </a:lnTo>
                  <a:lnTo>
                    <a:pt x="2015498" y="534120"/>
                  </a:lnTo>
                  <a:lnTo>
                    <a:pt x="1999150" y="492222"/>
                  </a:lnTo>
                  <a:lnTo>
                    <a:pt x="1980569" y="451497"/>
                  </a:lnTo>
                  <a:lnTo>
                    <a:pt x="1959832" y="412023"/>
                  </a:lnTo>
                  <a:lnTo>
                    <a:pt x="1937014" y="373874"/>
                  </a:lnTo>
                  <a:lnTo>
                    <a:pt x="1912191" y="337126"/>
                  </a:lnTo>
                  <a:lnTo>
                    <a:pt x="1885437" y="301855"/>
                  </a:lnTo>
                  <a:lnTo>
                    <a:pt x="1856830" y="268136"/>
                  </a:lnTo>
                  <a:lnTo>
                    <a:pt x="1826444" y="236045"/>
                  </a:lnTo>
                  <a:lnTo>
                    <a:pt x="1794355" y="205657"/>
                  </a:lnTo>
                  <a:lnTo>
                    <a:pt x="1760638" y="177048"/>
                  </a:lnTo>
                  <a:lnTo>
                    <a:pt x="1725370" y="150293"/>
                  </a:lnTo>
                  <a:lnTo>
                    <a:pt x="1688625" y="125469"/>
                  </a:lnTo>
                  <a:lnTo>
                    <a:pt x="1650480" y="102650"/>
                  </a:lnTo>
                  <a:lnTo>
                    <a:pt x="1611010" y="81912"/>
                  </a:lnTo>
                  <a:lnTo>
                    <a:pt x="1570290" y="63331"/>
                  </a:lnTo>
                  <a:lnTo>
                    <a:pt x="1528396" y="46982"/>
                  </a:lnTo>
                  <a:lnTo>
                    <a:pt x="1485404" y="32941"/>
                  </a:lnTo>
                  <a:lnTo>
                    <a:pt x="1441389" y="21284"/>
                  </a:lnTo>
                  <a:lnTo>
                    <a:pt x="1396427" y="12085"/>
                  </a:lnTo>
                  <a:lnTo>
                    <a:pt x="1350593" y="5421"/>
                  </a:lnTo>
                  <a:lnTo>
                    <a:pt x="1303964" y="1368"/>
                  </a:lnTo>
                  <a:lnTo>
                    <a:pt x="1256614" y="0"/>
                  </a:lnTo>
                  <a:close/>
                </a:path>
              </a:pathLst>
            </a:custGeom>
            <a:solidFill>
              <a:srgbClr val="E7E6E6"/>
            </a:solidFill>
          </p:spPr>
          <p:txBody>
            <a:bodyPr wrap="square" lIns="0" tIns="0" rIns="0" bIns="0" rtlCol="0"/>
            <a:lstStyle/>
            <a:p>
              <a:endParaRPr/>
            </a:p>
          </p:txBody>
        </p:sp>
        <p:sp>
          <p:nvSpPr>
            <p:cNvPr id="19" name="object 19"/>
            <p:cNvSpPr/>
            <p:nvPr/>
          </p:nvSpPr>
          <p:spPr>
            <a:xfrm>
              <a:off x="322605" y="1168400"/>
              <a:ext cx="1183005" cy="1183005"/>
            </a:xfrm>
            <a:custGeom>
              <a:avLst/>
              <a:gdLst/>
              <a:ahLst/>
              <a:cxnLst/>
              <a:rect l="l" t="t" r="r" b="b"/>
              <a:pathLst>
                <a:path w="1183005" h="1183005">
                  <a:moveTo>
                    <a:pt x="591350" y="0"/>
                  </a:moveTo>
                  <a:lnTo>
                    <a:pt x="542850" y="1960"/>
                  </a:lnTo>
                  <a:lnTo>
                    <a:pt x="495430" y="7740"/>
                  </a:lnTo>
                  <a:lnTo>
                    <a:pt x="449241" y="17188"/>
                  </a:lnTo>
                  <a:lnTo>
                    <a:pt x="404437" y="30150"/>
                  </a:lnTo>
                  <a:lnTo>
                    <a:pt x="361170" y="46476"/>
                  </a:lnTo>
                  <a:lnTo>
                    <a:pt x="319590" y="66011"/>
                  </a:lnTo>
                  <a:lnTo>
                    <a:pt x="279852" y="88605"/>
                  </a:lnTo>
                  <a:lnTo>
                    <a:pt x="242106" y="114104"/>
                  </a:lnTo>
                  <a:lnTo>
                    <a:pt x="206505" y="142357"/>
                  </a:lnTo>
                  <a:lnTo>
                    <a:pt x="173202" y="173212"/>
                  </a:lnTo>
                  <a:lnTo>
                    <a:pt x="142348" y="206515"/>
                  </a:lnTo>
                  <a:lnTo>
                    <a:pt x="114096" y="242114"/>
                  </a:lnTo>
                  <a:lnTo>
                    <a:pt x="88597" y="279858"/>
                  </a:lnTo>
                  <a:lnTo>
                    <a:pt x="66005" y="319594"/>
                  </a:lnTo>
                  <a:lnTo>
                    <a:pt x="46471" y="361170"/>
                  </a:lnTo>
                  <a:lnTo>
                    <a:pt x="30147" y="404433"/>
                  </a:lnTo>
                  <a:lnTo>
                    <a:pt x="17186" y="449230"/>
                  </a:lnTo>
                  <a:lnTo>
                    <a:pt x="7739" y="495411"/>
                  </a:lnTo>
                  <a:lnTo>
                    <a:pt x="1960" y="542822"/>
                  </a:lnTo>
                  <a:lnTo>
                    <a:pt x="0" y="591312"/>
                  </a:lnTo>
                  <a:lnTo>
                    <a:pt x="1960" y="639819"/>
                  </a:lnTo>
                  <a:lnTo>
                    <a:pt x="7739" y="687246"/>
                  </a:lnTo>
                  <a:lnTo>
                    <a:pt x="17186" y="733442"/>
                  </a:lnTo>
                  <a:lnTo>
                    <a:pt x="30147" y="778252"/>
                  </a:lnTo>
                  <a:lnTo>
                    <a:pt x="46471" y="821527"/>
                  </a:lnTo>
                  <a:lnTo>
                    <a:pt x="66005" y="863112"/>
                  </a:lnTo>
                  <a:lnTo>
                    <a:pt x="88597" y="902857"/>
                  </a:lnTo>
                  <a:lnTo>
                    <a:pt x="114096" y="940608"/>
                  </a:lnTo>
                  <a:lnTo>
                    <a:pt x="142348" y="976214"/>
                  </a:lnTo>
                  <a:lnTo>
                    <a:pt x="173202" y="1009523"/>
                  </a:lnTo>
                  <a:lnTo>
                    <a:pt x="206505" y="1040381"/>
                  </a:lnTo>
                  <a:lnTo>
                    <a:pt x="242106" y="1068637"/>
                  </a:lnTo>
                  <a:lnTo>
                    <a:pt x="279852" y="1094140"/>
                  </a:lnTo>
                  <a:lnTo>
                    <a:pt x="319590" y="1116735"/>
                  </a:lnTo>
                  <a:lnTo>
                    <a:pt x="361170" y="1136272"/>
                  </a:lnTo>
                  <a:lnTo>
                    <a:pt x="404437" y="1152599"/>
                  </a:lnTo>
                  <a:lnTo>
                    <a:pt x="449241" y="1165562"/>
                  </a:lnTo>
                  <a:lnTo>
                    <a:pt x="495430" y="1175010"/>
                  </a:lnTo>
                  <a:lnTo>
                    <a:pt x="542850" y="1180790"/>
                  </a:lnTo>
                  <a:lnTo>
                    <a:pt x="591350" y="1182751"/>
                  </a:lnTo>
                  <a:lnTo>
                    <a:pt x="639851" y="1180790"/>
                  </a:lnTo>
                  <a:lnTo>
                    <a:pt x="687273" y="1175010"/>
                  </a:lnTo>
                  <a:lnTo>
                    <a:pt x="733463" y="1165562"/>
                  </a:lnTo>
                  <a:lnTo>
                    <a:pt x="778269" y="1152599"/>
                  </a:lnTo>
                  <a:lnTo>
                    <a:pt x="821539" y="1136272"/>
                  </a:lnTo>
                  <a:lnTo>
                    <a:pt x="863120" y="1116735"/>
                  </a:lnTo>
                  <a:lnTo>
                    <a:pt x="902860" y="1094140"/>
                  </a:lnTo>
                  <a:lnTo>
                    <a:pt x="940608" y="1068637"/>
                  </a:lnTo>
                  <a:lnTo>
                    <a:pt x="976210" y="1040381"/>
                  </a:lnTo>
                  <a:lnTo>
                    <a:pt x="1009515" y="1009523"/>
                  </a:lnTo>
                  <a:lnTo>
                    <a:pt x="1040370" y="976214"/>
                  </a:lnTo>
                  <a:lnTo>
                    <a:pt x="1068623" y="940608"/>
                  </a:lnTo>
                  <a:lnTo>
                    <a:pt x="1094123" y="902857"/>
                  </a:lnTo>
                  <a:lnTo>
                    <a:pt x="1116717" y="863112"/>
                  </a:lnTo>
                  <a:lnTo>
                    <a:pt x="1136252" y="821527"/>
                  </a:lnTo>
                  <a:lnTo>
                    <a:pt x="1152576" y="778252"/>
                  </a:lnTo>
                  <a:lnTo>
                    <a:pt x="1165538" y="733442"/>
                  </a:lnTo>
                  <a:lnTo>
                    <a:pt x="1174985" y="687246"/>
                  </a:lnTo>
                  <a:lnTo>
                    <a:pt x="1180765" y="639819"/>
                  </a:lnTo>
                  <a:lnTo>
                    <a:pt x="1182725" y="591312"/>
                  </a:lnTo>
                  <a:lnTo>
                    <a:pt x="1180765" y="542822"/>
                  </a:lnTo>
                  <a:lnTo>
                    <a:pt x="1174985" y="495411"/>
                  </a:lnTo>
                  <a:lnTo>
                    <a:pt x="1165538" y="449230"/>
                  </a:lnTo>
                  <a:lnTo>
                    <a:pt x="1152576" y="404433"/>
                  </a:lnTo>
                  <a:lnTo>
                    <a:pt x="1136252" y="361170"/>
                  </a:lnTo>
                  <a:lnTo>
                    <a:pt x="1116717" y="319594"/>
                  </a:lnTo>
                  <a:lnTo>
                    <a:pt x="1094123" y="279858"/>
                  </a:lnTo>
                  <a:lnTo>
                    <a:pt x="1068623" y="242114"/>
                  </a:lnTo>
                  <a:lnTo>
                    <a:pt x="1040370" y="206515"/>
                  </a:lnTo>
                  <a:lnTo>
                    <a:pt x="1009515" y="173212"/>
                  </a:lnTo>
                  <a:lnTo>
                    <a:pt x="976210" y="142357"/>
                  </a:lnTo>
                  <a:lnTo>
                    <a:pt x="940608" y="114104"/>
                  </a:lnTo>
                  <a:lnTo>
                    <a:pt x="902860" y="88605"/>
                  </a:lnTo>
                  <a:lnTo>
                    <a:pt x="863120" y="66011"/>
                  </a:lnTo>
                  <a:lnTo>
                    <a:pt x="821539" y="46476"/>
                  </a:lnTo>
                  <a:lnTo>
                    <a:pt x="778269" y="30150"/>
                  </a:lnTo>
                  <a:lnTo>
                    <a:pt x="733463" y="17188"/>
                  </a:lnTo>
                  <a:lnTo>
                    <a:pt x="687273" y="7740"/>
                  </a:lnTo>
                  <a:lnTo>
                    <a:pt x="639851" y="1960"/>
                  </a:lnTo>
                  <a:lnTo>
                    <a:pt x="591350" y="0"/>
                  </a:lnTo>
                  <a:close/>
                </a:path>
              </a:pathLst>
            </a:custGeom>
            <a:solidFill>
              <a:srgbClr val="EC7C30"/>
            </a:solidFill>
          </p:spPr>
          <p:txBody>
            <a:bodyPr wrap="square" lIns="0" tIns="0" rIns="0" bIns="0" rtlCol="0"/>
            <a:lstStyle/>
            <a:p>
              <a:endParaRPr/>
            </a:p>
          </p:txBody>
        </p:sp>
      </p:grpSp>
      <p:sp>
        <p:nvSpPr>
          <p:cNvPr id="20" name="object 20"/>
          <p:cNvSpPr txBox="1">
            <a:spLocks noGrp="1"/>
          </p:cNvSpPr>
          <p:nvPr>
            <p:ph type="title"/>
          </p:nvPr>
        </p:nvSpPr>
        <p:spPr>
          <a:xfrm>
            <a:off x="5396865" y="2880436"/>
            <a:ext cx="2974975" cy="1489075"/>
          </a:xfrm>
          <a:prstGeom prst="rect">
            <a:avLst/>
          </a:prstGeom>
        </p:spPr>
        <p:txBody>
          <a:bodyPr vert="horz" wrap="square" lIns="0" tIns="12700" rIns="0" bIns="0" rtlCol="0">
            <a:spAutoFit/>
          </a:bodyPr>
          <a:lstStyle/>
          <a:p>
            <a:pPr marL="12700">
              <a:lnSpc>
                <a:spcPct val="100000"/>
              </a:lnSpc>
              <a:spcBef>
                <a:spcPts val="100"/>
              </a:spcBef>
            </a:pPr>
            <a:r>
              <a:rPr sz="9600" spc="-25" dirty="0">
                <a:solidFill>
                  <a:srgbClr val="525769"/>
                </a:solidFill>
              </a:rPr>
              <a:t>Q&amp;A</a:t>
            </a:r>
            <a:endParaRPr sz="9600"/>
          </a:p>
        </p:txBody>
      </p:sp>
      <p:pic>
        <p:nvPicPr>
          <p:cNvPr id="21" name="object 21"/>
          <p:cNvPicPr/>
          <p:nvPr/>
        </p:nvPicPr>
        <p:blipFill>
          <a:blip r:embed="rId5" cstate="print"/>
          <a:stretch>
            <a:fillRect/>
          </a:stretch>
        </p:blipFill>
        <p:spPr>
          <a:xfrm>
            <a:off x="10805414" y="1074026"/>
            <a:ext cx="1348104" cy="1225943"/>
          </a:xfrm>
          <a:prstGeom prst="rect">
            <a:avLst/>
          </a:prstGeom>
        </p:spPr>
      </p:pic>
      <p:sp>
        <p:nvSpPr>
          <p:cNvPr id="22" name="object 22"/>
          <p:cNvSpPr txBox="1"/>
          <p:nvPr/>
        </p:nvSpPr>
        <p:spPr>
          <a:xfrm>
            <a:off x="2431160" y="5563565"/>
            <a:ext cx="6613525" cy="1733550"/>
          </a:xfrm>
          <a:prstGeom prst="rect">
            <a:avLst/>
          </a:prstGeom>
        </p:spPr>
        <p:txBody>
          <a:bodyPr vert="horz" wrap="square" lIns="0" tIns="12065" rIns="0" bIns="0" rtlCol="0">
            <a:spAutoFit/>
          </a:bodyPr>
          <a:lstStyle/>
          <a:p>
            <a:pPr marL="12700">
              <a:lnSpc>
                <a:spcPts val="2695"/>
              </a:lnSpc>
              <a:spcBef>
                <a:spcPts val="95"/>
              </a:spcBef>
            </a:pPr>
            <a:r>
              <a:rPr sz="2250" b="1" spc="-25" dirty="0">
                <a:solidFill>
                  <a:srgbClr val="525769"/>
                </a:solidFill>
                <a:latin typeface="Microsoft JhengHei"/>
                <a:cs typeface="Microsoft JhengHei"/>
              </a:rPr>
              <a:t>題目：</a:t>
            </a:r>
            <a:r>
              <a:rPr sz="2250" b="1" dirty="0">
                <a:solidFill>
                  <a:srgbClr val="525769"/>
                </a:solidFill>
                <a:latin typeface="Microsoft JhengHei"/>
                <a:cs typeface="Microsoft JhengHei"/>
              </a:rPr>
              <a:t>LINE</a:t>
            </a:r>
            <a:r>
              <a:rPr sz="2250" b="1" spc="95" dirty="0">
                <a:solidFill>
                  <a:srgbClr val="525769"/>
                </a:solidFill>
                <a:latin typeface="Microsoft JhengHei"/>
                <a:cs typeface="Microsoft JhengHei"/>
              </a:rPr>
              <a:t> </a:t>
            </a:r>
            <a:r>
              <a:rPr sz="2250" b="1" spc="-25" dirty="0">
                <a:solidFill>
                  <a:srgbClr val="525769"/>
                </a:solidFill>
                <a:latin typeface="Microsoft JhengHei"/>
                <a:cs typeface="Microsoft JhengHei"/>
              </a:rPr>
              <a:t>Bot</a:t>
            </a:r>
            <a:r>
              <a:rPr sz="2250" b="1" spc="-50" dirty="0">
                <a:solidFill>
                  <a:srgbClr val="525769"/>
                </a:solidFill>
                <a:latin typeface="Microsoft JhengHei"/>
                <a:cs typeface="Microsoft JhengHei"/>
              </a:rPr>
              <a:t>結合大型語言模型之英語學習系統設</a:t>
            </a:r>
            <a:endParaRPr sz="2250">
              <a:latin typeface="Microsoft JhengHei"/>
              <a:cs typeface="Microsoft JhengHei"/>
            </a:endParaRPr>
          </a:p>
          <a:p>
            <a:pPr marL="12700">
              <a:lnSpc>
                <a:spcPts val="2690"/>
              </a:lnSpc>
            </a:pPr>
            <a:r>
              <a:rPr sz="2250" b="1" spc="-35" dirty="0">
                <a:solidFill>
                  <a:srgbClr val="525769"/>
                </a:solidFill>
                <a:latin typeface="Microsoft JhengHei"/>
                <a:cs typeface="Microsoft JhengHei"/>
              </a:rPr>
              <a:t>計與實作</a:t>
            </a:r>
            <a:endParaRPr sz="2250">
              <a:latin typeface="Microsoft JhengHei"/>
              <a:cs typeface="Microsoft JhengHei"/>
            </a:endParaRPr>
          </a:p>
          <a:p>
            <a:pPr marL="12700" marR="2821940">
              <a:lnSpc>
                <a:spcPts val="2690"/>
              </a:lnSpc>
              <a:spcBef>
                <a:spcPts val="90"/>
              </a:spcBef>
            </a:pPr>
            <a:r>
              <a:rPr sz="2250" b="1" dirty="0">
                <a:solidFill>
                  <a:srgbClr val="525769"/>
                </a:solidFill>
                <a:latin typeface="Microsoft JhengHei"/>
                <a:cs typeface="Microsoft JhengHei"/>
              </a:rPr>
              <a:t>國立高雄科技大學資訊管理所</a:t>
            </a:r>
            <a:r>
              <a:rPr sz="2250" b="1" spc="-35" dirty="0">
                <a:solidFill>
                  <a:srgbClr val="525769"/>
                </a:solidFill>
                <a:latin typeface="Microsoft JhengHei"/>
                <a:cs typeface="Microsoft JhengHei"/>
              </a:rPr>
              <a:t>研究生：杜宜霖</a:t>
            </a:r>
            <a:endParaRPr sz="2250">
              <a:latin typeface="Microsoft JhengHei"/>
              <a:cs typeface="Microsoft JhengHei"/>
            </a:endParaRPr>
          </a:p>
          <a:p>
            <a:pPr marL="12700">
              <a:lnSpc>
                <a:spcPts val="2600"/>
              </a:lnSpc>
            </a:pPr>
            <a:r>
              <a:rPr sz="2250" b="1" spc="10" dirty="0">
                <a:solidFill>
                  <a:srgbClr val="525769"/>
                </a:solidFill>
                <a:latin typeface="Microsoft JhengHei"/>
                <a:cs typeface="Microsoft JhengHei"/>
              </a:rPr>
              <a:t>指導教授：黃承龍博士</a:t>
            </a:r>
            <a:endParaRPr sz="2250">
              <a:latin typeface="Microsoft JhengHei"/>
              <a:cs typeface="Microsoft JhengHei"/>
            </a:endParaRP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40</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3447</TotalTime>
  <Words>5454</Words>
  <Application>Microsoft Office PowerPoint</Application>
  <PresentationFormat>自訂</PresentationFormat>
  <Paragraphs>537</Paragraphs>
  <Slides>40</Slides>
  <Notes>32</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40</vt:i4>
      </vt:variant>
    </vt:vector>
  </HeadingPairs>
  <TitlesOfParts>
    <vt:vector size="50" baseType="lpstr">
      <vt:lpstr>Microsoft JhengHei</vt:lpstr>
      <vt:lpstr>SimSun</vt:lpstr>
      <vt:lpstr>Arial</vt:lpstr>
      <vt:lpstr>Times New Roman</vt:lpstr>
      <vt:lpstr>Microsoft JhengHei UI</vt:lpstr>
      <vt:lpstr>Microsoft JhengHei</vt:lpstr>
      <vt:lpstr>Calibri</vt:lpstr>
      <vt:lpstr>Work Sans</vt:lpstr>
      <vt:lpstr>Arial MT</vt:lpstr>
      <vt:lpstr>Office Theme</vt:lpstr>
      <vt:lpstr>PowerPoint 簡報</vt:lpstr>
      <vt:lpstr>PowerPoint 簡報</vt:lpstr>
      <vt:lpstr>緒論</vt:lpstr>
      <vt:lpstr>PowerPoint 簡報</vt:lpstr>
      <vt:lpstr>PowerPoint 簡報</vt:lpstr>
      <vt:lpstr>PowerPoint 簡報</vt:lpstr>
      <vt:lpstr>系統核心功能</vt:lpstr>
      <vt:lpstr>PowerPoint 簡報</vt:lpstr>
      <vt:lpstr>PowerPoint 簡報</vt:lpstr>
      <vt:lpstr>系統功能展示</vt:lpstr>
      <vt:lpstr>PowerPoint 簡報</vt:lpstr>
      <vt:lpstr>PowerPoint 簡報</vt:lpstr>
      <vt:lpstr>PowerPoint 簡報</vt:lpstr>
      <vt:lpstr>PowerPoint 簡報</vt:lpstr>
      <vt:lpstr>PowerPoint 簡報</vt:lpstr>
      <vt:lpstr>PowerPoint 簡報</vt:lpstr>
      <vt:lpstr>PowerPoint 簡報</vt:lpstr>
      <vt:lpstr>PowerPoint 簡報</vt:lpstr>
      <vt:lpstr>提示工程設計 </vt:lpstr>
      <vt:lpstr>基本設計原則</vt:lpstr>
      <vt:lpstr>PowerPoint 簡報</vt:lpstr>
      <vt:lpstr>PowerPoint 簡報</vt:lpstr>
      <vt:lpstr>PowerPoint 簡報</vt:lpstr>
      <vt:lpstr>PowerPoint 簡報</vt:lpstr>
      <vt:lpstr>系統架構與運作流程</vt:lpstr>
      <vt:lpstr>系統架構</vt:lpstr>
      <vt:lpstr>系統運作流程</vt:lpstr>
      <vt:lpstr>技術實作與部署流程</vt:lpstr>
      <vt:lpstr>技術實作與部署流程</vt:lpstr>
      <vt:lpstr>現有英語學習應用比較</vt:lpstr>
      <vt:lpstr>現有英語學習應用比較</vt:lpstr>
      <vt:lpstr>使用者回饋與改善建議</vt:lpstr>
      <vt:lpstr>使用者回饋與改善建議</vt:lpstr>
      <vt:lpstr>PowerPoint 簡報</vt:lpstr>
      <vt:lpstr>研究限制與未來發展/貢獻</vt:lpstr>
      <vt:lpstr>文獻探討</vt:lpstr>
      <vt:lpstr>文獻探討</vt:lpstr>
      <vt:lpstr>文獻探討</vt:lpstr>
      <vt:lpstr>感謝口委蒞臨指導</vt:lpstr>
      <vt:lpstr>Q&amp;A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F112119106</cp:lastModifiedBy>
  <cp:revision>12</cp:revision>
  <dcterms:created xsi:type="dcterms:W3CDTF">2025-05-15T02:28:07Z</dcterms:created>
  <dcterms:modified xsi:type="dcterms:W3CDTF">2025-05-28T19:59:03Z</dcterms:modified>
</cp:coreProperties>
</file>